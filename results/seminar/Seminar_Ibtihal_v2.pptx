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charts/chart11.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charts/chart12.xml" ContentType="application/vnd.openxmlformats-officedocument.drawingml.chart+xml"/>
  <Override PartName="/ppt/charts/chart13.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charts/chart14.xml" ContentType="application/vnd.openxmlformats-officedocument.drawingml.chart+xml"/>
  <Override PartName="/ppt/slideMasters/slideMaster28.xml" ContentType="application/vnd.openxmlformats-officedocument.presentationml.slideMaster+xml"/>
  <Override PartName="/ppt/slides/slide28.xml" ContentType="application/vnd.openxmlformats-officedocument.presentationml.slide+xml"/>
  <Override PartName="/ppt/charts/chart15.xml" ContentType="application/vnd.openxmlformats-officedocument.drawingml.chart+xml"/>
  <Override PartName="/ppt/charts/chart16.xml" ContentType="application/vnd.openxmlformats-officedocument.drawingml.chart+xml"/>
  <Override PartName="/ppt/slideMasters/slideMaster29.xml" ContentType="application/vnd.openxmlformats-officedocument.presentationml.slideMaster+xml"/>
  <Override PartName="/ppt/slides/slide29.xml" ContentType="application/vnd.openxmlformats-officedocument.presentationml.slide+xml"/>
  <Override PartName="/ppt/charts/chart17.xml" ContentType="application/vnd.openxmlformats-officedocument.drawingml.chart+xml"/>
  <Override PartName="/ppt/slideMasters/slideMaster30.xml" ContentType="application/vnd.openxmlformats-officedocument.presentationml.slideMaster+xml"/>
  <Override PartName="/ppt/slides/slide30.xml" ContentType="application/vnd.openxmlformats-officedocument.presentationml.slide+xml"/>
  <Override PartName="/ppt/charts/chart18.xml" ContentType="application/vnd.openxmlformats-officedocument.drawingml.chart+xml"/>
  <Override PartName="/ppt/slideMasters/slideMaster31.xml" ContentType="application/vnd.openxmlformats-officedocument.presentationml.slideMaster+xml"/>
  <Override PartName="/ppt/slides/slide31.xml" ContentType="application/vnd.openxmlformats-officedocument.presentationml.slide+xml"/>
  <Override PartName="/ppt/charts/chart19.xml" ContentType="application/vnd.openxmlformats-officedocument.drawingml.chart+xml"/>
  <Override PartName="/ppt/charts/chart20.xml" ContentType="application/vnd.openxmlformats-officedocument.drawingml.chart+xml"/>
  <Override PartName="/ppt/slideMasters/slideMaster32.xml" ContentType="application/vnd.openxmlformats-officedocument.presentationml.slideMaster+xml"/>
  <Override PartName="/ppt/slides/slide32.xml" ContentType="application/vnd.openxmlformats-officedocument.presentationml.slide+xml"/>
  <Override PartName="/ppt/charts/chart21.xml" ContentType="application/vnd.openxmlformats-officedocument.drawingml.chart+xml"/>
  <Override PartName="/ppt/charts/chart22.xml" ContentType="application/vnd.openxmlformats-officedocument.drawingml.chart+xml"/>
  <Override PartName="/ppt/slideMasters/slideMaster33.xml" ContentType="application/vnd.openxmlformats-officedocument.presentationml.slideMaster+xml"/>
  <Override PartName="/ppt/slides/slide33.xml" ContentType="application/vnd.openxmlformats-officedocument.presentationml.slide+xml"/>
  <Override PartName="/ppt/charts/chart23.xml" ContentType="application/vnd.openxmlformats-officedocument.drawingml.chart+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Relationships xmlns="http://schemas.openxmlformats.org/package/2006/relationships"><Relationship Id="rId1" Type="http://schemas.openxmlformats.org/officeDocument/2006/relationships/package" Target="../embeddings/Microsoft_Excel_Worksheet17.xlsx"/></Relationships>
</file>

<file path=ppt/charts/_rels/chart18.xml.rels><?xml version="1.0" encoding="UTF-8" standalone="yes"?><Relationships xmlns="http://schemas.openxmlformats.org/package/2006/relationships"><Relationship Id="rId1" Type="http://schemas.openxmlformats.org/officeDocument/2006/relationships/package" Target="../embeddings/Microsoft_Excel_Worksheet18.xlsx"/></Relationships>
</file>

<file path=ppt/charts/_rels/chart19.xml.rels><?xml version="1.0" encoding="UTF-8" standalone="yes"?><Relationships xmlns="http://schemas.openxmlformats.org/package/2006/relationships"><Relationship Id="rId1" Type="http://schemas.openxmlformats.org/officeDocument/2006/relationships/package" Target="../embeddings/Microsoft_Excel_Worksheet19.xlsx"/></Relationships>
</file>

<file path=ppt/charts/_rels/chart20.xml.rels><?xml version="1.0" encoding="UTF-8" standalone="yes"?><Relationships xmlns="http://schemas.openxmlformats.org/package/2006/relationships"><Relationship Id="rId1" Type="http://schemas.openxmlformats.org/officeDocument/2006/relationships/package" Target="../embeddings/Microsoft_Excel_Worksheet20.xlsx"/></Relationships>
</file>

<file path=ppt/charts/_rels/chart21.xml.rels><?xml version="1.0" encoding="UTF-8" standalone="yes"?><Relationships xmlns="http://schemas.openxmlformats.org/package/2006/relationships"><Relationship Id="rId1" Type="http://schemas.openxmlformats.org/officeDocument/2006/relationships/package" Target="../embeddings/Microsoft_Excel_Worksheet21.xlsx"/></Relationships>
</file>

<file path=ppt/charts/_rels/chart22.xml.rels><?xml version="1.0" encoding="UTF-8" standalone="yes"?><Relationships xmlns="http://schemas.openxmlformats.org/package/2006/relationships"><Relationship Id="rId1" Type="http://schemas.openxmlformats.org/officeDocument/2006/relationships/package" Target="../embeddings/Microsoft_Excel_Worksheet22.xlsx"/></Relationships>
</file>

<file path=ppt/charts/_rels/chart23.xml.rels><?xml version="1.0" encoding="UTF-8" standalone="yes"?><Relationships xmlns="http://schemas.openxmlformats.org/package/2006/relationships"><Relationship Id="rId1" Type="http://schemas.openxmlformats.org/officeDocument/2006/relationships/package" Target="../embeddings/Microsoft_Excel_Worksheet2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Entropy of indices</c:v>
                </c:pt>
              </c:strCache>
            </c:strRef>
          </c:tx>
          <c:spPr>
            <a:solidFill>
              <a:srgbClr val="A794D6"/>
            </a:solidFill>
            <a:effectLst/>
          </c:spPr>
          <c:invertIfNegative val="0"/>
          <c:dLbls>
            <c:numFmt formatCode="0.00" sourceLinked="0"/>
            <c:txPr>
              <a:bodyPr/>
              <a:lstStyle/>
              <a:p>
                <a:pPr>
                  <a:defRPr b="0" i="0" strike="noStrike" sz="1100" u="none">
                    <a:solidFill>
                      <a:srgbClr val="1F1A33"/>
                    </a:solidFill>
                    <a:latin typeface="Calibri"/>
                  </a:defRPr>
                </a:pPr>
              </a:p>
            </c:txPr>
            <c:showLegendKey val="0"/>
            <c:showVal val="1"/>
            <c:showCatName val="0"/>
            <c:showSerName val="0"/>
            <c:showPercent val="0"/>
            <c:showBubbleSize val="0"/>
            <c:showLeaderLines val="0"/>
          </c:dLbls>
          <c:cat>
            <c:multiLvlStrRef>
              <c:f>Sheet1!$A$2:$A$5</c:f>
              <c:multiLvlStrCache>
                <c:ptCount val="4"/>
                <c:lvl>
                  <c:pt idx="0">
                    <c:v>Lena</c:v>
                  </c:pt>
                  <c:pt idx="1">
                    <c:v>Boat</c:v>
                  </c:pt>
                  <c:pt idx="2">
                    <c:v>Cameraman</c:v>
                  </c:pt>
                  <c:pt idx="3">
                    <c:v>Peppers</c:v>
                  </c:pt>
                </c:lvl>
              </c:multiLvlStrCache>
            </c:multiLvlStrRef>
          </c:cat>
          <c:val>
            <c:numRef>
              <c:f>Sheet1!$B$2:$B$5</c:f>
              <c:numCache>
                <c:formatCode>General</c:formatCode>
                <c:ptCount val="4"/>
                <c:pt idx="0">
                  <c:v>5.393</c:v>
                </c:pt>
                <c:pt idx="1">
                  <c:v>5.237</c:v>
                </c:pt>
                <c:pt idx="2">
                  <c:v>5.165</c:v>
                </c:pt>
                <c:pt idx="3">
                  <c:v>5.396</c:v>
                </c:pt>
              </c:numCache>
            </c:numRef>
          </c:val>
        </c:ser>
        <c:ser>
          <c:idx val="1"/>
          <c:order val="1"/>
          <c:tx>
            <c:strRef>
              <c:f>Sheet1!$C$1</c:f>
              <c:strCache>
                <c:ptCount val="1"/>
                <c:pt idx="0">
                  <c:v>Entropy after delta</c:v>
                </c:pt>
              </c:strCache>
            </c:strRef>
          </c:tx>
          <c:spPr>
            <a:solidFill>
              <a:srgbClr val="E0457B"/>
            </a:solidFill>
            <a:effectLst/>
          </c:spPr>
          <c:invertIfNegative val="0"/>
          <c:dLbls>
            <c:numFmt formatCode="0.00" sourceLinked="0"/>
            <c:txPr>
              <a:bodyPr/>
              <a:lstStyle/>
              <a:p>
                <a:pPr>
                  <a:defRPr b="0" i="0" strike="noStrike" sz="1100" u="none">
                    <a:solidFill>
                      <a:srgbClr val="1F1A33"/>
                    </a:solidFill>
                    <a:latin typeface="Calibri"/>
                  </a:defRPr>
                </a:pPr>
              </a:p>
            </c:txPr>
            <c:showLegendKey val="0"/>
            <c:showVal val="1"/>
            <c:showCatName val="0"/>
            <c:showSerName val="0"/>
            <c:showPercent val="0"/>
            <c:showBubbleSize val="0"/>
            <c:showLeaderLines val="0"/>
          </c:dLbls>
          <c:cat>
            <c:multiLvlStrRef>
              <c:f>Sheet1!$A$2:$A$5</c:f>
              <c:multiLvlStrCache>
                <c:ptCount val="4"/>
                <c:lvl>
                  <c:pt idx="0">
                    <c:v>Lena</c:v>
                  </c:pt>
                  <c:pt idx="1">
                    <c:v>Boat</c:v>
                  </c:pt>
                  <c:pt idx="2">
                    <c:v>Cameraman</c:v>
                  </c:pt>
                  <c:pt idx="3">
                    <c:v>Peppers</c:v>
                  </c:pt>
                </c:lvl>
              </c:multiLvlStrCache>
            </c:multiLvlStrRef>
          </c:cat>
          <c:val>
            <c:numRef>
              <c:f>Sheet1!$C$2:$C$5</c:f>
              <c:numCache>
                <c:formatCode>General</c:formatCode>
                <c:ptCount val="4"/>
                <c:pt idx="0">
                  <c:v>4.665</c:v>
                </c:pt>
                <c:pt idx="1">
                  <c:v>4.061</c:v>
                </c:pt>
                <c:pt idx="2">
                  <c:v>3.682</c:v>
                </c:pt>
                <c:pt idx="3">
                  <c:v>4.365</c:v>
                </c:pt>
              </c:numCache>
            </c:numRef>
          </c:val>
        </c:ser>
        <c:dLbls>
          <c:numFmt formatCode="0.00" sourceLinked="0"/>
          <c:txPr>
            <a:bodyPr/>
            <a:lstStyle/>
            <a:p>
              <a:pPr>
                <a:defRPr b="0" i="0" strike="noStrike" sz="1100" u="none">
                  <a:solidFill>
                    <a:srgbClr val="1F1A33"/>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2"/>
        <c:crosses val="autoZero"/>
        <c:auto val="1"/>
        <c:lblAlgn val="ctr"/>
        <c:noMultiLvlLbl val="1"/>
      </c:catAx>
      <c:valAx>
        <c:axId val="2094734552"/>
        <c:scaling>
          <c:orientation val="minMax"/>
          <c:max val="6"/>
          <c:min val="0"/>
        </c:scaling>
        <c:delete val="0"/>
        <c:axPos val="l"/>
        <c:majorGridlines>
          <c:spPr>
            <a:ln w="9525" cap="flat">
              <a:solidFill>
                <a:srgbClr val="E6E1F0"/>
              </a:solidFill>
              <a:prstDash val="solid"/>
              <a:round/>
            </a:ln>
          </c:spPr>
        </c:majorGridlines>
        <c:title>
          <c:tx>
            <c:rich>
              <a:bodyPr/>
              <a:lstStyle/>
              <a:p>
                <a:pPr>
                  <a:defRPr sz="1200" b="0" i="0" u="none" strike="noStrike">
                    <a:solidFill>
                      <a:srgbClr val="5E5878"/>
                    </a:solidFill>
                    <a:latin typeface="Arial"/>
                  </a:defRPr>
                </a:pPr>
                <a:r>
                  <a:rPr sz="1200" b="0" i="0" u="none" strike="noStrike">
                    <a:solidFill>
                      <a:srgbClr val="5E5878"/>
                    </a:solidFill>
                    <a:latin typeface="Arial"/>
                  </a:rPr>
                  <a:t>bits per index</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E5878"/>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A33"/>
                </a:solidFill>
                <a:latin typeface="Calibri"/>
              </a:defRPr>
            </a:pPr>
            <a:r>
              <a:rPr sz="1400" b="0" i="0" u="none" strike="noStrike">
                <a:solidFill>
                  <a:srgbClr val="1F1A33"/>
                </a:solidFill>
                <a:latin typeface="Calibri"/>
              </a:rPr>
              <a:t>Mean over the four grayscale images</a:t>
            </a:r>
          </a:p>
        </c:rich>
      </c:tx>
      <c:layout/>
      <c:overlay val="0"/>
    </c:title>
    <c:autoTitleDeleted val="0"/>
    <c:plotArea>
      <c:layout/>
      <c:barChart>
        <c:barDir val="col"/>
        <c:grouping val="clustered"/>
        <c:varyColors val="0"/>
        <c:ser>
          <c:idx val="0"/>
          <c:order val="0"/>
          <c:tx>
            <c:strRef>
              <c:f>Sheet1!$B$1</c:f>
              <c:strCache>
                <c:ptCount val="1"/>
                <c:pt idx="0">
                  <c:v>System CR</c:v>
                </c:pt>
              </c:strCache>
            </c:strRef>
          </c:tx>
          <c:spPr>
            <a:solidFill>
              <a:srgbClr val="A794D6"/>
            </a:solidFill>
            <a:effectLst/>
          </c:spPr>
          <c:invertIfNegative val="0"/>
          <c:dLbls>
            <c:numFmt formatCode="0.00" sourceLinked="0"/>
            <c:txPr>
              <a:bodyPr/>
              <a:lstStyle/>
              <a:p>
                <a:pPr>
                  <a:defRPr b="1" i="0" strike="noStrike" sz="1400" u="none">
                    <a:solidFill>
                      <a:srgbClr val="1F1A33"/>
                    </a:solidFill>
                    <a:latin typeface="Calibri"/>
                  </a:defRPr>
                </a:pPr>
              </a:p>
            </c:txPr>
            <c:showLegendKey val="0"/>
            <c:showVal val="1"/>
            <c:showCatName val="0"/>
            <c:showSerName val="0"/>
            <c:showPercent val="0"/>
            <c:showBubbleSize val="0"/>
            <c:showLeaderLines val="0"/>
          </c:dLbls>
          <c:dPt>
            <c:idx val="0"/>
            <c:invertIfNegative val="0"/>
            <c:bubble3D val="0"/>
            <c:spPr>
              <a:solidFill>
                <a:srgbClr val="A794D6"/>
              </a:solidFill>
              <a:effectLst/>
            </c:spPr>
          </c:dPt>
          <c:dPt>
            <c:idx val="1"/>
            <c:invertIfNegative val="0"/>
            <c:bubble3D val="0"/>
            <c:spPr>
              <a:solidFill>
                <a:srgbClr val="6B4FA3"/>
              </a:solidFill>
              <a:effectLst/>
            </c:spPr>
          </c:dPt>
          <c:dPt>
            <c:idx val="2"/>
            <c:invertIfNegative val="0"/>
            <c:bubble3D val="0"/>
            <c:spPr>
              <a:solidFill>
                <a:srgbClr val="E0457B"/>
              </a:solidFill>
              <a:effectLst/>
            </c:spPr>
          </c:dPt>
          <c:cat>
            <c:multiLvlStrRef>
              <c:f>Sheet1!$A$2:$A$4</c:f>
              <c:multiLvlStrCache>
                <c:ptCount val="3"/>
                <c:lvl>
                  <c:pt idx="0">
                    <c:v>Fixed 8-bit indices</c:v>
                  </c:pt>
                  <c:pt idx="1">
                    <c:v>Fixed 6-bit indices</c:v>
                  </c:pt>
                  <c:pt idx="2">
                    <c:v>Delta + Huffman</c:v>
                  </c:pt>
                </c:lvl>
              </c:multiLvlStrCache>
            </c:multiLvlStrRef>
          </c:cat>
          <c:val>
            <c:numRef>
              <c:f>Sheet1!$B$2:$B$4</c:f>
              <c:numCache>
                <c:formatCode>General</c:formatCode>
                <c:ptCount val="3"/>
                <c:pt idx="0">
                  <c:v>15.06</c:v>
                </c:pt>
                <c:pt idx="1">
                  <c:v>19.69</c:v>
                </c:pt>
                <c:pt idx="2">
                  <c:v>25.92</c:v>
                </c:pt>
              </c:numCache>
            </c:numRef>
          </c:val>
        </c:ser>
        <c:dLbls>
          <c:numFmt formatCode="0.00" sourceLinked="0"/>
          <c:txPr>
            <a:bodyPr/>
            <a:lstStyle/>
            <a:p>
              <a:pPr>
                <a:defRPr b="1" i="0" strike="noStrike" sz="1400" u="none">
                  <a:solidFill>
                    <a:srgbClr val="1F1A33"/>
                  </a:solidFill>
                  <a:latin typeface="Calibri"/>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2"/>
        <c:crosses val="autoZero"/>
        <c:auto val="1"/>
        <c:lblAlgn val="ctr"/>
        <c:noMultiLvlLbl val="1"/>
      </c:catAx>
      <c:valAx>
        <c:axId val="2094734552"/>
        <c:scaling>
          <c:orientation val="minMax"/>
          <c:max val="30"/>
          <c:min val="0"/>
        </c:scaling>
        <c:delete val="0"/>
        <c:axPos val="l"/>
        <c:majorGridlines>
          <c:spPr>
            <a:ln w="9525" cap="flat">
              <a:solidFill>
                <a:srgbClr val="E6E1F0"/>
              </a:solidFill>
              <a:prstDash val="solid"/>
              <a:round/>
            </a:ln>
          </c:spPr>
        </c:majorGridlines>
        <c:title>
          <c:tx>
            <c:rich>
              <a:bodyPr/>
              <a:lstStyle/>
              <a:p>
                <a:pPr>
                  <a:defRPr sz="1200" b="0" i="0" u="none" strike="noStrike">
                    <a:solidFill>
                      <a:srgbClr val="5E5878"/>
                    </a:solidFill>
                    <a:latin typeface="Arial"/>
                  </a:defRPr>
                </a:pPr>
                <a:r>
                  <a:rPr sz="1200" b="0" i="0" u="none" strike="noStrike">
                    <a:solidFill>
                      <a:srgbClr val="5E5878"/>
                    </a:solidFill>
                    <a:latin typeface="Arial"/>
                  </a:rPr>
                  <a:t>CR</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A33"/>
                </a:solidFill>
                <a:latin typeface="Calibri"/>
              </a:defRPr>
            </a:pPr>
            <a:r>
              <a:rPr sz="1400" b="0" i="0" u="none" strike="noStrike">
                <a:solidFill>
                  <a:srgbClr val="1F1A33"/>
                </a:solidFill>
                <a:latin typeface="Calibri"/>
              </a:rPr>
              <a:t>System compression ratio</a:t>
            </a:r>
          </a:p>
        </c:rich>
      </c:tx>
      <c:layout/>
      <c:overlay val="0"/>
    </c:title>
    <c:autoTitleDeleted val="0"/>
    <c:plotArea>
      <c:layout/>
      <c:barChart>
        <c:barDir val="col"/>
        <c:grouping val="clustered"/>
        <c:varyColors val="0"/>
        <c:ser>
          <c:idx val="0"/>
          <c:order val="0"/>
          <c:tx>
            <c:strRef>
              <c:f>Sheet1!$B$1</c:f>
              <c:strCache>
                <c:ptCount val="1"/>
                <c:pt idx="0">
                  <c:v>CR</c:v>
                </c:pt>
              </c:strCache>
            </c:strRef>
          </c:tx>
          <c:spPr>
            <a:solidFill>
              <a:srgbClr val="E0457B"/>
            </a:solidFill>
            <a:effectLst/>
          </c:spPr>
          <c:invertIfNegative val="0"/>
          <c:dLbls>
            <c:numFmt formatCode="0.0" sourceLinked="0"/>
            <c:txPr>
              <a:bodyPr/>
              <a:lstStyle/>
              <a:p>
                <a:pPr>
                  <a:defRPr b="0" i="0" strike="noStrike" sz="1100" u="none">
                    <a:solidFill>
                      <a:srgbClr val="1F1A33"/>
                    </a:solidFill>
                    <a:latin typeface="Calibri"/>
                  </a:defRPr>
                </a:pPr>
              </a:p>
            </c:txPr>
            <c:showLegendKey val="0"/>
            <c:showVal val="1"/>
            <c:showCatName val="0"/>
            <c:showSerName val="0"/>
            <c:showPercent val="0"/>
            <c:showBubbleSize val="0"/>
            <c:showLeaderLines val="0"/>
          </c:dLbls>
          <c:cat>
            <c:multiLvlStrRef>
              <c:f>Sheet1!$A$2:$A$6</c:f>
              <c:multiLvlStrCache>
                <c:ptCount val="5"/>
                <c:lvl>
                  <c:pt idx="0">
                    <c:v>2x2 K64</c:v>
                  </c:pt>
                  <c:pt idx="1">
                    <c:v>4x4 K128</c:v>
                  </c:pt>
                  <c:pt idx="2">
                    <c:v>4x4 K64</c:v>
                  </c:pt>
                  <c:pt idx="3">
                    <c:v>4x4 K32</c:v>
                  </c:pt>
                  <c:pt idx="4">
                    <c:v>8x8 K64</c:v>
                  </c:pt>
                </c:lvl>
              </c:multiLvlStrCache>
            </c:multiLvlStrRef>
          </c:cat>
          <c:val>
            <c:numRef>
              <c:f>Sheet1!$B$2:$B$6</c:f>
              <c:numCache>
                <c:formatCode>General</c:formatCode>
                <c:ptCount val="5"/>
                <c:pt idx="0">
                  <c:v>7.578</c:v>
                </c:pt>
                <c:pt idx="1">
                  <c:v>19.39</c:v>
                </c:pt>
                <c:pt idx="2">
                  <c:v>25.918</c:v>
                </c:pt>
                <c:pt idx="3">
                  <c:v>34.62</c:v>
                </c:pt>
                <c:pt idx="4">
                  <c:v>37.88</c:v>
                </c:pt>
              </c:numCache>
            </c:numRef>
          </c:val>
        </c:ser>
        <c:dLbls>
          <c:numFmt formatCode="0.0" sourceLinked="0"/>
          <c:txPr>
            <a:bodyPr/>
            <a:lstStyle/>
            <a:p>
              <a:pPr>
                <a:defRPr b="0" i="0" strike="noStrike" sz="1100" u="none">
                  <a:solidFill>
                    <a:srgbClr val="1F1A33"/>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2"/>
        <c:crosses val="autoZero"/>
        <c:auto val="1"/>
        <c:lblAlgn val="ctr"/>
        <c:noMultiLvlLbl val="1"/>
      </c:catAx>
      <c:valAx>
        <c:axId val="2094734552"/>
        <c:scaling>
          <c:orientation val="minMax"/>
          <c:max val="45"/>
          <c:min val="0"/>
        </c:scaling>
        <c:delete val="0"/>
        <c:axPos val="l"/>
        <c:majorGridlines>
          <c:spPr>
            <a:ln w="9525" cap="flat">
              <a:solidFill>
                <a:srgbClr val="E6E1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A33"/>
                </a:solidFill>
                <a:latin typeface="Calibri"/>
              </a:defRPr>
            </a:pPr>
            <a:r>
              <a:rPr sz="1400" b="0" i="0" u="none" strike="noStrike">
                <a:solidFill>
                  <a:srgbClr val="1F1A33"/>
                </a:solidFill>
                <a:latin typeface="Calibri"/>
              </a:rPr>
              <a:t>PSNR (dB)</a:t>
            </a:r>
          </a:p>
        </c:rich>
      </c:tx>
      <c:layout/>
      <c:overlay val="0"/>
    </c:title>
    <c:autoTitleDeleted val="0"/>
    <c:plotArea>
      <c:layout/>
      <c:barChart>
        <c:barDir val="col"/>
        <c:grouping val="clustered"/>
        <c:varyColors val="0"/>
        <c:ser>
          <c:idx val="0"/>
          <c:order val="0"/>
          <c:tx>
            <c:strRef>
              <c:f>Sheet1!$B$1</c:f>
              <c:strCache>
                <c:ptCount val="1"/>
                <c:pt idx="0">
                  <c:v>PSNR</c:v>
                </c:pt>
              </c:strCache>
            </c:strRef>
          </c:tx>
          <c:spPr>
            <a:solidFill>
              <a:srgbClr val="6B4FA3"/>
            </a:solidFill>
            <a:effectLst/>
          </c:spPr>
          <c:invertIfNegative val="0"/>
          <c:dLbls>
            <c:numFmt formatCode="0.0" sourceLinked="0"/>
            <c:txPr>
              <a:bodyPr/>
              <a:lstStyle/>
              <a:p>
                <a:pPr>
                  <a:defRPr b="0" i="0" strike="noStrike" sz="1100" u="none">
                    <a:solidFill>
                      <a:srgbClr val="1F1A33"/>
                    </a:solidFill>
                    <a:latin typeface="Calibri"/>
                  </a:defRPr>
                </a:pPr>
              </a:p>
            </c:txPr>
            <c:showLegendKey val="0"/>
            <c:showVal val="1"/>
            <c:showCatName val="0"/>
            <c:showSerName val="0"/>
            <c:showPercent val="0"/>
            <c:showBubbleSize val="0"/>
            <c:showLeaderLines val="0"/>
          </c:dLbls>
          <c:cat>
            <c:multiLvlStrRef>
              <c:f>Sheet1!$A$2:$A$6</c:f>
              <c:multiLvlStrCache>
                <c:ptCount val="5"/>
                <c:lvl>
                  <c:pt idx="0">
                    <c:v>2x2 K64</c:v>
                  </c:pt>
                  <c:pt idx="1">
                    <c:v>4x4 K128</c:v>
                  </c:pt>
                  <c:pt idx="2">
                    <c:v>4x4 K64</c:v>
                  </c:pt>
                  <c:pt idx="3">
                    <c:v>4x4 K32</c:v>
                  </c:pt>
                  <c:pt idx="4">
                    <c:v>8x8 K64</c:v>
                  </c:pt>
                </c:lvl>
              </c:multiLvlStrCache>
            </c:multiLvlStrRef>
          </c:cat>
          <c:val>
            <c:numRef>
              <c:f>Sheet1!$B$2:$B$6</c:f>
              <c:numCache>
                <c:formatCode>General</c:formatCode>
                <c:ptCount val="5"/>
                <c:pt idx="0">
                  <c:v>33.825</c:v>
                </c:pt>
                <c:pt idx="1">
                  <c:v>30.675</c:v>
                </c:pt>
                <c:pt idx="2">
                  <c:v>29.485</c:v>
                </c:pt>
                <c:pt idx="3">
                  <c:v>28.273</c:v>
                </c:pt>
                <c:pt idx="4">
                  <c:v>26.322</c:v>
                </c:pt>
              </c:numCache>
            </c:numRef>
          </c:val>
        </c:ser>
        <c:dLbls>
          <c:numFmt formatCode="0.0" sourceLinked="0"/>
          <c:txPr>
            <a:bodyPr/>
            <a:lstStyle/>
            <a:p>
              <a:pPr>
                <a:defRPr b="0" i="0" strike="noStrike" sz="1100" u="none">
                  <a:solidFill>
                    <a:srgbClr val="1F1A33"/>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2"/>
        <c:crosses val="autoZero"/>
        <c:auto val="1"/>
        <c:lblAlgn val="ctr"/>
        <c:noMultiLvlLbl val="1"/>
      </c:catAx>
      <c:valAx>
        <c:axId val="2094734552"/>
        <c:scaling>
          <c:orientation val="minMax"/>
          <c:max val="36"/>
          <c:min val="20"/>
        </c:scaling>
        <c:delete val="0"/>
        <c:axPos val="l"/>
        <c:majorGridlines>
          <c:spPr>
            <a:ln w="9525" cap="flat">
              <a:solidFill>
                <a:srgbClr val="E6E1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A33"/>
                </a:solidFill>
                <a:latin typeface="Calibri"/>
              </a:defRPr>
            </a:pPr>
            <a:r>
              <a:rPr sz="1400" b="0" i="0" u="none" strike="noStrike">
                <a:solidFill>
                  <a:srgbClr val="1F1A33"/>
                </a:solidFill>
                <a:latin typeface="Calibri"/>
              </a:rPr>
              <a:t>CR</a:t>
            </a:r>
          </a:p>
        </c:rich>
      </c:tx>
      <c:layout/>
      <c:overlay val="0"/>
    </c:title>
    <c:autoTitleDeleted val="0"/>
    <c:plotArea>
      <c:layout/>
      <c:barChart>
        <c:barDir val="col"/>
        <c:grouping val="clustered"/>
        <c:varyColors val="0"/>
        <c:ser>
          <c:idx val="0"/>
          <c:order val="0"/>
          <c:tx>
            <c:strRef>
              <c:f>Sheet1!$B$1</c:f>
              <c:strCache>
                <c:ptCount val="1"/>
                <c:pt idx="0">
                  <c:v>CR</c:v>
                </c:pt>
              </c:strCache>
            </c:strRef>
          </c:tx>
          <c:spPr>
            <a:solidFill>
              <a:srgbClr val="E0457B"/>
            </a:solidFill>
            <a:effectLst/>
          </c:spPr>
          <c:invertIfNegative val="0"/>
          <c:dLbls>
            <c:numFmt formatCode="0.00" sourceLinked="0"/>
            <c:txPr>
              <a:bodyPr/>
              <a:lstStyle/>
              <a:p>
                <a:pPr>
                  <a:defRPr b="0" i="0" strike="noStrike" sz="1100" u="none">
                    <a:solidFill>
                      <a:srgbClr val="1F1A33"/>
                    </a:solidFill>
                    <a:latin typeface="Calibri"/>
                  </a:defRPr>
                </a:pPr>
              </a:p>
            </c:txPr>
            <c:showLegendKey val="0"/>
            <c:showVal val="1"/>
            <c:showCatName val="0"/>
            <c:showSerName val="0"/>
            <c:showPercent val="0"/>
            <c:showBubbleSize val="0"/>
            <c:showLeaderLines val="0"/>
          </c:dLbls>
          <c:cat>
            <c:multiLvlStrRef>
              <c:f>Sheet1!$A$2:$A$5</c:f>
              <c:multiLvlStrCache>
                <c:ptCount val="4"/>
                <c:lvl>
                  <c:pt idx="0">
                    <c:v>Lena</c:v>
                  </c:pt>
                  <c:pt idx="1">
                    <c:v>Boat</c:v>
                  </c:pt>
                  <c:pt idx="2">
                    <c:v>Cameraman</c:v>
                  </c:pt>
                  <c:pt idx="3">
                    <c:v>Peppers</c:v>
                  </c:pt>
                </c:lvl>
              </c:multiLvlStrCache>
            </c:multiLvlStrRef>
          </c:cat>
          <c:val>
            <c:numRef>
              <c:f>Sheet1!$B$2:$B$5</c:f>
              <c:numCache>
                <c:formatCode>General</c:formatCode>
                <c:ptCount val="4"/>
                <c:pt idx="0">
                  <c:v>23.5</c:v>
                </c:pt>
                <c:pt idx="1">
                  <c:v>26.54</c:v>
                </c:pt>
                <c:pt idx="2">
                  <c:v>28.88</c:v>
                </c:pt>
                <c:pt idx="3">
                  <c:v>24.75</c:v>
                </c:pt>
              </c:numCache>
            </c:numRef>
          </c:val>
        </c:ser>
        <c:dLbls>
          <c:numFmt formatCode="0.00" sourceLinked="0"/>
          <c:txPr>
            <a:bodyPr/>
            <a:lstStyle/>
            <a:p>
              <a:pPr>
                <a:defRPr b="0" i="0" strike="noStrike" sz="1100" u="none">
                  <a:solidFill>
                    <a:srgbClr val="1F1A33"/>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2"/>
        <c:crosses val="autoZero"/>
        <c:auto val="1"/>
        <c:lblAlgn val="ctr"/>
        <c:noMultiLvlLbl val="1"/>
      </c:catAx>
      <c:valAx>
        <c:axId val="2094734552"/>
        <c:scaling>
          <c:orientation val="minMax"/>
          <c:max val="35"/>
          <c:min val="0"/>
        </c:scaling>
        <c:delete val="0"/>
        <c:axPos val="l"/>
        <c:majorGridlines>
          <c:spPr>
            <a:ln w="9525" cap="flat">
              <a:solidFill>
                <a:srgbClr val="E6E1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A33"/>
                </a:solidFill>
                <a:latin typeface="Calibri"/>
              </a:defRPr>
            </a:pPr>
            <a:r>
              <a:rPr sz="1400" b="0" i="0" u="none" strike="noStrike">
                <a:solidFill>
                  <a:srgbClr val="1F1A33"/>
                </a:solidFill>
                <a:latin typeface="Calibri"/>
              </a:rPr>
              <a:t>PSNR (dB)</a:t>
            </a:r>
          </a:p>
        </c:rich>
      </c:tx>
      <c:layout/>
      <c:overlay val="0"/>
    </c:title>
    <c:autoTitleDeleted val="0"/>
    <c:plotArea>
      <c:layout/>
      <c:barChart>
        <c:barDir val="col"/>
        <c:grouping val="clustered"/>
        <c:varyColors val="0"/>
        <c:ser>
          <c:idx val="0"/>
          <c:order val="0"/>
          <c:tx>
            <c:strRef>
              <c:f>Sheet1!$B$1</c:f>
              <c:strCache>
                <c:ptCount val="1"/>
                <c:pt idx="0">
                  <c:v>PSNR</c:v>
                </c:pt>
              </c:strCache>
            </c:strRef>
          </c:tx>
          <c:spPr>
            <a:solidFill>
              <a:srgbClr val="6B4FA3"/>
            </a:solidFill>
            <a:effectLst/>
          </c:spPr>
          <c:invertIfNegative val="0"/>
          <c:dLbls>
            <c:numFmt formatCode="0.00" sourceLinked="0"/>
            <c:txPr>
              <a:bodyPr/>
              <a:lstStyle/>
              <a:p>
                <a:pPr>
                  <a:defRPr b="0" i="0" strike="noStrike" sz="1100" u="none">
                    <a:solidFill>
                      <a:srgbClr val="1F1A33"/>
                    </a:solidFill>
                    <a:latin typeface="Calibri"/>
                  </a:defRPr>
                </a:pPr>
              </a:p>
            </c:txPr>
            <c:showLegendKey val="0"/>
            <c:showVal val="1"/>
            <c:showCatName val="0"/>
            <c:showSerName val="0"/>
            <c:showPercent val="0"/>
            <c:showBubbleSize val="0"/>
            <c:showLeaderLines val="0"/>
          </c:dLbls>
          <c:cat>
            <c:multiLvlStrRef>
              <c:f>Sheet1!$A$2:$A$5</c:f>
              <c:multiLvlStrCache>
                <c:ptCount val="4"/>
                <c:lvl>
                  <c:pt idx="0">
                    <c:v>Lena</c:v>
                  </c:pt>
                  <c:pt idx="1">
                    <c:v>Boat</c:v>
                  </c:pt>
                  <c:pt idx="2">
                    <c:v>Cameraman</c:v>
                  </c:pt>
                  <c:pt idx="3">
                    <c:v>Peppers</c:v>
                  </c:pt>
                </c:lvl>
              </c:multiLvlStrCache>
            </c:multiLvlStrRef>
          </c:cat>
          <c:val>
            <c:numRef>
              <c:f>Sheet1!$B$2:$B$5</c:f>
              <c:numCache>
                <c:formatCode>General</c:formatCode>
                <c:ptCount val="4"/>
                <c:pt idx="0">
                  <c:v>29.67</c:v>
                </c:pt>
                <c:pt idx="1">
                  <c:v>29.11</c:v>
                </c:pt>
                <c:pt idx="2">
                  <c:v>29.75</c:v>
                </c:pt>
                <c:pt idx="3">
                  <c:v>29.41</c:v>
                </c:pt>
              </c:numCache>
            </c:numRef>
          </c:val>
        </c:ser>
        <c:dLbls>
          <c:numFmt formatCode="0.00" sourceLinked="0"/>
          <c:txPr>
            <a:bodyPr/>
            <a:lstStyle/>
            <a:p>
              <a:pPr>
                <a:defRPr b="0" i="0" strike="noStrike" sz="1100" u="none">
                  <a:solidFill>
                    <a:srgbClr val="1F1A33"/>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2"/>
        <c:crosses val="autoZero"/>
        <c:auto val="1"/>
        <c:lblAlgn val="ctr"/>
        <c:noMultiLvlLbl val="1"/>
      </c:catAx>
      <c:valAx>
        <c:axId val="2094734552"/>
        <c:scaling>
          <c:orientation val="minMax"/>
          <c:max val="33"/>
          <c:min val="20"/>
        </c:scaling>
        <c:delete val="0"/>
        <c:axPos val="l"/>
        <c:majorGridlines>
          <c:spPr>
            <a:ln w="9525" cap="flat">
              <a:solidFill>
                <a:srgbClr val="E6E1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A33"/>
                </a:solidFill>
                <a:latin typeface="Calibri"/>
              </a:defRPr>
            </a:pPr>
            <a:r>
              <a:rPr sz="1400" b="0" i="0" u="none" strike="noStrike">
                <a:solidFill>
                  <a:srgbClr val="1F1A33"/>
                </a:solidFill>
                <a:latin typeface="Calibri"/>
              </a:rPr>
              <a:t>SSIM</a:t>
            </a:r>
          </a:p>
        </c:rich>
      </c:tx>
      <c:layout/>
      <c:overlay val="0"/>
    </c:title>
    <c:autoTitleDeleted val="0"/>
    <c:plotArea>
      <c:layout/>
      <c:barChart>
        <c:barDir val="col"/>
        <c:grouping val="clustered"/>
        <c:varyColors val="0"/>
        <c:ser>
          <c:idx val="0"/>
          <c:order val="0"/>
          <c:tx>
            <c:strRef>
              <c:f>Sheet1!$B$1</c:f>
              <c:strCache>
                <c:ptCount val="1"/>
                <c:pt idx="0">
                  <c:v>SSIM</c:v>
                </c:pt>
              </c:strCache>
            </c:strRef>
          </c:tx>
          <c:spPr>
            <a:solidFill>
              <a:srgbClr val="2A9D8F"/>
            </a:solidFill>
            <a:effectLst/>
          </c:spPr>
          <c:invertIfNegative val="0"/>
          <c:dLbls>
            <c:numFmt formatCode="0.000" sourceLinked="0"/>
            <c:txPr>
              <a:bodyPr/>
              <a:lstStyle/>
              <a:p>
                <a:pPr>
                  <a:defRPr b="0" i="0" strike="noStrike" sz="1100" u="none">
                    <a:solidFill>
                      <a:srgbClr val="1F1A33"/>
                    </a:solidFill>
                    <a:latin typeface="Calibri"/>
                  </a:defRPr>
                </a:pPr>
              </a:p>
            </c:txPr>
            <c:showLegendKey val="0"/>
            <c:showVal val="1"/>
            <c:showCatName val="0"/>
            <c:showSerName val="0"/>
            <c:showPercent val="0"/>
            <c:showBubbleSize val="0"/>
            <c:showLeaderLines val="0"/>
          </c:dLbls>
          <c:cat>
            <c:multiLvlStrRef>
              <c:f>Sheet1!$A$2:$A$5</c:f>
              <c:multiLvlStrCache>
                <c:ptCount val="4"/>
                <c:lvl>
                  <c:pt idx="0">
                    <c:v>Lena</c:v>
                  </c:pt>
                  <c:pt idx="1">
                    <c:v>Boat</c:v>
                  </c:pt>
                  <c:pt idx="2">
                    <c:v>Cameraman</c:v>
                  </c:pt>
                  <c:pt idx="3">
                    <c:v>Peppers</c:v>
                  </c:pt>
                </c:lvl>
              </c:multiLvlStrCache>
            </c:multiLvlStrRef>
          </c:cat>
          <c:val>
            <c:numRef>
              <c:f>Sheet1!$B$2:$B$5</c:f>
              <c:numCache>
                <c:formatCode>General</c:formatCode>
                <c:ptCount val="4"/>
                <c:pt idx="0">
                  <c:v>0.819</c:v>
                </c:pt>
                <c:pt idx="1">
                  <c:v>0.8394</c:v>
                </c:pt>
                <c:pt idx="2">
                  <c:v>0.8855</c:v>
                </c:pt>
                <c:pt idx="3">
                  <c:v>0.7624</c:v>
                </c:pt>
              </c:numCache>
            </c:numRef>
          </c:val>
        </c:ser>
        <c:dLbls>
          <c:numFmt formatCode="0.000" sourceLinked="0"/>
          <c:txPr>
            <a:bodyPr/>
            <a:lstStyle/>
            <a:p>
              <a:pPr>
                <a:defRPr b="0" i="0" strike="noStrike" sz="1100" u="none">
                  <a:solidFill>
                    <a:srgbClr val="1F1A33"/>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2"/>
        <c:crosses val="autoZero"/>
        <c:auto val="1"/>
        <c:lblAlgn val="ctr"/>
        <c:noMultiLvlLbl val="1"/>
      </c:catAx>
      <c:valAx>
        <c:axId val="2094734552"/>
        <c:scaling>
          <c:orientation val="minMax"/>
          <c:max val="1"/>
          <c:min val="0.6"/>
        </c:scaling>
        <c:delete val="0"/>
        <c:axPos val="l"/>
        <c:majorGridlines>
          <c:spPr>
            <a:ln w="9525" cap="flat">
              <a:solidFill>
                <a:srgbClr val="E6E1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A33"/>
                </a:solidFill>
                <a:latin typeface="Calibri"/>
              </a:defRPr>
            </a:pPr>
            <a:r>
              <a:rPr sz="1400" b="0" i="0" u="none" strike="noStrike">
                <a:solidFill>
                  <a:srgbClr val="1F1A33"/>
                </a:solidFill>
                <a:latin typeface="Calibri"/>
              </a:rPr>
              <a:t>CR</a:t>
            </a:r>
          </a:p>
        </c:rich>
      </c:tx>
      <c:layout/>
      <c:overlay val="0"/>
    </c:title>
    <c:autoTitleDeleted val="0"/>
    <c:plotArea>
      <c:layout/>
      <c:barChart>
        <c:barDir val="col"/>
        <c:grouping val="clustered"/>
        <c:varyColors val="0"/>
        <c:ser>
          <c:idx val="0"/>
          <c:order val="0"/>
          <c:tx>
            <c:strRef>
              <c:f>Sheet1!$B$1</c:f>
              <c:strCache>
                <c:ptCount val="1"/>
                <c:pt idx="0">
                  <c:v>CR</c:v>
                </c:pt>
              </c:strCache>
            </c:strRef>
          </c:tx>
          <c:spPr>
            <a:solidFill>
              <a:srgbClr val="E0457B"/>
            </a:solidFill>
            <a:effectLst/>
          </c:spPr>
          <c:invertIfNegative val="0"/>
          <c:dLbls>
            <c:numFmt formatCode="0.00" sourceLinked="0"/>
            <c:txPr>
              <a:bodyPr/>
              <a:lstStyle/>
              <a:p>
                <a:pPr>
                  <a:defRPr b="0" i="0" strike="noStrike" sz="1100" u="none">
                    <a:solidFill>
                      <a:srgbClr val="1F1A33"/>
                    </a:solidFill>
                    <a:latin typeface="Calibri"/>
                  </a:defRPr>
                </a:pPr>
              </a:p>
            </c:txPr>
            <c:showLegendKey val="0"/>
            <c:showVal val="1"/>
            <c:showCatName val="0"/>
            <c:showSerName val="0"/>
            <c:showPercent val="0"/>
            <c:showBubbleSize val="0"/>
            <c:showLeaderLines val="0"/>
          </c:dLbls>
          <c:cat>
            <c:multiLvlStrRef>
              <c:f>Sheet1!$A$2:$A$5</c:f>
              <c:multiLvlStrCache>
                <c:ptCount val="4"/>
                <c:lvl>
                  <c:pt idx="0">
                    <c:v>Lena</c:v>
                  </c:pt>
                  <c:pt idx="1">
                    <c:v>Peppers</c:v>
                  </c:pt>
                  <c:pt idx="2">
                    <c:v>F-16</c:v>
                  </c:pt>
                  <c:pt idx="3">
                    <c:v>Gold Hill</c:v>
                  </c:pt>
                </c:lvl>
              </c:multiLvlStrCache>
            </c:multiLvlStrRef>
          </c:cat>
          <c:val>
            <c:numRef>
              <c:f>Sheet1!$B$2:$B$5</c:f>
              <c:numCache>
                <c:formatCode>General</c:formatCode>
                <c:ptCount val="4"/>
                <c:pt idx="0">
                  <c:v>24</c:v>
                </c:pt>
                <c:pt idx="1">
                  <c:v>23.89</c:v>
                </c:pt>
                <c:pt idx="2">
                  <c:v>26.44</c:v>
                </c:pt>
                <c:pt idx="3">
                  <c:v>23.54</c:v>
                </c:pt>
              </c:numCache>
            </c:numRef>
          </c:val>
        </c:ser>
        <c:dLbls>
          <c:numFmt formatCode="0.00" sourceLinked="0"/>
          <c:txPr>
            <a:bodyPr/>
            <a:lstStyle/>
            <a:p>
              <a:pPr>
                <a:defRPr b="0" i="0" strike="noStrike" sz="1100" u="none">
                  <a:solidFill>
                    <a:srgbClr val="1F1A33"/>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2"/>
        <c:crosses val="autoZero"/>
        <c:auto val="1"/>
        <c:lblAlgn val="ctr"/>
        <c:noMultiLvlLbl val="1"/>
      </c:catAx>
      <c:valAx>
        <c:axId val="2094734552"/>
        <c:scaling>
          <c:orientation val="minMax"/>
          <c:max val="35"/>
          <c:min val="0"/>
        </c:scaling>
        <c:delete val="0"/>
        <c:axPos val="l"/>
        <c:majorGridlines>
          <c:spPr>
            <a:ln w="9525" cap="flat">
              <a:solidFill>
                <a:srgbClr val="E6E1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A33"/>
                </a:solidFill>
                <a:latin typeface="Calibri"/>
              </a:defRPr>
            </a:pPr>
            <a:r>
              <a:rPr sz="1400" b="0" i="0" u="none" strike="noStrike">
                <a:solidFill>
                  <a:srgbClr val="1F1A33"/>
                </a:solidFill>
                <a:latin typeface="Calibri"/>
              </a:rPr>
              <a:t>PSNR (dB)</a:t>
            </a:r>
          </a:p>
        </c:rich>
      </c:tx>
      <c:layout/>
      <c:overlay val="0"/>
    </c:title>
    <c:autoTitleDeleted val="0"/>
    <c:plotArea>
      <c:layout/>
      <c:barChart>
        <c:barDir val="col"/>
        <c:grouping val="clustered"/>
        <c:varyColors val="0"/>
        <c:ser>
          <c:idx val="0"/>
          <c:order val="0"/>
          <c:tx>
            <c:strRef>
              <c:f>Sheet1!$B$1</c:f>
              <c:strCache>
                <c:ptCount val="1"/>
                <c:pt idx="0">
                  <c:v>PSNR</c:v>
                </c:pt>
              </c:strCache>
            </c:strRef>
          </c:tx>
          <c:spPr>
            <a:solidFill>
              <a:srgbClr val="6B4FA3"/>
            </a:solidFill>
            <a:effectLst/>
          </c:spPr>
          <c:invertIfNegative val="0"/>
          <c:dLbls>
            <c:numFmt formatCode="0.00" sourceLinked="0"/>
            <c:txPr>
              <a:bodyPr/>
              <a:lstStyle/>
              <a:p>
                <a:pPr>
                  <a:defRPr b="0" i="0" strike="noStrike" sz="1100" u="none">
                    <a:solidFill>
                      <a:srgbClr val="1F1A33"/>
                    </a:solidFill>
                    <a:latin typeface="Calibri"/>
                  </a:defRPr>
                </a:pPr>
              </a:p>
            </c:txPr>
            <c:showLegendKey val="0"/>
            <c:showVal val="1"/>
            <c:showCatName val="0"/>
            <c:showSerName val="0"/>
            <c:showPercent val="0"/>
            <c:showBubbleSize val="0"/>
            <c:showLeaderLines val="0"/>
          </c:dLbls>
          <c:cat>
            <c:multiLvlStrRef>
              <c:f>Sheet1!$A$2:$A$5</c:f>
              <c:multiLvlStrCache>
                <c:ptCount val="4"/>
                <c:lvl>
                  <c:pt idx="0">
                    <c:v>Lena</c:v>
                  </c:pt>
                  <c:pt idx="1">
                    <c:v>Peppers</c:v>
                  </c:pt>
                  <c:pt idx="2">
                    <c:v>F-16</c:v>
                  </c:pt>
                  <c:pt idx="3">
                    <c:v>Gold Hill</c:v>
                  </c:pt>
                </c:lvl>
              </c:multiLvlStrCache>
            </c:multiLvlStrRef>
          </c:cat>
          <c:val>
            <c:numRef>
              <c:f>Sheet1!$B$2:$B$5</c:f>
              <c:numCache>
                <c:formatCode>General</c:formatCode>
                <c:ptCount val="4"/>
                <c:pt idx="0">
                  <c:v>28.91</c:v>
                </c:pt>
                <c:pt idx="1">
                  <c:v>28.35</c:v>
                </c:pt>
                <c:pt idx="2">
                  <c:v>29.47</c:v>
                </c:pt>
                <c:pt idx="3">
                  <c:v>28.45</c:v>
                </c:pt>
              </c:numCache>
            </c:numRef>
          </c:val>
        </c:ser>
        <c:dLbls>
          <c:numFmt formatCode="0.00" sourceLinked="0"/>
          <c:txPr>
            <a:bodyPr/>
            <a:lstStyle/>
            <a:p>
              <a:pPr>
                <a:defRPr b="0" i="0" strike="noStrike" sz="1100" u="none">
                  <a:solidFill>
                    <a:srgbClr val="1F1A33"/>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2"/>
        <c:crosses val="autoZero"/>
        <c:auto val="1"/>
        <c:lblAlgn val="ctr"/>
        <c:noMultiLvlLbl val="1"/>
      </c:catAx>
      <c:valAx>
        <c:axId val="2094734552"/>
        <c:scaling>
          <c:orientation val="minMax"/>
          <c:max val="33"/>
          <c:min val="20"/>
        </c:scaling>
        <c:delete val="0"/>
        <c:axPos val="l"/>
        <c:majorGridlines>
          <c:spPr>
            <a:ln w="9525" cap="flat">
              <a:solidFill>
                <a:srgbClr val="E6E1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A33"/>
                </a:solidFill>
                <a:latin typeface="Calibri"/>
              </a:defRPr>
            </a:pPr>
            <a:r>
              <a:rPr sz="1400" b="0" i="0" u="none" strike="noStrike">
                <a:solidFill>
                  <a:srgbClr val="1F1A33"/>
                </a:solidFill>
                <a:latin typeface="Calibri"/>
              </a:rPr>
              <a:t>SSIM</a:t>
            </a:r>
          </a:p>
        </c:rich>
      </c:tx>
      <c:layout/>
      <c:overlay val="0"/>
    </c:title>
    <c:autoTitleDeleted val="0"/>
    <c:plotArea>
      <c:layout/>
      <c:barChart>
        <c:barDir val="col"/>
        <c:grouping val="clustered"/>
        <c:varyColors val="0"/>
        <c:ser>
          <c:idx val="0"/>
          <c:order val="0"/>
          <c:tx>
            <c:strRef>
              <c:f>Sheet1!$B$1</c:f>
              <c:strCache>
                <c:ptCount val="1"/>
                <c:pt idx="0">
                  <c:v>SSIM</c:v>
                </c:pt>
              </c:strCache>
            </c:strRef>
          </c:tx>
          <c:spPr>
            <a:solidFill>
              <a:srgbClr val="2A9D8F"/>
            </a:solidFill>
            <a:effectLst/>
          </c:spPr>
          <c:invertIfNegative val="0"/>
          <c:dLbls>
            <c:numFmt formatCode="0.000" sourceLinked="0"/>
            <c:txPr>
              <a:bodyPr/>
              <a:lstStyle/>
              <a:p>
                <a:pPr>
                  <a:defRPr b="0" i="0" strike="noStrike" sz="1100" u="none">
                    <a:solidFill>
                      <a:srgbClr val="1F1A33"/>
                    </a:solidFill>
                    <a:latin typeface="Calibri"/>
                  </a:defRPr>
                </a:pPr>
              </a:p>
            </c:txPr>
            <c:showLegendKey val="0"/>
            <c:showVal val="1"/>
            <c:showCatName val="0"/>
            <c:showSerName val="0"/>
            <c:showPercent val="0"/>
            <c:showBubbleSize val="0"/>
            <c:showLeaderLines val="0"/>
          </c:dLbls>
          <c:cat>
            <c:multiLvlStrRef>
              <c:f>Sheet1!$A$2:$A$5</c:f>
              <c:multiLvlStrCache>
                <c:ptCount val="4"/>
                <c:lvl>
                  <c:pt idx="0">
                    <c:v>Lena</c:v>
                  </c:pt>
                  <c:pt idx="1">
                    <c:v>Peppers</c:v>
                  </c:pt>
                  <c:pt idx="2">
                    <c:v>F-16</c:v>
                  </c:pt>
                  <c:pt idx="3">
                    <c:v>Gold Hill</c:v>
                  </c:pt>
                </c:lvl>
              </c:multiLvlStrCache>
            </c:multiLvlStrRef>
          </c:cat>
          <c:val>
            <c:numRef>
              <c:f>Sheet1!$B$2:$B$5</c:f>
              <c:numCache>
                <c:formatCode>General</c:formatCode>
                <c:ptCount val="4"/>
                <c:pt idx="0">
                  <c:v>0.7594</c:v>
                </c:pt>
                <c:pt idx="1">
                  <c:v>0.6964</c:v>
                </c:pt>
                <c:pt idx="2">
                  <c:v>0.8539</c:v>
                </c:pt>
                <c:pt idx="3">
                  <c:v>0.752</c:v>
                </c:pt>
              </c:numCache>
            </c:numRef>
          </c:val>
        </c:ser>
        <c:dLbls>
          <c:numFmt formatCode="0.000" sourceLinked="0"/>
          <c:txPr>
            <a:bodyPr/>
            <a:lstStyle/>
            <a:p>
              <a:pPr>
                <a:defRPr b="0" i="0" strike="noStrike" sz="1100" u="none">
                  <a:solidFill>
                    <a:srgbClr val="1F1A33"/>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2"/>
        <c:crosses val="autoZero"/>
        <c:auto val="1"/>
        <c:lblAlgn val="ctr"/>
        <c:noMultiLvlLbl val="1"/>
      </c:catAx>
      <c:valAx>
        <c:axId val="2094734552"/>
        <c:scaling>
          <c:orientation val="minMax"/>
          <c:max val="1"/>
          <c:min val="0.5"/>
        </c:scaling>
        <c:delete val="0"/>
        <c:axPos val="l"/>
        <c:majorGridlines>
          <c:spPr>
            <a:ln w="9525" cap="flat">
              <a:solidFill>
                <a:srgbClr val="E6E1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A33"/>
                </a:solidFill>
                <a:latin typeface="Calibri"/>
              </a:defRPr>
            </a:pPr>
            <a:r>
              <a:rPr sz="1400" b="0" i="0" u="none" strike="noStrike">
                <a:solidFill>
                  <a:srgbClr val="1F1A33"/>
                </a:solidFill>
                <a:latin typeface="Calibri"/>
              </a:rPr>
              <a:t>PSNR at approximately matched CR</a:t>
            </a:r>
          </a:p>
        </c:rich>
      </c:tx>
      <c:layout/>
      <c:overlay val="0"/>
    </c:title>
    <c:autoTitleDeleted val="0"/>
    <c:plotArea>
      <c:layout/>
      <c:barChart>
        <c:barDir val="col"/>
        <c:grouping val="clustered"/>
        <c:varyColors val="0"/>
        <c:ser>
          <c:idx val="0"/>
          <c:order val="0"/>
          <c:tx>
            <c:strRef>
              <c:f>Sheet1!$B$1</c:f>
              <c:strCache>
                <c:ptCount val="1"/>
                <c:pt idx="0">
                  <c:v>Proposed VQ</c:v>
                </c:pt>
              </c:strCache>
            </c:strRef>
          </c:tx>
          <c:spPr>
            <a:solidFill>
              <a:srgbClr val="E0457B"/>
            </a:solidFill>
            <a:effectLst/>
          </c:spPr>
          <c:invertIfNegative val="0"/>
          <c:dLbls>
            <c:numFmt formatCode="0.0" sourceLinked="0"/>
            <c:txPr>
              <a:bodyPr/>
              <a:lstStyle/>
              <a:p>
                <a:pPr>
                  <a:defRPr b="0" i="0" strike="noStrike" sz="1000" u="none">
                    <a:solidFill>
                      <a:srgbClr val="1F1A33"/>
                    </a:solidFill>
                    <a:latin typeface="Calibri"/>
                  </a:defRPr>
                </a:pPr>
              </a:p>
            </c:txPr>
            <c:showLegendKey val="0"/>
            <c:showVal val="1"/>
            <c:showCatName val="0"/>
            <c:showSerName val="0"/>
            <c:showPercent val="0"/>
            <c:showBubbleSize val="0"/>
            <c:showLeaderLines val="0"/>
          </c:dLbls>
          <c:cat>
            <c:multiLvlStrRef>
              <c:f>Sheet1!$A$2:$A$5</c:f>
              <c:multiLvlStrCache>
                <c:ptCount val="4"/>
                <c:lvl>
                  <c:pt idx="0">
                    <c:v>Lena</c:v>
                  </c:pt>
                  <c:pt idx="1">
                    <c:v>Boat</c:v>
                  </c:pt>
                  <c:pt idx="2">
                    <c:v>Cameraman</c:v>
                  </c:pt>
                  <c:pt idx="3">
                    <c:v>Peppers</c:v>
                  </c:pt>
                </c:lvl>
              </c:multiLvlStrCache>
            </c:multiLvlStrRef>
          </c:cat>
          <c:val>
            <c:numRef>
              <c:f>Sheet1!$B$2:$B$5</c:f>
              <c:numCache>
                <c:formatCode>General</c:formatCode>
                <c:ptCount val="4"/>
                <c:pt idx="0">
                  <c:v>29.67</c:v>
                </c:pt>
                <c:pt idx="1">
                  <c:v>29.11</c:v>
                </c:pt>
                <c:pt idx="2">
                  <c:v>29.75</c:v>
                </c:pt>
                <c:pt idx="3">
                  <c:v>29.41</c:v>
                </c:pt>
              </c:numCache>
            </c:numRef>
          </c:val>
        </c:ser>
        <c:ser>
          <c:idx val="1"/>
          <c:order val="1"/>
          <c:tx>
            <c:strRef>
              <c:f>Sheet1!$C$1</c:f>
              <c:strCache>
                <c:ptCount val="1"/>
                <c:pt idx="0">
                  <c:v>DWT + Huffman</c:v>
                </c:pt>
              </c:strCache>
            </c:strRef>
          </c:tx>
          <c:spPr>
            <a:solidFill>
              <a:srgbClr val="A794D6"/>
            </a:solidFill>
            <a:effectLst/>
          </c:spPr>
          <c:invertIfNegative val="0"/>
          <c:dLbls>
            <c:numFmt formatCode="0.0" sourceLinked="0"/>
            <c:txPr>
              <a:bodyPr/>
              <a:lstStyle/>
              <a:p>
                <a:pPr>
                  <a:defRPr b="0" i="0" strike="noStrike" sz="1000" u="none">
                    <a:solidFill>
                      <a:srgbClr val="1F1A33"/>
                    </a:solidFill>
                    <a:latin typeface="Calibri"/>
                  </a:defRPr>
                </a:pPr>
              </a:p>
            </c:txPr>
            <c:showLegendKey val="0"/>
            <c:showVal val="1"/>
            <c:showCatName val="0"/>
            <c:showSerName val="0"/>
            <c:showPercent val="0"/>
            <c:showBubbleSize val="0"/>
            <c:showLeaderLines val="0"/>
          </c:dLbls>
          <c:cat>
            <c:multiLvlStrRef>
              <c:f>Sheet1!$A$2:$A$5</c:f>
              <c:multiLvlStrCache>
                <c:ptCount val="4"/>
                <c:lvl>
                  <c:pt idx="0">
                    <c:v>Lena</c:v>
                  </c:pt>
                  <c:pt idx="1">
                    <c:v>Boat</c:v>
                  </c:pt>
                  <c:pt idx="2">
                    <c:v>Cameraman</c:v>
                  </c:pt>
                  <c:pt idx="3">
                    <c:v>Peppers</c:v>
                  </c:pt>
                </c:lvl>
              </c:multiLvlStrCache>
            </c:multiLvlStrRef>
          </c:cat>
          <c:val>
            <c:numRef>
              <c:f>Sheet1!$C$2:$C$5</c:f>
              <c:numCache>
                <c:formatCode>General</c:formatCode>
                <c:ptCount val="4"/>
                <c:pt idx="0">
                  <c:v>26.83</c:v>
                </c:pt>
                <c:pt idx="1">
                  <c:v>26.05</c:v>
                </c:pt>
                <c:pt idx="2">
                  <c:v>26.56</c:v>
                </c:pt>
                <c:pt idx="3">
                  <c:v>26.53</c:v>
                </c:pt>
              </c:numCache>
            </c:numRef>
          </c:val>
        </c:ser>
        <c:ser>
          <c:idx val="2"/>
          <c:order val="2"/>
          <c:tx>
            <c:strRef>
              <c:f>Sheet1!$D$1</c:f>
              <c:strCache>
                <c:ptCount val="1"/>
                <c:pt idx="0">
                  <c:v>JPEG</c:v>
                </c:pt>
              </c:strCache>
            </c:strRef>
          </c:tx>
          <c:spPr>
            <a:solidFill>
              <a:srgbClr val="6B4FA3"/>
            </a:solidFill>
            <a:effectLst/>
          </c:spPr>
          <c:invertIfNegative val="0"/>
          <c:dLbls>
            <c:numFmt formatCode="0.0" sourceLinked="0"/>
            <c:txPr>
              <a:bodyPr/>
              <a:lstStyle/>
              <a:p>
                <a:pPr>
                  <a:defRPr b="0" i="0" strike="noStrike" sz="1000" u="none">
                    <a:solidFill>
                      <a:srgbClr val="1F1A33"/>
                    </a:solidFill>
                    <a:latin typeface="Calibri"/>
                  </a:defRPr>
                </a:pPr>
              </a:p>
            </c:txPr>
            <c:showLegendKey val="0"/>
            <c:showVal val="1"/>
            <c:showCatName val="0"/>
            <c:showSerName val="0"/>
            <c:showPercent val="0"/>
            <c:showBubbleSize val="0"/>
            <c:showLeaderLines val="0"/>
          </c:dLbls>
          <c:cat>
            <c:multiLvlStrRef>
              <c:f>Sheet1!$A$2:$A$5</c:f>
              <c:multiLvlStrCache>
                <c:ptCount val="4"/>
                <c:lvl>
                  <c:pt idx="0">
                    <c:v>Lena</c:v>
                  </c:pt>
                  <c:pt idx="1">
                    <c:v>Boat</c:v>
                  </c:pt>
                  <c:pt idx="2">
                    <c:v>Cameraman</c:v>
                  </c:pt>
                  <c:pt idx="3">
                    <c:v>Peppers</c:v>
                  </c:pt>
                </c:lvl>
              </c:multiLvlStrCache>
            </c:multiLvlStrRef>
          </c:cat>
          <c:val>
            <c:numRef>
              <c:f>Sheet1!$D$2:$D$5</c:f>
              <c:numCache>
                <c:formatCode>General</c:formatCode>
                <c:ptCount val="4"/>
                <c:pt idx="0">
                  <c:v>33.14</c:v>
                </c:pt>
                <c:pt idx="1">
                  <c:v>31.37</c:v>
                </c:pt>
                <c:pt idx="2">
                  <c:v>34.01</c:v>
                </c:pt>
                <c:pt idx="3">
                  <c:v>32.24</c:v>
                </c:pt>
              </c:numCache>
            </c:numRef>
          </c:val>
        </c:ser>
        <c:ser>
          <c:idx val="3"/>
          <c:order val="3"/>
          <c:tx>
            <c:strRef>
              <c:f>Sheet1!$E$1</c:f>
              <c:strCache>
                <c:ptCount val="1"/>
                <c:pt idx="0">
                  <c:v>JPEG 2000</c:v>
                </c:pt>
              </c:strCache>
            </c:strRef>
          </c:tx>
          <c:spPr>
            <a:solidFill>
              <a:srgbClr val="2A9D8F"/>
            </a:solidFill>
            <a:effectLst/>
          </c:spPr>
          <c:invertIfNegative val="0"/>
          <c:dLbls>
            <c:numFmt formatCode="0.0" sourceLinked="0"/>
            <c:txPr>
              <a:bodyPr/>
              <a:lstStyle/>
              <a:p>
                <a:pPr>
                  <a:defRPr b="0" i="0" strike="noStrike" sz="1000" u="none">
                    <a:solidFill>
                      <a:srgbClr val="1F1A33"/>
                    </a:solidFill>
                    <a:latin typeface="Calibri"/>
                  </a:defRPr>
                </a:pPr>
              </a:p>
            </c:txPr>
            <c:showLegendKey val="0"/>
            <c:showVal val="1"/>
            <c:showCatName val="0"/>
            <c:showSerName val="0"/>
            <c:showPercent val="0"/>
            <c:showBubbleSize val="0"/>
            <c:showLeaderLines val="0"/>
          </c:dLbls>
          <c:cat>
            <c:multiLvlStrRef>
              <c:f>Sheet1!$A$2:$A$5</c:f>
              <c:multiLvlStrCache>
                <c:ptCount val="4"/>
                <c:lvl>
                  <c:pt idx="0">
                    <c:v>Lena</c:v>
                  </c:pt>
                  <c:pt idx="1">
                    <c:v>Boat</c:v>
                  </c:pt>
                  <c:pt idx="2">
                    <c:v>Cameraman</c:v>
                  </c:pt>
                  <c:pt idx="3">
                    <c:v>Peppers</c:v>
                  </c:pt>
                </c:lvl>
              </c:multiLvlStrCache>
            </c:multiLvlStrRef>
          </c:cat>
          <c:val>
            <c:numRef>
              <c:f>Sheet1!$E$2:$E$5</c:f>
              <c:numCache>
                <c:formatCode>General</c:formatCode>
                <c:ptCount val="4"/>
                <c:pt idx="0">
                  <c:v>35.48</c:v>
                </c:pt>
                <c:pt idx="1">
                  <c:v>33.64</c:v>
                </c:pt>
                <c:pt idx="2">
                  <c:v>37.17</c:v>
                </c:pt>
                <c:pt idx="3">
                  <c:v>33.42</c:v>
                </c:pt>
              </c:numCache>
            </c:numRef>
          </c:val>
        </c:ser>
        <c:dLbls>
          <c:numFmt formatCode="0.0" sourceLinked="0"/>
          <c:txPr>
            <a:bodyPr/>
            <a:lstStyle/>
            <a:p>
              <a:pPr>
                <a:defRPr b="0" i="0" strike="noStrike" sz="1000" u="none">
                  <a:solidFill>
                    <a:srgbClr val="1F1A33"/>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2"/>
        <c:crosses val="autoZero"/>
        <c:auto val="1"/>
        <c:lblAlgn val="ctr"/>
        <c:noMultiLvlLbl val="1"/>
      </c:catAx>
      <c:valAx>
        <c:axId val="2094734552"/>
        <c:scaling>
          <c:orientation val="minMax"/>
          <c:max val="40"/>
          <c:min val="20"/>
        </c:scaling>
        <c:delete val="0"/>
        <c:axPos val="l"/>
        <c:majorGridlines>
          <c:spPr>
            <a:ln w="9525" cap="flat">
              <a:solidFill>
                <a:srgbClr val="E6E1F0"/>
              </a:solidFill>
              <a:prstDash val="solid"/>
              <a:round/>
            </a:ln>
          </c:spPr>
        </c:majorGridlines>
        <c:title>
          <c:tx>
            <c:rich>
              <a:bodyPr/>
              <a:lstStyle/>
              <a:p>
                <a:pPr>
                  <a:defRPr sz="1200" b="0" i="0" u="none" strike="noStrike">
                    <a:solidFill>
                      <a:srgbClr val="5E5878"/>
                    </a:solidFill>
                    <a:latin typeface="Arial"/>
                  </a:defRPr>
                </a:pPr>
                <a:r>
                  <a:rPr sz="1200" b="0" i="0" u="none" strike="noStrike">
                    <a:solidFill>
                      <a:srgbClr val="5E5878"/>
                    </a:solidFill>
                    <a:latin typeface="Arial"/>
                  </a:rPr>
                  <a:t>PSNR (dB)</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E5878"/>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A33"/>
                </a:solidFill>
                <a:latin typeface="Calibri"/>
              </a:defRPr>
            </a:pPr>
            <a:r>
              <a:rPr sz="1400" b="0" i="0" u="none" strike="noStrike">
                <a:solidFill>
                  <a:srgbClr val="1F1A33"/>
                </a:solidFill>
                <a:latin typeface="Calibri"/>
              </a:rPr>
              <a:t>Grayscale (sequential)</a:t>
            </a:r>
          </a:p>
        </c:rich>
      </c:tx>
      <c:layout/>
      <c:overlay val="0"/>
    </c:title>
    <c:autoTitleDeleted val="0"/>
    <c:plotArea>
      <c:layout/>
      <c:doughnutChart>
        <c:varyColors val="1"/>
        <c:ser>
          <c:idx val="0"/>
          <c:order val="0"/>
          <c:tx>
            <c:strRef>
              <c:f>Sheet1!$B$1</c:f>
              <c:strCache>
                <c:ptCount val="1"/>
                <c:pt idx="0">
                  <c:v>Grayscale (sequential)</c:v>
                </c:pt>
              </c:strCache>
            </c:strRef>
          </c:tx>
          <c:spPr>
            <a:solidFill>
              <a:schemeClr val="accent1"/>
            </a:solidFill>
            <a:ln w="9525" cap="flat">
              <a:solidFill>
                <a:srgbClr val="F9F9F9"/>
              </a:solidFill>
              <a:prstDash val="solid"/>
              <a:round/>
            </a:ln>
            <a:effectLst/>
          </c:spPr>
          <c:dPt>
            <c:idx val="0"/>
            <c:bubble3D val="0"/>
            <c:spPr>
              <a:solidFill>
                <a:srgbClr val="E0457B"/>
              </a:solidFill>
              <a:effectLst/>
            </c:spPr>
          </c:dPt>
          <c:dPt>
            <c:idx val="1"/>
            <c:bubble3D val="0"/>
            <c:spPr>
              <a:solidFill>
                <a:srgbClr val="A794D6"/>
              </a:solidFill>
              <a:effectLst/>
            </c:spPr>
          </c:dPt>
          <c:dLbls>
            <c:dLbl>
              <c:idx val="0"/>
              <c:numFmt formatCode="0%" sourceLinked="0"/>
              <c:spPr/>
              <c:txPr>
                <a:bodyPr/>
                <a:lstStyle/>
                <a:p>
                  <a:pPr>
                    <a:defRPr sz="1600" b="1" i="0" u="none" strike="noStrike">
                      <a:solidFill>
                        <a:srgbClr val="FFFFFF"/>
                      </a:solidFill>
                      <a:latin typeface="Calibri"/>
                    </a:defRPr>
                  </a:pPr>
                </a:p>
              </c:txPr>
              <c:showLegendKey val="0"/>
              <c:showVal val="0"/>
              <c:showCatName val="0"/>
              <c:showSerName val="0"/>
              <c:showPercent val="1"/>
              <c:showBubbleSize val="0"/>
            </c:dLbl>
            <c:dLbl>
              <c:idx val="1"/>
              <c:numFmt formatCode="0%" sourceLinked="0"/>
              <c:spPr/>
              <c:txPr>
                <a:bodyPr/>
                <a:lstStyle/>
                <a:p>
                  <a:pPr>
                    <a:defRPr sz="1600" b="1" i="0" u="none" strike="noStrike">
                      <a:solidFill>
                        <a:srgbClr val="FFFFFF"/>
                      </a:solidFill>
                      <a:latin typeface="Calibri"/>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LBG training</c:v>
                </c:pt>
                <c:pt idx="1">
                  <c:v>Other stages</c:v>
                </c:pt>
              </c:strCache>
            </c:strRef>
          </c:cat>
          <c:val>
            <c:numRef>
              <c:f>Sheet1!$B$2:$B$3</c:f>
              <c:numCache>
                <c:ptCount val="2"/>
                <c:pt idx="0">
                  <c:v>0.2557</c:v>
                </c:pt>
                <c:pt idx="1">
                  <c:v>0.0761</c:v>
                </c:pt>
              </c:numCache>
            </c:numRef>
          </c:val>
        </c:ser>
        <c:firstSliceAng val="0"/>
        <c:holeSize val="58"/>
      </c:doughnutChart>
      <c:spPr>
        <a:noFill/>
        <a:ln>
          <a:noFill/>
        </a:ln>
        <a:effectLst/>
      </c:spPr>
    </c:plotArea>
    <c:legend>
      <c:legendPos val="b"/>
      <c:overlay val="0"/>
      <c:txPr>
        <a:bodyPr/>
        <a:lstStyle/>
        <a:p>
          <a:pPr>
            <a:defRPr sz="1200">
              <a:solidFill>
                <a:srgbClr val="5E5878"/>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A33"/>
                </a:solidFill>
                <a:latin typeface="Calibri"/>
              </a:defRPr>
            </a:pPr>
            <a:r>
              <a:rPr sz="1400" b="0" i="0" u="none" strike="noStrike">
                <a:solidFill>
                  <a:srgbClr val="1F1A33"/>
                </a:solidFill>
                <a:latin typeface="Calibri"/>
              </a:rPr>
              <a:t>Color (sequential)</a:t>
            </a:r>
          </a:p>
        </c:rich>
      </c:tx>
      <c:layout/>
      <c:overlay val="0"/>
    </c:title>
    <c:autoTitleDeleted val="0"/>
    <c:plotArea>
      <c:layout/>
      <c:doughnutChart>
        <c:varyColors val="1"/>
        <c:ser>
          <c:idx val="0"/>
          <c:order val="0"/>
          <c:tx>
            <c:strRef>
              <c:f>Sheet1!$B$1</c:f>
              <c:strCache>
                <c:ptCount val="1"/>
                <c:pt idx="0">
                  <c:v>Color (sequential)</c:v>
                </c:pt>
              </c:strCache>
            </c:strRef>
          </c:tx>
          <c:spPr>
            <a:solidFill>
              <a:schemeClr val="accent1"/>
            </a:solidFill>
            <a:ln w="9525" cap="flat">
              <a:solidFill>
                <a:srgbClr val="F9F9F9"/>
              </a:solidFill>
              <a:prstDash val="solid"/>
              <a:round/>
            </a:ln>
            <a:effectLst/>
          </c:spPr>
          <c:dPt>
            <c:idx val="0"/>
            <c:bubble3D val="0"/>
            <c:spPr>
              <a:solidFill>
                <a:srgbClr val="E0457B"/>
              </a:solidFill>
              <a:effectLst/>
            </c:spPr>
          </c:dPt>
          <c:dPt>
            <c:idx val="1"/>
            <c:bubble3D val="0"/>
            <c:spPr>
              <a:solidFill>
                <a:srgbClr val="A794D6"/>
              </a:solidFill>
              <a:effectLst/>
            </c:spPr>
          </c:dPt>
          <c:dLbls>
            <c:dLbl>
              <c:idx val="0"/>
              <c:numFmt formatCode="0%" sourceLinked="0"/>
              <c:spPr/>
              <c:txPr>
                <a:bodyPr/>
                <a:lstStyle/>
                <a:p>
                  <a:pPr>
                    <a:defRPr sz="1600" b="1" i="0" u="none" strike="noStrike">
                      <a:solidFill>
                        <a:srgbClr val="FFFFFF"/>
                      </a:solidFill>
                      <a:latin typeface="Calibri"/>
                    </a:defRPr>
                  </a:pPr>
                </a:p>
              </c:txPr>
              <c:showLegendKey val="0"/>
              <c:showVal val="0"/>
              <c:showCatName val="0"/>
              <c:showSerName val="0"/>
              <c:showPercent val="1"/>
              <c:showBubbleSize val="0"/>
            </c:dLbl>
            <c:dLbl>
              <c:idx val="1"/>
              <c:numFmt formatCode="0%" sourceLinked="0"/>
              <c:spPr/>
              <c:txPr>
                <a:bodyPr/>
                <a:lstStyle/>
                <a:p>
                  <a:pPr>
                    <a:defRPr sz="1600" b="1" i="0" u="none" strike="noStrike">
                      <a:solidFill>
                        <a:srgbClr val="FFFFFF"/>
                      </a:solidFill>
                      <a:latin typeface="Calibri"/>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LBG training</c:v>
                </c:pt>
                <c:pt idx="1">
                  <c:v>Other stages</c:v>
                </c:pt>
              </c:strCache>
            </c:strRef>
          </c:cat>
          <c:val>
            <c:numRef>
              <c:f>Sheet1!$B$2:$B$3</c:f>
              <c:numCache>
                <c:ptCount val="2"/>
                <c:pt idx="0">
                  <c:v>0.7827</c:v>
                </c:pt>
                <c:pt idx="1">
                  <c:v>0.1817</c:v>
                </c:pt>
              </c:numCache>
            </c:numRef>
          </c:val>
        </c:ser>
        <c:firstSliceAng val="0"/>
        <c:holeSize val="58"/>
      </c:doughnutChart>
      <c:spPr>
        <a:noFill/>
        <a:ln>
          <a:noFill/>
        </a:ln>
        <a:effectLst/>
      </c:spPr>
    </c:plotArea>
    <c:legend>
      <c:legendPos val="b"/>
      <c:overlay val="0"/>
      <c:txPr>
        <a:bodyPr/>
        <a:lstStyle/>
        <a:p>
          <a:pPr>
            <a:defRPr sz="1200">
              <a:solidFill>
                <a:srgbClr val="5E5878"/>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Ideal (S = P)</c:v>
                </c:pt>
              </c:strCache>
            </c:strRef>
          </c:tx>
          <c:spPr>
            <a:solidFill>
              <a:srgbClr val="B8AED3"/>
            </a:solidFill>
            <a:ln w="38100" cap="flat">
              <a:solidFill>
                <a:srgbClr val="B8AED3"/>
              </a:solidFill>
              <a:prstDash val="solid"/>
              <a:round/>
            </a:ln>
            <a:effectLst/>
          </c:spPr>
          <c:invertIfNegative val="0"/>
          <c:dLbls>
            <c:numFmt formatCode="#,##0" sourceLinked="0"/>
            <c:txPr>
              <a:bodyPr/>
              <a:lstStyle/>
              <a:p>
                <a:pPr>
                  <a:defRPr b="0" i="0" strike="noStrike" sz="1100" u="none">
                    <a:solidFill>
                      <a:srgbClr val="1F1A33"/>
                    </a:solidFill>
                    <a:latin typeface="Calibri"/>
                  </a:defRPr>
                </a:pPr>
              </a:p>
            </c:txPr>
            <c:showLegendKey val="0"/>
            <c:showVal val="0"/>
            <c:showCatName val="0"/>
            <c:showSerName val="0"/>
            <c:showPercent val="0"/>
            <c:showBubbleSize val="0"/>
            <c:showLeaderLines val="0"/>
          </c:dLbls>
          <c:marker>
            <c:symbol val="circle"/>
            <c:size val="9"/>
            <c:spPr>
              <a:solidFill>
                <a:srgbClr val="B8AED3"/>
              </a:solidFill>
              <a:ln w="9525" cap="flat">
                <a:solidFill>
                  <a:srgbClr val="B8AED3"/>
                </a:solidFill>
                <a:prstDash val="solid"/>
                <a:round/>
              </a:ln>
              <a:effectLst/>
            </c:spPr>
          </c:marker>
          <c:cat>
            <c:multiLvlStrRef>
              <c:f>Sheet1!$A$2:$A$9</c:f>
              <c:multiLvlStrCache>
                <c:ptCount val="8"/>
                <c:lvl>
                  <c:pt idx="0">
                    <c:v>1</c:v>
                  </c:pt>
                  <c:pt idx="1">
                    <c:v>2</c:v>
                  </c:pt>
                  <c:pt idx="2">
                    <c:v>4</c:v>
                  </c:pt>
                  <c:pt idx="3">
                    <c:v>6</c:v>
                  </c:pt>
                  <c:pt idx="4">
                    <c:v>8</c:v>
                  </c:pt>
                  <c:pt idx="5">
                    <c:v>10</c:v>
                  </c:pt>
                  <c:pt idx="6">
                    <c:v>12</c:v>
                  </c:pt>
                  <c:pt idx="7">
                    <c:v>14</c:v>
                  </c:pt>
                </c:lvl>
              </c:multiLvlStrCache>
            </c:multiLvlStrRef>
          </c:cat>
          <c:val>
            <c:numRef>
              <c:f>Sheet1!$B$2:$B$9</c:f>
              <c:numCache>
                <c:formatCode>General</c:formatCode>
                <c:ptCount val="8"/>
                <c:pt idx="0">
                  <c:v>1</c:v>
                </c:pt>
                <c:pt idx="1">
                  <c:v>2</c:v>
                </c:pt>
                <c:pt idx="2">
                  <c:v>4</c:v>
                </c:pt>
                <c:pt idx="3">
                  <c:v>6</c:v>
                </c:pt>
                <c:pt idx="4">
                  <c:v>8</c:v>
                </c:pt>
                <c:pt idx="5">
                  <c:v>10</c:v>
                </c:pt>
                <c:pt idx="6">
                  <c:v>12</c:v>
                </c:pt>
                <c:pt idx="7">
                  <c:v>14</c:v>
                </c:pt>
              </c:numCache>
            </c:numRef>
          </c:val>
          <c:smooth val="0"/>
        </c:ser>
        <c:ser>
          <c:idx val="1"/>
          <c:order val="1"/>
          <c:tx>
            <c:strRef>
              <c:f>Sheet1!$C$1</c:f>
              <c:strCache>
                <c:ptCount val="1"/>
                <c:pt idx="0">
                  <c:v>Measured (mean of 8 images)</c:v>
                </c:pt>
              </c:strCache>
            </c:strRef>
          </c:tx>
          <c:spPr>
            <a:solidFill>
              <a:srgbClr val="E0457B"/>
            </a:solidFill>
            <a:ln w="38100" cap="flat">
              <a:solidFill>
                <a:srgbClr val="E0457B"/>
              </a:solidFill>
              <a:prstDash val="solid"/>
              <a:round/>
            </a:ln>
            <a:effectLst/>
          </c:spPr>
          <c:invertIfNegative val="0"/>
          <c:dLbls>
            <c:numFmt formatCode="#,##0" sourceLinked="0"/>
            <c:txPr>
              <a:bodyPr/>
              <a:lstStyle/>
              <a:p>
                <a:pPr>
                  <a:defRPr b="0" i="0" strike="noStrike" sz="1100" u="none">
                    <a:solidFill>
                      <a:srgbClr val="1F1A33"/>
                    </a:solidFill>
                    <a:latin typeface="Calibri"/>
                  </a:defRPr>
                </a:pPr>
              </a:p>
            </c:txPr>
            <c:showLegendKey val="0"/>
            <c:showVal val="0"/>
            <c:showCatName val="0"/>
            <c:showSerName val="0"/>
            <c:showPercent val="0"/>
            <c:showBubbleSize val="0"/>
            <c:showLeaderLines val="0"/>
          </c:dLbls>
          <c:marker>
            <c:symbol val="circle"/>
            <c:size val="9"/>
            <c:spPr>
              <a:solidFill>
                <a:srgbClr val="E0457B"/>
              </a:solidFill>
              <a:ln w="9525" cap="flat">
                <a:solidFill>
                  <a:srgbClr val="E0457B"/>
                </a:solidFill>
                <a:prstDash val="solid"/>
                <a:round/>
              </a:ln>
              <a:effectLst/>
            </c:spPr>
          </c:marker>
          <c:cat>
            <c:multiLvlStrRef>
              <c:f>Sheet1!$A$2:$A$9</c:f>
              <c:multiLvlStrCache>
                <c:ptCount val="8"/>
                <c:lvl>
                  <c:pt idx="0">
                    <c:v>1</c:v>
                  </c:pt>
                  <c:pt idx="1">
                    <c:v>2</c:v>
                  </c:pt>
                  <c:pt idx="2">
                    <c:v>4</c:v>
                  </c:pt>
                  <c:pt idx="3">
                    <c:v>6</c:v>
                  </c:pt>
                  <c:pt idx="4">
                    <c:v>8</c:v>
                  </c:pt>
                  <c:pt idx="5">
                    <c:v>10</c:v>
                  </c:pt>
                  <c:pt idx="6">
                    <c:v>12</c:v>
                  </c:pt>
                  <c:pt idx="7">
                    <c:v>14</c:v>
                  </c:pt>
                </c:lvl>
              </c:multiLvlStrCache>
            </c:multiLvlStrRef>
          </c:cat>
          <c:val>
            <c:numRef>
              <c:f>Sheet1!$C$2:$C$9</c:f>
              <c:numCache>
                <c:formatCode>General</c:formatCode>
                <c:ptCount val="8"/>
                <c:pt idx="0">
                  <c:v>1</c:v>
                </c:pt>
                <c:pt idx="1">
                  <c:v>1.9362499999999998</c:v>
                </c:pt>
                <c:pt idx="2">
                  <c:v>3.7924999999999995</c:v>
                </c:pt>
                <c:pt idx="3">
                  <c:v>5.41125</c:v>
                </c:pt>
                <c:pt idx="4">
                  <c:v>6.3025</c:v>
                </c:pt>
                <c:pt idx="5">
                  <c:v>7.3575</c:v>
                </c:pt>
                <c:pt idx="6">
                  <c:v>8.2275</c:v>
                </c:pt>
                <c:pt idx="7">
                  <c:v>9.19375</c:v>
                </c:pt>
              </c:numCache>
            </c:numRef>
          </c:val>
          <c:smooth val="0"/>
        </c:ser>
        <c:dLbls>
          <c:numFmt formatCode="#,##0" sourceLinked="0"/>
          <c:txPr>
            <a:bodyPr/>
            <a:lstStyle/>
            <a:p>
              <a:pPr>
                <a:defRPr b="0" i="0" strike="noStrike" sz="1100" u="none">
                  <a:solidFill>
                    <a:srgbClr val="1F1A33"/>
                  </a:solidFill>
                  <a:latin typeface="Calibr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E5878"/>
                    </a:solidFill>
                    <a:latin typeface="Arial"/>
                  </a:defRPr>
                </a:pPr>
                <a:r>
                  <a:rPr sz="1200" b="0" i="0" u="none" strike="noStrike">
                    <a:solidFill>
                      <a:srgbClr val="5E5878"/>
                    </a:solidFill>
                    <a:latin typeface="Arial"/>
                  </a:rPr>
                  <a:t>MPI processes P</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2"/>
        <c:crosses val="autoZero"/>
        <c:auto val="1"/>
        <c:lblAlgn val="ctr"/>
        <c:noMultiLvlLbl val="1"/>
      </c:catAx>
      <c:valAx>
        <c:axId val="2094734552"/>
        <c:scaling>
          <c:orientation val="minMax"/>
          <c:max val="14"/>
          <c:min val="0"/>
        </c:scaling>
        <c:delete val="0"/>
        <c:axPos val="l"/>
        <c:majorGridlines>
          <c:spPr>
            <a:ln w="9525" cap="flat">
              <a:solidFill>
                <a:srgbClr val="E6E1F0"/>
              </a:solidFill>
              <a:prstDash val="solid"/>
              <a:round/>
            </a:ln>
          </c:spPr>
        </c:majorGridlines>
        <c:title>
          <c:tx>
            <c:rich>
              <a:bodyPr/>
              <a:lstStyle/>
              <a:p>
                <a:pPr>
                  <a:defRPr sz="1200" b="0" i="0" u="none" strike="noStrike">
                    <a:solidFill>
                      <a:srgbClr val="5E5878"/>
                    </a:solidFill>
                    <a:latin typeface="Arial"/>
                  </a:defRPr>
                </a:pPr>
                <a:r>
                  <a:rPr sz="1200" b="0" i="0" u="none" strike="noStrike">
                    <a:solidFill>
                      <a:srgbClr val="5E5878"/>
                    </a:solidFill>
                    <a:latin typeface="Arial"/>
                  </a:rPr>
                  <a:t>speedup (LBG stage)</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4"/>
        <c:crosses val="autoZero"/>
        <c:crossBetween val="between"/>
        <c:majorUnit val="2"/>
      </c:valAx>
      <c:spPr>
        <a:noFill/>
        <a:ln>
          <a:noFill/>
        </a:ln>
        <a:effectLst/>
      </c:spPr>
    </c:plotArea>
    <c:legend>
      <c:legendPos val="b"/>
      <c:overlay val="0"/>
      <c:txPr>
        <a:bodyPr/>
        <a:lstStyle/>
        <a:p>
          <a:pPr>
            <a:defRPr sz="1200">
              <a:solidFill>
                <a:srgbClr val="5E5878"/>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A33"/>
                </a:solidFill>
                <a:latin typeface="Calibri"/>
              </a:defRPr>
            </a:pPr>
            <a:r>
              <a:rPr sz="1400" b="0" i="0" u="none" strike="noStrike">
                <a:solidFill>
                  <a:srgbClr val="1F1A33"/>
                </a:solidFill>
                <a:latin typeface="Calibri"/>
              </a:rPr>
              <a:t>LBG parallel efficiency (%)</a:t>
            </a:r>
          </a:p>
        </c:rich>
      </c:tx>
      <c:layout/>
      <c:overlay val="0"/>
    </c:title>
    <c:autoTitleDeleted val="0"/>
    <c:plotArea>
      <c:layout/>
      <c:barChart>
        <c:barDir val="col"/>
        <c:grouping val="clustered"/>
        <c:varyColors val="0"/>
        <c:ser>
          <c:idx val="0"/>
          <c:order val="0"/>
          <c:tx>
            <c:strRef>
              <c:f>Sheet1!$B$1</c:f>
              <c:strCache>
                <c:ptCount val="1"/>
                <c:pt idx="0">
                  <c:v>Efficiency</c:v>
                </c:pt>
              </c:strCache>
            </c:strRef>
          </c:tx>
          <c:spPr>
            <a:solidFill>
              <a:srgbClr val="6B4FA3"/>
            </a:solidFill>
            <a:effectLst/>
          </c:spPr>
          <c:invertIfNegative val="0"/>
          <c:dLbls>
            <c:numFmt formatCode="0.0" sourceLinked="0"/>
            <c:txPr>
              <a:bodyPr/>
              <a:lstStyle/>
              <a:p>
                <a:pPr>
                  <a:defRPr b="0" i="0" strike="noStrike" sz="1100" u="none">
                    <a:solidFill>
                      <a:srgbClr val="1F1A33"/>
                    </a:solidFill>
                    <a:latin typeface="Calibri"/>
                  </a:defRPr>
                </a:pPr>
              </a:p>
            </c:txPr>
            <c:showLegendKey val="0"/>
            <c:showVal val="1"/>
            <c:showCatName val="0"/>
            <c:showSerName val="0"/>
            <c:showPercent val="0"/>
            <c:showBubbleSize val="0"/>
            <c:showLeaderLines val="0"/>
          </c:dLbls>
          <c:cat>
            <c:multiLvlStrRef>
              <c:f>Sheet1!$A$2:$A$8</c:f>
              <c:multiLvlStrCache>
                <c:ptCount val="7"/>
                <c:lvl>
                  <c:pt idx="0">
                    <c:v>2</c:v>
                  </c:pt>
                  <c:pt idx="1">
                    <c:v>4</c:v>
                  </c:pt>
                  <c:pt idx="2">
                    <c:v>6</c:v>
                  </c:pt>
                  <c:pt idx="3">
                    <c:v>8</c:v>
                  </c:pt>
                  <c:pt idx="4">
                    <c:v>10</c:v>
                  </c:pt>
                  <c:pt idx="5">
                    <c:v>12</c:v>
                  </c:pt>
                  <c:pt idx="6">
                    <c:v>14</c:v>
                  </c:pt>
                </c:lvl>
              </c:multiLvlStrCache>
            </c:multiLvlStrRef>
          </c:cat>
          <c:val>
            <c:numRef>
              <c:f>Sheet1!$B$2:$B$8</c:f>
              <c:numCache>
                <c:formatCode>General</c:formatCode>
                <c:ptCount val="7"/>
                <c:pt idx="0">
                  <c:v>96.8</c:v>
                </c:pt>
                <c:pt idx="1">
                  <c:v>94.8</c:v>
                </c:pt>
                <c:pt idx="2">
                  <c:v>90.2</c:v>
                </c:pt>
                <c:pt idx="3">
                  <c:v>78.8</c:v>
                </c:pt>
                <c:pt idx="4">
                  <c:v>73.6</c:v>
                </c:pt>
                <c:pt idx="5">
                  <c:v>68.6</c:v>
                </c:pt>
                <c:pt idx="6">
                  <c:v>65.7</c:v>
                </c:pt>
              </c:numCache>
            </c:numRef>
          </c:val>
        </c:ser>
        <c:dLbls>
          <c:numFmt formatCode="0.0" sourceLinked="0"/>
          <c:txPr>
            <a:bodyPr/>
            <a:lstStyle/>
            <a:p>
              <a:pPr>
                <a:defRPr b="0" i="0" strike="noStrike" sz="1100" u="none">
                  <a:solidFill>
                    <a:srgbClr val="1F1A33"/>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title>
          <c:tx>
            <c:rich>
              <a:bodyPr/>
              <a:lstStyle/>
              <a:p>
                <a:pPr>
                  <a:defRPr sz="1200" b="0" i="0" u="none" strike="noStrike">
                    <a:solidFill>
                      <a:srgbClr val="5E5878"/>
                    </a:solidFill>
                    <a:latin typeface="Arial"/>
                  </a:defRPr>
                </a:pPr>
                <a:r>
                  <a:rPr sz="1200" b="0" i="0" u="none" strike="noStrike">
                    <a:solidFill>
                      <a:srgbClr val="5E5878"/>
                    </a:solidFill>
                    <a:latin typeface="Arial"/>
                  </a:rPr>
                  <a:t>MPI processes P</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9525" cap="flat">
              <a:solidFill>
                <a:srgbClr val="E6E1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A33"/>
                </a:solidFill>
                <a:latin typeface="Calibri"/>
              </a:defRPr>
            </a:pPr>
            <a:r>
              <a:rPr sz="1400" b="0" i="0" u="none" strike="noStrike">
                <a:solidFill>
                  <a:srgbClr val="1F1A33"/>
                </a:solidFill>
                <a:latin typeface="Calibri"/>
              </a:rPr>
              <a:t>Karp–Flatt serial fraction (LBG)</a:t>
            </a:r>
          </a:p>
        </c:rich>
      </c:tx>
      <c:layout/>
      <c:overlay val="0"/>
    </c:title>
    <c:autoTitleDeleted val="0"/>
    <c:plotArea>
      <c:layout/>
      <c:lineChart>
        <c:varyColors val="0"/>
        <c:ser>
          <c:idx val="0"/>
          <c:order val="0"/>
          <c:tx>
            <c:strRef>
              <c:f>Sheet1!$B$1</c:f>
              <c:strCache>
                <c:ptCount val="1"/>
                <c:pt idx="0">
                  <c:v>Karp–Flatt (LBG)</c:v>
                </c:pt>
              </c:strCache>
            </c:strRef>
          </c:tx>
          <c:spPr>
            <a:solidFill>
              <a:srgbClr val="E0457B"/>
            </a:solidFill>
            <a:ln w="38100" cap="flat">
              <a:solidFill>
                <a:srgbClr val="E0457B"/>
              </a:solidFill>
              <a:prstDash val="solid"/>
              <a:round/>
            </a:ln>
            <a:effectLst/>
          </c:spPr>
          <c:invertIfNegative val="0"/>
          <c:dLbls>
            <c:numFmt formatCode="#,##0" sourceLinked="0"/>
            <c:txPr>
              <a:bodyPr/>
              <a:lstStyle/>
              <a:p>
                <a:pPr>
                  <a:defRPr b="0" i="0" strike="noStrike" sz="1100" u="none">
                    <a:solidFill>
                      <a:srgbClr val="1F1A33"/>
                    </a:solidFill>
                    <a:latin typeface="Calibri"/>
                  </a:defRPr>
                </a:pPr>
              </a:p>
            </c:txPr>
            <c:showLegendKey val="0"/>
            <c:showVal val="0"/>
            <c:showCatName val="0"/>
            <c:showSerName val="0"/>
            <c:showPercent val="0"/>
            <c:showBubbleSize val="0"/>
            <c:showLeaderLines val="0"/>
          </c:dLbls>
          <c:marker>
            <c:symbol val="circle"/>
            <c:size val="8"/>
            <c:spPr>
              <a:solidFill>
                <a:srgbClr val="E0457B"/>
              </a:solidFill>
              <a:ln w="9525" cap="flat">
                <a:solidFill>
                  <a:srgbClr val="E0457B"/>
                </a:solidFill>
                <a:prstDash val="solid"/>
                <a:round/>
              </a:ln>
              <a:effectLst/>
            </c:spPr>
          </c:marker>
          <c:cat>
            <c:multiLvlStrRef>
              <c:f>Sheet1!$A$2:$A$8</c:f>
              <c:multiLvlStrCache>
                <c:ptCount val="7"/>
                <c:lvl>
                  <c:pt idx="0">
                    <c:v>2</c:v>
                  </c:pt>
                  <c:pt idx="1">
                    <c:v>4</c:v>
                  </c:pt>
                  <c:pt idx="2">
                    <c:v>6</c:v>
                  </c:pt>
                  <c:pt idx="3">
                    <c:v>8</c:v>
                  </c:pt>
                  <c:pt idx="4">
                    <c:v>10</c:v>
                  </c:pt>
                  <c:pt idx="5">
                    <c:v>12</c:v>
                  </c:pt>
                  <c:pt idx="6">
                    <c:v>14</c:v>
                  </c:pt>
                </c:lvl>
              </c:multiLvlStrCache>
            </c:multiLvlStrRef>
          </c:cat>
          <c:val>
            <c:numRef>
              <c:f>Sheet1!$B$2:$B$8</c:f>
              <c:numCache>
                <c:formatCode>General</c:formatCode>
                <c:ptCount val="7"/>
                <c:pt idx="0">
                  <c:v>0.033</c:v>
                </c:pt>
                <c:pt idx="1">
                  <c:v>0.018</c:v>
                </c:pt>
                <c:pt idx="2">
                  <c:v>0.022</c:v>
                </c:pt>
                <c:pt idx="3">
                  <c:v>0.038</c:v>
                </c:pt>
                <c:pt idx="4">
                  <c:v>0.04</c:v>
                </c:pt>
                <c:pt idx="5">
                  <c:v>0.042</c:v>
                </c:pt>
                <c:pt idx="6">
                  <c:v>0.04</c:v>
                </c:pt>
              </c:numCache>
            </c:numRef>
          </c:val>
          <c:smooth val="0"/>
        </c:ser>
        <c:dLbls>
          <c:numFmt formatCode="#,##0" sourceLinked="0"/>
          <c:txPr>
            <a:bodyPr/>
            <a:lstStyle/>
            <a:p>
              <a:pPr>
                <a:defRPr b="0" i="0" strike="noStrike" sz="1100" u="none">
                  <a:solidFill>
                    <a:srgbClr val="1F1A33"/>
                  </a:solidFill>
                  <a:latin typeface="Calibr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2"/>
        <c:crosses val="autoZero"/>
        <c:auto val="1"/>
        <c:lblAlgn val="ctr"/>
        <c:noMultiLvlLbl val="1"/>
      </c:catAx>
      <c:valAx>
        <c:axId val="2094734552"/>
        <c:scaling>
          <c:orientation val="minMax"/>
          <c:max val="0.08"/>
          <c:min val="0"/>
        </c:scaling>
        <c:delete val="0"/>
        <c:axPos val="l"/>
        <c:majorGridlines>
          <c:spPr>
            <a:ln w="9525" cap="flat">
              <a:solidFill>
                <a:srgbClr val="E6E1F0"/>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4"/>
        <c:crosses val="autoZero"/>
        <c:crossBetween val="between"/>
        <c:majorUnit val="0.02"/>
      </c:valAx>
      <c:spPr>
        <a:noFill/>
        <a:ln>
          <a:noFill/>
        </a:ln>
        <a:effectLst/>
      </c:spPr>
    </c:plotArea>
    <c:plotVisOnly val="1"/>
    <c:dispBlanksAs val="span"/>
  </c:chart>
  <c:spPr>
    <a:no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Grayscale</c:v>
                </c:pt>
              </c:strCache>
            </c:strRef>
          </c:tx>
          <c:spPr>
            <a:solidFill>
              <a:srgbClr val="6B4FA3"/>
            </a:solidFill>
            <a:effectLst/>
          </c:spPr>
          <c:invertIfNegative val="0"/>
          <c:dLbls>
            <c:numFmt formatCode="#,##0" sourceLinked="0"/>
            <c:txPr>
              <a:bodyPr/>
              <a:lstStyle/>
              <a:p>
                <a:pPr>
                  <a:defRPr b="0" i="0" strike="noStrike" sz="1100" u="none">
                    <a:solidFill>
                      <a:srgbClr val="1F1A33"/>
                    </a:solidFill>
                    <a:latin typeface="Calibri"/>
                  </a:defRPr>
                </a:pPr>
              </a:p>
            </c:txPr>
            <c:showLegendKey val="0"/>
            <c:showVal val="0"/>
            <c:showCatName val="0"/>
            <c:showSerName val="0"/>
            <c:showPercent val="0"/>
            <c:showBubbleSize val="0"/>
            <c:showLeaderLines val="0"/>
          </c:dLbls>
          <c:cat>
            <c:multiLvlStrRef>
              <c:f>Sheet1!$A$2:$A$9</c:f>
              <c:multiLvlStrCache>
                <c:ptCount val="8"/>
                <c:lvl>
                  <c:pt idx="0">
                    <c:v>1</c:v>
                  </c:pt>
                  <c:pt idx="1">
                    <c:v>2</c:v>
                  </c:pt>
                  <c:pt idx="2">
                    <c:v>4</c:v>
                  </c:pt>
                  <c:pt idx="3">
                    <c:v>6</c:v>
                  </c:pt>
                  <c:pt idx="4">
                    <c:v>8</c:v>
                  </c:pt>
                  <c:pt idx="5">
                    <c:v>10</c:v>
                  </c:pt>
                  <c:pt idx="6">
                    <c:v>12</c:v>
                  </c:pt>
                  <c:pt idx="7">
                    <c:v>14</c:v>
                  </c:pt>
                </c:lvl>
              </c:multiLvlStrCache>
            </c:multiLvlStrRef>
          </c:cat>
          <c:val>
            <c:numRef>
              <c:f>Sheet1!$B$2:$B$9</c:f>
              <c:numCache>
                <c:formatCode>General</c:formatCode>
                <c:ptCount val="8"/>
                <c:pt idx="0">
                  <c:v>9.7</c:v>
                </c:pt>
                <c:pt idx="1">
                  <c:v>18.7</c:v>
                </c:pt>
                <c:pt idx="2">
                  <c:v>36.6</c:v>
                </c:pt>
                <c:pt idx="3">
                  <c:v>52.2</c:v>
                </c:pt>
                <c:pt idx="4">
                  <c:v>60.6</c:v>
                </c:pt>
                <c:pt idx="5">
                  <c:v>71</c:v>
                </c:pt>
                <c:pt idx="6">
                  <c:v>79.3</c:v>
                </c:pt>
                <c:pt idx="7">
                  <c:v>88.7</c:v>
                </c:pt>
              </c:numCache>
            </c:numRef>
          </c:val>
        </c:ser>
        <c:ser>
          <c:idx val="1"/>
          <c:order val="1"/>
          <c:tx>
            <c:strRef>
              <c:f>Sheet1!$C$1</c:f>
              <c:strCache>
                <c:ptCount val="1"/>
                <c:pt idx="0">
                  <c:v>Color (per channel)</c:v>
                </c:pt>
              </c:strCache>
            </c:strRef>
          </c:tx>
          <c:spPr>
            <a:solidFill>
              <a:srgbClr val="E0457B"/>
            </a:solidFill>
            <a:effectLst/>
          </c:spPr>
          <c:invertIfNegative val="0"/>
          <c:dLbls>
            <c:numFmt formatCode="#,##0" sourceLinked="0"/>
            <c:txPr>
              <a:bodyPr/>
              <a:lstStyle/>
              <a:p>
                <a:pPr>
                  <a:defRPr b="0" i="0" strike="noStrike" sz="1100" u="none">
                    <a:solidFill>
                      <a:srgbClr val="1F1A33"/>
                    </a:solidFill>
                    <a:latin typeface="Calibri"/>
                  </a:defRPr>
                </a:pPr>
              </a:p>
            </c:txPr>
            <c:showLegendKey val="0"/>
            <c:showVal val="0"/>
            <c:showCatName val="0"/>
            <c:showSerName val="0"/>
            <c:showPercent val="0"/>
            <c:showBubbleSize val="0"/>
            <c:showLeaderLines val="0"/>
          </c:dLbls>
          <c:cat>
            <c:multiLvlStrRef>
              <c:f>Sheet1!$A$2:$A$9</c:f>
              <c:multiLvlStrCache>
                <c:ptCount val="8"/>
                <c:lvl>
                  <c:pt idx="0">
                    <c:v>1</c:v>
                  </c:pt>
                  <c:pt idx="1">
                    <c:v>2</c:v>
                  </c:pt>
                  <c:pt idx="2">
                    <c:v>4</c:v>
                  </c:pt>
                  <c:pt idx="3">
                    <c:v>6</c:v>
                  </c:pt>
                  <c:pt idx="4">
                    <c:v>8</c:v>
                  </c:pt>
                  <c:pt idx="5">
                    <c:v>10</c:v>
                  </c:pt>
                  <c:pt idx="6">
                    <c:v>12</c:v>
                  </c:pt>
                  <c:pt idx="7">
                    <c:v>14</c:v>
                  </c:pt>
                </c:lvl>
              </c:multiLvlStrCache>
            </c:multiLvlStrRef>
          </c:cat>
          <c:val>
            <c:numRef>
              <c:f>Sheet1!$C$2:$C$9</c:f>
              <c:numCache>
                <c:formatCode>General</c:formatCode>
                <c:ptCount val="8"/>
                <c:pt idx="0">
                  <c:v>9.8</c:v>
                </c:pt>
                <c:pt idx="1">
                  <c:v>19</c:v>
                </c:pt>
                <c:pt idx="2">
                  <c:v>37.3</c:v>
                </c:pt>
                <c:pt idx="3">
                  <c:v>53.2</c:v>
                </c:pt>
                <c:pt idx="4">
                  <c:v>62</c:v>
                </c:pt>
                <c:pt idx="5">
                  <c:v>72.3</c:v>
                </c:pt>
                <c:pt idx="6">
                  <c:v>80.8</c:v>
                </c:pt>
                <c:pt idx="7">
                  <c:v>90.3</c:v>
                </c:pt>
              </c:numCache>
            </c:numRef>
          </c:val>
        </c:ser>
        <c:dLbls>
          <c:numFmt formatCode="#,##0" sourceLinked="0"/>
          <c:txPr>
            <a:bodyPr/>
            <a:lstStyle/>
            <a:p>
              <a:pPr>
                <a:defRPr b="0" i="0" strike="noStrike" sz="1100" u="none">
                  <a:solidFill>
                    <a:srgbClr val="1F1A33"/>
                  </a:solidFill>
                  <a:latin typeface="Calibri"/>
                </a:defRPr>
              </a:pPr>
            </a:p>
          </c:txPr>
          <c:showLegendKey val="0"/>
          <c:showVal val="0"/>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title>
          <c:tx>
            <c:rich>
              <a:bodyPr/>
              <a:lstStyle/>
              <a:p>
                <a:pPr>
                  <a:defRPr sz="1200" b="0" i="0" u="none" strike="noStrike">
                    <a:solidFill>
                      <a:srgbClr val="5E5878"/>
                    </a:solidFill>
                    <a:latin typeface="Arial"/>
                  </a:defRPr>
                </a:pPr>
                <a:r>
                  <a:rPr sz="1200" b="0" i="0" u="none" strike="noStrike">
                    <a:solidFill>
                      <a:srgbClr val="5E5878"/>
                    </a:solidFill>
                    <a:latin typeface="Arial"/>
                  </a:rPr>
                  <a:t>MPI processes P (1 = sequential)</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6E1F0"/>
              </a:solidFill>
              <a:prstDash val="solid"/>
              <a:round/>
            </a:ln>
          </c:spPr>
        </c:majorGridlines>
        <c:title>
          <c:tx>
            <c:rich>
              <a:bodyPr/>
              <a:lstStyle/>
              <a:p>
                <a:pPr>
                  <a:defRPr sz="1200" b="0" i="0" u="none" strike="noStrike">
                    <a:solidFill>
                      <a:srgbClr val="5E5878"/>
                    </a:solidFill>
                    <a:latin typeface="Arial"/>
                  </a:defRPr>
                </a:pPr>
                <a:r>
                  <a:rPr sz="1200" b="0" i="0" u="none" strike="noStrike">
                    <a:solidFill>
                      <a:srgbClr val="5E5878"/>
                    </a:solidFill>
                    <a:latin typeface="Arial"/>
                  </a:rPr>
                  <a:t>million vector-iterations / 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E5878"/>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LBG stage (mean)</c:v>
                </c:pt>
              </c:strCache>
            </c:strRef>
          </c:tx>
          <c:spPr>
            <a:solidFill>
              <a:srgbClr val="E0457B"/>
            </a:solidFill>
            <a:ln w="38100" cap="flat">
              <a:solidFill>
                <a:srgbClr val="E0457B"/>
              </a:solidFill>
              <a:prstDash val="solid"/>
              <a:round/>
            </a:ln>
            <a:effectLst/>
          </c:spPr>
          <c:invertIfNegative val="0"/>
          <c:dLbls>
            <c:numFmt formatCode="#,##0" sourceLinked="0"/>
            <c:txPr>
              <a:bodyPr/>
              <a:lstStyle/>
              <a:p>
                <a:pPr>
                  <a:defRPr b="0" i="0" strike="noStrike" sz="1100" u="none">
                    <a:solidFill>
                      <a:srgbClr val="1F1A33"/>
                    </a:solidFill>
                    <a:latin typeface="Calibri"/>
                  </a:defRPr>
                </a:pPr>
              </a:p>
            </c:txPr>
            <c:showLegendKey val="0"/>
            <c:showVal val="0"/>
            <c:showCatName val="0"/>
            <c:showSerName val="0"/>
            <c:showPercent val="0"/>
            <c:showBubbleSize val="0"/>
            <c:showLeaderLines val="0"/>
          </c:dLbls>
          <c:marker>
            <c:symbol val="circle"/>
            <c:size val="8"/>
            <c:spPr>
              <a:solidFill>
                <a:srgbClr val="E0457B"/>
              </a:solidFill>
              <a:ln w="9525" cap="flat">
                <a:solidFill>
                  <a:srgbClr val="E0457B"/>
                </a:solidFill>
                <a:prstDash val="solid"/>
                <a:round/>
              </a:ln>
              <a:effectLst/>
            </c:spPr>
          </c:marker>
          <c:cat>
            <c:multiLvlStrRef>
              <c:f>Sheet1!$A$2:$A$9</c:f>
              <c:multiLvlStrCache>
                <c:ptCount val="8"/>
                <c:lvl>
                  <c:pt idx="0">
                    <c:v>1</c:v>
                  </c:pt>
                  <c:pt idx="1">
                    <c:v>2</c:v>
                  </c:pt>
                  <c:pt idx="2">
                    <c:v>4</c:v>
                  </c:pt>
                  <c:pt idx="3">
                    <c:v>6</c:v>
                  </c:pt>
                  <c:pt idx="4">
                    <c:v>8</c:v>
                  </c:pt>
                  <c:pt idx="5">
                    <c:v>10</c:v>
                  </c:pt>
                  <c:pt idx="6">
                    <c:v>12</c:v>
                  </c:pt>
                  <c:pt idx="7">
                    <c:v>14</c:v>
                  </c:pt>
                </c:lvl>
              </c:multiLvlStrCache>
            </c:multiLvlStrRef>
          </c:cat>
          <c:val>
            <c:numRef>
              <c:f>Sheet1!$B$2:$B$9</c:f>
              <c:numCache>
                <c:formatCode>General</c:formatCode>
                <c:ptCount val="8"/>
                <c:pt idx="0">
                  <c:v>1</c:v>
                </c:pt>
                <c:pt idx="1">
                  <c:v>1.9362499999999998</c:v>
                </c:pt>
                <c:pt idx="2">
                  <c:v>3.7924999999999995</c:v>
                </c:pt>
                <c:pt idx="3">
                  <c:v>5.41125</c:v>
                </c:pt>
                <c:pt idx="4">
                  <c:v>6.3025</c:v>
                </c:pt>
                <c:pt idx="5">
                  <c:v>7.3575</c:v>
                </c:pt>
                <c:pt idx="6">
                  <c:v>8.2275</c:v>
                </c:pt>
                <c:pt idx="7">
                  <c:v>9.19375</c:v>
                </c:pt>
              </c:numCache>
            </c:numRef>
          </c:val>
          <c:smooth val="0"/>
        </c:ser>
        <c:ser>
          <c:idx val="1"/>
          <c:order val="1"/>
          <c:tx>
            <c:strRef>
              <c:f>Sheet1!$C$1</c:f>
              <c:strCache>
                <c:ptCount val="1"/>
                <c:pt idx="0">
                  <c:v>Total, color</c:v>
                </c:pt>
              </c:strCache>
            </c:strRef>
          </c:tx>
          <c:spPr>
            <a:solidFill>
              <a:srgbClr val="2A9D8F"/>
            </a:solidFill>
            <a:ln w="38100" cap="flat">
              <a:solidFill>
                <a:srgbClr val="2A9D8F"/>
              </a:solidFill>
              <a:prstDash val="solid"/>
              <a:round/>
            </a:ln>
            <a:effectLst/>
          </c:spPr>
          <c:invertIfNegative val="0"/>
          <c:dLbls>
            <c:numFmt formatCode="#,##0" sourceLinked="0"/>
            <c:txPr>
              <a:bodyPr/>
              <a:lstStyle/>
              <a:p>
                <a:pPr>
                  <a:defRPr b="0" i="0" strike="noStrike" sz="1100" u="none">
                    <a:solidFill>
                      <a:srgbClr val="1F1A33"/>
                    </a:solidFill>
                    <a:latin typeface="Calibri"/>
                  </a:defRPr>
                </a:pPr>
              </a:p>
            </c:txPr>
            <c:showLegendKey val="0"/>
            <c:showVal val="0"/>
            <c:showCatName val="0"/>
            <c:showSerName val="0"/>
            <c:showPercent val="0"/>
            <c:showBubbleSize val="0"/>
            <c:showLeaderLines val="0"/>
          </c:dLbls>
          <c:marker>
            <c:symbol val="circle"/>
            <c:size val="8"/>
            <c:spPr>
              <a:solidFill>
                <a:srgbClr val="2A9D8F"/>
              </a:solidFill>
              <a:ln w="9525" cap="flat">
                <a:solidFill>
                  <a:srgbClr val="2A9D8F"/>
                </a:solidFill>
                <a:prstDash val="solid"/>
                <a:round/>
              </a:ln>
              <a:effectLst/>
            </c:spPr>
          </c:marker>
          <c:cat>
            <c:multiLvlStrRef>
              <c:f>Sheet1!$A$2:$A$9</c:f>
              <c:multiLvlStrCache>
                <c:ptCount val="8"/>
                <c:lvl>
                  <c:pt idx="0">
                    <c:v>1</c:v>
                  </c:pt>
                  <c:pt idx="1">
                    <c:v>2</c:v>
                  </c:pt>
                  <c:pt idx="2">
                    <c:v>4</c:v>
                  </c:pt>
                  <c:pt idx="3">
                    <c:v>6</c:v>
                  </c:pt>
                  <c:pt idx="4">
                    <c:v>8</c:v>
                  </c:pt>
                  <c:pt idx="5">
                    <c:v>10</c:v>
                  </c:pt>
                  <c:pt idx="6">
                    <c:v>12</c:v>
                  </c:pt>
                  <c:pt idx="7">
                    <c:v>14</c:v>
                  </c:pt>
                </c:lvl>
              </c:multiLvlStrCache>
            </c:multiLvlStrRef>
          </c:cat>
          <c:val>
            <c:numRef>
              <c:f>Sheet1!$C$2:$C$9</c:f>
              <c:numCache>
                <c:formatCode>General</c:formatCode>
                <c:ptCount val="8"/>
                <c:pt idx="0">
                  <c:v>1</c:v>
                </c:pt>
                <c:pt idx="1">
                  <c:v>1.865</c:v>
                </c:pt>
                <c:pt idx="2">
                  <c:v>3.45</c:v>
                </c:pt>
                <c:pt idx="3">
                  <c:v>4.6525</c:v>
                </c:pt>
                <c:pt idx="4">
                  <c:v>5.0424999999999995</c:v>
                </c:pt>
                <c:pt idx="5">
                  <c:v>5.7225</c:v>
                </c:pt>
                <c:pt idx="6">
                  <c:v>6.2924999999999995</c:v>
                </c:pt>
                <c:pt idx="7">
                  <c:v>6.8425</c:v>
                </c:pt>
              </c:numCache>
            </c:numRef>
          </c:val>
          <c:smooth val="0"/>
        </c:ser>
        <c:ser>
          <c:idx val="2"/>
          <c:order val="2"/>
          <c:tx>
            <c:strRef>
              <c:f>Sheet1!$D$1</c:f>
              <c:strCache>
                <c:ptCount val="1"/>
                <c:pt idx="0">
                  <c:v>Total, grayscale</c:v>
                </c:pt>
              </c:strCache>
            </c:strRef>
          </c:tx>
          <c:spPr>
            <a:solidFill>
              <a:srgbClr val="6B4FA3"/>
            </a:solidFill>
            <a:ln w="38100" cap="flat">
              <a:solidFill>
                <a:srgbClr val="6B4FA3"/>
              </a:solidFill>
              <a:prstDash val="solid"/>
              <a:round/>
            </a:ln>
            <a:effectLst/>
          </c:spPr>
          <c:invertIfNegative val="0"/>
          <c:dLbls>
            <c:numFmt formatCode="#,##0" sourceLinked="0"/>
            <c:txPr>
              <a:bodyPr/>
              <a:lstStyle/>
              <a:p>
                <a:pPr>
                  <a:defRPr b="0" i="0" strike="noStrike" sz="1100" u="none">
                    <a:solidFill>
                      <a:srgbClr val="1F1A33"/>
                    </a:solidFill>
                    <a:latin typeface="Calibri"/>
                  </a:defRPr>
                </a:pPr>
              </a:p>
            </c:txPr>
            <c:showLegendKey val="0"/>
            <c:showVal val="0"/>
            <c:showCatName val="0"/>
            <c:showSerName val="0"/>
            <c:showPercent val="0"/>
            <c:showBubbleSize val="0"/>
            <c:showLeaderLines val="0"/>
          </c:dLbls>
          <c:marker>
            <c:symbol val="circle"/>
            <c:size val="8"/>
            <c:spPr>
              <a:solidFill>
                <a:srgbClr val="6B4FA3"/>
              </a:solidFill>
              <a:ln w="9525" cap="flat">
                <a:solidFill>
                  <a:srgbClr val="6B4FA3"/>
                </a:solidFill>
                <a:prstDash val="solid"/>
                <a:round/>
              </a:ln>
              <a:effectLst/>
            </c:spPr>
          </c:marker>
          <c:cat>
            <c:multiLvlStrRef>
              <c:f>Sheet1!$A$2:$A$9</c:f>
              <c:multiLvlStrCache>
                <c:ptCount val="8"/>
                <c:lvl>
                  <c:pt idx="0">
                    <c:v>1</c:v>
                  </c:pt>
                  <c:pt idx="1">
                    <c:v>2</c:v>
                  </c:pt>
                  <c:pt idx="2">
                    <c:v>4</c:v>
                  </c:pt>
                  <c:pt idx="3">
                    <c:v>6</c:v>
                  </c:pt>
                  <c:pt idx="4">
                    <c:v>8</c:v>
                  </c:pt>
                  <c:pt idx="5">
                    <c:v>10</c:v>
                  </c:pt>
                  <c:pt idx="6">
                    <c:v>12</c:v>
                  </c:pt>
                  <c:pt idx="7">
                    <c:v>14</c:v>
                  </c:pt>
                </c:lvl>
              </c:multiLvlStrCache>
            </c:multiLvlStrRef>
          </c:cat>
          <c:val>
            <c:numRef>
              <c:f>Sheet1!$D$2:$D$9</c:f>
              <c:numCache>
                <c:formatCode>General</c:formatCode>
                <c:ptCount val="8"/>
                <c:pt idx="0">
                  <c:v>1</c:v>
                </c:pt>
                <c:pt idx="1">
                  <c:v>1.7675</c:v>
                </c:pt>
                <c:pt idx="2">
                  <c:v>2.9925</c:v>
                </c:pt>
                <c:pt idx="3">
                  <c:v>3.79</c:v>
                </c:pt>
                <c:pt idx="4">
                  <c:v>4.005</c:v>
                </c:pt>
                <c:pt idx="5">
                  <c:v>4.390000000000001</c:v>
                </c:pt>
                <c:pt idx="6">
                  <c:v>4.720000000000001</c:v>
                </c:pt>
                <c:pt idx="7">
                  <c:v>5.0024999999999995</c:v>
                </c:pt>
              </c:numCache>
            </c:numRef>
          </c:val>
          <c:smooth val="0"/>
        </c:ser>
        <c:dLbls>
          <c:numFmt formatCode="#,##0" sourceLinked="0"/>
          <c:txPr>
            <a:bodyPr/>
            <a:lstStyle/>
            <a:p>
              <a:pPr>
                <a:defRPr b="0" i="0" strike="noStrike" sz="1100" u="none">
                  <a:solidFill>
                    <a:srgbClr val="1F1A33"/>
                  </a:solidFill>
                  <a:latin typeface="Calibr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E5878"/>
                    </a:solidFill>
                    <a:latin typeface="Arial"/>
                  </a:defRPr>
                </a:pPr>
                <a:r>
                  <a:rPr sz="1200" b="0" i="0" u="none" strike="noStrike">
                    <a:solidFill>
                      <a:srgbClr val="5E5878"/>
                    </a:solidFill>
                    <a:latin typeface="Arial"/>
                  </a:rPr>
                  <a:t>MPI processes P</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2"/>
        <c:crosses val="autoZero"/>
        <c:auto val="1"/>
        <c:lblAlgn val="ctr"/>
        <c:noMultiLvlLbl val="1"/>
      </c:catAx>
      <c:valAx>
        <c:axId val="2094734552"/>
        <c:scaling>
          <c:orientation val="minMax"/>
          <c:max val="10"/>
          <c:min val="0"/>
        </c:scaling>
        <c:delete val="0"/>
        <c:axPos val="l"/>
        <c:majorGridlines>
          <c:spPr>
            <a:ln w="9525" cap="flat">
              <a:solidFill>
                <a:srgbClr val="E6E1F0"/>
              </a:solidFill>
              <a:prstDash val="solid"/>
              <a:round/>
            </a:ln>
          </c:spPr>
        </c:majorGridlines>
        <c:title>
          <c:tx>
            <c:rich>
              <a:bodyPr/>
              <a:lstStyle/>
              <a:p>
                <a:pPr>
                  <a:defRPr sz="1200" b="0" i="0" u="none" strike="noStrike">
                    <a:solidFill>
                      <a:srgbClr val="5E5878"/>
                    </a:solidFill>
                    <a:latin typeface="Arial"/>
                  </a:defRPr>
                </a:pPr>
                <a:r>
                  <a:rPr sz="1200" b="0" i="0" u="none" strike="noStrike">
                    <a:solidFill>
                      <a:srgbClr val="5E5878"/>
                    </a:solidFill>
                    <a:latin typeface="Arial"/>
                  </a:rPr>
                  <a:t>speedup</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4"/>
        <c:crosses val="autoZero"/>
        <c:crossBetween val="between"/>
        <c:majorUnit val="2"/>
      </c:valAx>
      <c:spPr>
        <a:noFill/>
        <a:ln>
          <a:noFill/>
        </a:ln>
        <a:effectLst/>
      </c:spPr>
    </c:plotArea>
    <c:legend>
      <c:legendPos val="b"/>
      <c:overlay val="0"/>
      <c:txPr>
        <a:bodyPr/>
        <a:lstStyle/>
        <a:p>
          <a:pPr>
            <a:defRPr sz="1200">
              <a:solidFill>
                <a:srgbClr val="5E5878"/>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A33"/>
                </a:solidFill>
                <a:latin typeface="Calibri"/>
              </a:defRPr>
            </a:pPr>
            <a:r>
              <a:rPr sz="1400" b="0" i="0" u="none" strike="noStrike">
                <a:solidFill>
                  <a:srgbClr val="1F1A33"/>
                </a:solidFill>
                <a:latin typeface="Calibri"/>
              </a:rPr>
              <a:t>Grayscale: mean time (s)</a:t>
            </a:r>
          </a:p>
        </c:rich>
      </c:tx>
      <c:layout/>
      <c:overlay val="0"/>
    </c:title>
    <c:autoTitleDeleted val="0"/>
    <c:plotArea>
      <c:layout/>
      <c:barChart>
        <c:barDir val="col"/>
        <c:grouping val="clustered"/>
        <c:varyColors val="0"/>
        <c:ser>
          <c:idx val="0"/>
          <c:order val="0"/>
          <c:tx>
            <c:strRef>
              <c:f>Sheet1!$B$1</c:f>
              <c:strCache>
                <c:ptCount val="1"/>
                <c:pt idx="0">
                  <c:v>LBG training</c:v>
                </c:pt>
              </c:strCache>
            </c:strRef>
          </c:tx>
          <c:spPr>
            <a:solidFill>
              <a:srgbClr val="E0457B"/>
            </a:solidFill>
            <a:effectLst/>
          </c:spPr>
          <c:invertIfNegative val="0"/>
          <c:dLbls>
            <c:numFmt formatCode="0.000" sourceLinked="0"/>
            <c:txPr>
              <a:bodyPr/>
              <a:lstStyle/>
              <a:p>
                <a:pPr>
                  <a:defRPr b="1" i="0" strike="noStrike" sz="1100" u="none">
                    <a:solidFill>
                      <a:srgbClr val="1F1A33"/>
                    </a:solidFill>
                    <a:latin typeface="Calibri"/>
                  </a:defRPr>
                </a:pPr>
              </a:p>
            </c:txPr>
            <c:showLegendKey val="0"/>
            <c:showVal val="1"/>
            <c:showCatName val="0"/>
            <c:showSerName val="0"/>
            <c:showPercent val="0"/>
            <c:showBubbleSize val="0"/>
            <c:showLeaderLines val="0"/>
          </c:dLbls>
          <c:cat>
            <c:multiLvlStrRef>
              <c:f>Sheet1!$A$2:$A$3</c:f>
              <c:multiLvlStrCache>
                <c:ptCount val="2"/>
                <c:lvl>
                  <c:pt idx="0">
                    <c:v>P = 1</c:v>
                  </c:pt>
                  <c:pt idx="1">
                    <c:v>P = 14</c:v>
                  </c:pt>
                </c:lvl>
              </c:multiLvlStrCache>
            </c:multiLvlStrRef>
          </c:cat>
          <c:val>
            <c:numRef>
              <c:f>Sheet1!$B$2:$B$3</c:f>
              <c:numCache>
                <c:formatCode>General</c:formatCode>
                <c:ptCount val="2"/>
                <c:pt idx="0">
                  <c:v>0.2557</c:v>
                </c:pt>
                <c:pt idx="1">
                  <c:v>0.0279</c:v>
                </c:pt>
              </c:numCache>
            </c:numRef>
          </c:val>
        </c:ser>
        <c:ser>
          <c:idx val="1"/>
          <c:order val="1"/>
          <c:tx>
            <c:strRef>
              <c:f>Sheet1!$C$1</c:f>
              <c:strCache>
                <c:ptCount val="1"/>
                <c:pt idx="0">
                  <c:v>Other stages</c:v>
                </c:pt>
              </c:strCache>
            </c:strRef>
          </c:tx>
          <c:spPr>
            <a:solidFill>
              <a:srgbClr val="A794D6"/>
            </a:solidFill>
            <a:effectLst/>
          </c:spPr>
          <c:invertIfNegative val="0"/>
          <c:dLbls>
            <c:numFmt formatCode="0.000" sourceLinked="0"/>
            <c:txPr>
              <a:bodyPr/>
              <a:lstStyle/>
              <a:p>
                <a:pPr>
                  <a:defRPr b="1" i="0" strike="noStrike" sz="1100" u="none">
                    <a:solidFill>
                      <a:srgbClr val="1F1A33"/>
                    </a:solidFill>
                    <a:latin typeface="Calibri"/>
                  </a:defRPr>
                </a:pPr>
              </a:p>
            </c:txPr>
            <c:showLegendKey val="0"/>
            <c:showVal val="1"/>
            <c:showCatName val="0"/>
            <c:showSerName val="0"/>
            <c:showPercent val="0"/>
            <c:showBubbleSize val="0"/>
            <c:showLeaderLines val="0"/>
          </c:dLbls>
          <c:cat>
            <c:multiLvlStrRef>
              <c:f>Sheet1!$A$2:$A$3</c:f>
              <c:multiLvlStrCache>
                <c:ptCount val="2"/>
                <c:lvl>
                  <c:pt idx="0">
                    <c:v>P = 1</c:v>
                  </c:pt>
                  <c:pt idx="1">
                    <c:v>P = 14</c:v>
                  </c:pt>
                </c:lvl>
              </c:multiLvlStrCache>
            </c:multiLvlStrRef>
          </c:cat>
          <c:val>
            <c:numRef>
              <c:f>Sheet1!$C$2:$C$3</c:f>
              <c:numCache>
                <c:formatCode>General</c:formatCode>
                <c:ptCount val="2"/>
                <c:pt idx="0">
                  <c:v>0.0761</c:v>
                </c:pt>
                <c:pt idx="1">
                  <c:v>0.0384</c:v>
                </c:pt>
              </c:numCache>
            </c:numRef>
          </c:val>
        </c:ser>
        <c:dLbls>
          <c:numFmt formatCode="0.000" sourceLinked="0"/>
          <c:txPr>
            <a:bodyPr/>
            <a:lstStyle/>
            <a:p>
              <a:pPr>
                <a:defRPr b="1" i="0" strike="noStrike" sz="1100" u="none">
                  <a:solidFill>
                    <a:srgbClr val="1F1A33"/>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6E1F0"/>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E5878"/>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A33"/>
                </a:solidFill>
                <a:latin typeface="Calibri"/>
              </a:defRPr>
            </a:pPr>
            <a:r>
              <a:rPr sz="1400" b="0" i="0" u="none" strike="noStrike">
                <a:solidFill>
                  <a:srgbClr val="1F1A33"/>
                </a:solidFill>
                <a:latin typeface="Calibri"/>
              </a:rPr>
              <a:t>Color: mean time (s)</a:t>
            </a:r>
          </a:p>
        </c:rich>
      </c:tx>
      <c:layout/>
      <c:overlay val="0"/>
    </c:title>
    <c:autoTitleDeleted val="0"/>
    <c:plotArea>
      <c:layout/>
      <c:barChart>
        <c:barDir val="col"/>
        <c:grouping val="clustered"/>
        <c:varyColors val="0"/>
        <c:ser>
          <c:idx val="0"/>
          <c:order val="0"/>
          <c:tx>
            <c:strRef>
              <c:f>Sheet1!$B$1</c:f>
              <c:strCache>
                <c:ptCount val="1"/>
                <c:pt idx="0">
                  <c:v>LBG training</c:v>
                </c:pt>
              </c:strCache>
            </c:strRef>
          </c:tx>
          <c:spPr>
            <a:solidFill>
              <a:srgbClr val="E0457B"/>
            </a:solidFill>
            <a:effectLst/>
          </c:spPr>
          <c:invertIfNegative val="0"/>
          <c:dLbls>
            <c:numFmt formatCode="0.000" sourceLinked="0"/>
            <c:txPr>
              <a:bodyPr/>
              <a:lstStyle/>
              <a:p>
                <a:pPr>
                  <a:defRPr b="1" i="0" strike="noStrike" sz="1100" u="none">
                    <a:solidFill>
                      <a:srgbClr val="1F1A33"/>
                    </a:solidFill>
                    <a:latin typeface="Calibri"/>
                  </a:defRPr>
                </a:pPr>
              </a:p>
            </c:txPr>
            <c:showLegendKey val="0"/>
            <c:showVal val="1"/>
            <c:showCatName val="0"/>
            <c:showSerName val="0"/>
            <c:showPercent val="0"/>
            <c:showBubbleSize val="0"/>
            <c:showLeaderLines val="0"/>
          </c:dLbls>
          <c:cat>
            <c:multiLvlStrRef>
              <c:f>Sheet1!$A$2:$A$3</c:f>
              <c:multiLvlStrCache>
                <c:ptCount val="2"/>
                <c:lvl>
                  <c:pt idx="0">
                    <c:v>P = 1</c:v>
                  </c:pt>
                  <c:pt idx="1">
                    <c:v>P = 14</c:v>
                  </c:pt>
                </c:lvl>
              </c:multiLvlStrCache>
            </c:multiLvlStrRef>
          </c:cat>
          <c:val>
            <c:numRef>
              <c:f>Sheet1!$B$2:$B$3</c:f>
              <c:numCache>
                <c:formatCode>General</c:formatCode>
                <c:ptCount val="2"/>
                <c:pt idx="0">
                  <c:v>0.7827</c:v>
                </c:pt>
                <c:pt idx="1">
                  <c:v>0.085</c:v>
                </c:pt>
              </c:numCache>
            </c:numRef>
          </c:val>
        </c:ser>
        <c:ser>
          <c:idx val="1"/>
          <c:order val="1"/>
          <c:tx>
            <c:strRef>
              <c:f>Sheet1!$C$1</c:f>
              <c:strCache>
                <c:ptCount val="1"/>
                <c:pt idx="0">
                  <c:v>Other stages</c:v>
                </c:pt>
              </c:strCache>
            </c:strRef>
          </c:tx>
          <c:spPr>
            <a:solidFill>
              <a:srgbClr val="A794D6"/>
            </a:solidFill>
            <a:effectLst/>
          </c:spPr>
          <c:invertIfNegative val="0"/>
          <c:dLbls>
            <c:numFmt formatCode="0.000" sourceLinked="0"/>
            <c:txPr>
              <a:bodyPr/>
              <a:lstStyle/>
              <a:p>
                <a:pPr>
                  <a:defRPr b="1" i="0" strike="noStrike" sz="1100" u="none">
                    <a:solidFill>
                      <a:srgbClr val="1F1A33"/>
                    </a:solidFill>
                    <a:latin typeface="Calibri"/>
                  </a:defRPr>
                </a:pPr>
              </a:p>
            </c:txPr>
            <c:showLegendKey val="0"/>
            <c:showVal val="1"/>
            <c:showCatName val="0"/>
            <c:showSerName val="0"/>
            <c:showPercent val="0"/>
            <c:showBubbleSize val="0"/>
            <c:showLeaderLines val="0"/>
          </c:dLbls>
          <c:cat>
            <c:multiLvlStrRef>
              <c:f>Sheet1!$A$2:$A$3</c:f>
              <c:multiLvlStrCache>
                <c:ptCount val="2"/>
                <c:lvl>
                  <c:pt idx="0">
                    <c:v>P = 1</c:v>
                  </c:pt>
                  <c:pt idx="1">
                    <c:v>P = 14</c:v>
                  </c:pt>
                </c:lvl>
              </c:multiLvlStrCache>
            </c:multiLvlStrRef>
          </c:cat>
          <c:val>
            <c:numRef>
              <c:f>Sheet1!$C$2:$C$3</c:f>
              <c:numCache>
                <c:formatCode>General</c:formatCode>
                <c:ptCount val="2"/>
                <c:pt idx="0">
                  <c:v>0.1817</c:v>
                </c:pt>
                <c:pt idx="1">
                  <c:v>0.0561</c:v>
                </c:pt>
              </c:numCache>
            </c:numRef>
          </c:val>
        </c:ser>
        <c:dLbls>
          <c:numFmt formatCode="0.000" sourceLinked="0"/>
          <c:txPr>
            <a:bodyPr/>
            <a:lstStyle/>
            <a:p>
              <a:pPr>
                <a:defRPr b="1" i="0" strike="noStrike" sz="1100" u="none">
                  <a:solidFill>
                    <a:srgbClr val="1F1A33"/>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6E1F0"/>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E5878"/>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A33"/>
                </a:solidFill>
                <a:latin typeface="Calibri"/>
              </a:defRPr>
            </a:pPr>
            <a:r>
              <a:rPr sz="1400" b="0" i="0" u="none" strike="noStrike">
                <a:solidFill>
                  <a:srgbClr val="1F1A33"/>
                </a:solidFill>
                <a:latin typeface="Calibri"/>
              </a:rPr>
              <a:t>Grayscale: mean LBG time (s)</a:t>
            </a:r>
          </a:p>
        </c:rich>
      </c:tx>
      <c:layout/>
      <c:overlay val="0"/>
    </c:title>
    <c:autoTitleDeleted val="0"/>
    <c:plotArea>
      <c:layout/>
      <c:barChart>
        <c:barDir val="col"/>
        <c:grouping val="clustered"/>
        <c:varyColors val="0"/>
        <c:ser>
          <c:idx val="0"/>
          <c:order val="0"/>
          <c:tx>
            <c:strRef>
              <c:f>Sheet1!$B$1</c:f>
              <c:strCache>
                <c:ptCount val="1"/>
                <c:pt idx="0">
                  <c:v>Equal</c:v>
                </c:pt>
              </c:strCache>
            </c:strRef>
          </c:tx>
          <c:spPr>
            <a:solidFill>
              <a:srgbClr val="A794D6"/>
            </a:solidFill>
            <a:effectLst/>
          </c:spPr>
          <c:invertIfNegative val="0"/>
          <c:dLbls>
            <c:numFmt formatCode="#,##0" sourceLinked="0"/>
            <c:txPr>
              <a:bodyPr/>
              <a:lstStyle/>
              <a:p>
                <a:pPr>
                  <a:defRPr b="0" i="0" strike="noStrike" sz="1100" u="none">
                    <a:solidFill>
                      <a:srgbClr val="1F1A33"/>
                    </a:solidFill>
                    <a:latin typeface="Calibri"/>
                  </a:defRPr>
                </a:pPr>
              </a:p>
            </c:txPr>
            <c:showLegendKey val="0"/>
            <c:showVal val="0"/>
            <c:showCatName val="0"/>
            <c:showSerName val="0"/>
            <c:showPercent val="0"/>
            <c:showBubbleSize val="0"/>
            <c:showLeaderLines val="0"/>
          </c:dLbls>
          <c:cat>
            <c:multiLvlStrRef>
              <c:f>Sheet1!$A$2:$A$8</c:f>
              <c:multiLvlStrCache>
                <c:ptCount val="7"/>
                <c:lvl>
                  <c:pt idx="0">
                    <c:v>2</c:v>
                  </c:pt>
                  <c:pt idx="1">
                    <c:v>4</c:v>
                  </c:pt>
                  <c:pt idx="2">
                    <c:v>6</c:v>
                  </c:pt>
                  <c:pt idx="3">
                    <c:v>8</c:v>
                  </c:pt>
                  <c:pt idx="4">
                    <c:v>10</c:v>
                  </c:pt>
                  <c:pt idx="5">
                    <c:v>12</c:v>
                  </c:pt>
                  <c:pt idx="6">
                    <c:v>14</c:v>
                  </c:pt>
                </c:lvl>
              </c:multiLvlStrCache>
            </c:multiLvlStrRef>
          </c:cat>
          <c:val>
            <c:numRef>
              <c:f>Sheet1!$B$2:$B$8</c:f>
              <c:numCache>
                <c:formatCode>General</c:formatCode>
                <c:ptCount val="7"/>
                <c:pt idx="0">
                  <c:v>0.1321</c:v>
                </c:pt>
                <c:pt idx="1">
                  <c:v>0.0675</c:v>
                </c:pt>
                <c:pt idx="2">
                  <c:v>0.0473</c:v>
                </c:pt>
                <c:pt idx="3">
                  <c:v>0.0565</c:v>
                </c:pt>
                <c:pt idx="4">
                  <c:v>0.0456</c:v>
                </c:pt>
                <c:pt idx="5">
                  <c:v>0.0389</c:v>
                </c:pt>
                <c:pt idx="6">
                  <c:v>0.0337</c:v>
                </c:pt>
              </c:numCache>
            </c:numRef>
          </c:val>
        </c:ser>
        <c:ser>
          <c:idx val="1"/>
          <c:order val="1"/>
          <c:tx>
            <c:strRef>
              <c:f>Sheet1!$C$1</c:f>
              <c:strCache>
                <c:ptCount val="1"/>
                <c:pt idx="0">
                  <c:v>Adaptive</c:v>
                </c:pt>
              </c:strCache>
            </c:strRef>
          </c:tx>
          <c:spPr>
            <a:solidFill>
              <a:srgbClr val="E0457B"/>
            </a:solidFill>
            <a:effectLst/>
          </c:spPr>
          <c:invertIfNegative val="0"/>
          <c:dLbls>
            <c:numFmt formatCode="#,##0" sourceLinked="0"/>
            <c:txPr>
              <a:bodyPr/>
              <a:lstStyle/>
              <a:p>
                <a:pPr>
                  <a:defRPr b="0" i="0" strike="noStrike" sz="1100" u="none">
                    <a:solidFill>
                      <a:srgbClr val="1F1A33"/>
                    </a:solidFill>
                    <a:latin typeface="Calibri"/>
                  </a:defRPr>
                </a:pPr>
              </a:p>
            </c:txPr>
            <c:showLegendKey val="0"/>
            <c:showVal val="0"/>
            <c:showCatName val="0"/>
            <c:showSerName val="0"/>
            <c:showPercent val="0"/>
            <c:showBubbleSize val="0"/>
            <c:showLeaderLines val="0"/>
          </c:dLbls>
          <c:cat>
            <c:multiLvlStrRef>
              <c:f>Sheet1!$A$2:$A$8</c:f>
              <c:multiLvlStrCache>
                <c:ptCount val="7"/>
                <c:lvl>
                  <c:pt idx="0">
                    <c:v>2</c:v>
                  </c:pt>
                  <c:pt idx="1">
                    <c:v>4</c:v>
                  </c:pt>
                  <c:pt idx="2">
                    <c:v>6</c:v>
                  </c:pt>
                  <c:pt idx="3">
                    <c:v>8</c:v>
                  </c:pt>
                  <c:pt idx="4">
                    <c:v>10</c:v>
                  </c:pt>
                  <c:pt idx="5">
                    <c:v>12</c:v>
                  </c:pt>
                  <c:pt idx="6">
                    <c:v>14</c:v>
                  </c:pt>
                </c:lvl>
              </c:multiLvlStrCache>
            </c:multiLvlStrRef>
          </c:cat>
          <c:val>
            <c:numRef>
              <c:f>Sheet1!$C$2:$C$8</c:f>
              <c:numCache>
                <c:formatCode>General</c:formatCode>
                <c:ptCount val="7"/>
                <c:pt idx="0">
                  <c:v>0.1322</c:v>
                </c:pt>
                <c:pt idx="1">
                  <c:v>0.0675</c:v>
                </c:pt>
                <c:pt idx="2">
                  <c:v>0.0474</c:v>
                </c:pt>
                <c:pt idx="3">
                  <c:v>0.0406</c:v>
                </c:pt>
                <c:pt idx="4">
                  <c:v>0.0349</c:v>
                </c:pt>
                <c:pt idx="5">
                  <c:v>0.0313</c:v>
                </c:pt>
                <c:pt idx="6">
                  <c:v>0.0279</c:v>
                </c:pt>
              </c:numCache>
            </c:numRef>
          </c:val>
        </c:ser>
        <c:dLbls>
          <c:numFmt formatCode="#,##0" sourceLinked="0"/>
          <c:txPr>
            <a:bodyPr/>
            <a:lstStyle/>
            <a:p>
              <a:pPr>
                <a:defRPr b="0" i="0" strike="noStrike" sz="1100" u="none">
                  <a:solidFill>
                    <a:srgbClr val="1F1A33"/>
                  </a:solidFill>
                  <a:latin typeface="Calibri"/>
                </a:defRPr>
              </a:pPr>
            </a:p>
          </c:txPr>
          <c:showLegendKey val="0"/>
          <c:showVal val="0"/>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title>
          <c:tx>
            <c:rich>
              <a:bodyPr/>
              <a:lstStyle/>
              <a:p>
                <a:pPr>
                  <a:defRPr sz="1200" b="0" i="0" u="none" strike="noStrike">
                    <a:solidFill>
                      <a:srgbClr val="5E5878"/>
                    </a:solidFill>
                    <a:latin typeface="Arial"/>
                  </a:defRPr>
                </a:pPr>
                <a:r>
                  <a:rPr sz="1200" b="0" i="0" u="none" strike="noStrike">
                    <a:solidFill>
                      <a:srgbClr val="5E5878"/>
                    </a:solidFill>
                    <a:latin typeface="Arial"/>
                  </a:rPr>
                  <a:t>MPI processes P</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6E1F0"/>
              </a:solidFill>
              <a:prstDash val="solid"/>
              <a:round/>
            </a:ln>
          </c:spPr>
        </c:majorGridlines>
        <c:title>
          <c:tx>
            <c:rich>
              <a:bodyPr/>
              <a:lstStyle/>
              <a:p>
                <a:pPr>
                  <a:defRPr sz="1200" b="0" i="0" u="none" strike="noStrike">
                    <a:solidFill>
                      <a:srgbClr val="5E5878"/>
                    </a:solidFill>
                    <a:latin typeface="Arial"/>
                  </a:defRPr>
                </a:pPr>
                <a:r>
                  <a:rPr sz="1200" b="0" i="0" u="none" strike="noStrike">
                    <a:solidFill>
                      <a:srgbClr val="5E5878"/>
                    </a:solidFill>
                    <a:latin typeface="Arial"/>
                  </a:rPr>
                  <a:t>seconds</a:t>
                </a:r>
              </a:p>
            </c:rich>
          </c:tx>
          <c:layout/>
          <c:overlay val="0"/>
        </c:title>
        <c:numFmt formatCode="0.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E5878"/>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A33"/>
                </a:solidFill>
                <a:latin typeface="Calibri"/>
              </a:defRPr>
            </a:pPr>
            <a:r>
              <a:rPr sz="1400" b="0" i="0" u="none" strike="noStrike">
                <a:solidFill>
                  <a:srgbClr val="1F1A33"/>
                </a:solidFill>
                <a:latin typeface="Calibri"/>
              </a:rPr>
              <a:t>Color: mean LBG time (s)</a:t>
            </a:r>
          </a:p>
        </c:rich>
      </c:tx>
      <c:layout/>
      <c:overlay val="0"/>
    </c:title>
    <c:autoTitleDeleted val="0"/>
    <c:plotArea>
      <c:layout/>
      <c:barChart>
        <c:barDir val="col"/>
        <c:grouping val="clustered"/>
        <c:varyColors val="0"/>
        <c:ser>
          <c:idx val="0"/>
          <c:order val="0"/>
          <c:tx>
            <c:strRef>
              <c:f>Sheet1!$B$1</c:f>
              <c:strCache>
                <c:ptCount val="1"/>
                <c:pt idx="0">
                  <c:v>Equal</c:v>
                </c:pt>
              </c:strCache>
            </c:strRef>
          </c:tx>
          <c:spPr>
            <a:solidFill>
              <a:srgbClr val="A794D6"/>
            </a:solidFill>
            <a:effectLst/>
          </c:spPr>
          <c:invertIfNegative val="0"/>
          <c:dLbls>
            <c:numFmt formatCode="#,##0" sourceLinked="0"/>
            <c:txPr>
              <a:bodyPr/>
              <a:lstStyle/>
              <a:p>
                <a:pPr>
                  <a:defRPr b="0" i="0" strike="noStrike" sz="1100" u="none">
                    <a:solidFill>
                      <a:srgbClr val="1F1A33"/>
                    </a:solidFill>
                    <a:latin typeface="Calibri"/>
                  </a:defRPr>
                </a:pPr>
              </a:p>
            </c:txPr>
            <c:showLegendKey val="0"/>
            <c:showVal val="0"/>
            <c:showCatName val="0"/>
            <c:showSerName val="0"/>
            <c:showPercent val="0"/>
            <c:showBubbleSize val="0"/>
            <c:showLeaderLines val="0"/>
          </c:dLbls>
          <c:cat>
            <c:multiLvlStrRef>
              <c:f>Sheet1!$A$2:$A$8</c:f>
              <c:multiLvlStrCache>
                <c:ptCount val="7"/>
                <c:lvl>
                  <c:pt idx="0">
                    <c:v>2</c:v>
                  </c:pt>
                  <c:pt idx="1">
                    <c:v>4</c:v>
                  </c:pt>
                  <c:pt idx="2">
                    <c:v>6</c:v>
                  </c:pt>
                  <c:pt idx="3">
                    <c:v>8</c:v>
                  </c:pt>
                  <c:pt idx="4">
                    <c:v>10</c:v>
                  </c:pt>
                  <c:pt idx="5">
                    <c:v>12</c:v>
                  </c:pt>
                  <c:pt idx="6">
                    <c:v>14</c:v>
                  </c:pt>
                </c:lvl>
              </c:multiLvlStrCache>
            </c:multiLvlStrRef>
          </c:cat>
          <c:val>
            <c:numRef>
              <c:f>Sheet1!$B$2:$B$8</c:f>
              <c:numCache>
                <c:formatCode>General</c:formatCode>
                <c:ptCount val="7"/>
                <c:pt idx="0">
                  <c:v>0.4042</c:v>
                </c:pt>
                <c:pt idx="1">
                  <c:v>0.2053</c:v>
                </c:pt>
                <c:pt idx="2">
                  <c:v>0.1442</c:v>
                </c:pt>
                <c:pt idx="3">
                  <c:v>0.1727</c:v>
                </c:pt>
                <c:pt idx="4">
                  <c:v>0.1391</c:v>
                </c:pt>
                <c:pt idx="5">
                  <c:v>0.1186</c:v>
                </c:pt>
                <c:pt idx="6">
                  <c:v>0.1025</c:v>
                </c:pt>
              </c:numCache>
            </c:numRef>
          </c:val>
        </c:ser>
        <c:ser>
          <c:idx val="1"/>
          <c:order val="1"/>
          <c:tx>
            <c:strRef>
              <c:f>Sheet1!$C$1</c:f>
              <c:strCache>
                <c:ptCount val="1"/>
                <c:pt idx="0">
                  <c:v>Adaptive</c:v>
                </c:pt>
              </c:strCache>
            </c:strRef>
          </c:tx>
          <c:spPr>
            <a:solidFill>
              <a:srgbClr val="E0457B"/>
            </a:solidFill>
            <a:effectLst/>
          </c:spPr>
          <c:invertIfNegative val="0"/>
          <c:dLbls>
            <c:numFmt formatCode="#,##0" sourceLinked="0"/>
            <c:txPr>
              <a:bodyPr/>
              <a:lstStyle/>
              <a:p>
                <a:pPr>
                  <a:defRPr b="0" i="0" strike="noStrike" sz="1100" u="none">
                    <a:solidFill>
                      <a:srgbClr val="1F1A33"/>
                    </a:solidFill>
                    <a:latin typeface="Calibri"/>
                  </a:defRPr>
                </a:pPr>
              </a:p>
            </c:txPr>
            <c:showLegendKey val="0"/>
            <c:showVal val="0"/>
            <c:showCatName val="0"/>
            <c:showSerName val="0"/>
            <c:showPercent val="0"/>
            <c:showBubbleSize val="0"/>
            <c:showLeaderLines val="0"/>
          </c:dLbls>
          <c:cat>
            <c:multiLvlStrRef>
              <c:f>Sheet1!$A$2:$A$8</c:f>
              <c:multiLvlStrCache>
                <c:ptCount val="7"/>
                <c:lvl>
                  <c:pt idx="0">
                    <c:v>2</c:v>
                  </c:pt>
                  <c:pt idx="1">
                    <c:v>4</c:v>
                  </c:pt>
                  <c:pt idx="2">
                    <c:v>6</c:v>
                  </c:pt>
                  <c:pt idx="3">
                    <c:v>8</c:v>
                  </c:pt>
                  <c:pt idx="4">
                    <c:v>10</c:v>
                  </c:pt>
                  <c:pt idx="5">
                    <c:v>12</c:v>
                  </c:pt>
                  <c:pt idx="6">
                    <c:v>14</c:v>
                  </c:pt>
                </c:lvl>
              </c:multiLvlStrCache>
            </c:multiLvlStrRef>
          </c:cat>
          <c:val>
            <c:numRef>
              <c:f>Sheet1!$C$2:$C$8</c:f>
              <c:numCache>
                <c:formatCode>General</c:formatCode>
                <c:ptCount val="7"/>
                <c:pt idx="0">
                  <c:v>0.4044</c:v>
                </c:pt>
                <c:pt idx="1">
                  <c:v>0.2061</c:v>
                </c:pt>
                <c:pt idx="2">
                  <c:v>0.1442</c:v>
                </c:pt>
                <c:pt idx="3">
                  <c:v>0.1236</c:v>
                </c:pt>
                <c:pt idx="4">
                  <c:v>0.1062</c:v>
                </c:pt>
                <c:pt idx="5">
                  <c:v>0.0949</c:v>
                </c:pt>
                <c:pt idx="6">
                  <c:v>0.0849</c:v>
                </c:pt>
              </c:numCache>
            </c:numRef>
          </c:val>
        </c:ser>
        <c:dLbls>
          <c:numFmt formatCode="#,##0" sourceLinked="0"/>
          <c:txPr>
            <a:bodyPr/>
            <a:lstStyle/>
            <a:p>
              <a:pPr>
                <a:defRPr b="0" i="0" strike="noStrike" sz="1100" u="none">
                  <a:solidFill>
                    <a:srgbClr val="1F1A33"/>
                  </a:solidFill>
                  <a:latin typeface="Calibri"/>
                </a:defRPr>
              </a:pPr>
            </a:p>
          </c:txPr>
          <c:showLegendKey val="0"/>
          <c:showVal val="0"/>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title>
          <c:tx>
            <c:rich>
              <a:bodyPr/>
              <a:lstStyle/>
              <a:p>
                <a:pPr>
                  <a:defRPr sz="1200" b="0" i="0" u="none" strike="noStrike">
                    <a:solidFill>
                      <a:srgbClr val="5E5878"/>
                    </a:solidFill>
                    <a:latin typeface="Arial"/>
                  </a:defRPr>
                </a:pPr>
                <a:r>
                  <a:rPr sz="1200" b="0" i="0" u="none" strike="noStrike">
                    <a:solidFill>
                      <a:srgbClr val="5E5878"/>
                    </a:solidFill>
                    <a:latin typeface="Arial"/>
                  </a:rPr>
                  <a:t>MPI processes P</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6E1F0"/>
              </a:solidFill>
              <a:prstDash val="solid"/>
              <a:round/>
            </a:ln>
          </c:spPr>
        </c:majorGridlines>
        <c:title>
          <c:tx>
            <c:rich>
              <a:bodyPr/>
              <a:lstStyle/>
              <a:p>
                <a:pPr>
                  <a:defRPr sz="1200" b="0" i="0" u="none" strike="noStrike">
                    <a:solidFill>
                      <a:srgbClr val="5E5878"/>
                    </a:solidFill>
                    <a:latin typeface="Arial"/>
                  </a:defRPr>
                </a:pPr>
                <a:r>
                  <a:rPr sz="1200" b="0" i="0" u="none" strike="noStrike">
                    <a:solidFill>
                      <a:srgbClr val="5E5878"/>
                    </a:solidFill>
                    <a:latin typeface="Arial"/>
                  </a:rPr>
                  <a:t>seconds</a:t>
                </a:r>
              </a:p>
            </c:rich>
          </c:tx>
          <c:layout/>
          <c:overlay val="0"/>
        </c:title>
        <c:numFmt formatCode="0.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E5878"/>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LBG time reduction (%)</c:v>
                </c:pt>
              </c:strCache>
            </c:strRef>
          </c:tx>
          <c:spPr>
            <a:solidFill>
              <a:srgbClr val="E0457B"/>
            </a:solidFill>
            <a:effectLst/>
          </c:spPr>
          <c:invertIfNegative val="0"/>
          <c:dLbls>
            <c:numFmt formatCode="0.0" sourceLinked="0"/>
            <c:txPr>
              <a:bodyPr/>
              <a:lstStyle/>
              <a:p>
                <a:pPr>
                  <a:defRPr b="0" i="0" strike="noStrike" sz="1000" u="none">
                    <a:solidFill>
                      <a:srgbClr val="1F1A33"/>
                    </a:solidFill>
                    <a:latin typeface="Calibri"/>
                  </a:defRPr>
                </a:pPr>
              </a:p>
            </c:txPr>
            <c:showLegendKey val="0"/>
            <c:showVal val="1"/>
            <c:showCatName val="0"/>
            <c:showSerName val="0"/>
            <c:showPercent val="0"/>
            <c:showBubbleSize val="0"/>
            <c:showLeaderLines val="0"/>
          </c:dLbls>
          <c:cat>
            <c:multiLvlStrRef>
              <c:f>Sheet1!$A$2:$A$8</c:f>
              <c:multiLvlStrCache>
                <c:ptCount val="7"/>
                <c:lvl>
                  <c:pt idx="0">
                    <c:v>2</c:v>
                  </c:pt>
                  <c:pt idx="1">
                    <c:v>4</c:v>
                  </c:pt>
                  <c:pt idx="2">
                    <c:v>6</c:v>
                  </c:pt>
                  <c:pt idx="3">
                    <c:v>8</c:v>
                  </c:pt>
                  <c:pt idx="4">
                    <c:v>10</c:v>
                  </c:pt>
                  <c:pt idx="5">
                    <c:v>12</c:v>
                  </c:pt>
                  <c:pt idx="6">
                    <c:v>14</c:v>
                  </c:pt>
                </c:lvl>
              </c:multiLvlStrCache>
            </c:multiLvlStrRef>
          </c:cat>
          <c:val>
            <c:numRef>
              <c:f>Sheet1!$B$2:$B$8</c:f>
              <c:numCache>
                <c:formatCode>General</c:formatCode>
                <c:ptCount val="7"/>
                <c:pt idx="0">
                  <c:v>-0.1</c:v>
                </c:pt>
                <c:pt idx="1">
                  <c:v>-0.2</c:v>
                </c:pt>
                <c:pt idx="2">
                  <c:v>-0.1</c:v>
                </c:pt>
                <c:pt idx="3">
                  <c:v>28.3</c:v>
                </c:pt>
                <c:pt idx="4">
                  <c:v>23.6</c:v>
                </c:pt>
                <c:pt idx="5">
                  <c:v>19.8</c:v>
                </c:pt>
                <c:pt idx="6">
                  <c:v>17.2</c:v>
                </c:pt>
              </c:numCache>
            </c:numRef>
          </c:val>
        </c:ser>
        <c:ser>
          <c:idx val="1"/>
          <c:order val="1"/>
          <c:tx>
            <c:strRef>
              <c:f>Sheet1!$C$1</c:f>
              <c:strCache>
                <c:ptCount val="1"/>
                <c:pt idx="0">
                  <c:v>Total time reduction (%)</c:v>
                </c:pt>
              </c:strCache>
            </c:strRef>
          </c:tx>
          <c:spPr>
            <a:solidFill>
              <a:srgbClr val="6B4FA3"/>
            </a:solidFill>
            <a:effectLst/>
          </c:spPr>
          <c:invertIfNegative val="0"/>
          <c:dLbls>
            <c:numFmt formatCode="0.0" sourceLinked="0"/>
            <c:txPr>
              <a:bodyPr/>
              <a:lstStyle/>
              <a:p>
                <a:pPr>
                  <a:defRPr b="0" i="0" strike="noStrike" sz="1000" u="none">
                    <a:solidFill>
                      <a:srgbClr val="1F1A33"/>
                    </a:solidFill>
                    <a:latin typeface="Calibri"/>
                  </a:defRPr>
                </a:pPr>
              </a:p>
            </c:txPr>
            <c:showLegendKey val="0"/>
            <c:showVal val="1"/>
            <c:showCatName val="0"/>
            <c:showSerName val="0"/>
            <c:showPercent val="0"/>
            <c:showBubbleSize val="0"/>
            <c:showLeaderLines val="0"/>
          </c:dLbls>
          <c:cat>
            <c:multiLvlStrRef>
              <c:f>Sheet1!$A$2:$A$8</c:f>
              <c:multiLvlStrCache>
                <c:ptCount val="7"/>
                <c:lvl>
                  <c:pt idx="0">
                    <c:v>2</c:v>
                  </c:pt>
                  <c:pt idx="1">
                    <c:v>4</c:v>
                  </c:pt>
                  <c:pt idx="2">
                    <c:v>6</c:v>
                  </c:pt>
                  <c:pt idx="3">
                    <c:v>8</c:v>
                  </c:pt>
                  <c:pt idx="4">
                    <c:v>10</c:v>
                  </c:pt>
                  <c:pt idx="5">
                    <c:v>12</c:v>
                  </c:pt>
                  <c:pt idx="6">
                    <c:v>14</c:v>
                  </c:pt>
                </c:lvl>
              </c:multiLvlStrCache>
            </c:multiLvlStrRef>
          </c:cat>
          <c:val>
            <c:numRef>
              <c:f>Sheet1!$C$2:$C$8</c:f>
              <c:numCache>
                <c:formatCode>General</c:formatCode>
                <c:ptCount val="7"/>
                <c:pt idx="0">
                  <c:v>-0.3</c:v>
                </c:pt>
                <c:pt idx="1">
                  <c:v>-0.6</c:v>
                </c:pt>
                <c:pt idx="2">
                  <c:v>-0.6</c:v>
                </c:pt>
                <c:pt idx="3">
                  <c:v>17.9</c:v>
                </c:pt>
                <c:pt idx="4">
                  <c:v>13.7</c:v>
                </c:pt>
                <c:pt idx="5">
                  <c:v>10.7</c:v>
                </c:pt>
                <c:pt idx="6">
                  <c:v>8.8</c:v>
                </c:pt>
              </c:numCache>
            </c:numRef>
          </c:val>
        </c:ser>
        <c:dLbls>
          <c:numFmt formatCode="0.0" sourceLinked="0"/>
          <c:txPr>
            <a:bodyPr/>
            <a:lstStyle/>
            <a:p>
              <a:pPr>
                <a:defRPr b="0" i="0" strike="noStrike" sz="1000" u="none">
                  <a:solidFill>
                    <a:srgbClr val="1F1A33"/>
                  </a:solidFill>
                  <a:latin typeface="Calibri"/>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title>
          <c:tx>
            <c:rich>
              <a:bodyPr/>
              <a:lstStyle/>
              <a:p>
                <a:pPr>
                  <a:defRPr sz="1200" b="0" i="0" u="none" strike="noStrike">
                    <a:solidFill>
                      <a:srgbClr val="5E5878"/>
                    </a:solidFill>
                    <a:latin typeface="Arial"/>
                  </a:defRPr>
                </a:pPr>
                <a:r>
                  <a:rPr sz="1200" b="0" i="0" u="none" strike="noStrike">
                    <a:solidFill>
                      <a:srgbClr val="5E5878"/>
                    </a:solidFill>
                    <a:latin typeface="Arial"/>
                  </a:rPr>
                  <a:t>MPI processes P</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2"/>
        <c:crosses val="autoZero"/>
        <c:auto val="1"/>
        <c:lblAlgn val="ctr"/>
        <c:noMultiLvlLbl val="1"/>
      </c:catAx>
      <c:valAx>
        <c:axId val="2094734552"/>
        <c:scaling>
          <c:orientation val="minMax"/>
          <c:max val="35"/>
          <c:min val="-5"/>
        </c:scaling>
        <c:delete val="0"/>
        <c:axPos val="l"/>
        <c:majorGridlines>
          <c:spPr>
            <a:ln w="9525" cap="flat">
              <a:solidFill>
                <a:srgbClr val="E6E1F0"/>
              </a:solidFill>
              <a:prstDash val="solid"/>
              <a:round/>
            </a:ln>
          </c:spPr>
        </c:majorGridlines>
        <c:title>
          <c:tx>
            <c:rich>
              <a:bodyPr/>
              <a:lstStyle/>
              <a:p>
                <a:pPr>
                  <a:defRPr sz="1200" b="0" i="0" u="none" strike="noStrike">
                    <a:solidFill>
                      <a:srgbClr val="5E5878"/>
                    </a:solidFill>
                    <a:latin typeface="Arial"/>
                  </a:defRPr>
                </a:pPr>
                <a:r>
                  <a:rPr sz="1200" b="0" i="0" u="none" strike="noStrike">
                    <a:solidFill>
                      <a:srgbClr val="5E5878"/>
                    </a:solidFill>
                    <a:latin typeface="Arial"/>
                  </a:rPr>
                  <a:t>reduction vs Equal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5878"/>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E5878"/>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topic: a parallel (MPI) LBG vector-quantization image compressor, evaluated on a hybrid CPU with 6 performance and 8 efficiency cores.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parts: introduction, literature review, problem statement, thesis objectives, proposed work, experimental results, conclusion and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Compression reduces storage and bandwidth. VQ is lossy; in this work the compressed size includes the codebook and the Huffman table, so the reported ratio is the real ratio.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LBG is iterative: every iteration compares every training vector with every codeword. This is the dominant cost of the sequential compressor (about 77% of the total time for grayscale images).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System CR includes the codebook (1,024 bytes) and the Huffman table, so it is the true compression ratio. PSNR and SSIM measure fidelity. Speedup, efficiency, Karp–Flatt and throughput measure the parallel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studies work at very different operating points: from near-lossless (CR about 1.5) to high compression. Values are taken from the papers'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Speedups come from different applications and baselines, so they are context, not a ranking. Papakyriakou uses the two-process run as baseline. Zangana's 9.09x is derived from the 1-GPU and 16-GPU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problems motivate the work: delay in sending data, big data storage, the cost of obtaining a good compression ratio, and the need for acceptable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objectives: a good compression ratio with parallel speed, and preserved quality. The right-hand column shows how the work meets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contributions: the pipeline, the parallel implementation, the Adaptive distribution for hybrid CPUs, and the measurement and verification methodology.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image is split into 4x4 blocks, each block is a 16-dimensional vector. LBG builds a 64-vector codebook. Each block is replaced by an index, the index sequence is delta-coded and Huffman-coded.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Zoom on a Cameraman region: the image is a grid of 4x4 blocks; each block becomes one vector and later one codeword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from the global mean; split every codeword by a factor (1 plus or minus delta), then run Lloyd iterations until the relative distortion change is below epsilon. Repeat until K = 64.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LBG orders codewords so that neighbouring blocks tend to have close indices; coding the difference between consecutive indices lowers the entropy. Huffman coding then reaches within about 0.04 bit of the entropy.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CR divides the original bytes by codebook (1,024 bytes) + Huffman table + Huffman data. Delta + Huffman raises the ratio from 15.06 (8-bit indices) to 25.92 on average.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512x512 images: four grayscale (Lena, Boat, Cameraman, Peppers) and four color (Lena, Peppers, F-16, Gold Hill). Color images are processed per R, G, B channel. Thumbnails shown here are the images available for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Rank 0 reads the image and builds the vectors, then broadcasts parameters and scatters the vectors. Every iteration: assign locally, Allreduce the partial sums and counts, update the codebook. Finally the labels are gathered on rank 0 for delta and Huffman coding.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a hybrid CPU, equal shares make P-cores wait for the slower E-cores at every Allreduce. Adaptive measures each rank's speed with a micro-benchmark and gives faster ranks more vectors, so all ranks finish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timings are medians of five runs under identical conditions. The sequential reference program is pinned to one core, so speedup is relative to a separate sequential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every image the sequential program and three parallel runs (P=4, P=14 Adaptive, P=14 Equal) give identical CR, MSE, PSNR, SSIM and iteration count, and the md5sum of the reconstructed BMP files is identical. md5sum is an external tool, not part of the algorithm. The check covers the reconstructed image and metrics, not the codebook or bitstream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Mean over the four grayscale images. Larger blocks and smaller codebooks give higher compression and lower quality. 4x4 with K=64 is the chosen balance.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Per-image system CR and PSNR for the four grayscale images; mean CR 25.92, PSNR 29.49 dB, SSIM 0.8266.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Per-image values for the four color images; mean CR 24.47, PSNR 28.80 dB, SSIM 0.7654. CR and MSE are pooled over the three channels; SSIM is the mean of the three channel SSIMs.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Reconstruction by the sequential program: CR 28.88, MSE 68.84, PSNR 29.75 dB, SSIM 0.8855. The block structure of VQ is visible in the 4x zoom.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approximately the same CR, JPEG 2000 and JPEG reach higher PSNR than the proposed VQ codec, while the generic DWT+Huffman baseline developed in this work is lower. The proposed codec is not a quality leader; its contribution is the parallel framework. The DWT baseline is a generic, controlled implementation, not a published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sequential program LBG is 77% of the total time for grayscale and 81% for color. The remaining stages (I/O, delta, Huffman, reconstruction, metrics) are the part that does not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Mean over the eight images. 9.19x at P=14, 65.7% efficiency. Speedup is almost linear up to P=6 (the P-cores) and then grows more slowly because E-cores are slower.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Efficiency = S/P. It falls after P=6 where E-cores join. The Karp-Flatt serial fraction of the LBG stage stays about 0.04 for P&gt;=8, so there is no growing parallel overhead; the Total stage has about 0.14 (gray) and 0.08 (color) because of the non-parallel stages.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Throughput = N*I/T_LBG in millions of vector-iterations per second (per channel for color). It grows from about 9.7-9.8 M/s sequentially to about 89-90 M/s at P=14, an increase of 9.2x.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 speedup includes I/O, delta, Huffman, reconstruction and metrics, which stay on rank 0. At P=14 the total speedup is 5.00x for grayscale and 6.84x for color, much lower than the 9.19x of the LBG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Mean stage times in seconds. At P=14 the LBG stage shrinks by 9.2x, but the other stages shrink only 2.0x (gray) and 3.2x (color), so their share of the total grows from 23% to 58% (gray) and from 19% to 40% (color).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Mean LBG time in seconds. For P up to 6 the two strategies are equivalent (all ranks on P-cores). From P=8, when E-cores are used, Adaptive is clearly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Reduction of execution time with Adaptive relative to Equal, mean over the eight images (mean of per-image reductions). LBG: 28.3, 23.6, 19.8, 17.2 percent at P=8, 10, 12, 14. Total: 17.9, 13.7, 10.7, 8.8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contextual comparison only. The studies operate at different compression ratios and use different images and size accounting; values are indicative. The time ratio is computed within each study: LBG/FLBG time in Bilal et al.; sequential/MPI LBG time at P=14 in this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Contextual comparison. This work reports speedup against a separate sequential program. The 9.19x is the mean LBG-stage speedup over the eight images; the total speedup includes the non-parallel stages. The reported speedups are of the same order but are not a ranking.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about the limits: one CPU platform, a modest problem size, a non-parallel part, and quality below standard codecs at the same CR.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compressor, the exact parallelization, the speedup, the Adaptive gain, and the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Natural extensions: parallelize the remaining stages, hybrid MPI+OpenMP, GPU, and entropy coding improvements.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references used in the seminar.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2E2055"/>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8A8FA8"/>
                </a:solidFill>
                <a:latin typeface="Calibri" pitchFamily="34" charset="0"/>
                <a:ea typeface="Calibri" pitchFamily="34" charset="-122"/>
                <a:cs typeface="Calibri" pitchFamily="34" charset="-120"/>
              </a:rPr>
              <a:t>Parallel LBG vector-quantization image compression  ·  MSc seminar  ·  University of Babylon</a:t>
            </a:r>
            <a:endParaRPr lang="en-US" sz="1000" dirty="0"/>
          </a:p>
        </p:txBody>
      </p:sp>
      <p:sp>
        <p:nvSpPr>
          <p:cNvPr id="3" name="Text 1"/>
          <p:cNvSpPr/>
          <p:nvPr>
            <p:ph idx="101" type="title" hasCustomPrompt="1"/>
          </p:nvPr>
        </p:nvSpPr>
        <p:spPr>
          <a:xfrm>
            <a:off x="548640" y="566928"/>
            <a:ext cx="11064240" cy="731520"/>
          </a:xfrm>
          <a:prstGeom prst="rect">
            <a:avLst/>
          </a:prstGeom>
          <a:noFill/>
          <a:ln/>
        </p:spPr>
        <p:txBody>
          <a:bodyPr wrap="square" rtlCol="0"/>
          <a:lstStyle>
            <a:lvl1pPr indent="0" marL="0">
              <a:buNone/>
              <a:defRPr lang="en-US" sz="3000" b="1" dirty="0">
                <a:solidFill>
                  <a:srgbClr val="1F1A33"/>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3.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3.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3.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chart" Target="/ppt/charts/chart7.xml"/><Relationship Id="rId4" Type="http://schemas.openxmlformats.org/officeDocument/2006/relationships/slideLayout" Target="../slideLayouts/slideLayout3.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chart" Target="/ppt/charts/chart9.xml"/><Relationship Id="rId3" Type="http://schemas.openxmlformats.org/officeDocument/2006/relationships/chart" Target="/ppt/charts/chart10.xml"/><Relationship Id="rId4" Type="http://schemas.openxmlformats.org/officeDocument/2006/relationships/slideLayout" Target="../slideLayouts/slideLayout3.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3.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chart" Target="/ppt/charts/chart13.xml"/><Relationship Id="rId3" Type="http://schemas.openxmlformats.org/officeDocument/2006/relationships/slideLayout" Target="../slideLayouts/slideLayout3.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chart" Target="/ppt/charts/chart14.xml"/><Relationship Id="rId2" Type="http://schemas.openxmlformats.org/officeDocument/2006/relationships/slideLayout" Target="../slideLayouts/slideLayout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chart" Target="/ppt/charts/chart15.xml"/><Relationship Id="rId2" Type="http://schemas.openxmlformats.org/officeDocument/2006/relationships/chart" Target="/ppt/charts/chart16.xml"/><Relationship Id="rId3" Type="http://schemas.openxmlformats.org/officeDocument/2006/relationships/slideLayout" Target="../slideLayouts/slideLayout3.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chart" Target="/ppt/charts/chart17.xml"/><Relationship Id="rId2" Type="http://schemas.openxmlformats.org/officeDocument/2006/relationships/slideLayout" Target="../slideLayouts/slideLayout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chart" Target="/ppt/charts/chart18.xml"/><Relationship Id="rId2" Type="http://schemas.openxmlformats.org/officeDocument/2006/relationships/slideLayout" Target="../slideLayouts/slideLayout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chart" Target="/ppt/charts/chart19.xml"/><Relationship Id="rId2" Type="http://schemas.openxmlformats.org/officeDocument/2006/relationships/chart" Target="/ppt/charts/chart20.xml"/><Relationship Id="rId3" Type="http://schemas.openxmlformats.org/officeDocument/2006/relationships/slideLayout" Target="../slideLayouts/slideLayout3.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chart" Target="/ppt/charts/chart21.xml"/><Relationship Id="rId2" Type="http://schemas.openxmlformats.org/officeDocument/2006/relationships/chart" Target="/ppt/charts/chart22.xml"/><Relationship Id="rId3" Type="http://schemas.openxmlformats.org/officeDocument/2006/relationships/slideLayout" Target="../slideLayouts/slideLayout3.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chart" Target="/ppt/charts/chart23.xml"/><Relationship Id="rId2" Type="http://schemas.openxmlformats.org/officeDocument/2006/relationships/slideLayout" Target="../slideLayouts/slideLayout3.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slideLayout" Target="../slideLayouts/slideLayout3.xml"/><Relationship Id="rId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slideLayout" Target="../slideLayouts/slideLayout3.xml"/><Relationship Id="rId6"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Decor circle 1"/>
          <p:cNvSpPr/>
          <p:nvPr/>
        </p:nvSpPr>
        <p:spPr>
          <a:xfrm>
            <a:off x="8138160" y="-1463040"/>
            <a:ext cx="5669280" cy="5669280"/>
          </a:xfrm>
          <a:prstGeom prst="ellipse">
            <a:avLst/>
          </a:prstGeom>
          <a:solidFill>
            <a:srgbClr val="6B4FA3">
              <a:alpha val="45000"/>
            </a:srgbClr>
          </a:solidFill>
          <a:ln w="12700">
            <a:solidFill>
              <a:srgbClr val="6B4FA3"/>
            </a:solidFill>
            <a:prstDash val="solid"/>
          </a:ln>
        </p:spPr>
      </p:sp>
      <p:sp>
        <p:nvSpPr>
          <p:cNvPr id="3" name="Decor circle 2"/>
          <p:cNvSpPr/>
          <p:nvPr/>
        </p:nvSpPr>
        <p:spPr>
          <a:xfrm>
            <a:off x="9692640" y="3108960"/>
            <a:ext cx="4023360" cy="4023360"/>
          </a:xfrm>
          <a:prstGeom prst="ellipse">
            <a:avLst/>
          </a:prstGeom>
          <a:solidFill>
            <a:srgbClr val="E0457B">
              <a:alpha val="30000"/>
            </a:srgbClr>
          </a:solidFill>
          <a:ln w="12700">
            <a:solidFill>
              <a:srgbClr val="E0457B"/>
            </a:solidFill>
            <a:prstDash val="solid"/>
          </a:ln>
        </p:spPr>
      </p:sp>
      <p:pic>
        <p:nvPicPr>
          <p:cNvPr id="4" name="University logo" descr="/home/user/mihk/results/seminar/assets/logo.png">    </p:cNvPr>
          <p:cNvPicPr>
            <a:picLocks noChangeAspect="1"/>
          </p:cNvPicPr>
          <p:nvPr/>
        </p:nvPicPr>
        <p:blipFill>
          <a:blip r:embed="rId1"/>
          <a:stretch>
            <a:fillRect/>
          </a:stretch>
        </p:blipFill>
        <p:spPr>
          <a:xfrm>
            <a:off x="640080" y="502920"/>
            <a:ext cx="960120" cy="1005840"/>
          </a:xfrm>
          <a:prstGeom prst="rect">
            <a:avLst/>
          </a:prstGeom>
        </p:spPr>
      </p:pic>
      <p:sp>
        <p:nvSpPr>
          <p:cNvPr id="5" name="Text 2"/>
          <p:cNvSpPr txBox="1"/>
          <p:nvPr/>
        </p:nvSpPr>
        <p:spPr>
          <a:xfrm>
            <a:off x="1828800" y="731520"/>
            <a:ext cx="5486400" cy="365760"/>
          </a:xfrm>
          <a:prstGeom prst="rect">
            <a:avLst/>
          </a:prstGeom>
          <a:noFill/>
          <a:ln/>
        </p:spPr>
        <p:txBody>
          <a:bodyPr wrap="square" lIns="0" tIns="0" rIns="0" bIns="0" rtlCol="0" anchor="t"/>
          <a:lstStyle/>
          <a:p>
            <a:pPr indent="0" marL="0">
              <a:buNone/>
            </a:pPr>
            <a:r>
              <a:rPr lang="en-US" sz="1400" b="1" spc="400" kern="0" dirty="0">
                <a:solidFill>
                  <a:srgbClr val="F2B134"/>
                </a:solidFill>
                <a:latin typeface="Calibri" pitchFamily="34" charset="0"/>
                <a:ea typeface="Calibri" pitchFamily="34" charset="-122"/>
                <a:cs typeface="Calibri" pitchFamily="34" charset="-120"/>
              </a:rPr>
              <a:t>MSc SEMINAR</a:t>
            </a:r>
            <a:endParaRPr lang="en-US" sz="1400" dirty="0"/>
          </a:p>
        </p:txBody>
      </p:sp>
      <p:sp>
        <p:nvSpPr>
          <p:cNvPr id="6" name="Text 3"/>
          <p:cNvSpPr txBox="1"/>
          <p:nvPr/>
        </p:nvSpPr>
        <p:spPr>
          <a:xfrm>
            <a:off x="1828800" y="1051560"/>
            <a:ext cx="5486400" cy="365760"/>
          </a:xfrm>
          <a:prstGeom prst="rect">
            <a:avLst/>
          </a:prstGeom>
          <a:noFill/>
          <a:ln/>
        </p:spPr>
        <p:txBody>
          <a:bodyPr wrap="square" lIns="0" tIns="0" rIns="0" bIns="0" rtlCol="0" anchor="t"/>
          <a:lstStyle/>
          <a:p>
            <a:pPr indent="0" marL="0">
              <a:buNone/>
            </a:pPr>
            <a:r>
              <a:rPr lang="en-US" sz="1600" dirty="0">
                <a:solidFill>
                  <a:srgbClr val="D9D2EE"/>
                </a:solidFill>
                <a:latin typeface="Calibri" pitchFamily="34" charset="0"/>
                <a:ea typeface="Calibri" pitchFamily="34" charset="-122"/>
                <a:cs typeface="Calibri" pitchFamily="34" charset="-120"/>
              </a:rPr>
              <a:t>University of Babylon</a:t>
            </a:r>
            <a:endParaRPr lang="en-US" sz="1600" dirty="0"/>
          </a:p>
        </p:txBody>
      </p:sp>
      <p:sp>
        <p:nvSpPr>
          <p:cNvPr id="7" name="Text 4"/>
          <p:cNvSpPr txBox="1"/>
          <p:nvPr/>
        </p:nvSpPr>
        <p:spPr>
          <a:xfrm>
            <a:off x="640080" y="2011680"/>
            <a:ext cx="8778240" cy="178308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Parallel image compression using high-performance computing strategies</a:t>
            </a:r>
            <a:endParaRPr lang="en-US" sz="3800" dirty="0"/>
          </a:p>
        </p:txBody>
      </p:sp>
      <p:sp>
        <p:nvSpPr>
          <p:cNvPr id="8" name="Text 5"/>
          <p:cNvSpPr txBox="1"/>
          <p:nvPr/>
        </p:nvSpPr>
        <p:spPr>
          <a:xfrm>
            <a:off x="640080" y="4023360"/>
            <a:ext cx="8778240" cy="731520"/>
          </a:xfrm>
          <a:prstGeom prst="rect">
            <a:avLst/>
          </a:prstGeom>
          <a:noFill/>
          <a:ln/>
        </p:spPr>
        <p:txBody>
          <a:bodyPr wrap="square" lIns="0" tIns="0" rIns="0" bIns="0" rtlCol="0" anchor="t"/>
          <a:lstStyle/>
          <a:p>
            <a:pPr indent="0" marL="0">
              <a:buNone/>
            </a:pPr>
            <a:r>
              <a:rPr lang="en-US" sz="1800" dirty="0">
                <a:solidFill>
                  <a:srgbClr val="D9D2EE"/>
                </a:solidFill>
                <a:latin typeface="Calibri" pitchFamily="34" charset="0"/>
                <a:ea typeface="Calibri" pitchFamily="34" charset="-122"/>
                <a:cs typeface="Calibri" pitchFamily="34" charset="-120"/>
              </a:rPr>
              <a:t>LBG vector quantization · delta coding · Huffman · speed-aware MPI on a hybrid P/E-core CPU</a:t>
            </a:r>
            <a:endParaRPr lang="en-US" sz="1800" dirty="0"/>
          </a:p>
        </p:txBody>
      </p:sp>
      <p:sp>
        <p:nvSpPr>
          <p:cNvPr id="9" name="Text 6"/>
          <p:cNvSpPr txBox="1"/>
          <p:nvPr/>
        </p:nvSpPr>
        <p:spPr>
          <a:xfrm>
            <a:off x="640080" y="5074920"/>
            <a:ext cx="8229600" cy="822960"/>
          </a:xfrm>
          <a:prstGeom prst="rect">
            <a:avLst/>
          </a:prstGeom>
          <a:noFill/>
          <a:ln/>
        </p:spPr>
        <p:txBody>
          <a:bodyPr wrap="square" lIns="0" tIns="0" rIns="0" bIns="0" rtlCol="0" anchor="t"/>
          <a:lstStyle/>
          <a:p>
            <a:pPr indent="0" marL="0">
              <a:spcAft>
                <a:spcPts val="600"/>
              </a:spcAft>
              <a:buNone/>
            </a:pPr>
            <a:r>
              <a:rPr lang="en-US" sz="1600" dirty="0">
                <a:solidFill>
                  <a:srgbClr val="A794D6"/>
                </a:solidFill>
                <a:latin typeface="Calibri" pitchFamily="34" charset="0"/>
                <a:ea typeface="Calibri" pitchFamily="34" charset="-122"/>
                <a:cs typeface="Calibri" pitchFamily="34" charset="-120"/>
              </a:rPr>
              <a:t>Presented by  </a:t>
            </a:r>
            <a:pPr indent="0" marL="0">
              <a:spcAft>
                <a:spcPts val="600"/>
              </a:spcAft>
              <a:buNone/>
            </a:pPr>
            <a:r>
              <a:rPr lang="en-US" sz="1600" b="1" dirty="0">
                <a:solidFill>
                  <a:srgbClr val="FFFFFF"/>
                </a:solidFill>
                <a:latin typeface="Calibri" pitchFamily="34" charset="0"/>
                <a:ea typeface="Calibri" pitchFamily="34" charset="-122"/>
                <a:cs typeface="Calibri" pitchFamily="34" charset="-120"/>
              </a:rPr>
              <a:t>MSc. Student Ibtihal Hussien</a:t>
            </a:r>
            <a:endParaRPr lang="en-US" sz="1600" dirty="0"/>
          </a:p>
          <a:p>
            <a:pPr indent="0" marL="0">
              <a:spcAft>
                <a:spcPts val="600"/>
              </a:spcAft>
              <a:buNone/>
            </a:pPr>
            <a:r>
              <a:rPr lang="en-US" sz="1600" dirty="0">
                <a:solidFill>
                  <a:srgbClr val="A794D6"/>
                </a:solidFill>
                <a:latin typeface="Calibri" pitchFamily="34" charset="0"/>
                <a:ea typeface="Calibri" pitchFamily="34" charset="-122"/>
                <a:cs typeface="Calibri" pitchFamily="34" charset="-120"/>
              </a:rPr>
              <a:t>Supervised by  </a:t>
            </a:r>
            <a:pPr indent="0" marL="0">
              <a:spcAft>
                <a:spcPts val="600"/>
              </a:spcAft>
              <a:buNone/>
            </a:pPr>
            <a:r>
              <a:rPr lang="en-US" sz="1600" b="1" dirty="0">
                <a:solidFill>
                  <a:srgbClr val="FFFFFF"/>
                </a:solidFill>
                <a:latin typeface="Calibri" pitchFamily="34" charset="0"/>
                <a:ea typeface="Calibri" pitchFamily="34" charset="-122"/>
                <a:cs typeface="Calibri" pitchFamily="34" charset="-120"/>
              </a:rPr>
              <a:t>Dr. Ahmed Badri  ·  Dr. Esraa Hadi</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AGENDA</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Outline</a:t>
            </a:r>
            <a:endParaRPr lang="en-US" sz="3000" dirty="0"/>
          </a:p>
        </p:txBody>
      </p:sp>
      <p:sp>
        <p:nvSpPr>
          <p:cNvPr id="5" name="Agenda card"/>
          <p:cNvSpPr/>
          <p:nvPr/>
        </p:nvSpPr>
        <p:spPr>
          <a:xfrm>
            <a:off x="548640" y="1600200"/>
            <a:ext cx="5394960" cy="914400"/>
          </a:xfrm>
          <a:prstGeom prst="roundRect">
            <a:avLst>
              <a:gd name="adj" fmla="val 12000"/>
            </a:avLst>
          </a:prstGeom>
          <a:solidFill>
            <a:srgbClr val="F5F1FB"/>
          </a:solidFill>
          <a:ln w="12700">
            <a:solidFill>
              <a:srgbClr val="F5F1FB"/>
            </a:solidFill>
            <a:prstDash val="solid"/>
          </a:ln>
        </p:spPr>
      </p:sp>
      <p:sp>
        <p:nvSpPr>
          <p:cNvPr id="6" name="Gold diamond"/>
          <p:cNvSpPr/>
          <p:nvPr/>
        </p:nvSpPr>
        <p:spPr>
          <a:xfrm>
            <a:off x="777240" y="1856232"/>
            <a:ext cx="402336" cy="402336"/>
          </a:xfrm>
          <a:prstGeom prst="diamond">
            <a:avLst/>
          </a:prstGeom>
          <a:solidFill>
            <a:srgbClr val="F2B134"/>
          </a:solidFill>
          <a:ln w="12700">
            <a:solidFill>
              <a:srgbClr val="F2B134"/>
            </a:solidFill>
            <a:prstDash val="solid"/>
          </a:ln>
        </p:spPr>
      </p:sp>
      <p:sp>
        <p:nvSpPr>
          <p:cNvPr id="7" name="Text 4"/>
          <p:cNvSpPr txBox="1"/>
          <p:nvPr/>
        </p:nvSpPr>
        <p:spPr>
          <a:xfrm>
            <a:off x="1261872" y="1691640"/>
            <a:ext cx="457200" cy="731520"/>
          </a:xfrm>
          <a:prstGeom prst="rect">
            <a:avLst/>
          </a:prstGeom>
          <a:noFill/>
          <a:ln/>
        </p:spPr>
        <p:txBody>
          <a:bodyPr wrap="square" lIns="0" tIns="0" rIns="0" bIns="0" rtlCol="0" anchor="ctr"/>
          <a:lstStyle/>
          <a:p>
            <a:pPr indent="0" marL="0">
              <a:buNone/>
            </a:pPr>
            <a:r>
              <a:rPr lang="en-US" sz="2200" b="1" dirty="0">
                <a:solidFill>
                  <a:srgbClr val="6B4FA3"/>
                </a:solidFill>
                <a:latin typeface="Cambria" pitchFamily="34" charset="0"/>
                <a:ea typeface="Cambria" pitchFamily="34" charset="-122"/>
                <a:cs typeface="Cambria" pitchFamily="34" charset="-120"/>
              </a:rPr>
              <a:t>1</a:t>
            </a:r>
            <a:endParaRPr lang="en-US" sz="2200" dirty="0"/>
          </a:p>
        </p:txBody>
      </p:sp>
      <p:sp>
        <p:nvSpPr>
          <p:cNvPr id="8" name="Text 5"/>
          <p:cNvSpPr txBox="1"/>
          <p:nvPr/>
        </p:nvSpPr>
        <p:spPr>
          <a:xfrm>
            <a:off x="1737360" y="1691640"/>
            <a:ext cx="4023360" cy="731520"/>
          </a:xfrm>
          <a:prstGeom prst="rect">
            <a:avLst/>
          </a:prstGeom>
          <a:noFill/>
          <a:ln/>
        </p:spPr>
        <p:txBody>
          <a:bodyPr wrap="square" lIns="0" tIns="0" rIns="0" bIns="0" rtlCol="0" anchor="ctr"/>
          <a:lstStyle/>
          <a:p>
            <a:pPr indent="0" marL="0">
              <a:buNone/>
            </a:pPr>
            <a:r>
              <a:rPr lang="en-US" sz="2200" b="1" dirty="0">
                <a:solidFill>
                  <a:srgbClr val="1F1A33"/>
                </a:solidFill>
                <a:latin typeface="Calibri" pitchFamily="34" charset="0"/>
                <a:ea typeface="Calibri" pitchFamily="34" charset="-122"/>
                <a:cs typeface="Calibri" pitchFamily="34" charset="-120"/>
              </a:rPr>
              <a:t>Introduction</a:t>
            </a:r>
            <a:endParaRPr lang="en-US" sz="2200" dirty="0"/>
          </a:p>
        </p:txBody>
      </p:sp>
      <p:sp>
        <p:nvSpPr>
          <p:cNvPr id="9" name="Agenda card"/>
          <p:cNvSpPr/>
          <p:nvPr/>
        </p:nvSpPr>
        <p:spPr>
          <a:xfrm>
            <a:off x="548640" y="2697480"/>
            <a:ext cx="5394960" cy="914400"/>
          </a:xfrm>
          <a:prstGeom prst="roundRect">
            <a:avLst>
              <a:gd name="adj" fmla="val 12000"/>
            </a:avLst>
          </a:prstGeom>
          <a:solidFill>
            <a:srgbClr val="F5F1FB"/>
          </a:solidFill>
          <a:ln w="12700">
            <a:solidFill>
              <a:srgbClr val="F5F1FB"/>
            </a:solidFill>
            <a:prstDash val="solid"/>
          </a:ln>
        </p:spPr>
      </p:sp>
      <p:sp>
        <p:nvSpPr>
          <p:cNvPr id="10" name="Gold diamond"/>
          <p:cNvSpPr/>
          <p:nvPr/>
        </p:nvSpPr>
        <p:spPr>
          <a:xfrm>
            <a:off x="777240" y="2953512"/>
            <a:ext cx="402336" cy="402336"/>
          </a:xfrm>
          <a:prstGeom prst="diamond">
            <a:avLst/>
          </a:prstGeom>
          <a:solidFill>
            <a:srgbClr val="F2B134"/>
          </a:solidFill>
          <a:ln w="12700">
            <a:solidFill>
              <a:srgbClr val="F2B134"/>
            </a:solidFill>
            <a:prstDash val="solid"/>
          </a:ln>
        </p:spPr>
      </p:sp>
      <p:sp>
        <p:nvSpPr>
          <p:cNvPr id="11" name="Text 8"/>
          <p:cNvSpPr txBox="1"/>
          <p:nvPr/>
        </p:nvSpPr>
        <p:spPr>
          <a:xfrm>
            <a:off x="1261872" y="2788920"/>
            <a:ext cx="457200" cy="731520"/>
          </a:xfrm>
          <a:prstGeom prst="rect">
            <a:avLst/>
          </a:prstGeom>
          <a:noFill/>
          <a:ln/>
        </p:spPr>
        <p:txBody>
          <a:bodyPr wrap="square" lIns="0" tIns="0" rIns="0" bIns="0" rtlCol="0" anchor="ctr"/>
          <a:lstStyle/>
          <a:p>
            <a:pPr indent="0" marL="0">
              <a:buNone/>
            </a:pPr>
            <a:r>
              <a:rPr lang="en-US" sz="2200" b="1" dirty="0">
                <a:solidFill>
                  <a:srgbClr val="E0457B"/>
                </a:solidFill>
                <a:latin typeface="Cambria" pitchFamily="34" charset="0"/>
                <a:ea typeface="Cambria" pitchFamily="34" charset="-122"/>
                <a:cs typeface="Cambria" pitchFamily="34" charset="-120"/>
              </a:rPr>
              <a:t>2</a:t>
            </a:r>
            <a:endParaRPr lang="en-US" sz="2200" dirty="0"/>
          </a:p>
        </p:txBody>
      </p:sp>
      <p:sp>
        <p:nvSpPr>
          <p:cNvPr id="12" name="Text 9"/>
          <p:cNvSpPr txBox="1"/>
          <p:nvPr/>
        </p:nvSpPr>
        <p:spPr>
          <a:xfrm>
            <a:off x="1737360" y="2788920"/>
            <a:ext cx="4023360" cy="731520"/>
          </a:xfrm>
          <a:prstGeom prst="rect">
            <a:avLst/>
          </a:prstGeom>
          <a:noFill/>
          <a:ln/>
        </p:spPr>
        <p:txBody>
          <a:bodyPr wrap="square" lIns="0" tIns="0" rIns="0" bIns="0" rtlCol="0" anchor="ctr"/>
          <a:lstStyle/>
          <a:p>
            <a:pPr indent="0" marL="0">
              <a:buNone/>
            </a:pPr>
            <a:r>
              <a:rPr lang="en-US" sz="2200" b="1" dirty="0">
                <a:solidFill>
                  <a:srgbClr val="1F1A33"/>
                </a:solidFill>
                <a:latin typeface="Calibri" pitchFamily="34" charset="0"/>
                <a:ea typeface="Calibri" pitchFamily="34" charset="-122"/>
                <a:cs typeface="Calibri" pitchFamily="34" charset="-120"/>
              </a:rPr>
              <a:t>Literature Review</a:t>
            </a:r>
            <a:endParaRPr lang="en-US" sz="2200" dirty="0"/>
          </a:p>
        </p:txBody>
      </p:sp>
      <p:sp>
        <p:nvSpPr>
          <p:cNvPr id="13" name="Agenda card"/>
          <p:cNvSpPr/>
          <p:nvPr/>
        </p:nvSpPr>
        <p:spPr>
          <a:xfrm>
            <a:off x="548640" y="3794760"/>
            <a:ext cx="5394960" cy="914400"/>
          </a:xfrm>
          <a:prstGeom prst="roundRect">
            <a:avLst>
              <a:gd name="adj" fmla="val 12000"/>
            </a:avLst>
          </a:prstGeom>
          <a:solidFill>
            <a:srgbClr val="F5F1FB"/>
          </a:solidFill>
          <a:ln w="12700">
            <a:solidFill>
              <a:srgbClr val="F5F1FB"/>
            </a:solidFill>
            <a:prstDash val="solid"/>
          </a:ln>
        </p:spPr>
      </p:sp>
      <p:sp>
        <p:nvSpPr>
          <p:cNvPr id="14" name="Gold diamond"/>
          <p:cNvSpPr/>
          <p:nvPr/>
        </p:nvSpPr>
        <p:spPr>
          <a:xfrm>
            <a:off x="777240" y="4050792"/>
            <a:ext cx="402336" cy="402336"/>
          </a:xfrm>
          <a:prstGeom prst="diamond">
            <a:avLst/>
          </a:prstGeom>
          <a:solidFill>
            <a:srgbClr val="F2B134"/>
          </a:solidFill>
          <a:ln w="12700">
            <a:solidFill>
              <a:srgbClr val="F2B134"/>
            </a:solidFill>
            <a:prstDash val="solid"/>
          </a:ln>
        </p:spPr>
      </p:sp>
      <p:sp>
        <p:nvSpPr>
          <p:cNvPr id="15" name="Text 12"/>
          <p:cNvSpPr txBox="1"/>
          <p:nvPr/>
        </p:nvSpPr>
        <p:spPr>
          <a:xfrm>
            <a:off x="1261872" y="3886200"/>
            <a:ext cx="457200" cy="731520"/>
          </a:xfrm>
          <a:prstGeom prst="rect">
            <a:avLst/>
          </a:prstGeom>
          <a:noFill/>
          <a:ln/>
        </p:spPr>
        <p:txBody>
          <a:bodyPr wrap="square" lIns="0" tIns="0" rIns="0" bIns="0" rtlCol="0" anchor="ctr"/>
          <a:lstStyle/>
          <a:p>
            <a:pPr indent="0" marL="0">
              <a:buNone/>
            </a:pPr>
            <a:r>
              <a:rPr lang="en-US" sz="2200" b="1" dirty="0">
                <a:solidFill>
                  <a:srgbClr val="6B4FA3"/>
                </a:solidFill>
                <a:latin typeface="Cambria" pitchFamily="34" charset="0"/>
                <a:ea typeface="Cambria" pitchFamily="34" charset="-122"/>
                <a:cs typeface="Cambria" pitchFamily="34" charset="-120"/>
              </a:rPr>
              <a:t>3</a:t>
            </a:r>
            <a:endParaRPr lang="en-US" sz="2200" dirty="0"/>
          </a:p>
        </p:txBody>
      </p:sp>
      <p:sp>
        <p:nvSpPr>
          <p:cNvPr id="16" name="Text 13"/>
          <p:cNvSpPr txBox="1"/>
          <p:nvPr/>
        </p:nvSpPr>
        <p:spPr>
          <a:xfrm>
            <a:off x="1737360" y="3886200"/>
            <a:ext cx="4023360" cy="731520"/>
          </a:xfrm>
          <a:prstGeom prst="rect">
            <a:avLst/>
          </a:prstGeom>
          <a:noFill/>
          <a:ln/>
        </p:spPr>
        <p:txBody>
          <a:bodyPr wrap="square" lIns="0" tIns="0" rIns="0" bIns="0" rtlCol="0" anchor="ctr"/>
          <a:lstStyle/>
          <a:p>
            <a:pPr indent="0" marL="0">
              <a:buNone/>
            </a:pPr>
            <a:r>
              <a:rPr lang="en-US" sz="2200" b="1" dirty="0">
                <a:solidFill>
                  <a:srgbClr val="1F1A33"/>
                </a:solidFill>
                <a:latin typeface="Calibri" pitchFamily="34" charset="0"/>
                <a:ea typeface="Calibri" pitchFamily="34" charset="-122"/>
                <a:cs typeface="Calibri" pitchFamily="34" charset="-120"/>
              </a:rPr>
              <a:t>Problem Statement</a:t>
            </a:r>
            <a:endParaRPr lang="en-US" sz="2200" dirty="0"/>
          </a:p>
        </p:txBody>
      </p:sp>
      <p:sp>
        <p:nvSpPr>
          <p:cNvPr id="17" name="Agenda card"/>
          <p:cNvSpPr/>
          <p:nvPr/>
        </p:nvSpPr>
        <p:spPr>
          <a:xfrm>
            <a:off x="548640" y="4892040"/>
            <a:ext cx="5394960" cy="914400"/>
          </a:xfrm>
          <a:prstGeom prst="roundRect">
            <a:avLst>
              <a:gd name="adj" fmla="val 12000"/>
            </a:avLst>
          </a:prstGeom>
          <a:solidFill>
            <a:srgbClr val="F5F1FB"/>
          </a:solidFill>
          <a:ln w="12700">
            <a:solidFill>
              <a:srgbClr val="F5F1FB"/>
            </a:solidFill>
            <a:prstDash val="solid"/>
          </a:ln>
        </p:spPr>
      </p:sp>
      <p:sp>
        <p:nvSpPr>
          <p:cNvPr id="18" name="Gold diamond"/>
          <p:cNvSpPr/>
          <p:nvPr/>
        </p:nvSpPr>
        <p:spPr>
          <a:xfrm>
            <a:off x="777240" y="5148072"/>
            <a:ext cx="402336" cy="402336"/>
          </a:xfrm>
          <a:prstGeom prst="diamond">
            <a:avLst/>
          </a:prstGeom>
          <a:solidFill>
            <a:srgbClr val="F2B134"/>
          </a:solidFill>
          <a:ln w="12700">
            <a:solidFill>
              <a:srgbClr val="F2B134"/>
            </a:solidFill>
            <a:prstDash val="solid"/>
          </a:ln>
        </p:spPr>
      </p:sp>
      <p:sp>
        <p:nvSpPr>
          <p:cNvPr id="19" name="Text 16"/>
          <p:cNvSpPr txBox="1"/>
          <p:nvPr/>
        </p:nvSpPr>
        <p:spPr>
          <a:xfrm>
            <a:off x="1261872" y="4983480"/>
            <a:ext cx="457200" cy="731520"/>
          </a:xfrm>
          <a:prstGeom prst="rect">
            <a:avLst/>
          </a:prstGeom>
          <a:noFill/>
          <a:ln/>
        </p:spPr>
        <p:txBody>
          <a:bodyPr wrap="square" lIns="0" tIns="0" rIns="0" bIns="0" rtlCol="0" anchor="ctr"/>
          <a:lstStyle/>
          <a:p>
            <a:pPr indent="0" marL="0">
              <a:buNone/>
            </a:pPr>
            <a:r>
              <a:rPr lang="en-US" sz="2200" b="1" dirty="0">
                <a:solidFill>
                  <a:srgbClr val="E0457B"/>
                </a:solidFill>
                <a:latin typeface="Cambria" pitchFamily="34" charset="0"/>
                <a:ea typeface="Cambria" pitchFamily="34" charset="-122"/>
                <a:cs typeface="Cambria" pitchFamily="34" charset="-120"/>
              </a:rPr>
              <a:t>4</a:t>
            </a:r>
            <a:endParaRPr lang="en-US" sz="2200" dirty="0"/>
          </a:p>
        </p:txBody>
      </p:sp>
      <p:sp>
        <p:nvSpPr>
          <p:cNvPr id="20" name="Text 17"/>
          <p:cNvSpPr txBox="1"/>
          <p:nvPr/>
        </p:nvSpPr>
        <p:spPr>
          <a:xfrm>
            <a:off x="1737360" y="4983480"/>
            <a:ext cx="4023360" cy="731520"/>
          </a:xfrm>
          <a:prstGeom prst="rect">
            <a:avLst/>
          </a:prstGeom>
          <a:noFill/>
          <a:ln/>
        </p:spPr>
        <p:txBody>
          <a:bodyPr wrap="square" lIns="0" tIns="0" rIns="0" bIns="0" rtlCol="0" anchor="ctr"/>
          <a:lstStyle/>
          <a:p>
            <a:pPr indent="0" marL="0">
              <a:buNone/>
            </a:pPr>
            <a:r>
              <a:rPr lang="en-US" sz="2200" b="1" dirty="0">
                <a:solidFill>
                  <a:srgbClr val="1F1A33"/>
                </a:solidFill>
                <a:latin typeface="Calibri" pitchFamily="34" charset="0"/>
                <a:ea typeface="Calibri" pitchFamily="34" charset="-122"/>
                <a:cs typeface="Calibri" pitchFamily="34" charset="-120"/>
              </a:rPr>
              <a:t>Thesis Objectives</a:t>
            </a:r>
            <a:endParaRPr lang="en-US" sz="2200" dirty="0"/>
          </a:p>
        </p:txBody>
      </p:sp>
      <p:sp>
        <p:nvSpPr>
          <p:cNvPr id="21" name="Agenda card"/>
          <p:cNvSpPr/>
          <p:nvPr/>
        </p:nvSpPr>
        <p:spPr>
          <a:xfrm>
            <a:off x="6217920" y="1600200"/>
            <a:ext cx="5394960" cy="914400"/>
          </a:xfrm>
          <a:prstGeom prst="roundRect">
            <a:avLst>
              <a:gd name="adj" fmla="val 12000"/>
            </a:avLst>
          </a:prstGeom>
          <a:solidFill>
            <a:srgbClr val="F5F1FB"/>
          </a:solidFill>
          <a:ln w="12700">
            <a:solidFill>
              <a:srgbClr val="F5F1FB"/>
            </a:solidFill>
            <a:prstDash val="solid"/>
          </a:ln>
        </p:spPr>
      </p:sp>
      <p:sp>
        <p:nvSpPr>
          <p:cNvPr id="22" name="Gold diamond"/>
          <p:cNvSpPr/>
          <p:nvPr/>
        </p:nvSpPr>
        <p:spPr>
          <a:xfrm>
            <a:off x="6446520" y="1856232"/>
            <a:ext cx="402336" cy="402336"/>
          </a:xfrm>
          <a:prstGeom prst="diamond">
            <a:avLst/>
          </a:prstGeom>
          <a:solidFill>
            <a:srgbClr val="F2B134"/>
          </a:solidFill>
          <a:ln w="12700">
            <a:solidFill>
              <a:srgbClr val="F2B134"/>
            </a:solidFill>
            <a:prstDash val="solid"/>
          </a:ln>
        </p:spPr>
      </p:sp>
      <p:sp>
        <p:nvSpPr>
          <p:cNvPr id="23" name="Text 20"/>
          <p:cNvSpPr txBox="1"/>
          <p:nvPr/>
        </p:nvSpPr>
        <p:spPr>
          <a:xfrm>
            <a:off x="6931152" y="1691640"/>
            <a:ext cx="457200" cy="731520"/>
          </a:xfrm>
          <a:prstGeom prst="rect">
            <a:avLst/>
          </a:prstGeom>
          <a:noFill/>
          <a:ln/>
        </p:spPr>
        <p:txBody>
          <a:bodyPr wrap="square" lIns="0" tIns="0" rIns="0" bIns="0" rtlCol="0" anchor="ctr"/>
          <a:lstStyle/>
          <a:p>
            <a:pPr indent="0" marL="0">
              <a:buNone/>
            </a:pPr>
            <a:r>
              <a:rPr lang="en-US" sz="2200" b="1" dirty="0">
                <a:solidFill>
                  <a:srgbClr val="6B4FA3"/>
                </a:solidFill>
                <a:latin typeface="Cambria" pitchFamily="34" charset="0"/>
                <a:ea typeface="Cambria" pitchFamily="34" charset="-122"/>
                <a:cs typeface="Cambria" pitchFamily="34" charset="-120"/>
              </a:rPr>
              <a:t>5</a:t>
            </a:r>
            <a:endParaRPr lang="en-US" sz="2200" dirty="0"/>
          </a:p>
        </p:txBody>
      </p:sp>
      <p:sp>
        <p:nvSpPr>
          <p:cNvPr id="24" name="Text 21"/>
          <p:cNvSpPr txBox="1"/>
          <p:nvPr/>
        </p:nvSpPr>
        <p:spPr>
          <a:xfrm>
            <a:off x="7406640" y="1691640"/>
            <a:ext cx="4023360" cy="731520"/>
          </a:xfrm>
          <a:prstGeom prst="rect">
            <a:avLst/>
          </a:prstGeom>
          <a:noFill/>
          <a:ln/>
        </p:spPr>
        <p:txBody>
          <a:bodyPr wrap="square" lIns="0" tIns="0" rIns="0" bIns="0" rtlCol="0" anchor="ctr"/>
          <a:lstStyle/>
          <a:p>
            <a:pPr indent="0" marL="0">
              <a:buNone/>
            </a:pPr>
            <a:r>
              <a:rPr lang="en-US" sz="2200" b="1" dirty="0">
                <a:solidFill>
                  <a:srgbClr val="1F1A33"/>
                </a:solidFill>
                <a:latin typeface="Calibri" pitchFamily="34" charset="0"/>
                <a:ea typeface="Calibri" pitchFamily="34" charset="-122"/>
                <a:cs typeface="Calibri" pitchFamily="34" charset="-120"/>
              </a:rPr>
              <a:t>Proposed work</a:t>
            </a:r>
            <a:endParaRPr lang="en-US" sz="2200" dirty="0"/>
          </a:p>
        </p:txBody>
      </p:sp>
      <p:sp>
        <p:nvSpPr>
          <p:cNvPr id="25" name="Agenda card"/>
          <p:cNvSpPr/>
          <p:nvPr/>
        </p:nvSpPr>
        <p:spPr>
          <a:xfrm>
            <a:off x="6217920" y="2697480"/>
            <a:ext cx="5394960" cy="914400"/>
          </a:xfrm>
          <a:prstGeom prst="roundRect">
            <a:avLst>
              <a:gd name="adj" fmla="val 12000"/>
            </a:avLst>
          </a:prstGeom>
          <a:solidFill>
            <a:srgbClr val="F5F1FB"/>
          </a:solidFill>
          <a:ln w="12700">
            <a:solidFill>
              <a:srgbClr val="F5F1FB"/>
            </a:solidFill>
            <a:prstDash val="solid"/>
          </a:ln>
        </p:spPr>
      </p:sp>
      <p:sp>
        <p:nvSpPr>
          <p:cNvPr id="26" name="Gold diamond"/>
          <p:cNvSpPr/>
          <p:nvPr/>
        </p:nvSpPr>
        <p:spPr>
          <a:xfrm>
            <a:off x="6446520" y="2953512"/>
            <a:ext cx="402336" cy="402336"/>
          </a:xfrm>
          <a:prstGeom prst="diamond">
            <a:avLst/>
          </a:prstGeom>
          <a:solidFill>
            <a:srgbClr val="F2B134"/>
          </a:solidFill>
          <a:ln w="12700">
            <a:solidFill>
              <a:srgbClr val="F2B134"/>
            </a:solidFill>
            <a:prstDash val="solid"/>
          </a:ln>
        </p:spPr>
      </p:sp>
      <p:sp>
        <p:nvSpPr>
          <p:cNvPr id="27" name="Text 24"/>
          <p:cNvSpPr txBox="1"/>
          <p:nvPr/>
        </p:nvSpPr>
        <p:spPr>
          <a:xfrm>
            <a:off x="6931152" y="2788920"/>
            <a:ext cx="457200" cy="731520"/>
          </a:xfrm>
          <a:prstGeom prst="rect">
            <a:avLst/>
          </a:prstGeom>
          <a:noFill/>
          <a:ln/>
        </p:spPr>
        <p:txBody>
          <a:bodyPr wrap="square" lIns="0" tIns="0" rIns="0" bIns="0" rtlCol="0" anchor="ctr"/>
          <a:lstStyle/>
          <a:p>
            <a:pPr indent="0" marL="0">
              <a:buNone/>
            </a:pPr>
            <a:r>
              <a:rPr lang="en-US" sz="2200" b="1" dirty="0">
                <a:solidFill>
                  <a:srgbClr val="E0457B"/>
                </a:solidFill>
                <a:latin typeface="Cambria" pitchFamily="34" charset="0"/>
                <a:ea typeface="Cambria" pitchFamily="34" charset="-122"/>
                <a:cs typeface="Cambria" pitchFamily="34" charset="-120"/>
              </a:rPr>
              <a:t>6</a:t>
            </a:r>
            <a:endParaRPr lang="en-US" sz="2200" dirty="0"/>
          </a:p>
        </p:txBody>
      </p:sp>
      <p:sp>
        <p:nvSpPr>
          <p:cNvPr id="28" name="Text 25"/>
          <p:cNvSpPr txBox="1"/>
          <p:nvPr/>
        </p:nvSpPr>
        <p:spPr>
          <a:xfrm>
            <a:off x="7406640" y="2788920"/>
            <a:ext cx="4023360" cy="731520"/>
          </a:xfrm>
          <a:prstGeom prst="rect">
            <a:avLst/>
          </a:prstGeom>
          <a:noFill/>
          <a:ln/>
        </p:spPr>
        <p:txBody>
          <a:bodyPr wrap="square" lIns="0" tIns="0" rIns="0" bIns="0" rtlCol="0" anchor="ctr"/>
          <a:lstStyle/>
          <a:p>
            <a:pPr indent="0" marL="0">
              <a:buNone/>
            </a:pPr>
            <a:r>
              <a:rPr lang="en-US" sz="2200" b="1" dirty="0">
                <a:solidFill>
                  <a:srgbClr val="1F1A33"/>
                </a:solidFill>
                <a:latin typeface="Calibri" pitchFamily="34" charset="0"/>
                <a:ea typeface="Calibri" pitchFamily="34" charset="-122"/>
                <a:cs typeface="Calibri" pitchFamily="34" charset="-120"/>
              </a:rPr>
              <a:t>Experimental Results</a:t>
            </a:r>
            <a:endParaRPr lang="en-US" sz="2200" dirty="0"/>
          </a:p>
        </p:txBody>
      </p:sp>
      <p:sp>
        <p:nvSpPr>
          <p:cNvPr id="29" name="Agenda card"/>
          <p:cNvSpPr/>
          <p:nvPr/>
        </p:nvSpPr>
        <p:spPr>
          <a:xfrm>
            <a:off x="6217920" y="3794760"/>
            <a:ext cx="5394960" cy="914400"/>
          </a:xfrm>
          <a:prstGeom prst="roundRect">
            <a:avLst>
              <a:gd name="adj" fmla="val 12000"/>
            </a:avLst>
          </a:prstGeom>
          <a:solidFill>
            <a:srgbClr val="F5F1FB"/>
          </a:solidFill>
          <a:ln w="12700">
            <a:solidFill>
              <a:srgbClr val="F5F1FB"/>
            </a:solidFill>
            <a:prstDash val="solid"/>
          </a:ln>
        </p:spPr>
      </p:sp>
      <p:sp>
        <p:nvSpPr>
          <p:cNvPr id="30" name="Gold diamond"/>
          <p:cNvSpPr/>
          <p:nvPr/>
        </p:nvSpPr>
        <p:spPr>
          <a:xfrm>
            <a:off x="6446520" y="4050792"/>
            <a:ext cx="402336" cy="402336"/>
          </a:xfrm>
          <a:prstGeom prst="diamond">
            <a:avLst/>
          </a:prstGeom>
          <a:solidFill>
            <a:srgbClr val="F2B134"/>
          </a:solidFill>
          <a:ln w="12700">
            <a:solidFill>
              <a:srgbClr val="F2B134"/>
            </a:solidFill>
            <a:prstDash val="solid"/>
          </a:ln>
        </p:spPr>
      </p:sp>
      <p:sp>
        <p:nvSpPr>
          <p:cNvPr id="31" name="Text 28"/>
          <p:cNvSpPr txBox="1"/>
          <p:nvPr/>
        </p:nvSpPr>
        <p:spPr>
          <a:xfrm>
            <a:off x="6931152" y="3886200"/>
            <a:ext cx="457200" cy="731520"/>
          </a:xfrm>
          <a:prstGeom prst="rect">
            <a:avLst/>
          </a:prstGeom>
          <a:noFill/>
          <a:ln/>
        </p:spPr>
        <p:txBody>
          <a:bodyPr wrap="square" lIns="0" tIns="0" rIns="0" bIns="0" rtlCol="0" anchor="ctr"/>
          <a:lstStyle/>
          <a:p>
            <a:pPr indent="0" marL="0">
              <a:buNone/>
            </a:pPr>
            <a:r>
              <a:rPr lang="en-US" sz="2200" b="1" dirty="0">
                <a:solidFill>
                  <a:srgbClr val="6B4FA3"/>
                </a:solidFill>
                <a:latin typeface="Cambria" pitchFamily="34" charset="0"/>
                <a:ea typeface="Cambria" pitchFamily="34" charset="-122"/>
                <a:cs typeface="Cambria" pitchFamily="34" charset="-120"/>
              </a:rPr>
              <a:t>7</a:t>
            </a:r>
            <a:endParaRPr lang="en-US" sz="2200" dirty="0"/>
          </a:p>
        </p:txBody>
      </p:sp>
      <p:sp>
        <p:nvSpPr>
          <p:cNvPr id="32" name="Text 29"/>
          <p:cNvSpPr txBox="1"/>
          <p:nvPr/>
        </p:nvSpPr>
        <p:spPr>
          <a:xfrm>
            <a:off x="7406640" y="3886200"/>
            <a:ext cx="4023360" cy="731520"/>
          </a:xfrm>
          <a:prstGeom prst="rect">
            <a:avLst/>
          </a:prstGeom>
          <a:noFill/>
          <a:ln/>
        </p:spPr>
        <p:txBody>
          <a:bodyPr wrap="square" lIns="0" tIns="0" rIns="0" bIns="0" rtlCol="0" anchor="ctr"/>
          <a:lstStyle/>
          <a:p>
            <a:pPr indent="0" marL="0">
              <a:buNone/>
            </a:pPr>
            <a:r>
              <a:rPr lang="en-US" sz="2200" b="1" dirty="0">
                <a:solidFill>
                  <a:srgbClr val="1F1A33"/>
                </a:solidFill>
                <a:latin typeface="Calibri" pitchFamily="34" charset="0"/>
                <a:ea typeface="Calibri" pitchFamily="34" charset="-122"/>
                <a:cs typeface="Calibri" pitchFamily="34" charset="-120"/>
              </a:rPr>
              <a:t>Conclusion</a:t>
            </a:r>
            <a:endParaRPr lang="en-US" sz="2200" dirty="0"/>
          </a:p>
        </p:txBody>
      </p:sp>
      <p:sp>
        <p:nvSpPr>
          <p:cNvPr id="33" name="Agenda card"/>
          <p:cNvSpPr/>
          <p:nvPr/>
        </p:nvSpPr>
        <p:spPr>
          <a:xfrm>
            <a:off x="6217920" y="4892040"/>
            <a:ext cx="5394960" cy="914400"/>
          </a:xfrm>
          <a:prstGeom prst="roundRect">
            <a:avLst>
              <a:gd name="adj" fmla="val 12000"/>
            </a:avLst>
          </a:prstGeom>
          <a:solidFill>
            <a:srgbClr val="F5F1FB"/>
          </a:solidFill>
          <a:ln w="12700">
            <a:solidFill>
              <a:srgbClr val="F5F1FB"/>
            </a:solidFill>
            <a:prstDash val="solid"/>
          </a:ln>
        </p:spPr>
      </p:sp>
      <p:sp>
        <p:nvSpPr>
          <p:cNvPr id="34" name="Gold diamond"/>
          <p:cNvSpPr/>
          <p:nvPr/>
        </p:nvSpPr>
        <p:spPr>
          <a:xfrm>
            <a:off x="6446520" y="5148072"/>
            <a:ext cx="402336" cy="402336"/>
          </a:xfrm>
          <a:prstGeom prst="diamond">
            <a:avLst/>
          </a:prstGeom>
          <a:solidFill>
            <a:srgbClr val="F2B134"/>
          </a:solidFill>
          <a:ln w="12700">
            <a:solidFill>
              <a:srgbClr val="F2B134"/>
            </a:solidFill>
            <a:prstDash val="solid"/>
          </a:ln>
        </p:spPr>
      </p:sp>
      <p:sp>
        <p:nvSpPr>
          <p:cNvPr id="35" name="Text 32"/>
          <p:cNvSpPr txBox="1"/>
          <p:nvPr/>
        </p:nvSpPr>
        <p:spPr>
          <a:xfrm>
            <a:off x="6931152" y="4983480"/>
            <a:ext cx="457200" cy="731520"/>
          </a:xfrm>
          <a:prstGeom prst="rect">
            <a:avLst/>
          </a:prstGeom>
          <a:noFill/>
          <a:ln/>
        </p:spPr>
        <p:txBody>
          <a:bodyPr wrap="square" lIns="0" tIns="0" rIns="0" bIns="0" rtlCol="0" anchor="ctr"/>
          <a:lstStyle/>
          <a:p>
            <a:pPr indent="0" marL="0">
              <a:buNone/>
            </a:pPr>
            <a:r>
              <a:rPr lang="en-US" sz="2200" b="1" dirty="0">
                <a:solidFill>
                  <a:srgbClr val="E0457B"/>
                </a:solidFill>
                <a:latin typeface="Cambria" pitchFamily="34" charset="0"/>
                <a:ea typeface="Cambria" pitchFamily="34" charset="-122"/>
                <a:cs typeface="Cambria" pitchFamily="34" charset="-120"/>
              </a:rPr>
              <a:t>8</a:t>
            </a:r>
            <a:endParaRPr lang="en-US" sz="2200" dirty="0"/>
          </a:p>
        </p:txBody>
      </p:sp>
      <p:sp>
        <p:nvSpPr>
          <p:cNvPr id="36" name="Text 33"/>
          <p:cNvSpPr txBox="1"/>
          <p:nvPr/>
        </p:nvSpPr>
        <p:spPr>
          <a:xfrm>
            <a:off x="7406640" y="4983480"/>
            <a:ext cx="4023360" cy="731520"/>
          </a:xfrm>
          <a:prstGeom prst="rect">
            <a:avLst/>
          </a:prstGeom>
          <a:noFill/>
          <a:ln/>
        </p:spPr>
        <p:txBody>
          <a:bodyPr wrap="square" lIns="0" tIns="0" rIns="0" bIns="0" rtlCol="0" anchor="ctr"/>
          <a:lstStyle/>
          <a:p>
            <a:pPr indent="0" marL="0">
              <a:buNone/>
            </a:pPr>
            <a:r>
              <a:rPr lang="en-US" sz="2200" b="1" dirty="0">
                <a:solidFill>
                  <a:srgbClr val="1F1A33"/>
                </a:solidFill>
                <a:latin typeface="Calibri" pitchFamily="34" charset="0"/>
                <a:ea typeface="Calibri" pitchFamily="34" charset="-122"/>
                <a:cs typeface="Calibri" pitchFamily="34" charset="-120"/>
              </a:rPr>
              <a:t>Future work</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1 · INTRODUCTION</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Why compress images, and how?</a:t>
            </a:r>
            <a:endParaRPr lang="en-US" sz="3000" dirty="0"/>
          </a:p>
        </p:txBody>
      </p:sp>
      <p:sp>
        <p:nvSpPr>
          <p:cNvPr id="5" name="Benefit card"/>
          <p:cNvSpPr/>
          <p:nvPr/>
        </p:nvSpPr>
        <p:spPr>
          <a:xfrm>
            <a:off x="548640" y="1554480"/>
            <a:ext cx="3520440" cy="2103120"/>
          </a:xfrm>
          <a:prstGeom prst="roundRect">
            <a:avLst>
              <a:gd name="adj" fmla="val 5217"/>
            </a:avLst>
          </a:prstGeom>
          <a:solidFill>
            <a:srgbClr val="F5F1FB"/>
          </a:solidFill>
          <a:ln w="12700">
            <a:solidFill>
              <a:srgbClr val="F5F1FB"/>
            </a:solidFill>
            <a:prstDash val="solid"/>
          </a:ln>
        </p:spPr>
      </p:sp>
      <p:sp>
        <p:nvSpPr>
          <p:cNvPr id="6" name="Icon circle"/>
          <p:cNvSpPr/>
          <p:nvPr/>
        </p:nvSpPr>
        <p:spPr>
          <a:xfrm>
            <a:off x="822960" y="1783080"/>
            <a:ext cx="731520" cy="731520"/>
          </a:xfrm>
          <a:prstGeom prst="ellipse">
            <a:avLst/>
          </a:prstGeom>
          <a:solidFill>
            <a:srgbClr val="6B4FA3"/>
          </a:solidFill>
          <a:ln w="12700">
            <a:solidFill>
              <a:srgbClr val="6B4FA3"/>
            </a:solidFill>
            <a:prstDash val="solid"/>
          </a:ln>
        </p:spPr>
      </p:sp>
      <p:pic>
        <p:nvPicPr>
          <p:cNvPr id="7" name="Icon" descr="preencoded.png">    </p:cNvPr>
          <p:cNvPicPr>
            <a:picLocks noChangeAspect="1"/>
          </p:cNvPicPr>
          <p:nvPr/>
        </p:nvPicPr>
        <p:blipFill>
          <a:blip r:embed="rId1"/>
          <a:stretch>
            <a:fillRect/>
          </a:stretch>
        </p:blipFill>
        <p:spPr>
          <a:xfrm>
            <a:off x="1005840" y="1965960"/>
            <a:ext cx="365760" cy="365760"/>
          </a:xfrm>
          <a:prstGeom prst="rect">
            <a:avLst/>
          </a:prstGeom>
        </p:spPr>
      </p:pic>
      <p:sp>
        <p:nvSpPr>
          <p:cNvPr id="8" name="Text 4"/>
          <p:cNvSpPr txBox="1"/>
          <p:nvPr/>
        </p:nvSpPr>
        <p:spPr>
          <a:xfrm>
            <a:off x="822960" y="2651760"/>
            <a:ext cx="3017520" cy="365760"/>
          </a:xfrm>
          <a:prstGeom prst="rect">
            <a:avLst/>
          </a:prstGeom>
          <a:noFill/>
          <a:ln/>
        </p:spPr>
        <p:txBody>
          <a:bodyPr wrap="square" lIns="0" tIns="0" rIns="0" bIns="0" rtlCol="0" anchor="t"/>
          <a:lstStyle/>
          <a:p>
            <a:pPr indent="0" marL="0">
              <a:buNone/>
            </a:pPr>
            <a:r>
              <a:rPr lang="en-US" sz="2000" b="1" dirty="0">
                <a:solidFill>
                  <a:srgbClr val="1F1A33"/>
                </a:solidFill>
                <a:latin typeface="Calibri" pitchFamily="34" charset="0"/>
                <a:ea typeface="Calibri" pitchFamily="34" charset="-122"/>
                <a:cs typeface="Calibri" pitchFamily="34" charset="-120"/>
              </a:rPr>
              <a:t>Storage</a:t>
            </a:r>
            <a:endParaRPr lang="en-US" sz="2000" dirty="0"/>
          </a:p>
        </p:txBody>
      </p:sp>
      <p:sp>
        <p:nvSpPr>
          <p:cNvPr id="9" name="Text 5"/>
          <p:cNvSpPr txBox="1"/>
          <p:nvPr/>
        </p:nvSpPr>
        <p:spPr>
          <a:xfrm>
            <a:off x="822960" y="3017520"/>
            <a:ext cx="3017520" cy="54864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Large image collections need less space.</a:t>
            </a:r>
            <a:endParaRPr lang="en-US" sz="1400" dirty="0"/>
          </a:p>
        </p:txBody>
      </p:sp>
      <p:sp>
        <p:nvSpPr>
          <p:cNvPr id="10" name="Benefit card"/>
          <p:cNvSpPr/>
          <p:nvPr/>
        </p:nvSpPr>
        <p:spPr>
          <a:xfrm>
            <a:off x="4343400" y="1554480"/>
            <a:ext cx="3520440" cy="2103120"/>
          </a:xfrm>
          <a:prstGeom prst="roundRect">
            <a:avLst>
              <a:gd name="adj" fmla="val 5217"/>
            </a:avLst>
          </a:prstGeom>
          <a:solidFill>
            <a:srgbClr val="F5F1FB"/>
          </a:solidFill>
          <a:ln w="12700">
            <a:solidFill>
              <a:srgbClr val="F5F1FB"/>
            </a:solidFill>
            <a:prstDash val="solid"/>
          </a:ln>
        </p:spPr>
      </p:sp>
      <p:sp>
        <p:nvSpPr>
          <p:cNvPr id="11" name="Icon circle"/>
          <p:cNvSpPr/>
          <p:nvPr/>
        </p:nvSpPr>
        <p:spPr>
          <a:xfrm>
            <a:off x="4617720" y="1783080"/>
            <a:ext cx="731520" cy="731520"/>
          </a:xfrm>
          <a:prstGeom prst="ellipse">
            <a:avLst/>
          </a:prstGeom>
          <a:solidFill>
            <a:srgbClr val="E0457B"/>
          </a:solidFill>
          <a:ln w="12700">
            <a:solidFill>
              <a:srgbClr val="E0457B"/>
            </a:solidFill>
            <a:prstDash val="solid"/>
          </a:ln>
        </p:spPr>
      </p:sp>
      <p:pic>
        <p:nvPicPr>
          <p:cNvPr id="12" name="Icon" descr="preencoded.png">    </p:cNvPr>
          <p:cNvPicPr>
            <a:picLocks noChangeAspect="1"/>
          </p:cNvPicPr>
          <p:nvPr/>
        </p:nvPicPr>
        <p:blipFill>
          <a:blip r:embed="rId2"/>
          <a:stretch>
            <a:fillRect/>
          </a:stretch>
        </p:blipFill>
        <p:spPr>
          <a:xfrm>
            <a:off x="4800600" y="1965960"/>
            <a:ext cx="365760" cy="365760"/>
          </a:xfrm>
          <a:prstGeom prst="rect">
            <a:avLst/>
          </a:prstGeom>
        </p:spPr>
      </p:pic>
      <p:sp>
        <p:nvSpPr>
          <p:cNvPr id="13" name="Text 8"/>
          <p:cNvSpPr txBox="1"/>
          <p:nvPr/>
        </p:nvSpPr>
        <p:spPr>
          <a:xfrm>
            <a:off x="4617720" y="2651760"/>
            <a:ext cx="3017520" cy="365760"/>
          </a:xfrm>
          <a:prstGeom prst="rect">
            <a:avLst/>
          </a:prstGeom>
          <a:noFill/>
          <a:ln/>
        </p:spPr>
        <p:txBody>
          <a:bodyPr wrap="square" lIns="0" tIns="0" rIns="0" bIns="0" rtlCol="0" anchor="t"/>
          <a:lstStyle/>
          <a:p>
            <a:pPr indent="0" marL="0">
              <a:buNone/>
            </a:pPr>
            <a:r>
              <a:rPr lang="en-US" sz="2000" b="1" dirty="0">
                <a:solidFill>
                  <a:srgbClr val="1F1A33"/>
                </a:solidFill>
                <a:latin typeface="Calibri" pitchFamily="34" charset="0"/>
                <a:ea typeface="Calibri" pitchFamily="34" charset="-122"/>
                <a:cs typeface="Calibri" pitchFamily="34" charset="-120"/>
              </a:rPr>
              <a:t>Transmission</a:t>
            </a:r>
            <a:endParaRPr lang="en-US" sz="2000" dirty="0"/>
          </a:p>
        </p:txBody>
      </p:sp>
      <p:sp>
        <p:nvSpPr>
          <p:cNvPr id="14" name="Text 9"/>
          <p:cNvSpPr txBox="1"/>
          <p:nvPr/>
        </p:nvSpPr>
        <p:spPr>
          <a:xfrm>
            <a:off x="4617720" y="3017520"/>
            <a:ext cx="3017520" cy="54864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Smaller files reach the receiver sooner.</a:t>
            </a:r>
            <a:endParaRPr lang="en-US" sz="1400" dirty="0"/>
          </a:p>
        </p:txBody>
      </p:sp>
      <p:sp>
        <p:nvSpPr>
          <p:cNvPr id="15" name="Benefit card"/>
          <p:cNvSpPr/>
          <p:nvPr/>
        </p:nvSpPr>
        <p:spPr>
          <a:xfrm>
            <a:off x="8138160" y="1554480"/>
            <a:ext cx="3520440" cy="2103120"/>
          </a:xfrm>
          <a:prstGeom prst="roundRect">
            <a:avLst>
              <a:gd name="adj" fmla="val 5217"/>
            </a:avLst>
          </a:prstGeom>
          <a:solidFill>
            <a:srgbClr val="F5F1FB"/>
          </a:solidFill>
          <a:ln w="12700">
            <a:solidFill>
              <a:srgbClr val="F5F1FB"/>
            </a:solidFill>
            <a:prstDash val="solid"/>
          </a:ln>
        </p:spPr>
      </p:sp>
      <p:sp>
        <p:nvSpPr>
          <p:cNvPr id="16" name="Icon circle"/>
          <p:cNvSpPr/>
          <p:nvPr/>
        </p:nvSpPr>
        <p:spPr>
          <a:xfrm>
            <a:off x="8412480" y="1783080"/>
            <a:ext cx="731520" cy="731520"/>
          </a:xfrm>
          <a:prstGeom prst="ellipse">
            <a:avLst/>
          </a:prstGeom>
          <a:solidFill>
            <a:srgbClr val="2A9D8F"/>
          </a:solidFill>
          <a:ln w="12700">
            <a:solidFill>
              <a:srgbClr val="2A9D8F"/>
            </a:solidFill>
            <a:prstDash val="solid"/>
          </a:ln>
        </p:spPr>
      </p:sp>
      <p:pic>
        <p:nvPicPr>
          <p:cNvPr id="17" name="Icon" descr="preencoded.png">    </p:cNvPr>
          <p:cNvPicPr>
            <a:picLocks noChangeAspect="1"/>
          </p:cNvPicPr>
          <p:nvPr/>
        </p:nvPicPr>
        <p:blipFill>
          <a:blip r:embed="rId3"/>
          <a:stretch>
            <a:fillRect/>
          </a:stretch>
        </p:blipFill>
        <p:spPr>
          <a:xfrm>
            <a:off x="8595360" y="1965960"/>
            <a:ext cx="365760" cy="365760"/>
          </a:xfrm>
          <a:prstGeom prst="rect">
            <a:avLst/>
          </a:prstGeom>
        </p:spPr>
      </p:pic>
      <p:sp>
        <p:nvSpPr>
          <p:cNvPr id="18" name="Text 12"/>
          <p:cNvSpPr txBox="1"/>
          <p:nvPr/>
        </p:nvSpPr>
        <p:spPr>
          <a:xfrm>
            <a:off x="8412480" y="2651760"/>
            <a:ext cx="3017520" cy="365760"/>
          </a:xfrm>
          <a:prstGeom prst="rect">
            <a:avLst/>
          </a:prstGeom>
          <a:noFill/>
          <a:ln/>
        </p:spPr>
        <p:txBody>
          <a:bodyPr wrap="square" lIns="0" tIns="0" rIns="0" bIns="0" rtlCol="0" anchor="t"/>
          <a:lstStyle/>
          <a:p>
            <a:pPr indent="0" marL="0">
              <a:buNone/>
            </a:pPr>
            <a:r>
              <a:rPr lang="en-US" sz="2000" b="1" dirty="0">
                <a:solidFill>
                  <a:srgbClr val="1F1A33"/>
                </a:solidFill>
                <a:latin typeface="Calibri" pitchFamily="34" charset="0"/>
                <a:ea typeface="Calibri" pitchFamily="34" charset="-122"/>
                <a:cs typeface="Calibri" pitchFamily="34" charset="-120"/>
              </a:rPr>
              <a:t>Computation</a:t>
            </a:r>
            <a:endParaRPr lang="en-US" sz="2000" dirty="0"/>
          </a:p>
        </p:txBody>
      </p:sp>
      <p:sp>
        <p:nvSpPr>
          <p:cNvPr id="19" name="Text 13"/>
          <p:cNvSpPr txBox="1"/>
          <p:nvPr/>
        </p:nvSpPr>
        <p:spPr>
          <a:xfrm>
            <a:off x="8412480" y="3017520"/>
            <a:ext cx="3017520" cy="54864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Compression itself must be fast enough to use.</a:t>
            </a:r>
            <a:endParaRPr lang="en-US" sz="1400" dirty="0"/>
          </a:p>
        </p:txBody>
      </p:sp>
      <p:sp>
        <p:nvSpPr>
          <p:cNvPr id="20" name="Lossless card"/>
          <p:cNvSpPr/>
          <p:nvPr/>
        </p:nvSpPr>
        <p:spPr>
          <a:xfrm>
            <a:off x="548640" y="3886200"/>
            <a:ext cx="5486400" cy="2286000"/>
          </a:xfrm>
          <a:prstGeom prst="roundRect">
            <a:avLst>
              <a:gd name="adj" fmla="val 4800"/>
            </a:avLst>
          </a:prstGeom>
          <a:solidFill>
            <a:srgbClr val="FFFFFF"/>
          </a:solidFill>
          <a:ln w="12700">
            <a:solidFill>
              <a:srgbClr val="FFFFFF"/>
            </a:solidFill>
            <a:prstDash val="solid"/>
          </a:ln>
        </p:spPr>
      </p:sp>
      <p:sp>
        <p:nvSpPr>
          <p:cNvPr id="21" name="Lossless frame"/>
          <p:cNvSpPr/>
          <p:nvPr/>
        </p:nvSpPr>
        <p:spPr>
          <a:xfrm>
            <a:off x="548640" y="3886200"/>
            <a:ext cx="5486400" cy="2286000"/>
          </a:xfrm>
          <a:prstGeom prst="roundRect">
            <a:avLst>
              <a:gd name="adj" fmla="val 4800"/>
            </a:avLst>
          </a:prstGeom>
          <a:solidFill>
            <a:srgbClr val="FFFFFF"/>
          </a:solidFill>
          <a:ln w="15875">
            <a:solidFill>
              <a:srgbClr val="DDD5EE"/>
            </a:solidFill>
            <a:prstDash val="solid"/>
          </a:ln>
        </p:spPr>
      </p:sp>
      <p:sp>
        <p:nvSpPr>
          <p:cNvPr id="22" name="Text 16"/>
          <p:cNvSpPr txBox="1"/>
          <p:nvPr/>
        </p:nvSpPr>
        <p:spPr>
          <a:xfrm>
            <a:off x="822960" y="4023360"/>
            <a:ext cx="4937760" cy="365760"/>
          </a:xfrm>
          <a:prstGeom prst="rect">
            <a:avLst/>
          </a:prstGeom>
          <a:noFill/>
          <a:ln/>
        </p:spPr>
        <p:txBody>
          <a:bodyPr wrap="square" lIns="0" tIns="0" rIns="0" bIns="0" rtlCol="0" anchor="t"/>
          <a:lstStyle/>
          <a:p>
            <a:pPr indent="0" marL="0">
              <a:buNone/>
            </a:pPr>
            <a:r>
              <a:rPr lang="en-US" sz="2000" b="1" dirty="0">
                <a:solidFill>
                  <a:srgbClr val="6B4FA3"/>
                </a:solidFill>
                <a:latin typeface="Calibri" pitchFamily="34" charset="0"/>
                <a:ea typeface="Calibri" pitchFamily="34" charset="-122"/>
                <a:cs typeface="Calibri" pitchFamily="34" charset="-120"/>
              </a:rPr>
              <a:t>Lossless</a:t>
            </a:r>
            <a:endParaRPr lang="en-US" sz="2000" dirty="0"/>
          </a:p>
        </p:txBody>
      </p:sp>
      <p:sp>
        <p:nvSpPr>
          <p:cNvPr id="23" name="Text 17"/>
          <p:cNvSpPr txBox="1"/>
          <p:nvPr/>
        </p:nvSpPr>
        <p:spPr>
          <a:xfrm>
            <a:off x="822960" y="4480560"/>
            <a:ext cx="4937760" cy="1463040"/>
          </a:xfrm>
          <a:prstGeom prst="rect">
            <a:avLst/>
          </a:prstGeom>
          <a:noFill/>
          <a:ln/>
        </p:spPr>
        <p:txBody>
          <a:bodyPr wrap="square" lIns="0" tIns="0" rIns="0" bIns="0" rtlCol="0" anchor="t"/>
          <a:lstStyle/>
          <a:p>
            <a:pPr indent="0" marL="0">
              <a:buNone/>
            </a:pPr>
            <a:r>
              <a:rPr lang="en-US" sz="1800" dirty="0">
                <a:solidFill>
                  <a:srgbClr val="5E5878"/>
                </a:solidFill>
                <a:latin typeface="Calibri" pitchFamily="34" charset="0"/>
                <a:ea typeface="Calibri" pitchFamily="34" charset="-122"/>
                <a:cs typeface="Calibri" pitchFamily="34" charset="-120"/>
              </a:rPr>
              <a:t>Perfect reconstruction. Used for documents and archives: RLE, Huffman, LZW, BWT.</a:t>
            </a:r>
            <a:endParaRPr lang="en-US" sz="1800" dirty="0"/>
          </a:p>
        </p:txBody>
      </p:sp>
      <p:sp>
        <p:nvSpPr>
          <p:cNvPr id="24" name="Lossy frame"/>
          <p:cNvSpPr/>
          <p:nvPr/>
        </p:nvSpPr>
        <p:spPr>
          <a:xfrm>
            <a:off x="6217920" y="3886200"/>
            <a:ext cx="5422392" cy="2286000"/>
          </a:xfrm>
          <a:prstGeom prst="roundRect">
            <a:avLst>
              <a:gd name="adj" fmla="val 4800"/>
            </a:avLst>
          </a:prstGeom>
          <a:solidFill>
            <a:srgbClr val="FFFFFF"/>
          </a:solidFill>
          <a:ln w="22225">
            <a:solidFill>
              <a:srgbClr val="E0457B"/>
            </a:solidFill>
            <a:prstDash val="solid"/>
          </a:ln>
        </p:spPr>
      </p:sp>
      <p:sp>
        <p:nvSpPr>
          <p:cNvPr id="25" name="Text 19"/>
          <p:cNvSpPr txBox="1"/>
          <p:nvPr/>
        </p:nvSpPr>
        <p:spPr>
          <a:xfrm>
            <a:off x="6492240" y="4023360"/>
            <a:ext cx="4846320" cy="365760"/>
          </a:xfrm>
          <a:prstGeom prst="rect">
            <a:avLst/>
          </a:prstGeom>
          <a:noFill/>
          <a:ln/>
        </p:spPr>
        <p:txBody>
          <a:bodyPr wrap="square" lIns="0" tIns="0" rIns="0" bIns="0" rtlCol="0" anchor="t"/>
          <a:lstStyle/>
          <a:p>
            <a:pPr indent="0" marL="0">
              <a:buNone/>
            </a:pPr>
            <a:r>
              <a:rPr lang="en-US" sz="2000" b="1" dirty="0">
                <a:solidFill>
                  <a:srgbClr val="E0457B"/>
                </a:solidFill>
                <a:latin typeface="Calibri" pitchFamily="34" charset="0"/>
                <a:ea typeface="Calibri" pitchFamily="34" charset="-122"/>
                <a:cs typeface="Calibri" pitchFamily="34" charset="-120"/>
              </a:rPr>
              <a:t>Lossy  (this work)</a:t>
            </a:r>
            <a:endParaRPr lang="en-US" sz="2000" dirty="0"/>
          </a:p>
        </p:txBody>
      </p:sp>
      <p:sp>
        <p:nvSpPr>
          <p:cNvPr id="26" name="Text 20"/>
          <p:cNvSpPr txBox="1"/>
          <p:nvPr/>
        </p:nvSpPr>
        <p:spPr>
          <a:xfrm>
            <a:off x="6492240" y="4480560"/>
            <a:ext cx="4846320" cy="1554480"/>
          </a:xfrm>
          <a:prstGeom prst="rect">
            <a:avLst/>
          </a:prstGeom>
          <a:noFill/>
          <a:ln/>
        </p:spPr>
        <p:txBody>
          <a:bodyPr wrap="square" lIns="0" tIns="0" rIns="0" bIns="0" rtlCol="0" anchor="t"/>
          <a:lstStyle/>
          <a:p>
            <a:pPr indent="0" marL="0">
              <a:buNone/>
            </a:pPr>
            <a:r>
              <a:rPr lang="en-US" sz="1800" dirty="0">
                <a:solidFill>
                  <a:srgbClr val="5E5878"/>
                </a:solidFill>
                <a:latin typeface="Calibri" pitchFamily="34" charset="0"/>
                <a:ea typeface="Calibri" pitchFamily="34" charset="-122"/>
                <a:cs typeface="Calibri" pitchFamily="34" charset="-120"/>
              </a:rPr>
              <a:t>Some data is discarded for a much smaller file: VQ, DCT, DWT, DPCM. Here: vector quantization + delta + Huffman.</a:t>
            </a:r>
            <a:endParaRPr lang="en-US" sz="18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1 · INTRODUCTION</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Why parallelize LBG codebook training?</a:t>
            </a:r>
            <a:endParaRPr lang="en-US" sz="3000" dirty="0"/>
          </a:p>
        </p:txBody>
      </p:sp>
      <p:sp>
        <p:nvSpPr>
          <p:cNvPr id="5" name="Stat card"/>
          <p:cNvSpPr/>
          <p:nvPr/>
        </p:nvSpPr>
        <p:spPr>
          <a:xfrm>
            <a:off x="548640" y="1554480"/>
            <a:ext cx="2697480" cy="1371600"/>
          </a:xfrm>
          <a:prstGeom prst="roundRect">
            <a:avLst>
              <a:gd name="adj" fmla="val 8000"/>
            </a:avLst>
          </a:prstGeom>
          <a:solidFill>
            <a:srgbClr val="F5F1FB"/>
          </a:solidFill>
          <a:ln w="12700">
            <a:solidFill>
              <a:srgbClr val="F5F1FB"/>
            </a:solidFill>
            <a:prstDash val="solid"/>
          </a:ln>
        </p:spPr>
      </p:sp>
      <p:sp>
        <p:nvSpPr>
          <p:cNvPr id="6" name="Text 3"/>
          <p:cNvSpPr txBox="1"/>
          <p:nvPr/>
        </p:nvSpPr>
        <p:spPr>
          <a:xfrm>
            <a:off x="731520" y="1691640"/>
            <a:ext cx="2331720" cy="777240"/>
          </a:xfrm>
          <a:prstGeom prst="rect">
            <a:avLst/>
          </a:prstGeom>
          <a:noFill/>
          <a:ln/>
        </p:spPr>
        <p:txBody>
          <a:bodyPr wrap="square" lIns="0" tIns="0" rIns="0" bIns="0" rtlCol="0" anchor="ctr"/>
          <a:lstStyle/>
          <a:p>
            <a:pPr indent="0" marL="0">
              <a:buNone/>
            </a:pPr>
            <a:r>
              <a:rPr lang="en-US" sz="4000" b="1" dirty="0">
                <a:solidFill>
                  <a:srgbClr val="6B4FA3"/>
                </a:solidFill>
                <a:latin typeface="Cambria" pitchFamily="34" charset="0"/>
                <a:ea typeface="Cambria" pitchFamily="34" charset="-122"/>
                <a:cs typeface="Cambria" pitchFamily="34" charset="-120"/>
              </a:rPr>
              <a:t>16,384</a:t>
            </a:r>
            <a:endParaRPr lang="en-US" sz="4000" dirty="0"/>
          </a:p>
        </p:txBody>
      </p:sp>
      <p:sp>
        <p:nvSpPr>
          <p:cNvPr id="7" name="Text 4"/>
          <p:cNvSpPr txBox="1"/>
          <p:nvPr/>
        </p:nvSpPr>
        <p:spPr>
          <a:xfrm>
            <a:off x="731520" y="2423160"/>
            <a:ext cx="2331720"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training vectors per 512×512 image (4×4 blocks)</a:t>
            </a:r>
            <a:endParaRPr lang="en-US" sz="1400" dirty="0"/>
          </a:p>
        </p:txBody>
      </p:sp>
      <p:sp>
        <p:nvSpPr>
          <p:cNvPr id="8" name="Stat card"/>
          <p:cNvSpPr/>
          <p:nvPr/>
        </p:nvSpPr>
        <p:spPr>
          <a:xfrm>
            <a:off x="3429000" y="1554480"/>
            <a:ext cx="2697480" cy="1371600"/>
          </a:xfrm>
          <a:prstGeom prst="roundRect">
            <a:avLst>
              <a:gd name="adj" fmla="val 8000"/>
            </a:avLst>
          </a:prstGeom>
          <a:solidFill>
            <a:srgbClr val="F5F1FB"/>
          </a:solidFill>
          <a:ln w="12700">
            <a:solidFill>
              <a:srgbClr val="F5F1FB"/>
            </a:solidFill>
            <a:prstDash val="solid"/>
          </a:ln>
        </p:spPr>
      </p:sp>
      <p:sp>
        <p:nvSpPr>
          <p:cNvPr id="9" name="Text 6"/>
          <p:cNvSpPr txBox="1"/>
          <p:nvPr/>
        </p:nvSpPr>
        <p:spPr>
          <a:xfrm>
            <a:off x="3611880" y="1691640"/>
            <a:ext cx="2331720" cy="777240"/>
          </a:xfrm>
          <a:prstGeom prst="rect">
            <a:avLst/>
          </a:prstGeom>
          <a:noFill/>
          <a:ln/>
        </p:spPr>
        <p:txBody>
          <a:bodyPr wrap="square" lIns="0" tIns="0" rIns="0" bIns="0" rtlCol="0" anchor="ctr"/>
          <a:lstStyle/>
          <a:p>
            <a:pPr indent="0" marL="0">
              <a:buNone/>
            </a:pPr>
            <a:r>
              <a:rPr lang="en-US" sz="4000" b="1" dirty="0">
                <a:solidFill>
                  <a:srgbClr val="E0457B"/>
                </a:solidFill>
                <a:latin typeface="Cambria" pitchFamily="34" charset="0"/>
                <a:ea typeface="Cambria" pitchFamily="34" charset="-122"/>
                <a:cs typeface="Cambria" pitchFamily="34" charset="-120"/>
              </a:rPr>
              <a:t>64</a:t>
            </a:r>
            <a:endParaRPr lang="en-US" sz="4000" dirty="0"/>
          </a:p>
        </p:txBody>
      </p:sp>
      <p:sp>
        <p:nvSpPr>
          <p:cNvPr id="10" name="Text 7"/>
          <p:cNvSpPr txBox="1"/>
          <p:nvPr/>
        </p:nvSpPr>
        <p:spPr>
          <a:xfrm>
            <a:off x="3611880" y="2423160"/>
            <a:ext cx="2331720"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codewords, 16 dimensions each</a:t>
            </a:r>
            <a:endParaRPr lang="en-US" sz="1400" dirty="0"/>
          </a:p>
        </p:txBody>
      </p:sp>
      <p:sp>
        <p:nvSpPr>
          <p:cNvPr id="11" name="Stat card"/>
          <p:cNvSpPr/>
          <p:nvPr/>
        </p:nvSpPr>
        <p:spPr>
          <a:xfrm>
            <a:off x="6309360" y="1554480"/>
            <a:ext cx="2697480" cy="1371600"/>
          </a:xfrm>
          <a:prstGeom prst="roundRect">
            <a:avLst>
              <a:gd name="adj" fmla="val 8000"/>
            </a:avLst>
          </a:prstGeom>
          <a:solidFill>
            <a:srgbClr val="F5F1FB"/>
          </a:solidFill>
          <a:ln w="12700">
            <a:solidFill>
              <a:srgbClr val="F5F1FB"/>
            </a:solidFill>
            <a:prstDash val="solid"/>
          </a:ln>
        </p:spPr>
      </p:sp>
      <p:sp>
        <p:nvSpPr>
          <p:cNvPr id="12" name="Text 9"/>
          <p:cNvSpPr txBox="1"/>
          <p:nvPr/>
        </p:nvSpPr>
        <p:spPr>
          <a:xfrm>
            <a:off x="6492240" y="1691640"/>
            <a:ext cx="2331720" cy="777240"/>
          </a:xfrm>
          <a:prstGeom prst="rect">
            <a:avLst/>
          </a:prstGeom>
          <a:noFill/>
          <a:ln/>
        </p:spPr>
        <p:txBody>
          <a:bodyPr wrap="square" lIns="0" tIns="0" rIns="0" bIns="0" rtlCol="0" anchor="ctr"/>
          <a:lstStyle/>
          <a:p>
            <a:pPr indent="0" marL="0">
              <a:buNone/>
            </a:pPr>
            <a:r>
              <a:rPr lang="en-US" sz="4000" b="1" dirty="0">
                <a:solidFill>
                  <a:srgbClr val="2A9D8F"/>
                </a:solidFill>
                <a:latin typeface="Cambria" pitchFamily="34" charset="0"/>
                <a:ea typeface="Cambria" pitchFamily="34" charset="-122"/>
                <a:cs typeface="Cambria" pitchFamily="34" charset="-120"/>
              </a:rPr>
              <a:t>≈ 150</a:t>
            </a:r>
            <a:endParaRPr lang="en-US" sz="4000" dirty="0"/>
          </a:p>
        </p:txBody>
      </p:sp>
      <p:sp>
        <p:nvSpPr>
          <p:cNvPr id="13" name="Text 10"/>
          <p:cNvSpPr txBox="1"/>
          <p:nvPr/>
        </p:nvSpPr>
        <p:spPr>
          <a:xfrm>
            <a:off x="6492240" y="2423160"/>
            <a:ext cx="2331720"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Lloyd iterations (132–186 per gray image)</a:t>
            </a:r>
            <a:endParaRPr lang="en-US" sz="1400" dirty="0"/>
          </a:p>
        </p:txBody>
      </p:sp>
      <p:sp>
        <p:nvSpPr>
          <p:cNvPr id="14" name="Stat card"/>
          <p:cNvSpPr/>
          <p:nvPr/>
        </p:nvSpPr>
        <p:spPr>
          <a:xfrm>
            <a:off x="9189720" y="1554480"/>
            <a:ext cx="2450592" cy="1371600"/>
          </a:xfrm>
          <a:prstGeom prst="roundRect">
            <a:avLst>
              <a:gd name="adj" fmla="val 8000"/>
            </a:avLst>
          </a:prstGeom>
          <a:solidFill>
            <a:srgbClr val="F5F1FB"/>
          </a:solidFill>
          <a:ln w="12700">
            <a:solidFill>
              <a:srgbClr val="F5F1FB"/>
            </a:solidFill>
            <a:prstDash val="solid"/>
          </a:ln>
        </p:spPr>
      </p:sp>
      <p:sp>
        <p:nvSpPr>
          <p:cNvPr id="15" name="Text 12"/>
          <p:cNvSpPr txBox="1"/>
          <p:nvPr/>
        </p:nvSpPr>
        <p:spPr>
          <a:xfrm>
            <a:off x="9372600" y="1691640"/>
            <a:ext cx="2084832" cy="777240"/>
          </a:xfrm>
          <a:prstGeom prst="rect">
            <a:avLst/>
          </a:prstGeom>
          <a:noFill/>
          <a:ln/>
        </p:spPr>
        <p:txBody>
          <a:bodyPr wrap="square" lIns="0" tIns="0" rIns="0" bIns="0" rtlCol="0" anchor="ctr"/>
          <a:lstStyle/>
          <a:p>
            <a:pPr indent="0" marL="0">
              <a:buNone/>
            </a:pPr>
            <a:r>
              <a:rPr lang="en-US" sz="4000" b="1" dirty="0">
                <a:solidFill>
                  <a:srgbClr val="F2B134"/>
                </a:solidFill>
                <a:latin typeface="Cambria" pitchFamily="34" charset="0"/>
                <a:ea typeface="Cambria" pitchFamily="34" charset="-122"/>
                <a:cs typeface="Cambria" pitchFamily="34" charset="-120"/>
              </a:rPr>
              <a:t>1.05 M</a:t>
            </a:r>
            <a:endParaRPr lang="en-US" sz="4000" dirty="0"/>
          </a:p>
        </p:txBody>
      </p:sp>
      <p:sp>
        <p:nvSpPr>
          <p:cNvPr id="16" name="Text 13"/>
          <p:cNvSpPr txBox="1"/>
          <p:nvPr/>
        </p:nvSpPr>
        <p:spPr>
          <a:xfrm>
            <a:off x="9372600" y="2423160"/>
            <a:ext cx="2084832"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distance evaluations per iteration at K = 64</a:t>
            </a:r>
            <a:endParaRPr lang="en-US" sz="1400" dirty="0"/>
          </a:p>
        </p:txBody>
      </p:sp>
      <p:sp>
        <p:nvSpPr>
          <p:cNvPr id="17" name="Message"/>
          <p:cNvSpPr/>
          <p:nvPr/>
        </p:nvSpPr>
        <p:spPr>
          <a:xfrm>
            <a:off x="548640" y="3200400"/>
            <a:ext cx="11091672" cy="2971800"/>
          </a:xfrm>
          <a:prstGeom prst="roundRect">
            <a:avLst>
              <a:gd name="adj" fmla="val 3692"/>
            </a:avLst>
          </a:prstGeom>
          <a:solidFill>
            <a:srgbClr val="FFFFFF"/>
          </a:solidFill>
          <a:ln w="12700">
            <a:solidFill>
              <a:srgbClr val="FFFFFF"/>
            </a:solidFill>
            <a:prstDash val="solid"/>
          </a:ln>
        </p:spPr>
      </p:sp>
      <p:sp>
        <p:nvSpPr>
          <p:cNvPr id="18" name="Message frame"/>
          <p:cNvSpPr/>
          <p:nvPr/>
        </p:nvSpPr>
        <p:spPr>
          <a:xfrm>
            <a:off x="548640" y="3200400"/>
            <a:ext cx="11091672" cy="2971800"/>
          </a:xfrm>
          <a:prstGeom prst="roundRect">
            <a:avLst>
              <a:gd name="adj" fmla="val 3692"/>
            </a:avLst>
          </a:prstGeom>
          <a:solidFill>
            <a:srgbClr val="FFFFFF"/>
          </a:solidFill>
          <a:ln w="15875">
            <a:solidFill>
              <a:srgbClr val="DDD5EE"/>
            </a:solidFill>
            <a:prstDash val="solid"/>
          </a:ln>
        </p:spPr>
      </p:sp>
      <p:sp>
        <p:nvSpPr>
          <p:cNvPr id="19" name="Text 16"/>
          <p:cNvSpPr txBox="1"/>
          <p:nvPr/>
        </p:nvSpPr>
        <p:spPr>
          <a:xfrm>
            <a:off x="868680" y="3429000"/>
            <a:ext cx="10424160" cy="2560320"/>
          </a:xfrm>
          <a:prstGeom prst="rect">
            <a:avLst/>
          </a:prstGeom>
          <a:noFill/>
          <a:ln/>
        </p:spPr>
        <p:txBody>
          <a:bodyPr wrap="square" lIns="0" tIns="0" rIns="0" bIns="0" rtlCol="0" anchor="t"/>
          <a:lstStyle/>
          <a:p>
            <a:pPr indent="0" marL="0">
              <a:spcAft>
                <a:spcPts val="600"/>
              </a:spcAft>
              <a:buNone/>
            </a:pPr>
            <a:r>
              <a:rPr lang="en-US" sz="2000" b="1" dirty="0">
                <a:solidFill>
                  <a:srgbClr val="6B4FA3"/>
                </a:solidFill>
                <a:latin typeface="Calibri" pitchFamily="34" charset="0"/>
                <a:ea typeface="Calibri" pitchFamily="34" charset="-122"/>
                <a:cs typeface="Calibri" pitchFamily="34" charset="-120"/>
              </a:rPr>
              <a:t>The assignment step is data-parallel</a:t>
            </a:r>
            <a:endParaRPr lang="en-US" sz="1800" dirty="0"/>
          </a:p>
          <a:p>
            <a:pPr indent="0" marL="0">
              <a:spcAft>
                <a:spcPts val="600"/>
              </a:spcAft>
              <a:buNone/>
            </a:pPr>
            <a:r>
              <a:rPr lang="en-US" sz="1800" dirty="0">
                <a:solidFill>
                  <a:srgbClr val="1F1A33"/>
                </a:solidFill>
                <a:latin typeface="Calibri" pitchFamily="34" charset="0"/>
                <a:ea typeface="Calibri" pitchFamily="34" charset="-122"/>
                <a:cs typeface="Calibri" pitchFamily="34" charset="-120"/>
              </a:rPr>
              <a:t>Each training vector is assigned independently; only the per-cluster sums and counts must be combined (one MPI_Allreduce per iteration).</a:t>
            </a:r>
            <a:endParaRPr lang="en-US" sz="1800" dirty="0"/>
          </a:p>
          <a:p>
            <a:pPr indent="0" marL="0">
              <a:spcAft>
                <a:spcPts val="600"/>
              </a:spcAft>
              <a:buNone/>
            </a:pPr>
            <a:r>
              <a:rPr lang="en-US" sz="800" dirty="0">
                <a:solidFill>
                  <a:srgbClr val="1F1A33"/>
                </a:solidFill>
                <a:latin typeface="Calibri" pitchFamily="34" charset="0"/>
                <a:ea typeface="Calibri" pitchFamily="34" charset="-122"/>
                <a:cs typeface="Calibri" pitchFamily="34" charset="-120"/>
              </a:rPr>
              <a:t> </a:t>
            </a:r>
            <a:endParaRPr lang="en-US" sz="1800" dirty="0"/>
          </a:p>
          <a:p>
            <a:pPr indent="0" marL="0">
              <a:spcAft>
                <a:spcPts val="600"/>
              </a:spcAft>
              <a:buNone/>
            </a:pPr>
            <a:r>
              <a:rPr lang="en-US" sz="1800" b="1" dirty="0">
                <a:solidFill>
                  <a:srgbClr val="E0457B"/>
                </a:solidFill>
                <a:latin typeface="Calibri" pitchFamily="34" charset="0"/>
                <a:ea typeface="Calibri" pitchFamily="34" charset="-122"/>
                <a:cs typeface="Calibri" pitchFamily="34" charset="-120"/>
              </a:rPr>
              <a:t>Sequential LBG ≈ 77% (gray) and 81% (color) of the total time</a:t>
            </a:r>
            <a:endParaRPr lang="en-US" sz="1800" dirty="0"/>
          </a:p>
          <a:p>
            <a:pPr indent="0" marL="0">
              <a:spcAft>
                <a:spcPts val="600"/>
              </a:spcAft>
              <a:buNone/>
            </a:pPr>
            <a:r>
              <a:rPr lang="en-US" sz="1800" dirty="0">
                <a:solidFill>
                  <a:srgbClr val="1F1A33"/>
                </a:solidFill>
                <a:latin typeface="Calibri" pitchFamily="34" charset="0"/>
                <a:ea typeface="Calibri" pitchFamily="34" charset="-122"/>
                <a:cs typeface="Calibri" pitchFamily="34" charset="-120"/>
              </a:rPr>
              <a:t>So accelerating LBG is the highest-value target, and the remaining stages (I/O, delta, Huffman, reconstruction) set the limit on total speedup.</a:t>
            </a:r>
            <a:endParaRPr lang="en-US" sz="18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1 · INTRODUCTION</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Evaluation metrics</a:t>
            </a:r>
            <a:endParaRPr lang="en-US" sz="3000" dirty="0"/>
          </a:p>
        </p:txBody>
      </p:sp>
      <p:sp>
        <p:nvSpPr>
          <p:cNvPr id="5" name="Metric row"/>
          <p:cNvSpPr/>
          <p:nvPr/>
        </p:nvSpPr>
        <p:spPr>
          <a:xfrm>
            <a:off x="548640" y="1508760"/>
            <a:ext cx="11091672" cy="566928"/>
          </a:xfrm>
          <a:prstGeom prst="roundRect">
            <a:avLst>
              <a:gd name="adj" fmla="val 19355"/>
            </a:avLst>
          </a:prstGeom>
          <a:solidFill>
            <a:srgbClr val="F5F1FB"/>
          </a:solidFill>
          <a:ln w="12700">
            <a:solidFill>
              <a:srgbClr val="F5F1FB"/>
            </a:solidFill>
            <a:prstDash val="solid"/>
          </a:ln>
        </p:spPr>
      </p:sp>
      <p:sp>
        <p:nvSpPr>
          <p:cNvPr id="6" name="Dot"/>
          <p:cNvSpPr/>
          <p:nvPr/>
        </p:nvSpPr>
        <p:spPr>
          <a:xfrm>
            <a:off x="713232" y="1673352"/>
            <a:ext cx="237744" cy="237744"/>
          </a:xfrm>
          <a:prstGeom prst="ellipse">
            <a:avLst/>
          </a:prstGeom>
          <a:solidFill>
            <a:srgbClr val="6B4FA3"/>
          </a:solidFill>
          <a:ln w="12700">
            <a:solidFill>
              <a:srgbClr val="6B4FA3"/>
            </a:solidFill>
            <a:prstDash val="solid"/>
          </a:ln>
        </p:spPr>
      </p:sp>
      <p:sp>
        <p:nvSpPr>
          <p:cNvPr id="7" name="Text 4"/>
          <p:cNvSpPr txBox="1"/>
          <p:nvPr/>
        </p:nvSpPr>
        <p:spPr>
          <a:xfrm>
            <a:off x="1143000" y="1508760"/>
            <a:ext cx="2651760" cy="566928"/>
          </a:xfrm>
          <a:prstGeom prst="rect">
            <a:avLst/>
          </a:prstGeom>
          <a:noFill/>
          <a:ln/>
        </p:spPr>
        <p:txBody>
          <a:bodyPr wrap="square" lIns="0" tIns="0" rIns="0" bIns="0" rtlCol="0" anchor="ctr"/>
          <a:lstStyle/>
          <a:p>
            <a:pPr indent="0" marL="0">
              <a:buNone/>
            </a:pPr>
            <a:r>
              <a:rPr lang="en-US" sz="1600" b="1" dirty="0">
                <a:solidFill>
                  <a:srgbClr val="1F1A33"/>
                </a:solidFill>
                <a:latin typeface="Calibri" pitchFamily="34" charset="0"/>
                <a:ea typeface="Calibri" pitchFamily="34" charset="-122"/>
                <a:cs typeface="Calibri" pitchFamily="34" charset="-120"/>
              </a:rPr>
              <a:t>Compression ratio</a:t>
            </a:r>
            <a:endParaRPr lang="en-US" sz="1600" dirty="0"/>
          </a:p>
        </p:txBody>
      </p:sp>
      <p:sp>
        <p:nvSpPr>
          <p:cNvPr id="8" name="Text 5"/>
          <p:cNvSpPr txBox="1"/>
          <p:nvPr/>
        </p:nvSpPr>
        <p:spPr>
          <a:xfrm>
            <a:off x="3840480" y="1508760"/>
            <a:ext cx="7680960" cy="566928"/>
          </a:xfrm>
          <a:prstGeom prst="rect">
            <a:avLst/>
          </a:prstGeom>
          <a:noFill/>
          <a:ln/>
        </p:spPr>
        <p:txBody>
          <a:bodyPr wrap="square" lIns="0" tIns="0" rIns="0" bIns="0" rtlCol="0" anchor="ctr"/>
          <a:lstStyle/>
          <a:p>
            <a:pPr indent="0" marL="0">
              <a:buNone/>
            </a:pPr>
            <a:r>
              <a:rPr lang="en-US" sz="1600" dirty="0">
                <a:solidFill>
                  <a:srgbClr val="5E5878"/>
                </a:solidFill>
                <a:latin typeface="Calibri" pitchFamily="34" charset="0"/>
                <a:ea typeface="Calibri" pitchFamily="34" charset="-122"/>
                <a:cs typeface="Calibri" pitchFamily="34" charset="-120"/>
              </a:rPr>
              <a:t>CR = original bytes / (codebook + Huffman table + Huffman data)</a:t>
            </a:r>
            <a:endParaRPr lang="en-US" sz="1600" dirty="0"/>
          </a:p>
        </p:txBody>
      </p:sp>
      <p:sp>
        <p:nvSpPr>
          <p:cNvPr id="9" name="Metric row"/>
          <p:cNvSpPr/>
          <p:nvPr/>
        </p:nvSpPr>
        <p:spPr>
          <a:xfrm>
            <a:off x="548640" y="2185416"/>
            <a:ext cx="11091672" cy="566928"/>
          </a:xfrm>
          <a:prstGeom prst="roundRect">
            <a:avLst>
              <a:gd name="adj" fmla="val 19355"/>
            </a:avLst>
          </a:prstGeom>
          <a:solidFill>
            <a:srgbClr val="F5F1FB"/>
          </a:solidFill>
          <a:ln w="12700">
            <a:solidFill>
              <a:srgbClr val="F5F1FB"/>
            </a:solidFill>
            <a:prstDash val="solid"/>
          </a:ln>
        </p:spPr>
      </p:sp>
      <p:sp>
        <p:nvSpPr>
          <p:cNvPr id="10" name="Dot"/>
          <p:cNvSpPr/>
          <p:nvPr/>
        </p:nvSpPr>
        <p:spPr>
          <a:xfrm>
            <a:off x="713232" y="2350008"/>
            <a:ext cx="237744" cy="237744"/>
          </a:xfrm>
          <a:prstGeom prst="ellipse">
            <a:avLst/>
          </a:prstGeom>
          <a:solidFill>
            <a:srgbClr val="6B4FA3"/>
          </a:solidFill>
          <a:ln w="12700">
            <a:solidFill>
              <a:srgbClr val="6B4FA3"/>
            </a:solidFill>
            <a:prstDash val="solid"/>
          </a:ln>
        </p:spPr>
      </p:sp>
      <p:sp>
        <p:nvSpPr>
          <p:cNvPr id="11" name="Text 8"/>
          <p:cNvSpPr txBox="1"/>
          <p:nvPr/>
        </p:nvSpPr>
        <p:spPr>
          <a:xfrm>
            <a:off x="1143000" y="2185416"/>
            <a:ext cx="2651760" cy="566928"/>
          </a:xfrm>
          <a:prstGeom prst="rect">
            <a:avLst/>
          </a:prstGeom>
          <a:noFill/>
          <a:ln/>
        </p:spPr>
        <p:txBody>
          <a:bodyPr wrap="square" lIns="0" tIns="0" rIns="0" bIns="0" rtlCol="0" anchor="ctr"/>
          <a:lstStyle/>
          <a:p>
            <a:pPr indent="0" marL="0">
              <a:buNone/>
            </a:pPr>
            <a:r>
              <a:rPr lang="en-US" sz="1600" b="1" dirty="0">
                <a:solidFill>
                  <a:srgbClr val="1F1A33"/>
                </a:solidFill>
                <a:latin typeface="Calibri" pitchFamily="34" charset="0"/>
                <a:ea typeface="Calibri" pitchFamily="34" charset="-122"/>
                <a:cs typeface="Calibri" pitchFamily="34" charset="-120"/>
              </a:rPr>
              <a:t>PSNR</a:t>
            </a:r>
            <a:endParaRPr lang="en-US" sz="1600" dirty="0"/>
          </a:p>
        </p:txBody>
      </p:sp>
      <p:sp>
        <p:nvSpPr>
          <p:cNvPr id="12" name="Text 9"/>
          <p:cNvSpPr txBox="1"/>
          <p:nvPr/>
        </p:nvSpPr>
        <p:spPr>
          <a:xfrm>
            <a:off x="3840480" y="2185416"/>
            <a:ext cx="7680960" cy="566928"/>
          </a:xfrm>
          <a:prstGeom prst="rect">
            <a:avLst/>
          </a:prstGeom>
          <a:noFill/>
          <a:ln/>
        </p:spPr>
        <p:txBody>
          <a:bodyPr wrap="square" lIns="0" tIns="0" rIns="0" bIns="0" rtlCol="0" anchor="ctr"/>
          <a:lstStyle/>
          <a:p>
            <a:pPr indent="0" marL="0">
              <a:buNone/>
            </a:pPr>
            <a:r>
              <a:rPr lang="en-US" sz="1600" dirty="0">
                <a:solidFill>
                  <a:srgbClr val="5E5878"/>
                </a:solidFill>
                <a:latin typeface="Calibri" pitchFamily="34" charset="0"/>
                <a:ea typeface="Calibri" pitchFamily="34" charset="-122"/>
                <a:cs typeface="Calibri" pitchFamily="34" charset="-120"/>
              </a:rPr>
              <a:t>10·log10(255² / MSE),  in dB</a:t>
            </a:r>
            <a:endParaRPr lang="en-US" sz="1600" dirty="0"/>
          </a:p>
        </p:txBody>
      </p:sp>
      <p:sp>
        <p:nvSpPr>
          <p:cNvPr id="13" name="Metric row"/>
          <p:cNvSpPr/>
          <p:nvPr/>
        </p:nvSpPr>
        <p:spPr>
          <a:xfrm>
            <a:off x="548640" y="2862072"/>
            <a:ext cx="11091672" cy="566928"/>
          </a:xfrm>
          <a:prstGeom prst="roundRect">
            <a:avLst>
              <a:gd name="adj" fmla="val 19355"/>
            </a:avLst>
          </a:prstGeom>
          <a:solidFill>
            <a:srgbClr val="F5F1FB"/>
          </a:solidFill>
          <a:ln w="12700">
            <a:solidFill>
              <a:srgbClr val="F5F1FB"/>
            </a:solidFill>
            <a:prstDash val="solid"/>
          </a:ln>
        </p:spPr>
      </p:sp>
      <p:sp>
        <p:nvSpPr>
          <p:cNvPr id="14" name="Dot"/>
          <p:cNvSpPr/>
          <p:nvPr/>
        </p:nvSpPr>
        <p:spPr>
          <a:xfrm>
            <a:off x="713232" y="3026664"/>
            <a:ext cx="237744" cy="237744"/>
          </a:xfrm>
          <a:prstGeom prst="ellipse">
            <a:avLst/>
          </a:prstGeom>
          <a:solidFill>
            <a:srgbClr val="6B4FA3"/>
          </a:solidFill>
          <a:ln w="12700">
            <a:solidFill>
              <a:srgbClr val="6B4FA3"/>
            </a:solidFill>
            <a:prstDash val="solid"/>
          </a:ln>
        </p:spPr>
      </p:sp>
      <p:sp>
        <p:nvSpPr>
          <p:cNvPr id="15" name="Text 12"/>
          <p:cNvSpPr txBox="1"/>
          <p:nvPr/>
        </p:nvSpPr>
        <p:spPr>
          <a:xfrm>
            <a:off x="1143000" y="2862072"/>
            <a:ext cx="2651760" cy="566928"/>
          </a:xfrm>
          <a:prstGeom prst="rect">
            <a:avLst/>
          </a:prstGeom>
          <a:noFill/>
          <a:ln/>
        </p:spPr>
        <p:txBody>
          <a:bodyPr wrap="square" lIns="0" tIns="0" rIns="0" bIns="0" rtlCol="0" anchor="ctr"/>
          <a:lstStyle/>
          <a:p>
            <a:pPr indent="0" marL="0">
              <a:buNone/>
            </a:pPr>
            <a:r>
              <a:rPr lang="en-US" sz="1600" b="1" dirty="0">
                <a:solidFill>
                  <a:srgbClr val="1F1A33"/>
                </a:solidFill>
                <a:latin typeface="Calibri" pitchFamily="34" charset="0"/>
                <a:ea typeface="Calibri" pitchFamily="34" charset="-122"/>
                <a:cs typeface="Calibri" pitchFamily="34" charset="-120"/>
              </a:rPr>
              <a:t>SSIM</a:t>
            </a:r>
            <a:endParaRPr lang="en-US" sz="1600" dirty="0"/>
          </a:p>
        </p:txBody>
      </p:sp>
      <p:sp>
        <p:nvSpPr>
          <p:cNvPr id="16" name="Text 13"/>
          <p:cNvSpPr txBox="1"/>
          <p:nvPr/>
        </p:nvSpPr>
        <p:spPr>
          <a:xfrm>
            <a:off x="3840480" y="2862072"/>
            <a:ext cx="7680960" cy="566928"/>
          </a:xfrm>
          <a:prstGeom prst="rect">
            <a:avLst/>
          </a:prstGeom>
          <a:noFill/>
          <a:ln/>
        </p:spPr>
        <p:txBody>
          <a:bodyPr wrap="square" lIns="0" tIns="0" rIns="0" bIns="0" rtlCol="0" anchor="ctr"/>
          <a:lstStyle/>
          <a:p>
            <a:pPr indent="0" marL="0">
              <a:buNone/>
            </a:pPr>
            <a:r>
              <a:rPr lang="en-US" sz="1600" dirty="0">
                <a:solidFill>
                  <a:srgbClr val="5E5878"/>
                </a:solidFill>
                <a:latin typeface="Calibri" pitchFamily="34" charset="0"/>
                <a:ea typeface="Calibri" pitchFamily="34" charset="-122"/>
                <a:cs typeface="Calibri" pitchFamily="34" charset="-120"/>
              </a:rPr>
              <a:t>11×11 Gaussian window, σ = 1.5;  color = mean of 3 channels</a:t>
            </a:r>
            <a:endParaRPr lang="en-US" sz="1600" dirty="0"/>
          </a:p>
        </p:txBody>
      </p:sp>
      <p:sp>
        <p:nvSpPr>
          <p:cNvPr id="17" name="Metric row"/>
          <p:cNvSpPr/>
          <p:nvPr/>
        </p:nvSpPr>
        <p:spPr>
          <a:xfrm>
            <a:off x="548640" y="3538728"/>
            <a:ext cx="11091672" cy="566928"/>
          </a:xfrm>
          <a:prstGeom prst="roundRect">
            <a:avLst>
              <a:gd name="adj" fmla="val 19355"/>
            </a:avLst>
          </a:prstGeom>
          <a:solidFill>
            <a:srgbClr val="F5F1FB"/>
          </a:solidFill>
          <a:ln w="12700">
            <a:solidFill>
              <a:srgbClr val="F5F1FB"/>
            </a:solidFill>
            <a:prstDash val="solid"/>
          </a:ln>
        </p:spPr>
      </p:sp>
      <p:sp>
        <p:nvSpPr>
          <p:cNvPr id="18" name="Dot"/>
          <p:cNvSpPr/>
          <p:nvPr/>
        </p:nvSpPr>
        <p:spPr>
          <a:xfrm>
            <a:off x="713232" y="3703320"/>
            <a:ext cx="237744" cy="237744"/>
          </a:xfrm>
          <a:prstGeom prst="ellipse">
            <a:avLst/>
          </a:prstGeom>
          <a:solidFill>
            <a:srgbClr val="E0457B"/>
          </a:solidFill>
          <a:ln w="12700">
            <a:solidFill>
              <a:srgbClr val="E0457B"/>
            </a:solidFill>
            <a:prstDash val="solid"/>
          </a:ln>
        </p:spPr>
      </p:sp>
      <p:sp>
        <p:nvSpPr>
          <p:cNvPr id="19" name="Text 16"/>
          <p:cNvSpPr txBox="1"/>
          <p:nvPr/>
        </p:nvSpPr>
        <p:spPr>
          <a:xfrm>
            <a:off x="1143000" y="3538728"/>
            <a:ext cx="2651760" cy="566928"/>
          </a:xfrm>
          <a:prstGeom prst="rect">
            <a:avLst/>
          </a:prstGeom>
          <a:noFill/>
          <a:ln/>
        </p:spPr>
        <p:txBody>
          <a:bodyPr wrap="square" lIns="0" tIns="0" rIns="0" bIns="0" rtlCol="0" anchor="ctr"/>
          <a:lstStyle/>
          <a:p>
            <a:pPr indent="0" marL="0">
              <a:buNone/>
            </a:pPr>
            <a:r>
              <a:rPr lang="en-US" sz="1600" b="1" dirty="0">
                <a:solidFill>
                  <a:srgbClr val="1F1A33"/>
                </a:solidFill>
                <a:latin typeface="Calibri" pitchFamily="34" charset="0"/>
                <a:ea typeface="Calibri" pitchFamily="34" charset="-122"/>
                <a:cs typeface="Calibri" pitchFamily="34" charset="-120"/>
              </a:rPr>
              <a:t>Speedup  S</a:t>
            </a:r>
            <a:endParaRPr lang="en-US" sz="1600" dirty="0"/>
          </a:p>
        </p:txBody>
      </p:sp>
      <p:sp>
        <p:nvSpPr>
          <p:cNvPr id="20" name="Text 17"/>
          <p:cNvSpPr txBox="1"/>
          <p:nvPr/>
        </p:nvSpPr>
        <p:spPr>
          <a:xfrm>
            <a:off x="3840480" y="3538728"/>
            <a:ext cx="7680960" cy="566928"/>
          </a:xfrm>
          <a:prstGeom prst="rect">
            <a:avLst/>
          </a:prstGeom>
          <a:noFill/>
          <a:ln/>
        </p:spPr>
        <p:txBody>
          <a:bodyPr wrap="square" lIns="0" tIns="0" rIns="0" bIns="0" rtlCol="0" anchor="ctr"/>
          <a:lstStyle/>
          <a:p>
            <a:pPr indent="0" marL="0">
              <a:buNone/>
            </a:pPr>
            <a:r>
              <a:rPr lang="en-US" sz="1600" dirty="0">
                <a:solidFill>
                  <a:srgbClr val="5E5878"/>
                </a:solidFill>
                <a:latin typeface="Calibri" pitchFamily="34" charset="0"/>
                <a:ea typeface="Calibri" pitchFamily="34" charset="-122"/>
                <a:cs typeface="Calibri" pitchFamily="34" charset="-120"/>
              </a:rPr>
              <a:t>S = T_seq / T_P</a:t>
            </a:r>
            <a:endParaRPr lang="en-US" sz="1600" dirty="0"/>
          </a:p>
        </p:txBody>
      </p:sp>
      <p:sp>
        <p:nvSpPr>
          <p:cNvPr id="21" name="Metric row"/>
          <p:cNvSpPr/>
          <p:nvPr/>
        </p:nvSpPr>
        <p:spPr>
          <a:xfrm>
            <a:off x="548640" y="4215384"/>
            <a:ext cx="11091672" cy="566928"/>
          </a:xfrm>
          <a:prstGeom prst="roundRect">
            <a:avLst>
              <a:gd name="adj" fmla="val 19355"/>
            </a:avLst>
          </a:prstGeom>
          <a:solidFill>
            <a:srgbClr val="F5F1FB"/>
          </a:solidFill>
          <a:ln w="12700">
            <a:solidFill>
              <a:srgbClr val="F5F1FB"/>
            </a:solidFill>
            <a:prstDash val="solid"/>
          </a:ln>
        </p:spPr>
      </p:sp>
      <p:sp>
        <p:nvSpPr>
          <p:cNvPr id="22" name="Dot"/>
          <p:cNvSpPr/>
          <p:nvPr/>
        </p:nvSpPr>
        <p:spPr>
          <a:xfrm>
            <a:off x="713232" y="4379976"/>
            <a:ext cx="237744" cy="237744"/>
          </a:xfrm>
          <a:prstGeom prst="ellipse">
            <a:avLst/>
          </a:prstGeom>
          <a:solidFill>
            <a:srgbClr val="E0457B"/>
          </a:solidFill>
          <a:ln w="12700">
            <a:solidFill>
              <a:srgbClr val="E0457B"/>
            </a:solidFill>
            <a:prstDash val="solid"/>
          </a:ln>
        </p:spPr>
      </p:sp>
      <p:sp>
        <p:nvSpPr>
          <p:cNvPr id="23" name="Text 20"/>
          <p:cNvSpPr txBox="1"/>
          <p:nvPr/>
        </p:nvSpPr>
        <p:spPr>
          <a:xfrm>
            <a:off x="1143000" y="4215384"/>
            <a:ext cx="2651760" cy="566928"/>
          </a:xfrm>
          <a:prstGeom prst="rect">
            <a:avLst/>
          </a:prstGeom>
          <a:noFill/>
          <a:ln/>
        </p:spPr>
        <p:txBody>
          <a:bodyPr wrap="square" lIns="0" tIns="0" rIns="0" bIns="0" rtlCol="0" anchor="ctr"/>
          <a:lstStyle/>
          <a:p>
            <a:pPr indent="0" marL="0">
              <a:buNone/>
            </a:pPr>
            <a:r>
              <a:rPr lang="en-US" sz="1600" b="1" dirty="0">
                <a:solidFill>
                  <a:srgbClr val="1F1A33"/>
                </a:solidFill>
                <a:latin typeface="Calibri" pitchFamily="34" charset="0"/>
                <a:ea typeface="Calibri" pitchFamily="34" charset="-122"/>
                <a:cs typeface="Calibri" pitchFamily="34" charset="-120"/>
              </a:rPr>
              <a:t>Efficiency  E</a:t>
            </a:r>
            <a:endParaRPr lang="en-US" sz="1600" dirty="0"/>
          </a:p>
        </p:txBody>
      </p:sp>
      <p:sp>
        <p:nvSpPr>
          <p:cNvPr id="24" name="Text 21"/>
          <p:cNvSpPr txBox="1"/>
          <p:nvPr/>
        </p:nvSpPr>
        <p:spPr>
          <a:xfrm>
            <a:off x="3840480" y="4215384"/>
            <a:ext cx="7680960" cy="566928"/>
          </a:xfrm>
          <a:prstGeom prst="rect">
            <a:avLst/>
          </a:prstGeom>
          <a:noFill/>
          <a:ln/>
        </p:spPr>
        <p:txBody>
          <a:bodyPr wrap="square" lIns="0" tIns="0" rIns="0" bIns="0" rtlCol="0" anchor="ctr"/>
          <a:lstStyle/>
          <a:p>
            <a:pPr indent="0" marL="0">
              <a:buNone/>
            </a:pPr>
            <a:r>
              <a:rPr lang="en-US" sz="1600" dirty="0">
                <a:solidFill>
                  <a:srgbClr val="5E5878"/>
                </a:solidFill>
                <a:latin typeface="Calibri" pitchFamily="34" charset="0"/>
                <a:ea typeface="Calibri" pitchFamily="34" charset="-122"/>
                <a:cs typeface="Calibri" pitchFamily="34" charset="-120"/>
              </a:rPr>
              <a:t>E = S / P</a:t>
            </a:r>
            <a:endParaRPr lang="en-US" sz="1600" dirty="0"/>
          </a:p>
        </p:txBody>
      </p:sp>
      <p:sp>
        <p:nvSpPr>
          <p:cNvPr id="25" name="Metric row"/>
          <p:cNvSpPr/>
          <p:nvPr/>
        </p:nvSpPr>
        <p:spPr>
          <a:xfrm>
            <a:off x="548640" y="4892040"/>
            <a:ext cx="11091672" cy="566928"/>
          </a:xfrm>
          <a:prstGeom prst="roundRect">
            <a:avLst>
              <a:gd name="adj" fmla="val 19355"/>
            </a:avLst>
          </a:prstGeom>
          <a:solidFill>
            <a:srgbClr val="F5F1FB"/>
          </a:solidFill>
          <a:ln w="12700">
            <a:solidFill>
              <a:srgbClr val="F5F1FB"/>
            </a:solidFill>
            <a:prstDash val="solid"/>
          </a:ln>
        </p:spPr>
      </p:sp>
      <p:sp>
        <p:nvSpPr>
          <p:cNvPr id="26" name="Dot"/>
          <p:cNvSpPr/>
          <p:nvPr/>
        </p:nvSpPr>
        <p:spPr>
          <a:xfrm>
            <a:off x="713232" y="5056632"/>
            <a:ext cx="237744" cy="237744"/>
          </a:xfrm>
          <a:prstGeom prst="ellipse">
            <a:avLst/>
          </a:prstGeom>
          <a:solidFill>
            <a:srgbClr val="E0457B"/>
          </a:solidFill>
          <a:ln w="12700">
            <a:solidFill>
              <a:srgbClr val="E0457B"/>
            </a:solidFill>
            <a:prstDash val="solid"/>
          </a:ln>
        </p:spPr>
      </p:sp>
      <p:sp>
        <p:nvSpPr>
          <p:cNvPr id="27" name="Text 24"/>
          <p:cNvSpPr txBox="1"/>
          <p:nvPr/>
        </p:nvSpPr>
        <p:spPr>
          <a:xfrm>
            <a:off x="1143000" y="4892040"/>
            <a:ext cx="2651760" cy="566928"/>
          </a:xfrm>
          <a:prstGeom prst="rect">
            <a:avLst/>
          </a:prstGeom>
          <a:noFill/>
          <a:ln/>
        </p:spPr>
        <p:txBody>
          <a:bodyPr wrap="square" lIns="0" tIns="0" rIns="0" bIns="0" rtlCol="0" anchor="ctr"/>
          <a:lstStyle/>
          <a:p>
            <a:pPr indent="0" marL="0">
              <a:buNone/>
            </a:pPr>
            <a:r>
              <a:rPr lang="en-US" sz="1600" b="1" dirty="0">
                <a:solidFill>
                  <a:srgbClr val="1F1A33"/>
                </a:solidFill>
                <a:latin typeface="Calibri" pitchFamily="34" charset="0"/>
                <a:ea typeface="Calibri" pitchFamily="34" charset="-122"/>
                <a:cs typeface="Calibri" pitchFamily="34" charset="-120"/>
              </a:rPr>
              <a:t>Karp–Flatt  e</a:t>
            </a:r>
            <a:endParaRPr lang="en-US" sz="1600" dirty="0"/>
          </a:p>
        </p:txBody>
      </p:sp>
      <p:sp>
        <p:nvSpPr>
          <p:cNvPr id="28" name="Text 25"/>
          <p:cNvSpPr txBox="1"/>
          <p:nvPr/>
        </p:nvSpPr>
        <p:spPr>
          <a:xfrm>
            <a:off x="3840480" y="4892040"/>
            <a:ext cx="7680960" cy="566928"/>
          </a:xfrm>
          <a:prstGeom prst="rect">
            <a:avLst/>
          </a:prstGeom>
          <a:noFill/>
          <a:ln/>
        </p:spPr>
        <p:txBody>
          <a:bodyPr wrap="square" lIns="0" tIns="0" rIns="0" bIns="0" rtlCol="0" anchor="ctr"/>
          <a:lstStyle/>
          <a:p>
            <a:pPr indent="0" marL="0">
              <a:buNone/>
            </a:pPr>
            <a:r>
              <a:rPr lang="en-US" sz="1600" dirty="0">
                <a:solidFill>
                  <a:srgbClr val="5E5878"/>
                </a:solidFill>
                <a:latin typeface="Calibri" pitchFamily="34" charset="0"/>
                <a:ea typeface="Calibri" pitchFamily="34" charset="-122"/>
                <a:cs typeface="Calibri" pitchFamily="34" charset="-120"/>
              </a:rPr>
              <a:t>e = (1/S − 1/P) / (1 − 1/P):  serial fraction</a:t>
            </a:r>
            <a:endParaRPr lang="en-US" sz="1600" dirty="0"/>
          </a:p>
        </p:txBody>
      </p:sp>
      <p:sp>
        <p:nvSpPr>
          <p:cNvPr id="29" name="Metric row"/>
          <p:cNvSpPr/>
          <p:nvPr/>
        </p:nvSpPr>
        <p:spPr>
          <a:xfrm>
            <a:off x="548640" y="5568696"/>
            <a:ext cx="11091672" cy="566928"/>
          </a:xfrm>
          <a:prstGeom prst="roundRect">
            <a:avLst>
              <a:gd name="adj" fmla="val 19355"/>
            </a:avLst>
          </a:prstGeom>
          <a:solidFill>
            <a:srgbClr val="F5F1FB"/>
          </a:solidFill>
          <a:ln w="12700">
            <a:solidFill>
              <a:srgbClr val="F5F1FB"/>
            </a:solidFill>
            <a:prstDash val="solid"/>
          </a:ln>
        </p:spPr>
      </p:sp>
      <p:sp>
        <p:nvSpPr>
          <p:cNvPr id="30" name="Dot"/>
          <p:cNvSpPr/>
          <p:nvPr/>
        </p:nvSpPr>
        <p:spPr>
          <a:xfrm>
            <a:off x="713232" y="5733288"/>
            <a:ext cx="237744" cy="237744"/>
          </a:xfrm>
          <a:prstGeom prst="ellipse">
            <a:avLst/>
          </a:prstGeom>
          <a:solidFill>
            <a:srgbClr val="E0457B"/>
          </a:solidFill>
          <a:ln w="12700">
            <a:solidFill>
              <a:srgbClr val="E0457B"/>
            </a:solidFill>
            <a:prstDash val="solid"/>
          </a:ln>
        </p:spPr>
      </p:sp>
      <p:sp>
        <p:nvSpPr>
          <p:cNvPr id="31" name="Text 28"/>
          <p:cNvSpPr txBox="1"/>
          <p:nvPr/>
        </p:nvSpPr>
        <p:spPr>
          <a:xfrm>
            <a:off x="1143000" y="5568696"/>
            <a:ext cx="2651760" cy="566928"/>
          </a:xfrm>
          <a:prstGeom prst="rect">
            <a:avLst/>
          </a:prstGeom>
          <a:noFill/>
          <a:ln/>
        </p:spPr>
        <p:txBody>
          <a:bodyPr wrap="square" lIns="0" tIns="0" rIns="0" bIns="0" rtlCol="0" anchor="ctr"/>
          <a:lstStyle/>
          <a:p>
            <a:pPr indent="0" marL="0">
              <a:buNone/>
            </a:pPr>
            <a:r>
              <a:rPr lang="en-US" sz="1600" b="1" dirty="0">
                <a:solidFill>
                  <a:srgbClr val="1F1A33"/>
                </a:solidFill>
                <a:latin typeface="Calibri" pitchFamily="34" charset="0"/>
                <a:ea typeface="Calibri" pitchFamily="34" charset="-122"/>
                <a:cs typeface="Calibri" pitchFamily="34" charset="-120"/>
              </a:rPr>
              <a:t>Throughput  Θ</a:t>
            </a:r>
            <a:endParaRPr lang="en-US" sz="1600" dirty="0"/>
          </a:p>
        </p:txBody>
      </p:sp>
      <p:sp>
        <p:nvSpPr>
          <p:cNvPr id="32" name="Text 29"/>
          <p:cNvSpPr txBox="1"/>
          <p:nvPr/>
        </p:nvSpPr>
        <p:spPr>
          <a:xfrm>
            <a:off x="3840480" y="5568696"/>
            <a:ext cx="7680960" cy="566928"/>
          </a:xfrm>
          <a:prstGeom prst="rect">
            <a:avLst/>
          </a:prstGeom>
          <a:noFill/>
          <a:ln/>
        </p:spPr>
        <p:txBody>
          <a:bodyPr wrap="square" lIns="0" tIns="0" rIns="0" bIns="0" rtlCol="0" anchor="ctr"/>
          <a:lstStyle/>
          <a:p>
            <a:pPr indent="0" marL="0">
              <a:buNone/>
            </a:pPr>
            <a:r>
              <a:rPr lang="en-US" sz="1600" dirty="0">
                <a:solidFill>
                  <a:srgbClr val="5E5878"/>
                </a:solidFill>
                <a:latin typeface="Calibri" pitchFamily="34" charset="0"/>
                <a:ea typeface="Calibri" pitchFamily="34" charset="-122"/>
                <a:cs typeface="Calibri" pitchFamily="34" charset="-120"/>
              </a:rPr>
              <a:t>Θ = N · I / T_LBG  (vector-iterations per second)</a:t>
            </a:r>
            <a:endParaRPr lang="en-US" sz="16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2 · LITERATURE REVIEW</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Literature review: image-compression studies</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914400"/>
        </p:xfrm>
        <a:graphic>
          <a:graphicData uri="http://schemas.openxmlformats.org/drawingml/2006/table">
            <a:tbl>
              <a:tblPr/>
              <a:tblGrid>
                <a:gridCol w="2194560"/>
                <a:gridCol w="3017520"/>
                <a:gridCol w="3200400"/>
                <a:gridCol w="2679192"/>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Study</a:t>
                      </a:r>
                      <a:endParaRPr lang="en-US" sz="13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2E2055"/>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Method</a:t>
                      </a:r>
                      <a:endParaRPr lang="en-US" sz="13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2E2055"/>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Reported result</a:t>
                      </a:r>
                      <a:endParaRPr lang="en-US" sz="13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2E2055"/>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Observation</a:t>
                      </a:r>
                      <a:endParaRPr lang="en-US" sz="13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2E2055"/>
                    </a:solidFill>
                  </a:tcPr>
                </a:tc>
              </a:tr>
              <a:tr h="731520">
                <a:tc>
                  <a:txBody>
                    <a:bodyPr/>
                    <a:lstStyle/>
                    <a:p>
                      <a:pPr indent="0" marL="0">
                        <a:buNone/>
                      </a:pPr>
                      <a:r>
                        <a:rPr lang="en-US" sz="1400" b="1" dirty="0">
                          <a:solidFill>
                            <a:srgbClr val="1F1A33"/>
                          </a:solidFill>
                          <a:latin typeface="Calibri" pitchFamily="34" charset="0"/>
                          <a:ea typeface="Calibri" pitchFamily="34" charset="-122"/>
                          <a:cs typeface="Calibri" pitchFamily="34" charset="-120"/>
                        </a:rPr>
                        <a:t>Thomas et al., 2025</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Integer DWT + reduction + Huffman</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Lena: CR 1.52, PSNR 54.28 dB, SSIM 0.9985</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Near-lossless; low CR; sequential</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r>
              <a:tr h="731520">
                <a:tc>
                  <a:txBody>
                    <a:bodyPr/>
                    <a:lstStyle/>
                    <a:p>
                      <a:pPr indent="0" marL="0">
                        <a:buNone/>
                      </a:pPr>
                      <a:r>
                        <a:rPr lang="en-US" sz="1400" b="1" dirty="0">
                          <a:solidFill>
                            <a:srgbClr val="1F1A33"/>
                          </a:solidFill>
                          <a:latin typeface="Calibri" pitchFamily="34" charset="0"/>
                          <a:ea typeface="Calibri" pitchFamily="34" charset="-122"/>
                          <a:cs typeface="Calibri" pitchFamily="34" charset="-120"/>
                        </a:rPr>
                        <a:t>Ranjan &amp; Kumar, 2023</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2D DWT + PCA + canonical Huffman</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Lena 512: CR 4.41, PSNR 34.78 dB</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Moderate CR; no parallelism</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r>
              <a:tr h="731520">
                <a:tc>
                  <a:txBody>
                    <a:bodyPr/>
                    <a:lstStyle/>
                    <a:p>
                      <a:pPr indent="0" marL="0">
                        <a:buNone/>
                      </a:pPr>
                      <a:r>
                        <a:rPr lang="en-US" sz="1400" b="1" dirty="0">
                          <a:solidFill>
                            <a:srgbClr val="1F1A33"/>
                          </a:solidFill>
                          <a:latin typeface="Calibri" pitchFamily="34" charset="0"/>
                          <a:ea typeface="Calibri" pitchFamily="34" charset="-122"/>
                          <a:cs typeface="Calibri" pitchFamily="34" charset="-120"/>
                        </a:rPr>
                        <a:t>Bilal et al., 2024</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Fast LBG (FLBG), rescaling</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50.2% less complexity, 20% less memory</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Algorithmic speedup; sequential</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r>
              <a:tr h="731520">
                <a:tc>
                  <a:txBody>
                    <a:bodyPr/>
                    <a:lstStyle/>
                    <a:p>
                      <a:pPr indent="0" marL="0">
                        <a:buNone/>
                      </a:pPr>
                      <a:r>
                        <a:rPr lang="en-US" sz="1400" b="1" dirty="0">
                          <a:solidFill>
                            <a:srgbClr val="1F1A33"/>
                          </a:solidFill>
                          <a:latin typeface="Calibri" pitchFamily="34" charset="0"/>
                          <a:ea typeface="Calibri" pitchFamily="34" charset="-122"/>
                          <a:cs typeface="Calibri" pitchFamily="34" charset="-120"/>
                        </a:rPr>
                        <a:t>Paul et al., 2024</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K-means + DWT (K-DWT)</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Kodak: CR 15.39, PSNR 30.51 dB, SSIM 0.8978</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No timing values reported</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r>
            </a:tbl>
          </a:graphicData>
        </a:graphic>
      </p:graphicFrame>
      <p:sp>
        <p:nvSpPr>
          <p:cNvPr id="6" name="Takeaway"/>
          <p:cNvSpPr/>
          <p:nvPr/>
        </p:nvSpPr>
        <p:spPr>
          <a:xfrm>
            <a:off x="548640" y="5349240"/>
            <a:ext cx="11091672" cy="868680"/>
          </a:xfrm>
          <a:prstGeom prst="roundRect">
            <a:avLst>
              <a:gd name="adj" fmla="val 12632"/>
            </a:avLst>
          </a:prstGeom>
          <a:solidFill>
            <a:srgbClr val="F5F1FB"/>
          </a:solidFill>
          <a:ln w="12700">
            <a:solidFill>
              <a:srgbClr val="F5F1FB"/>
            </a:solidFill>
            <a:prstDash val="solid"/>
          </a:ln>
        </p:spPr>
      </p:sp>
      <p:sp>
        <p:nvSpPr>
          <p:cNvPr id="7" name="Text 3"/>
          <p:cNvSpPr txBox="1"/>
          <p:nvPr/>
        </p:nvSpPr>
        <p:spPr>
          <a:xfrm>
            <a:off x="822960" y="5349240"/>
            <a:ext cx="10515600" cy="868680"/>
          </a:xfrm>
          <a:prstGeom prst="rect">
            <a:avLst/>
          </a:prstGeom>
          <a:noFill/>
          <a:ln/>
        </p:spPr>
        <p:txBody>
          <a:bodyPr wrap="square" lIns="0" tIns="0" rIns="0" bIns="0" rtlCol="0" anchor="ctr"/>
          <a:lstStyle/>
          <a:p>
            <a:pPr indent="0" marL="0">
              <a:buNone/>
            </a:pPr>
            <a:r>
              <a:rPr lang="en-US" sz="1600" b="1" dirty="0">
                <a:solidFill>
                  <a:srgbClr val="6B4FA3"/>
                </a:solidFill>
                <a:latin typeface="Calibri" pitchFamily="34" charset="0"/>
                <a:ea typeface="Calibri" pitchFamily="34" charset="-122"/>
                <a:cs typeface="Calibri" pitchFamily="34" charset="-120"/>
              </a:rPr>
              <a:t>Takeaway: published compression studies are sequential and span very different rate–distortion regimes (CR from 1.4 to 15).</a:t>
            </a:r>
            <a:endParaRPr lang="en-US" sz="16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2 · LITERATURE REVIEW</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Literature review: parallel studies</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914400"/>
        </p:xfrm>
        <a:graphic>
          <a:graphicData uri="http://schemas.openxmlformats.org/drawingml/2006/table">
            <a:tbl>
              <a:tblPr/>
              <a:tblGrid>
                <a:gridCol w="2468880"/>
                <a:gridCol w="3383280"/>
                <a:gridCol w="2743200"/>
                <a:gridCol w="2496312"/>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Study</a:t>
                      </a:r>
                      <a:endParaRPr lang="en-US" sz="13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2E2055"/>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Application</a:t>
                      </a:r>
                      <a:endParaRPr lang="en-US" sz="13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2E2055"/>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Resources</a:t>
                      </a:r>
                      <a:endParaRPr lang="en-US" sz="13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2E2055"/>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Speedup (baseline)</a:t>
                      </a:r>
                      <a:endParaRPr lang="en-US" sz="13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2E2055"/>
                    </a:solidFill>
                  </a:tcPr>
                </a:tc>
              </a:tr>
              <a:tr h="731520">
                <a:tc>
                  <a:txBody>
                    <a:bodyPr/>
                    <a:lstStyle/>
                    <a:p>
                      <a:pPr indent="0" marL="0">
                        <a:buNone/>
                      </a:pPr>
                      <a:r>
                        <a:rPr lang="en-US" sz="1400" b="1" dirty="0">
                          <a:solidFill>
                            <a:srgbClr val="1F1A33"/>
                          </a:solidFill>
                          <a:latin typeface="Calibri" pitchFamily="34" charset="0"/>
                          <a:ea typeface="Calibri" pitchFamily="34" charset="-122"/>
                          <a:cs typeface="Calibri" pitchFamily="34" charset="-120"/>
                        </a:rPr>
                        <a:t>Tanović et al., 2024</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Parallel k-means, image classification</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12 cores, OpenMP + MPI</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up to 10.2× (not stated in abstract)</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r>
              <a:tr h="731520">
                <a:tc>
                  <a:txBody>
                    <a:bodyPr/>
                    <a:lstStyle/>
                    <a:p>
                      <a:pPr indent="0" marL="0">
                        <a:buNone/>
                      </a:pPr>
                      <a:r>
                        <a:rPr lang="en-US" sz="1400" b="1" dirty="0">
                          <a:solidFill>
                            <a:srgbClr val="1F1A33"/>
                          </a:solidFill>
                          <a:latin typeface="Calibri" pitchFamily="34" charset="0"/>
                          <a:ea typeface="Calibri" pitchFamily="34" charset="-122"/>
                          <a:cs typeface="Calibri" pitchFamily="34" charset="-120"/>
                        </a:rPr>
                        <a:t>Papakyriakou et al., 2025</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MPI k-means, 75 M synthetic points</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2–48 MPI processes, Raspberry Pi</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≈10.05× (vs 2 processes)</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r>
              <a:tr h="731520">
                <a:tc>
                  <a:txBody>
                    <a:bodyPr/>
                    <a:lstStyle/>
                    <a:p>
                      <a:pPr indent="0" marL="0">
                        <a:buNone/>
                      </a:pPr>
                      <a:r>
                        <a:rPr lang="en-US" sz="1400" b="1" dirty="0">
                          <a:solidFill>
                            <a:srgbClr val="1F1A33"/>
                          </a:solidFill>
                          <a:latin typeface="Calibri" pitchFamily="34" charset="0"/>
                          <a:ea typeface="Calibri" pitchFamily="34" charset="-122"/>
                          <a:cs typeface="Calibri" pitchFamily="34" charset="-120"/>
                        </a:rPr>
                        <a:t>Bystrov et al., 2023</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Discrete-element simulation</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8 heterogeneous containers</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up to 6.0× (vs sequential)</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r>
              <a:tr h="731520">
                <a:tc>
                  <a:txBody>
                    <a:bodyPr/>
                    <a:lstStyle/>
                    <a:p>
                      <a:pPr indent="0" marL="0">
                        <a:buNone/>
                      </a:pPr>
                      <a:r>
                        <a:rPr lang="en-US" sz="1400" b="1" dirty="0">
                          <a:solidFill>
                            <a:srgbClr val="1F1A33"/>
                          </a:solidFill>
                          <a:latin typeface="Calibri" pitchFamily="34" charset="0"/>
                          <a:ea typeface="Calibri" pitchFamily="34" charset="-122"/>
                          <a:cs typeface="Calibri" pitchFamily="34" charset="-120"/>
                        </a:rPr>
                        <a:t>Zangana, 2025</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Hybrid image compression (bitplane + DWT + predictive)</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1–16 GPUs, CUDA / OpenCL</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latin typeface="Calibri" pitchFamily="34" charset="0"/>
                          <a:ea typeface="Calibri" pitchFamily="34" charset="-122"/>
                          <a:cs typeface="Calibri" pitchFamily="34" charset="-120"/>
                        </a:rPr>
                        <a:t>9.09× at 16 GPUs (vs 1 GPU)</a:t>
                      </a:r>
                      <a:endParaRPr lang="en-US" sz="1400" dirty="0">
                        <a:latin typeface="Calibri" charset="0"/>
                        <a:ea typeface="Calibri" charset="0"/>
                        <a:cs typeface="Calibri" charset="0"/>
                      </a:endParaRPr>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r>
            </a:tbl>
          </a:graphicData>
        </a:graphic>
      </p:graphicFrame>
      <p:sp>
        <p:nvSpPr>
          <p:cNvPr id="6" name="Takeaway"/>
          <p:cNvSpPr/>
          <p:nvPr/>
        </p:nvSpPr>
        <p:spPr>
          <a:xfrm>
            <a:off x="548640" y="5349240"/>
            <a:ext cx="11091672" cy="868680"/>
          </a:xfrm>
          <a:prstGeom prst="roundRect">
            <a:avLst>
              <a:gd name="adj" fmla="val 12632"/>
            </a:avLst>
          </a:prstGeom>
          <a:solidFill>
            <a:srgbClr val="F5F1FB"/>
          </a:solidFill>
          <a:ln w="12700">
            <a:solidFill>
              <a:srgbClr val="F5F1FB"/>
            </a:solidFill>
            <a:prstDash val="solid"/>
          </a:ln>
        </p:spPr>
      </p:sp>
      <p:sp>
        <p:nvSpPr>
          <p:cNvPr id="7" name="Text 3"/>
          <p:cNvSpPr txBox="1"/>
          <p:nvPr/>
        </p:nvSpPr>
        <p:spPr>
          <a:xfrm>
            <a:off x="822960" y="5349240"/>
            <a:ext cx="10515600" cy="868680"/>
          </a:xfrm>
          <a:prstGeom prst="rect">
            <a:avLst/>
          </a:prstGeom>
          <a:noFill/>
          <a:ln/>
        </p:spPr>
        <p:txBody>
          <a:bodyPr wrap="square" lIns="0" tIns="0" rIns="0" bIns="0" rtlCol="0" anchor="ctr"/>
          <a:lstStyle/>
          <a:p>
            <a:pPr indent="0" marL="0">
              <a:buNone/>
            </a:pPr>
            <a:r>
              <a:rPr lang="en-US" sz="1600" b="1" dirty="0">
                <a:solidFill>
                  <a:srgbClr val="6B4FA3"/>
                </a:solidFill>
                <a:latin typeface="Calibri" pitchFamily="34" charset="0"/>
                <a:ea typeface="Calibri" pitchFamily="34" charset="-122"/>
                <a:cs typeface="Calibri" pitchFamily="34" charset="-120"/>
              </a:rPr>
              <a:t>Takeaway: reported speedups are 6–10×, but none parallelizes LBG codebook training for image compression with speed-aware distribution.</a:t>
            </a:r>
            <a:endParaRPr lang="en-US" sz="16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3 · PROBLEM STATEMENT</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Problem Statement</a:t>
            </a:r>
            <a:endParaRPr lang="en-US" sz="3000" dirty="0"/>
          </a:p>
        </p:txBody>
      </p:sp>
      <p:sp>
        <p:nvSpPr>
          <p:cNvPr id="5" name="Problem card"/>
          <p:cNvSpPr/>
          <p:nvPr/>
        </p:nvSpPr>
        <p:spPr>
          <a:xfrm>
            <a:off x="548640" y="1554480"/>
            <a:ext cx="5440680" cy="2194560"/>
          </a:xfrm>
          <a:prstGeom prst="roundRect">
            <a:avLst>
              <a:gd name="adj" fmla="val 5000"/>
            </a:avLst>
          </a:prstGeom>
          <a:solidFill>
            <a:srgbClr val="F5F1FB"/>
          </a:solidFill>
          <a:ln w="12700">
            <a:solidFill>
              <a:srgbClr val="F5F1FB"/>
            </a:solidFill>
            <a:prstDash val="solid"/>
          </a:ln>
        </p:spPr>
      </p:sp>
      <p:sp>
        <p:nvSpPr>
          <p:cNvPr id="6" name="Icon circle"/>
          <p:cNvSpPr/>
          <p:nvPr/>
        </p:nvSpPr>
        <p:spPr>
          <a:xfrm>
            <a:off x="822960" y="1874520"/>
            <a:ext cx="777240" cy="777240"/>
          </a:xfrm>
          <a:prstGeom prst="ellipse">
            <a:avLst/>
          </a:prstGeom>
          <a:solidFill>
            <a:srgbClr val="6B4FA3"/>
          </a:solidFill>
          <a:ln w="12700">
            <a:solidFill>
              <a:srgbClr val="6B4FA3"/>
            </a:solidFill>
            <a:prstDash val="solid"/>
          </a:ln>
        </p:spPr>
      </p:sp>
      <p:pic>
        <p:nvPicPr>
          <p:cNvPr id="7" name="Icon" descr="preencoded.png">    </p:cNvPr>
          <p:cNvPicPr>
            <a:picLocks noChangeAspect="1"/>
          </p:cNvPicPr>
          <p:nvPr/>
        </p:nvPicPr>
        <p:blipFill>
          <a:blip r:embed="rId1"/>
          <a:stretch>
            <a:fillRect/>
          </a:stretch>
        </p:blipFill>
        <p:spPr>
          <a:xfrm>
            <a:off x="1014984" y="2066544"/>
            <a:ext cx="393192" cy="393192"/>
          </a:xfrm>
          <a:prstGeom prst="rect">
            <a:avLst/>
          </a:prstGeom>
        </p:spPr>
      </p:pic>
      <p:sp>
        <p:nvSpPr>
          <p:cNvPr id="8" name="Text 4"/>
          <p:cNvSpPr txBox="1"/>
          <p:nvPr/>
        </p:nvSpPr>
        <p:spPr>
          <a:xfrm>
            <a:off x="1828800" y="1828800"/>
            <a:ext cx="3977640" cy="548640"/>
          </a:xfrm>
          <a:prstGeom prst="rect">
            <a:avLst/>
          </a:prstGeom>
          <a:noFill/>
          <a:ln/>
        </p:spPr>
        <p:txBody>
          <a:bodyPr wrap="square" lIns="0" tIns="0" rIns="0" bIns="0" rtlCol="0" anchor="t"/>
          <a:lstStyle/>
          <a:p>
            <a:pPr indent="0" marL="0">
              <a:buNone/>
            </a:pPr>
            <a:r>
              <a:rPr lang="en-US" sz="2000" b="1" dirty="0">
                <a:solidFill>
                  <a:srgbClr val="1F1A33"/>
                </a:solidFill>
                <a:latin typeface="Calibri" pitchFamily="34" charset="0"/>
                <a:ea typeface="Calibri" pitchFamily="34" charset="-122"/>
                <a:cs typeface="Calibri" pitchFamily="34" charset="-120"/>
              </a:rPr>
              <a:t>1  Delay in sending data</a:t>
            </a:r>
            <a:endParaRPr lang="en-US" sz="2000" dirty="0"/>
          </a:p>
        </p:txBody>
      </p:sp>
      <p:sp>
        <p:nvSpPr>
          <p:cNvPr id="9" name="Text 5"/>
          <p:cNvSpPr txBox="1"/>
          <p:nvPr/>
        </p:nvSpPr>
        <p:spPr>
          <a:xfrm>
            <a:off x="1828800" y="2423160"/>
            <a:ext cx="3977640" cy="1188720"/>
          </a:xfrm>
          <a:prstGeom prst="rect">
            <a:avLst/>
          </a:prstGeom>
          <a:noFill/>
          <a:ln/>
        </p:spPr>
        <p:txBody>
          <a:bodyPr wrap="square" lIns="0" tIns="0" rIns="0" bIns="0" rtlCol="0" anchor="t"/>
          <a:lstStyle/>
          <a:p>
            <a:pPr indent="0" marL="0">
              <a:buNone/>
            </a:pPr>
            <a:r>
              <a:rPr lang="en-US" sz="1600" dirty="0">
                <a:solidFill>
                  <a:srgbClr val="5E5878"/>
                </a:solidFill>
                <a:latin typeface="Calibri" pitchFamily="34" charset="0"/>
                <a:ea typeface="Calibri" pitchFamily="34" charset="-122"/>
                <a:cs typeface="Calibri" pitchFamily="34" charset="-120"/>
              </a:rPr>
              <a:t>Large images take a long time to transmit over a network.</a:t>
            </a:r>
            <a:endParaRPr lang="en-US" sz="1600" dirty="0"/>
          </a:p>
        </p:txBody>
      </p:sp>
      <p:sp>
        <p:nvSpPr>
          <p:cNvPr id="10" name="Problem card"/>
          <p:cNvSpPr/>
          <p:nvPr/>
        </p:nvSpPr>
        <p:spPr>
          <a:xfrm>
            <a:off x="6172200" y="1554480"/>
            <a:ext cx="5440680" cy="2194560"/>
          </a:xfrm>
          <a:prstGeom prst="roundRect">
            <a:avLst>
              <a:gd name="adj" fmla="val 5000"/>
            </a:avLst>
          </a:prstGeom>
          <a:solidFill>
            <a:srgbClr val="F5F1FB"/>
          </a:solidFill>
          <a:ln w="12700">
            <a:solidFill>
              <a:srgbClr val="F5F1FB"/>
            </a:solidFill>
            <a:prstDash val="solid"/>
          </a:ln>
        </p:spPr>
      </p:sp>
      <p:sp>
        <p:nvSpPr>
          <p:cNvPr id="11" name="Icon circle"/>
          <p:cNvSpPr/>
          <p:nvPr/>
        </p:nvSpPr>
        <p:spPr>
          <a:xfrm>
            <a:off x="6446520" y="1874520"/>
            <a:ext cx="777240" cy="777240"/>
          </a:xfrm>
          <a:prstGeom prst="ellipse">
            <a:avLst/>
          </a:prstGeom>
          <a:solidFill>
            <a:srgbClr val="E0457B"/>
          </a:solidFill>
          <a:ln w="12700">
            <a:solidFill>
              <a:srgbClr val="E0457B"/>
            </a:solidFill>
            <a:prstDash val="solid"/>
          </a:ln>
        </p:spPr>
      </p:sp>
      <p:pic>
        <p:nvPicPr>
          <p:cNvPr id="12" name="Icon" descr="preencoded.png">    </p:cNvPr>
          <p:cNvPicPr>
            <a:picLocks noChangeAspect="1"/>
          </p:cNvPicPr>
          <p:nvPr/>
        </p:nvPicPr>
        <p:blipFill>
          <a:blip r:embed="rId2"/>
          <a:stretch>
            <a:fillRect/>
          </a:stretch>
        </p:blipFill>
        <p:spPr>
          <a:xfrm>
            <a:off x="6638544" y="2066544"/>
            <a:ext cx="393192" cy="393192"/>
          </a:xfrm>
          <a:prstGeom prst="rect">
            <a:avLst/>
          </a:prstGeom>
        </p:spPr>
      </p:pic>
      <p:sp>
        <p:nvSpPr>
          <p:cNvPr id="13" name="Text 8"/>
          <p:cNvSpPr txBox="1"/>
          <p:nvPr/>
        </p:nvSpPr>
        <p:spPr>
          <a:xfrm>
            <a:off x="7452360" y="1828800"/>
            <a:ext cx="3977640" cy="548640"/>
          </a:xfrm>
          <a:prstGeom prst="rect">
            <a:avLst/>
          </a:prstGeom>
          <a:noFill/>
          <a:ln/>
        </p:spPr>
        <p:txBody>
          <a:bodyPr wrap="square" lIns="0" tIns="0" rIns="0" bIns="0" rtlCol="0" anchor="t"/>
          <a:lstStyle/>
          <a:p>
            <a:pPr indent="0" marL="0">
              <a:buNone/>
            </a:pPr>
            <a:r>
              <a:rPr lang="en-US" sz="2000" b="1" dirty="0">
                <a:solidFill>
                  <a:srgbClr val="1F1A33"/>
                </a:solidFill>
                <a:latin typeface="Calibri" pitchFamily="34" charset="0"/>
                <a:ea typeface="Calibri" pitchFamily="34" charset="-122"/>
                <a:cs typeface="Calibri" pitchFamily="34" charset="-120"/>
              </a:rPr>
              <a:t>2  Big data storage</a:t>
            </a:r>
            <a:endParaRPr lang="en-US" sz="2000" dirty="0"/>
          </a:p>
        </p:txBody>
      </p:sp>
      <p:sp>
        <p:nvSpPr>
          <p:cNvPr id="14" name="Text 9"/>
          <p:cNvSpPr txBox="1"/>
          <p:nvPr/>
        </p:nvSpPr>
        <p:spPr>
          <a:xfrm>
            <a:off x="7452360" y="2423160"/>
            <a:ext cx="3977640" cy="1188720"/>
          </a:xfrm>
          <a:prstGeom prst="rect">
            <a:avLst/>
          </a:prstGeom>
          <a:noFill/>
          <a:ln/>
        </p:spPr>
        <p:txBody>
          <a:bodyPr wrap="square" lIns="0" tIns="0" rIns="0" bIns="0" rtlCol="0" anchor="t"/>
          <a:lstStyle/>
          <a:p>
            <a:pPr indent="0" marL="0">
              <a:buNone/>
            </a:pPr>
            <a:r>
              <a:rPr lang="en-US" sz="1600" dirty="0">
                <a:solidFill>
                  <a:srgbClr val="5E5878"/>
                </a:solidFill>
                <a:latin typeface="Calibri" pitchFamily="34" charset="0"/>
                <a:ea typeface="Calibri" pitchFamily="34" charset="-122"/>
                <a:cs typeface="Calibri" pitchFamily="34" charset="-120"/>
              </a:rPr>
              <a:t>Image collections need a large amount of storage.</a:t>
            </a:r>
            <a:endParaRPr lang="en-US" sz="1600" dirty="0"/>
          </a:p>
        </p:txBody>
      </p:sp>
      <p:sp>
        <p:nvSpPr>
          <p:cNvPr id="15" name="Problem card"/>
          <p:cNvSpPr/>
          <p:nvPr/>
        </p:nvSpPr>
        <p:spPr>
          <a:xfrm>
            <a:off x="548640" y="3931920"/>
            <a:ext cx="5440680" cy="2194560"/>
          </a:xfrm>
          <a:prstGeom prst="roundRect">
            <a:avLst>
              <a:gd name="adj" fmla="val 5000"/>
            </a:avLst>
          </a:prstGeom>
          <a:solidFill>
            <a:srgbClr val="F5F1FB"/>
          </a:solidFill>
          <a:ln w="12700">
            <a:solidFill>
              <a:srgbClr val="F5F1FB"/>
            </a:solidFill>
            <a:prstDash val="solid"/>
          </a:ln>
        </p:spPr>
      </p:sp>
      <p:sp>
        <p:nvSpPr>
          <p:cNvPr id="16" name="Icon circle"/>
          <p:cNvSpPr/>
          <p:nvPr/>
        </p:nvSpPr>
        <p:spPr>
          <a:xfrm>
            <a:off x="822960" y="4251960"/>
            <a:ext cx="777240" cy="777240"/>
          </a:xfrm>
          <a:prstGeom prst="ellipse">
            <a:avLst/>
          </a:prstGeom>
          <a:solidFill>
            <a:srgbClr val="2A9D8F"/>
          </a:solidFill>
          <a:ln w="12700">
            <a:solidFill>
              <a:srgbClr val="2A9D8F"/>
            </a:solidFill>
            <a:prstDash val="solid"/>
          </a:ln>
        </p:spPr>
      </p:sp>
      <p:pic>
        <p:nvPicPr>
          <p:cNvPr id="17" name="Icon" descr="preencoded.png">    </p:cNvPr>
          <p:cNvPicPr>
            <a:picLocks noChangeAspect="1"/>
          </p:cNvPicPr>
          <p:nvPr/>
        </p:nvPicPr>
        <p:blipFill>
          <a:blip r:embed="rId3"/>
          <a:stretch>
            <a:fillRect/>
          </a:stretch>
        </p:blipFill>
        <p:spPr>
          <a:xfrm>
            <a:off x="1014984" y="4443984"/>
            <a:ext cx="393192" cy="393192"/>
          </a:xfrm>
          <a:prstGeom prst="rect">
            <a:avLst/>
          </a:prstGeom>
        </p:spPr>
      </p:pic>
      <p:sp>
        <p:nvSpPr>
          <p:cNvPr id="18" name="Text 12"/>
          <p:cNvSpPr txBox="1"/>
          <p:nvPr/>
        </p:nvSpPr>
        <p:spPr>
          <a:xfrm>
            <a:off x="1828800" y="4206240"/>
            <a:ext cx="3977640" cy="548640"/>
          </a:xfrm>
          <a:prstGeom prst="rect">
            <a:avLst/>
          </a:prstGeom>
          <a:noFill/>
          <a:ln/>
        </p:spPr>
        <p:txBody>
          <a:bodyPr wrap="square" lIns="0" tIns="0" rIns="0" bIns="0" rtlCol="0" anchor="t"/>
          <a:lstStyle/>
          <a:p>
            <a:pPr indent="0" marL="0">
              <a:buNone/>
            </a:pPr>
            <a:r>
              <a:rPr lang="en-US" sz="2000" b="1" dirty="0">
                <a:solidFill>
                  <a:srgbClr val="1F1A33"/>
                </a:solidFill>
                <a:latin typeface="Calibri" pitchFamily="34" charset="0"/>
                <a:ea typeface="Calibri" pitchFamily="34" charset="-122"/>
                <a:cs typeface="Calibri" pitchFamily="34" charset="-120"/>
              </a:rPr>
              <a:t>3  Complexity versus time</a:t>
            </a:r>
            <a:endParaRPr lang="en-US" sz="2000" dirty="0"/>
          </a:p>
        </p:txBody>
      </p:sp>
      <p:sp>
        <p:nvSpPr>
          <p:cNvPr id="19" name="Text 13"/>
          <p:cNvSpPr txBox="1"/>
          <p:nvPr/>
        </p:nvSpPr>
        <p:spPr>
          <a:xfrm>
            <a:off x="1828800" y="4800600"/>
            <a:ext cx="3977640" cy="1188720"/>
          </a:xfrm>
          <a:prstGeom prst="rect">
            <a:avLst/>
          </a:prstGeom>
          <a:noFill/>
          <a:ln/>
        </p:spPr>
        <p:txBody>
          <a:bodyPr wrap="square" lIns="0" tIns="0" rIns="0" bIns="0" rtlCol="0" anchor="t"/>
          <a:lstStyle/>
          <a:p>
            <a:pPr indent="0" marL="0">
              <a:buNone/>
            </a:pPr>
            <a:r>
              <a:rPr lang="en-US" sz="1600" dirty="0">
                <a:solidFill>
                  <a:srgbClr val="5E5878"/>
                </a:solidFill>
                <a:latin typeface="Calibri" pitchFamily="34" charset="0"/>
                <a:ea typeface="Calibri" pitchFamily="34" charset="-122"/>
                <a:cs typeface="Calibri" pitchFamily="34" charset="-120"/>
              </a:rPr>
              <a:t>A good compression ratio needs complex methods (here: iterative LBG training), so execution time becomes high.</a:t>
            </a:r>
            <a:endParaRPr lang="en-US" sz="1600" dirty="0"/>
          </a:p>
        </p:txBody>
      </p:sp>
      <p:sp>
        <p:nvSpPr>
          <p:cNvPr id="20" name="Problem card"/>
          <p:cNvSpPr/>
          <p:nvPr/>
        </p:nvSpPr>
        <p:spPr>
          <a:xfrm>
            <a:off x="6172200" y="3931920"/>
            <a:ext cx="5440680" cy="2194560"/>
          </a:xfrm>
          <a:prstGeom prst="roundRect">
            <a:avLst>
              <a:gd name="adj" fmla="val 5000"/>
            </a:avLst>
          </a:prstGeom>
          <a:solidFill>
            <a:srgbClr val="F5F1FB"/>
          </a:solidFill>
          <a:ln w="12700">
            <a:solidFill>
              <a:srgbClr val="F5F1FB"/>
            </a:solidFill>
            <a:prstDash val="solid"/>
          </a:ln>
        </p:spPr>
      </p:sp>
      <p:sp>
        <p:nvSpPr>
          <p:cNvPr id="21" name="Icon circle"/>
          <p:cNvSpPr/>
          <p:nvPr/>
        </p:nvSpPr>
        <p:spPr>
          <a:xfrm>
            <a:off x="6446520" y="4251960"/>
            <a:ext cx="777240" cy="777240"/>
          </a:xfrm>
          <a:prstGeom prst="ellipse">
            <a:avLst/>
          </a:prstGeom>
          <a:solidFill>
            <a:srgbClr val="F2B134"/>
          </a:solidFill>
          <a:ln w="12700">
            <a:solidFill>
              <a:srgbClr val="F2B134"/>
            </a:solidFill>
            <a:prstDash val="solid"/>
          </a:ln>
        </p:spPr>
      </p:sp>
      <p:pic>
        <p:nvPicPr>
          <p:cNvPr id="22" name="Icon" descr="preencoded.png">    </p:cNvPr>
          <p:cNvPicPr>
            <a:picLocks noChangeAspect="1"/>
          </p:cNvPicPr>
          <p:nvPr/>
        </p:nvPicPr>
        <p:blipFill>
          <a:blip r:embed="rId4"/>
          <a:stretch>
            <a:fillRect/>
          </a:stretch>
        </p:blipFill>
        <p:spPr>
          <a:xfrm>
            <a:off x="6638544" y="4443984"/>
            <a:ext cx="393192" cy="393192"/>
          </a:xfrm>
          <a:prstGeom prst="rect">
            <a:avLst/>
          </a:prstGeom>
        </p:spPr>
      </p:pic>
      <p:sp>
        <p:nvSpPr>
          <p:cNvPr id="23" name="Text 16"/>
          <p:cNvSpPr txBox="1"/>
          <p:nvPr/>
        </p:nvSpPr>
        <p:spPr>
          <a:xfrm>
            <a:off x="7452360" y="4206240"/>
            <a:ext cx="3977640" cy="548640"/>
          </a:xfrm>
          <a:prstGeom prst="rect">
            <a:avLst/>
          </a:prstGeom>
          <a:noFill/>
          <a:ln/>
        </p:spPr>
        <p:txBody>
          <a:bodyPr wrap="square" lIns="0" tIns="0" rIns="0" bIns="0" rtlCol="0" anchor="t"/>
          <a:lstStyle/>
          <a:p>
            <a:pPr indent="0" marL="0">
              <a:buNone/>
            </a:pPr>
            <a:r>
              <a:rPr lang="en-US" sz="2000" b="1" dirty="0">
                <a:solidFill>
                  <a:srgbClr val="1F1A33"/>
                </a:solidFill>
                <a:latin typeface="Calibri" pitchFamily="34" charset="0"/>
                <a:ea typeface="Calibri" pitchFamily="34" charset="-122"/>
                <a:cs typeface="Calibri" pitchFamily="34" charset="-120"/>
              </a:rPr>
              <a:t>4  Acceptable quality</a:t>
            </a:r>
            <a:endParaRPr lang="en-US" sz="2000" dirty="0"/>
          </a:p>
        </p:txBody>
      </p:sp>
      <p:sp>
        <p:nvSpPr>
          <p:cNvPr id="24" name="Text 17"/>
          <p:cNvSpPr txBox="1"/>
          <p:nvPr/>
        </p:nvSpPr>
        <p:spPr>
          <a:xfrm>
            <a:off x="7452360" y="4800600"/>
            <a:ext cx="3977640" cy="1188720"/>
          </a:xfrm>
          <a:prstGeom prst="rect">
            <a:avLst/>
          </a:prstGeom>
          <a:noFill/>
          <a:ln/>
        </p:spPr>
        <p:txBody>
          <a:bodyPr wrap="square" lIns="0" tIns="0" rIns="0" bIns="0" rtlCol="0" anchor="t"/>
          <a:lstStyle/>
          <a:p>
            <a:pPr indent="0" marL="0">
              <a:buNone/>
            </a:pPr>
            <a:r>
              <a:rPr lang="en-US" sz="1600" dirty="0">
                <a:solidFill>
                  <a:srgbClr val="5E5878"/>
                </a:solidFill>
                <a:latin typeface="Calibri" pitchFamily="34" charset="0"/>
                <a:ea typeface="Calibri" pitchFamily="34" charset="-122"/>
                <a:cs typeface="Calibri" pitchFamily="34" charset="-120"/>
              </a:rPr>
              <a:t>The reconstructed image must remain of acceptable quality (PSNR, SSIM).</a:t>
            </a:r>
            <a:endParaRPr lang="en-US" sz="16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4 · THESIS OBJECTIVES</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Thesis Objectives</a:t>
            </a:r>
            <a:endParaRPr lang="en-US" sz="3000" dirty="0"/>
          </a:p>
        </p:txBody>
      </p:sp>
      <p:sp>
        <p:nvSpPr>
          <p:cNvPr id="5" name="Objective card"/>
          <p:cNvSpPr/>
          <p:nvPr/>
        </p:nvSpPr>
        <p:spPr>
          <a:xfrm>
            <a:off x="548640" y="1554480"/>
            <a:ext cx="6035040" cy="2194560"/>
          </a:xfrm>
          <a:prstGeom prst="roundRect">
            <a:avLst>
              <a:gd name="adj" fmla="val 5000"/>
            </a:avLst>
          </a:prstGeom>
          <a:solidFill>
            <a:srgbClr val="F5F1FB"/>
          </a:solidFill>
          <a:ln w="12700">
            <a:solidFill>
              <a:srgbClr val="F5F1FB"/>
            </a:solidFill>
            <a:prstDash val="solid"/>
          </a:ln>
        </p:spPr>
      </p:sp>
      <p:sp>
        <p:nvSpPr>
          <p:cNvPr id="6" name="Objective number"/>
          <p:cNvSpPr/>
          <p:nvPr/>
        </p:nvSpPr>
        <p:spPr>
          <a:xfrm>
            <a:off x="777240" y="1874520"/>
            <a:ext cx="640080" cy="640080"/>
          </a:xfrm>
          <a:prstGeom prst="ellipse">
            <a:avLst/>
          </a:prstGeom>
          <a:solidFill>
            <a:srgbClr val="6B4FA3"/>
          </a:solidFill>
          <a:ln w="12700">
            <a:solidFill>
              <a:srgbClr val="FFFFFF"/>
            </a:solidFill>
            <a:prstDash val="solid"/>
          </a:ln>
        </p:spPr>
      </p:sp>
      <p:sp>
        <p:nvSpPr>
          <p:cNvPr id="7" name="Text 4"/>
          <p:cNvSpPr txBox="1"/>
          <p:nvPr/>
        </p:nvSpPr>
        <p:spPr>
          <a:xfrm>
            <a:off x="777240" y="187452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8" name="Text 5"/>
          <p:cNvSpPr txBox="1"/>
          <p:nvPr/>
        </p:nvSpPr>
        <p:spPr>
          <a:xfrm>
            <a:off x="1645920" y="1828800"/>
            <a:ext cx="4754880" cy="365760"/>
          </a:xfrm>
          <a:prstGeom prst="rect">
            <a:avLst/>
          </a:prstGeom>
          <a:noFill/>
          <a:ln/>
        </p:spPr>
        <p:txBody>
          <a:bodyPr wrap="square" lIns="0" tIns="0" rIns="0" bIns="0" rtlCol="0" anchor="t"/>
          <a:lstStyle/>
          <a:p>
            <a:pPr indent="0" marL="0">
              <a:buNone/>
            </a:pPr>
            <a:r>
              <a:rPr lang="en-US" sz="1400" b="1" spc="200" kern="0" dirty="0">
                <a:solidFill>
                  <a:srgbClr val="6B4FA3"/>
                </a:solidFill>
                <a:latin typeface="Calibri" pitchFamily="34" charset="0"/>
                <a:ea typeface="Calibri" pitchFamily="34" charset="-122"/>
                <a:cs typeface="Calibri" pitchFamily="34" charset="-120"/>
              </a:rPr>
              <a:t>Objective</a:t>
            </a:r>
            <a:endParaRPr lang="en-US" sz="1400" dirty="0"/>
          </a:p>
        </p:txBody>
      </p:sp>
      <p:sp>
        <p:nvSpPr>
          <p:cNvPr id="9" name="Text 6"/>
          <p:cNvSpPr txBox="1"/>
          <p:nvPr/>
        </p:nvSpPr>
        <p:spPr>
          <a:xfrm>
            <a:off x="1645920" y="2240280"/>
            <a:ext cx="4754880" cy="1371600"/>
          </a:xfrm>
          <a:prstGeom prst="rect">
            <a:avLst/>
          </a:prstGeom>
          <a:noFill/>
          <a:ln/>
        </p:spPr>
        <p:txBody>
          <a:bodyPr wrap="square" lIns="0" tIns="0" rIns="0" bIns="0" rtlCol="0" anchor="t"/>
          <a:lstStyle/>
          <a:p>
            <a:pPr indent="0" marL="0">
              <a:buNone/>
            </a:pPr>
            <a:r>
              <a:rPr lang="en-US" sz="1700" dirty="0">
                <a:solidFill>
                  <a:srgbClr val="1F1A33"/>
                </a:solidFill>
                <a:latin typeface="Calibri" pitchFamily="34" charset="0"/>
                <a:ea typeface="Calibri" pitchFamily="34" charset="-122"/>
                <a:cs typeface="Calibri" pitchFamily="34" charset="-120"/>
              </a:rPr>
              <a:t>Develop an image-compression method with a good compression ratio, using parallel processing to reduce its execution time.</a:t>
            </a:r>
            <a:endParaRPr lang="en-US" sz="1700" dirty="0"/>
          </a:p>
        </p:txBody>
      </p:sp>
      <p:sp>
        <p:nvSpPr>
          <p:cNvPr id="10" name="Arrow"/>
          <p:cNvSpPr/>
          <p:nvPr/>
        </p:nvSpPr>
        <p:spPr>
          <a:xfrm>
            <a:off x="6720840" y="2423160"/>
            <a:ext cx="457200" cy="457200"/>
          </a:xfrm>
          <a:prstGeom prst="rightArrow">
            <a:avLst/>
          </a:prstGeom>
          <a:solidFill>
            <a:srgbClr val="A794D6"/>
          </a:solidFill>
          <a:ln w="12700">
            <a:solidFill>
              <a:srgbClr val="A794D6"/>
            </a:solidFill>
            <a:prstDash val="solid"/>
          </a:ln>
        </p:spPr>
      </p:sp>
      <p:sp>
        <p:nvSpPr>
          <p:cNvPr id="11" name="How card"/>
          <p:cNvSpPr/>
          <p:nvPr/>
        </p:nvSpPr>
        <p:spPr>
          <a:xfrm>
            <a:off x="7315200" y="1554480"/>
            <a:ext cx="4325112" cy="2194560"/>
          </a:xfrm>
          <a:prstGeom prst="roundRect">
            <a:avLst>
              <a:gd name="adj" fmla="val 5000"/>
            </a:avLst>
          </a:prstGeom>
          <a:solidFill>
            <a:srgbClr val="FFFFFF"/>
          </a:solidFill>
          <a:ln w="12700">
            <a:solidFill>
              <a:srgbClr val="FFFFFF"/>
            </a:solidFill>
            <a:prstDash val="solid"/>
          </a:ln>
        </p:spPr>
      </p:sp>
      <p:sp>
        <p:nvSpPr>
          <p:cNvPr id="12" name="How frame"/>
          <p:cNvSpPr/>
          <p:nvPr/>
        </p:nvSpPr>
        <p:spPr>
          <a:xfrm>
            <a:off x="7315200" y="1554480"/>
            <a:ext cx="4325112" cy="2194560"/>
          </a:xfrm>
          <a:prstGeom prst="roundRect">
            <a:avLst>
              <a:gd name="adj" fmla="val 5000"/>
            </a:avLst>
          </a:prstGeom>
          <a:solidFill>
            <a:srgbClr val="FFFFFF"/>
          </a:solidFill>
          <a:ln w="19050">
            <a:solidFill>
              <a:srgbClr val="6B4FA3"/>
            </a:solidFill>
            <a:prstDash val="solid"/>
          </a:ln>
        </p:spPr>
      </p:sp>
      <p:sp>
        <p:nvSpPr>
          <p:cNvPr id="13" name="Text 10"/>
          <p:cNvSpPr txBox="1"/>
          <p:nvPr/>
        </p:nvSpPr>
        <p:spPr>
          <a:xfrm>
            <a:off x="7543800" y="1737360"/>
            <a:ext cx="3931920" cy="365760"/>
          </a:xfrm>
          <a:prstGeom prst="rect">
            <a:avLst/>
          </a:prstGeom>
          <a:noFill/>
          <a:ln/>
        </p:spPr>
        <p:txBody>
          <a:bodyPr wrap="square" lIns="0" tIns="0" rIns="0" bIns="0" rtlCol="0" anchor="t"/>
          <a:lstStyle/>
          <a:p>
            <a:pPr indent="0" marL="0">
              <a:buNone/>
            </a:pPr>
            <a:r>
              <a:rPr lang="en-US" sz="1400" b="1" dirty="0">
                <a:solidFill>
                  <a:srgbClr val="6B4FA3"/>
                </a:solidFill>
                <a:latin typeface="Calibri" pitchFamily="34" charset="0"/>
                <a:ea typeface="Calibri" pitchFamily="34" charset="-122"/>
                <a:cs typeface="Calibri" pitchFamily="34" charset="-120"/>
              </a:rPr>
              <a:t>How this work meets it</a:t>
            </a:r>
            <a:endParaRPr lang="en-US" sz="1400" dirty="0"/>
          </a:p>
        </p:txBody>
      </p:sp>
      <p:sp>
        <p:nvSpPr>
          <p:cNvPr id="14" name="Text 11"/>
          <p:cNvSpPr txBox="1"/>
          <p:nvPr/>
        </p:nvSpPr>
        <p:spPr>
          <a:xfrm>
            <a:off x="7543800" y="2194560"/>
            <a:ext cx="3931920" cy="1463040"/>
          </a:xfrm>
          <a:prstGeom prst="rect">
            <a:avLst/>
          </a:prstGeom>
          <a:noFill/>
          <a:ln/>
        </p:spPr>
        <p:txBody>
          <a:bodyPr wrap="square" lIns="0" tIns="0" rIns="0" bIns="0" rtlCol="0" anchor="t"/>
          <a:lstStyle/>
          <a:p>
            <a:pPr indent="0" marL="0">
              <a:buNone/>
            </a:pPr>
            <a:r>
              <a:rPr lang="en-US" sz="1500" dirty="0">
                <a:solidFill>
                  <a:srgbClr val="1F1A33"/>
                </a:solidFill>
                <a:latin typeface="Calibri" pitchFamily="34" charset="0"/>
                <a:ea typeface="Calibri" pitchFamily="34" charset="-122"/>
                <a:cs typeface="Calibri" pitchFamily="34" charset="-120"/>
              </a:rPr>
              <a:t>LBG vector quantization + delta + Huffman coding, parallelized with MPI (Equal and speed-aware Adaptive distribution).</a:t>
            </a:r>
            <a:endParaRPr lang="en-US" sz="1500" dirty="0"/>
          </a:p>
        </p:txBody>
      </p:sp>
      <p:sp>
        <p:nvSpPr>
          <p:cNvPr id="15" name="Objective card"/>
          <p:cNvSpPr/>
          <p:nvPr/>
        </p:nvSpPr>
        <p:spPr>
          <a:xfrm>
            <a:off x="548640" y="3931920"/>
            <a:ext cx="6035040" cy="2194560"/>
          </a:xfrm>
          <a:prstGeom prst="roundRect">
            <a:avLst>
              <a:gd name="adj" fmla="val 5000"/>
            </a:avLst>
          </a:prstGeom>
          <a:solidFill>
            <a:srgbClr val="F5F1FB"/>
          </a:solidFill>
          <a:ln w="12700">
            <a:solidFill>
              <a:srgbClr val="F5F1FB"/>
            </a:solidFill>
            <a:prstDash val="solid"/>
          </a:ln>
        </p:spPr>
      </p:sp>
      <p:sp>
        <p:nvSpPr>
          <p:cNvPr id="16" name="Objective number"/>
          <p:cNvSpPr/>
          <p:nvPr/>
        </p:nvSpPr>
        <p:spPr>
          <a:xfrm>
            <a:off x="777240" y="4251960"/>
            <a:ext cx="640080" cy="640080"/>
          </a:xfrm>
          <a:prstGeom prst="ellipse">
            <a:avLst/>
          </a:prstGeom>
          <a:solidFill>
            <a:srgbClr val="E0457B"/>
          </a:solidFill>
          <a:ln w="12700">
            <a:solidFill>
              <a:srgbClr val="FFFFFF"/>
            </a:solidFill>
            <a:prstDash val="solid"/>
          </a:ln>
        </p:spPr>
      </p:sp>
      <p:sp>
        <p:nvSpPr>
          <p:cNvPr id="17" name="Text 14"/>
          <p:cNvSpPr txBox="1"/>
          <p:nvPr/>
        </p:nvSpPr>
        <p:spPr>
          <a:xfrm>
            <a:off x="777240" y="425196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Text 15"/>
          <p:cNvSpPr txBox="1"/>
          <p:nvPr/>
        </p:nvSpPr>
        <p:spPr>
          <a:xfrm>
            <a:off x="1645920" y="4206240"/>
            <a:ext cx="4754880" cy="365760"/>
          </a:xfrm>
          <a:prstGeom prst="rect">
            <a:avLst/>
          </a:prstGeom>
          <a:noFill/>
          <a:ln/>
        </p:spPr>
        <p:txBody>
          <a:bodyPr wrap="square" lIns="0" tIns="0" rIns="0" bIns="0" rtlCol="0" anchor="t"/>
          <a:lstStyle/>
          <a:p>
            <a:pPr indent="0" marL="0">
              <a:buNone/>
            </a:pPr>
            <a:r>
              <a:rPr lang="en-US" sz="1400" b="1" spc="200" kern="0" dirty="0">
                <a:solidFill>
                  <a:srgbClr val="E0457B"/>
                </a:solidFill>
                <a:latin typeface="Calibri" pitchFamily="34" charset="0"/>
                <a:ea typeface="Calibri" pitchFamily="34" charset="-122"/>
                <a:cs typeface="Calibri" pitchFamily="34" charset="-120"/>
              </a:rPr>
              <a:t>Objective</a:t>
            </a:r>
            <a:endParaRPr lang="en-US" sz="1400" dirty="0"/>
          </a:p>
        </p:txBody>
      </p:sp>
      <p:sp>
        <p:nvSpPr>
          <p:cNvPr id="19" name="Text 16"/>
          <p:cNvSpPr txBox="1"/>
          <p:nvPr/>
        </p:nvSpPr>
        <p:spPr>
          <a:xfrm>
            <a:off x="1645920" y="4617720"/>
            <a:ext cx="4754880" cy="1371600"/>
          </a:xfrm>
          <a:prstGeom prst="rect">
            <a:avLst/>
          </a:prstGeom>
          <a:noFill/>
          <a:ln/>
        </p:spPr>
        <p:txBody>
          <a:bodyPr wrap="square" lIns="0" tIns="0" rIns="0" bIns="0" rtlCol="0" anchor="t"/>
          <a:lstStyle/>
          <a:p>
            <a:pPr indent="0" marL="0">
              <a:buNone/>
            </a:pPr>
            <a:r>
              <a:rPr lang="en-US" sz="1700" dirty="0">
                <a:solidFill>
                  <a:srgbClr val="1F1A33"/>
                </a:solidFill>
                <a:latin typeface="Calibri" pitchFamily="34" charset="0"/>
                <a:ea typeface="Calibri" pitchFamily="34" charset="-122"/>
                <a:cs typeface="Calibri" pitchFamily="34" charset="-120"/>
              </a:rPr>
              <a:t>Maintain the quality of the reconstructed image as much as possible.</a:t>
            </a:r>
            <a:endParaRPr lang="en-US" sz="1700" dirty="0"/>
          </a:p>
        </p:txBody>
      </p:sp>
      <p:sp>
        <p:nvSpPr>
          <p:cNvPr id="20" name="Arrow"/>
          <p:cNvSpPr/>
          <p:nvPr/>
        </p:nvSpPr>
        <p:spPr>
          <a:xfrm>
            <a:off x="6720840" y="4800600"/>
            <a:ext cx="457200" cy="457200"/>
          </a:xfrm>
          <a:prstGeom prst="rightArrow">
            <a:avLst/>
          </a:prstGeom>
          <a:solidFill>
            <a:srgbClr val="A794D6"/>
          </a:solidFill>
          <a:ln w="12700">
            <a:solidFill>
              <a:srgbClr val="A794D6"/>
            </a:solidFill>
            <a:prstDash val="solid"/>
          </a:ln>
        </p:spPr>
      </p:sp>
      <p:sp>
        <p:nvSpPr>
          <p:cNvPr id="21" name="How card"/>
          <p:cNvSpPr/>
          <p:nvPr/>
        </p:nvSpPr>
        <p:spPr>
          <a:xfrm>
            <a:off x="7315200" y="3931920"/>
            <a:ext cx="4325112" cy="2194560"/>
          </a:xfrm>
          <a:prstGeom prst="roundRect">
            <a:avLst>
              <a:gd name="adj" fmla="val 5000"/>
            </a:avLst>
          </a:prstGeom>
          <a:solidFill>
            <a:srgbClr val="FFFFFF"/>
          </a:solidFill>
          <a:ln w="12700">
            <a:solidFill>
              <a:srgbClr val="FFFFFF"/>
            </a:solidFill>
            <a:prstDash val="solid"/>
          </a:ln>
        </p:spPr>
      </p:sp>
      <p:sp>
        <p:nvSpPr>
          <p:cNvPr id="22" name="How frame"/>
          <p:cNvSpPr/>
          <p:nvPr/>
        </p:nvSpPr>
        <p:spPr>
          <a:xfrm>
            <a:off x="7315200" y="3931920"/>
            <a:ext cx="4325112" cy="2194560"/>
          </a:xfrm>
          <a:prstGeom prst="roundRect">
            <a:avLst>
              <a:gd name="adj" fmla="val 5000"/>
            </a:avLst>
          </a:prstGeom>
          <a:solidFill>
            <a:srgbClr val="FFFFFF"/>
          </a:solidFill>
          <a:ln w="19050">
            <a:solidFill>
              <a:srgbClr val="E0457B"/>
            </a:solidFill>
            <a:prstDash val="solid"/>
          </a:ln>
        </p:spPr>
      </p:sp>
      <p:sp>
        <p:nvSpPr>
          <p:cNvPr id="23" name="Text 20"/>
          <p:cNvSpPr txBox="1"/>
          <p:nvPr/>
        </p:nvSpPr>
        <p:spPr>
          <a:xfrm>
            <a:off x="7543800" y="4114800"/>
            <a:ext cx="3931920" cy="365760"/>
          </a:xfrm>
          <a:prstGeom prst="rect">
            <a:avLst/>
          </a:prstGeom>
          <a:noFill/>
          <a:ln/>
        </p:spPr>
        <p:txBody>
          <a:bodyPr wrap="square" lIns="0" tIns="0" rIns="0" bIns="0" rtlCol="0" anchor="t"/>
          <a:lstStyle/>
          <a:p>
            <a:pPr indent="0" marL="0">
              <a:buNone/>
            </a:pPr>
            <a:r>
              <a:rPr lang="en-US" sz="1400" b="1" dirty="0">
                <a:solidFill>
                  <a:srgbClr val="E0457B"/>
                </a:solidFill>
                <a:latin typeface="Calibri" pitchFamily="34" charset="0"/>
                <a:ea typeface="Calibri" pitchFamily="34" charset="-122"/>
                <a:cs typeface="Calibri" pitchFamily="34" charset="-120"/>
              </a:rPr>
              <a:t>How this work meets it</a:t>
            </a:r>
            <a:endParaRPr lang="en-US" sz="1400" dirty="0"/>
          </a:p>
        </p:txBody>
      </p:sp>
      <p:sp>
        <p:nvSpPr>
          <p:cNvPr id="24" name="Text 21"/>
          <p:cNvSpPr txBox="1"/>
          <p:nvPr/>
        </p:nvSpPr>
        <p:spPr>
          <a:xfrm>
            <a:off x="7543800" y="4572000"/>
            <a:ext cx="3931920" cy="1463040"/>
          </a:xfrm>
          <a:prstGeom prst="rect">
            <a:avLst/>
          </a:prstGeom>
          <a:noFill/>
          <a:ln/>
        </p:spPr>
        <p:txBody>
          <a:bodyPr wrap="square" lIns="0" tIns="0" rIns="0" bIns="0" rtlCol="0" anchor="t"/>
          <a:lstStyle/>
          <a:p>
            <a:pPr indent="0" marL="0">
              <a:buNone/>
            </a:pPr>
            <a:r>
              <a:rPr lang="en-US" sz="1500" dirty="0">
                <a:solidFill>
                  <a:srgbClr val="1F1A33"/>
                </a:solidFill>
                <a:latin typeface="Calibri" pitchFamily="34" charset="0"/>
                <a:ea typeface="Calibri" pitchFamily="34" charset="-122"/>
                <a:cs typeface="Calibri" pitchFamily="34" charset="-120"/>
              </a:rPr>
              <a:t>Quality measured by PSNR and SSIM; the parallel result is verified to be identical to the sequential one (MD5).</a:t>
            </a:r>
            <a:endParaRPr lang="en-US" sz="15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4 · THESIS OBJECTIVES</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What this work contributes</a:t>
            </a:r>
            <a:endParaRPr lang="en-US" sz="3000" dirty="0"/>
          </a:p>
        </p:txBody>
      </p:sp>
      <p:sp>
        <p:nvSpPr>
          <p:cNvPr id="5" name="Contribution card"/>
          <p:cNvSpPr/>
          <p:nvPr/>
        </p:nvSpPr>
        <p:spPr>
          <a:xfrm>
            <a:off x="548640" y="1554480"/>
            <a:ext cx="5440680" cy="2194560"/>
          </a:xfrm>
          <a:prstGeom prst="roundRect">
            <a:avLst>
              <a:gd name="adj" fmla="val 5000"/>
            </a:avLst>
          </a:prstGeom>
          <a:solidFill>
            <a:srgbClr val="F5F1FB"/>
          </a:solidFill>
          <a:ln w="12700">
            <a:solidFill>
              <a:srgbClr val="F5F1FB"/>
            </a:solidFill>
            <a:prstDash val="solid"/>
          </a:ln>
        </p:spPr>
      </p:sp>
      <p:sp>
        <p:nvSpPr>
          <p:cNvPr id="6" name="Icon circle"/>
          <p:cNvSpPr/>
          <p:nvPr/>
        </p:nvSpPr>
        <p:spPr>
          <a:xfrm>
            <a:off x="822960" y="1874520"/>
            <a:ext cx="777240" cy="777240"/>
          </a:xfrm>
          <a:prstGeom prst="ellipse">
            <a:avLst/>
          </a:prstGeom>
          <a:solidFill>
            <a:srgbClr val="6B4FA3"/>
          </a:solidFill>
          <a:ln w="12700">
            <a:solidFill>
              <a:srgbClr val="6B4FA3"/>
            </a:solidFill>
            <a:prstDash val="solid"/>
          </a:ln>
        </p:spPr>
      </p:sp>
      <p:pic>
        <p:nvPicPr>
          <p:cNvPr id="7" name="Icon" descr="preencoded.png">    </p:cNvPr>
          <p:cNvPicPr>
            <a:picLocks noChangeAspect="1"/>
          </p:cNvPicPr>
          <p:nvPr/>
        </p:nvPicPr>
        <p:blipFill>
          <a:blip r:embed="rId1"/>
          <a:stretch>
            <a:fillRect/>
          </a:stretch>
        </p:blipFill>
        <p:spPr>
          <a:xfrm>
            <a:off x="1017270" y="2068830"/>
            <a:ext cx="388620" cy="388620"/>
          </a:xfrm>
          <a:prstGeom prst="rect">
            <a:avLst/>
          </a:prstGeom>
        </p:spPr>
      </p:pic>
      <p:sp>
        <p:nvSpPr>
          <p:cNvPr id="8" name="Text 4"/>
          <p:cNvSpPr txBox="1"/>
          <p:nvPr/>
        </p:nvSpPr>
        <p:spPr>
          <a:xfrm>
            <a:off x="1828800" y="1828800"/>
            <a:ext cx="3931920" cy="457200"/>
          </a:xfrm>
          <a:prstGeom prst="rect">
            <a:avLst/>
          </a:prstGeom>
          <a:noFill/>
          <a:ln/>
        </p:spPr>
        <p:txBody>
          <a:bodyPr wrap="square" lIns="0" tIns="0" rIns="0" bIns="0" rtlCol="0" anchor="t"/>
          <a:lstStyle/>
          <a:p>
            <a:pPr indent="0" marL="0">
              <a:buNone/>
            </a:pPr>
            <a:r>
              <a:rPr lang="en-US" sz="2000" b="1" dirty="0">
                <a:solidFill>
                  <a:srgbClr val="1F1A33"/>
                </a:solidFill>
                <a:latin typeface="Calibri" pitchFamily="34" charset="0"/>
                <a:ea typeface="Calibri" pitchFamily="34" charset="-122"/>
                <a:cs typeface="Calibri" pitchFamily="34" charset="-120"/>
              </a:rPr>
              <a:t>Compression pipeline</a:t>
            </a:r>
            <a:endParaRPr lang="en-US" sz="2000" dirty="0"/>
          </a:p>
        </p:txBody>
      </p:sp>
      <p:sp>
        <p:nvSpPr>
          <p:cNvPr id="9" name="Text 5"/>
          <p:cNvSpPr txBox="1"/>
          <p:nvPr/>
        </p:nvSpPr>
        <p:spPr>
          <a:xfrm>
            <a:off x="1828800" y="2331720"/>
            <a:ext cx="3931920" cy="128016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4×4 blocks → LBG (K = 64) → delta → Huffman; system CR counts every byte.</a:t>
            </a:r>
            <a:endParaRPr lang="en-US" sz="1500" dirty="0"/>
          </a:p>
        </p:txBody>
      </p:sp>
      <p:sp>
        <p:nvSpPr>
          <p:cNvPr id="10" name="Contribution card"/>
          <p:cNvSpPr/>
          <p:nvPr/>
        </p:nvSpPr>
        <p:spPr>
          <a:xfrm>
            <a:off x="6172200" y="1554480"/>
            <a:ext cx="5440680" cy="2194560"/>
          </a:xfrm>
          <a:prstGeom prst="roundRect">
            <a:avLst>
              <a:gd name="adj" fmla="val 5000"/>
            </a:avLst>
          </a:prstGeom>
          <a:solidFill>
            <a:srgbClr val="F5F1FB"/>
          </a:solidFill>
          <a:ln w="12700">
            <a:solidFill>
              <a:srgbClr val="F5F1FB"/>
            </a:solidFill>
            <a:prstDash val="solid"/>
          </a:ln>
        </p:spPr>
      </p:sp>
      <p:sp>
        <p:nvSpPr>
          <p:cNvPr id="11" name="Icon circle"/>
          <p:cNvSpPr/>
          <p:nvPr/>
        </p:nvSpPr>
        <p:spPr>
          <a:xfrm>
            <a:off x="6446520" y="1874520"/>
            <a:ext cx="777240" cy="777240"/>
          </a:xfrm>
          <a:prstGeom prst="ellipse">
            <a:avLst/>
          </a:prstGeom>
          <a:solidFill>
            <a:srgbClr val="E0457B"/>
          </a:solidFill>
          <a:ln w="12700">
            <a:solidFill>
              <a:srgbClr val="E0457B"/>
            </a:solidFill>
            <a:prstDash val="solid"/>
          </a:ln>
        </p:spPr>
      </p:sp>
      <p:pic>
        <p:nvPicPr>
          <p:cNvPr id="12" name="Icon" descr="preencoded.png">    </p:cNvPr>
          <p:cNvPicPr>
            <a:picLocks noChangeAspect="1"/>
          </p:cNvPicPr>
          <p:nvPr/>
        </p:nvPicPr>
        <p:blipFill>
          <a:blip r:embed="rId2"/>
          <a:stretch>
            <a:fillRect/>
          </a:stretch>
        </p:blipFill>
        <p:spPr>
          <a:xfrm>
            <a:off x="6640830" y="2068830"/>
            <a:ext cx="388620" cy="388620"/>
          </a:xfrm>
          <a:prstGeom prst="rect">
            <a:avLst/>
          </a:prstGeom>
        </p:spPr>
      </p:pic>
      <p:sp>
        <p:nvSpPr>
          <p:cNvPr id="13" name="Text 8"/>
          <p:cNvSpPr txBox="1"/>
          <p:nvPr/>
        </p:nvSpPr>
        <p:spPr>
          <a:xfrm>
            <a:off x="7452360" y="1828800"/>
            <a:ext cx="3931920" cy="457200"/>
          </a:xfrm>
          <a:prstGeom prst="rect">
            <a:avLst/>
          </a:prstGeom>
          <a:noFill/>
          <a:ln/>
        </p:spPr>
        <p:txBody>
          <a:bodyPr wrap="square" lIns="0" tIns="0" rIns="0" bIns="0" rtlCol="0" anchor="t"/>
          <a:lstStyle/>
          <a:p>
            <a:pPr indent="0" marL="0">
              <a:buNone/>
            </a:pPr>
            <a:r>
              <a:rPr lang="en-US" sz="2000" b="1" dirty="0">
                <a:solidFill>
                  <a:srgbClr val="1F1A33"/>
                </a:solidFill>
                <a:latin typeface="Calibri" pitchFamily="34" charset="0"/>
                <a:ea typeface="Calibri" pitchFamily="34" charset="-122"/>
                <a:cs typeface="Calibri" pitchFamily="34" charset="-120"/>
              </a:rPr>
              <a:t>MPI parallel LBG</a:t>
            </a:r>
            <a:endParaRPr lang="en-US" sz="2000" dirty="0"/>
          </a:p>
        </p:txBody>
      </p:sp>
      <p:sp>
        <p:nvSpPr>
          <p:cNvPr id="14" name="Text 9"/>
          <p:cNvSpPr txBox="1"/>
          <p:nvPr/>
        </p:nvSpPr>
        <p:spPr>
          <a:xfrm>
            <a:off x="7452360" y="2331720"/>
            <a:ext cx="3931920" cy="128016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Scatterv + Allreduce SPMD design, exact and independent of process count.</a:t>
            </a:r>
            <a:endParaRPr lang="en-US" sz="1500" dirty="0"/>
          </a:p>
        </p:txBody>
      </p:sp>
      <p:sp>
        <p:nvSpPr>
          <p:cNvPr id="15" name="Contribution card"/>
          <p:cNvSpPr/>
          <p:nvPr/>
        </p:nvSpPr>
        <p:spPr>
          <a:xfrm>
            <a:off x="548640" y="3931920"/>
            <a:ext cx="5440680" cy="2194560"/>
          </a:xfrm>
          <a:prstGeom prst="roundRect">
            <a:avLst>
              <a:gd name="adj" fmla="val 5000"/>
            </a:avLst>
          </a:prstGeom>
          <a:solidFill>
            <a:srgbClr val="F5F1FB"/>
          </a:solidFill>
          <a:ln w="12700">
            <a:solidFill>
              <a:srgbClr val="F5F1FB"/>
            </a:solidFill>
            <a:prstDash val="solid"/>
          </a:ln>
        </p:spPr>
      </p:sp>
      <p:sp>
        <p:nvSpPr>
          <p:cNvPr id="16" name="Icon circle"/>
          <p:cNvSpPr/>
          <p:nvPr/>
        </p:nvSpPr>
        <p:spPr>
          <a:xfrm>
            <a:off x="822960" y="4251960"/>
            <a:ext cx="777240" cy="777240"/>
          </a:xfrm>
          <a:prstGeom prst="ellipse">
            <a:avLst/>
          </a:prstGeom>
          <a:solidFill>
            <a:srgbClr val="2A9D8F"/>
          </a:solidFill>
          <a:ln w="12700">
            <a:solidFill>
              <a:srgbClr val="2A9D8F"/>
            </a:solidFill>
            <a:prstDash val="solid"/>
          </a:ln>
        </p:spPr>
      </p:sp>
      <p:pic>
        <p:nvPicPr>
          <p:cNvPr id="17" name="Icon" descr="preencoded.png">    </p:cNvPr>
          <p:cNvPicPr>
            <a:picLocks noChangeAspect="1"/>
          </p:cNvPicPr>
          <p:nvPr/>
        </p:nvPicPr>
        <p:blipFill>
          <a:blip r:embed="rId3"/>
          <a:stretch>
            <a:fillRect/>
          </a:stretch>
        </p:blipFill>
        <p:spPr>
          <a:xfrm>
            <a:off x="1017270" y="4446270"/>
            <a:ext cx="388620" cy="388620"/>
          </a:xfrm>
          <a:prstGeom prst="rect">
            <a:avLst/>
          </a:prstGeom>
        </p:spPr>
      </p:pic>
      <p:sp>
        <p:nvSpPr>
          <p:cNvPr id="18" name="Text 12"/>
          <p:cNvSpPr txBox="1"/>
          <p:nvPr/>
        </p:nvSpPr>
        <p:spPr>
          <a:xfrm>
            <a:off x="1828800" y="4206240"/>
            <a:ext cx="3931920" cy="457200"/>
          </a:xfrm>
          <a:prstGeom prst="rect">
            <a:avLst/>
          </a:prstGeom>
          <a:noFill/>
          <a:ln/>
        </p:spPr>
        <p:txBody>
          <a:bodyPr wrap="square" lIns="0" tIns="0" rIns="0" bIns="0" rtlCol="0" anchor="t"/>
          <a:lstStyle/>
          <a:p>
            <a:pPr indent="0" marL="0">
              <a:buNone/>
            </a:pPr>
            <a:r>
              <a:rPr lang="en-US" sz="2000" b="1" dirty="0">
                <a:solidFill>
                  <a:srgbClr val="1F1A33"/>
                </a:solidFill>
                <a:latin typeface="Calibri" pitchFamily="34" charset="0"/>
                <a:ea typeface="Calibri" pitchFamily="34" charset="-122"/>
                <a:cs typeface="Calibri" pitchFamily="34" charset="-120"/>
              </a:rPr>
              <a:t>Speed-aware distribution</a:t>
            </a:r>
            <a:endParaRPr lang="en-US" sz="2000" dirty="0"/>
          </a:p>
        </p:txBody>
      </p:sp>
      <p:sp>
        <p:nvSpPr>
          <p:cNvPr id="19" name="Text 13"/>
          <p:cNvSpPr txBox="1"/>
          <p:nvPr/>
        </p:nvSpPr>
        <p:spPr>
          <a:xfrm>
            <a:off x="1828800" y="4709160"/>
            <a:ext cx="3931920" cy="128016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Adaptive vector allocation for P-cores and E-cores; 17–28% faster LBG than Equal at P = 8–14.</a:t>
            </a:r>
            <a:endParaRPr lang="en-US" sz="1500" dirty="0"/>
          </a:p>
        </p:txBody>
      </p:sp>
      <p:sp>
        <p:nvSpPr>
          <p:cNvPr id="20" name="Contribution card"/>
          <p:cNvSpPr/>
          <p:nvPr/>
        </p:nvSpPr>
        <p:spPr>
          <a:xfrm>
            <a:off x="6172200" y="3931920"/>
            <a:ext cx="5440680" cy="2194560"/>
          </a:xfrm>
          <a:prstGeom prst="roundRect">
            <a:avLst>
              <a:gd name="adj" fmla="val 5000"/>
            </a:avLst>
          </a:prstGeom>
          <a:solidFill>
            <a:srgbClr val="F5F1FB"/>
          </a:solidFill>
          <a:ln w="12700">
            <a:solidFill>
              <a:srgbClr val="F5F1FB"/>
            </a:solidFill>
            <a:prstDash val="solid"/>
          </a:ln>
        </p:spPr>
      </p:sp>
      <p:sp>
        <p:nvSpPr>
          <p:cNvPr id="21" name="Icon circle"/>
          <p:cNvSpPr/>
          <p:nvPr/>
        </p:nvSpPr>
        <p:spPr>
          <a:xfrm>
            <a:off x="6446520" y="4251960"/>
            <a:ext cx="777240" cy="777240"/>
          </a:xfrm>
          <a:prstGeom prst="ellipse">
            <a:avLst/>
          </a:prstGeom>
          <a:solidFill>
            <a:srgbClr val="F2B134"/>
          </a:solidFill>
          <a:ln w="12700">
            <a:solidFill>
              <a:srgbClr val="F2B134"/>
            </a:solidFill>
            <a:prstDash val="solid"/>
          </a:ln>
        </p:spPr>
      </p:sp>
      <p:pic>
        <p:nvPicPr>
          <p:cNvPr id="22" name="Icon" descr="preencoded.png">    </p:cNvPr>
          <p:cNvPicPr>
            <a:picLocks noChangeAspect="1"/>
          </p:cNvPicPr>
          <p:nvPr/>
        </p:nvPicPr>
        <p:blipFill>
          <a:blip r:embed="rId4"/>
          <a:stretch>
            <a:fillRect/>
          </a:stretch>
        </p:blipFill>
        <p:spPr>
          <a:xfrm>
            <a:off x="6640830" y="4446270"/>
            <a:ext cx="388620" cy="388620"/>
          </a:xfrm>
          <a:prstGeom prst="rect">
            <a:avLst/>
          </a:prstGeom>
        </p:spPr>
      </p:pic>
      <p:sp>
        <p:nvSpPr>
          <p:cNvPr id="23" name="Text 16"/>
          <p:cNvSpPr txBox="1"/>
          <p:nvPr/>
        </p:nvSpPr>
        <p:spPr>
          <a:xfrm>
            <a:off x="7452360" y="4206240"/>
            <a:ext cx="3931920" cy="457200"/>
          </a:xfrm>
          <a:prstGeom prst="rect">
            <a:avLst/>
          </a:prstGeom>
          <a:noFill/>
          <a:ln/>
        </p:spPr>
        <p:txBody>
          <a:bodyPr wrap="square" lIns="0" tIns="0" rIns="0" bIns="0" rtlCol="0" anchor="t"/>
          <a:lstStyle/>
          <a:p>
            <a:pPr indent="0" marL="0">
              <a:buNone/>
            </a:pPr>
            <a:r>
              <a:rPr lang="en-US" sz="2000" b="1" dirty="0">
                <a:solidFill>
                  <a:srgbClr val="1F1A33"/>
                </a:solidFill>
                <a:latin typeface="Calibri" pitchFamily="34" charset="0"/>
                <a:ea typeface="Calibri" pitchFamily="34" charset="-122"/>
                <a:cs typeface="Calibri" pitchFamily="34" charset="-120"/>
              </a:rPr>
              <a:t>Rigorous evaluation</a:t>
            </a:r>
            <a:endParaRPr lang="en-US" sz="2000" dirty="0"/>
          </a:p>
        </p:txBody>
      </p:sp>
      <p:sp>
        <p:nvSpPr>
          <p:cNvPr id="24" name="Text 17"/>
          <p:cNvSpPr txBox="1"/>
          <p:nvPr/>
        </p:nvSpPr>
        <p:spPr>
          <a:xfrm>
            <a:off x="7452360" y="4709160"/>
            <a:ext cx="3931920" cy="128016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Median of 5, CPU binding, Karp–Flatt, throughput, and MD5-verified equivalence.</a:t>
            </a:r>
            <a:endParaRPr lang="en-US" sz="15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5 · PROPOSED WORK</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Compression pipeline</a:t>
            </a:r>
            <a:endParaRPr lang="en-US" sz="3000" dirty="0"/>
          </a:p>
        </p:txBody>
      </p:sp>
      <p:sp>
        <p:nvSpPr>
          <p:cNvPr id="5" name="Pipeline step 1"/>
          <p:cNvSpPr/>
          <p:nvPr/>
        </p:nvSpPr>
        <p:spPr>
          <a:xfrm>
            <a:off x="548640" y="2103120"/>
            <a:ext cx="1481328" cy="1737360"/>
          </a:xfrm>
          <a:prstGeom prst="roundRect">
            <a:avLst>
              <a:gd name="adj" fmla="val 7407"/>
            </a:avLst>
          </a:prstGeom>
          <a:solidFill>
            <a:srgbClr val="2E2055"/>
          </a:solidFill>
          <a:ln w="12700">
            <a:solidFill>
              <a:srgbClr val="2E2055"/>
            </a:solidFill>
            <a:prstDash val="solid"/>
          </a:ln>
        </p:spPr>
      </p:sp>
      <p:sp>
        <p:nvSpPr>
          <p:cNvPr id="6" name="Text 3"/>
          <p:cNvSpPr txBox="1"/>
          <p:nvPr/>
        </p:nvSpPr>
        <p:spPr>
          <a:xfrm>
            <a:off x="621792" y="2240280"/>
            <a:ext cx="1335024"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Image</a:t>
            </a:r>
            <a:endParaRPr lang="en-US" sz="1600" dirty="0"/>
          </a:p>
        </p:txBody>
      </p:sp>
      <p:sp>
        <p:nvSpPr>
          <p:cNvPr id="7" name="Text 4"/>
          <p:cNvSpPr txBox="1"/>
          <p:nvPr/>
        </p:nvSpPr>
        <p:spPr>
          <a:xfrm>
            <a:off x="621792" y="2834640"/>
            <a:ext cx="1335024" cy="914400"/>
          </a:xfrm>
          <a:prstGeom prst="rect">
            <a:avLst/>
          </a:prstGeom>
          <a:noFill/>
          <a:ln/>
        </p:spPr>
        <p:txBody>
          <a:bodyPr wrap="square" lIns="0" tIns="0" rIns="0" bIns="0" rtlCol="0" anchor="t"/>
          <a:lstStyle/>
          <a:p>
            <a:pPr algn="ctr" indent="0" marL="0">
              <a:buNone/>
            </a:pPr>
            <a:r>
              <a:rPr lang="en-US" sz="1300" dirty="0">
                <a:solidFill>
                  <a:srgbClr val="E9E3F7"/>
                </a:solidFill>
                <a:latin typeface="Calibri" pitchFamily="34" charset="0"/>
                <a:ea typeface="Calibri" pitchFamily="34" charset="-122"/>
                <a:cs typeface="Calibri" pitchFamily="34" charset="-120"/>
              </a:rPr>
              <a:t>512×512</a:t>
            </a:r>
            <a:endParaRPr lang="en-US" sz="1300" dirty="0"/>
          </a:p>
          <a:p>
            <a:pPr algn="ctr" indent="0" marL="0">
              <a:buNone/>
            </a:pPr>
            <a:r>
              <a:rPr lang="en-US" sz="1300" dirty="0">
                <a:solidFill>
                  <a:srgbClr val="E9E3F7"/>
                </a:solidFill>
                <a:latin typeface="Calibri" pitchFamily="34" charset="0"/>
                <a:ea typeface="Calibri" pitchFamily="34" charset="-122"/>
                <a:cs typeface="Calibri" pitchFamily="34" charset="-120"/>
              </a:rPr>
              <a:t>8-bit</a:t>
            </a:r>
            <a:endParaRPr lang="en-US" sz="1300" dirty="0"/>
          </a:p>
        </p:txBody>
      </p:sp>
      <p:sp>
        <p:nvSpPr>
          <p:cNvPr id="8" name="Pipeline step 2"/>
          <p:cNvSpPr/>
          <p:nvPr/>
        </p:nvSpPr>
        <p:spPr>
          <a:xfrm>
            <a:off x="2148840" y="2103120"/>
            <a:ext cx="1481328" cy="1737360"/>
          </a:xfrm>
          <a:prstGeom prst="roundRect">
            <a:avLst>
              <a:gd name="adj" fmla="val 7407"/>
            </a:avLst>
          </a:prstGeom>
          <a:solidFill>
            <a:srgbClr val="6B4FA3"/>
          </a:solidFill>
          <a:ln w="12700">
            <a:solidFill>
              <a:srgbClr val="6B4FA3"/>
            </a:solidFill>
            <a:prstDash val="solid"/>
          </a:ln>
        </p:spPr>
      </p:sp>
      <p:sp>
        <p:nvSpPr>
          <p:cNvPr id="9" name="Text 6"/>
          <p:cNvSpPr txBox="1"/>
          <p:nvPr/>
        </p:nvSpPr>
        <p:spPr>
          <a:xfrm>
            <a:off x="2221992" y="2240280"/>
            <a:ext cx="1335024"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4×4 blocks</a:t>
            </a:r>
            <a:endParaRPr lang="en-US" sz="1600" dirty="0"/>
          </a:p>
        </p:txBody>
      </p:sp>
      <p:sp>
        <p:nvSpPr>
          <p:cNvPr id="10" name="Text 7"/>
          <p:cNvSpPr txBox="1"/>
          <p:nvPr/>
        </p:nvSpPr>
        <p:spPr>
          <a:xfrm>
            <a:off x="2221992" y="2834640"/>
            <a:ext cx="1335024" cy="914400"/>
          </a:xfrm>
          <a:prstGeom prst="rect">
            <a:avLst/>
          </a:prstGeom>
          <a:noFill/>
          <a:ln/>
        </p:spPr>
        <p:txBody>
          <a:bodyPr wrap="square" lIns="0" tIns="0" rIns="0" bIns="0" rtlCol="0" anchor="t"/>
          <a:lstStyle/>
          <a:p>
            <a:pPr algn="ctr" indent="0" marL="0">
              <a:buNone/>
            </a:pPr>
            <a:r>
              <a:rPr lang="en-US" sz="1300" dirty="0">
                <a:solidFill>
                  <a:srgbClr val="E9E3F7"/>
                </a:solidFill>
                <a:latin typeface="Calibri" pitchFamily="34" charset="0"/>
                <a:ea typeface="Calibri" pitchFamily="34" charset="-122"/>
                <a:cs typeface="Calibri" pitchFamily="34" charset="-120"/>
              </a:rPr>
              <a:t>16,384 vectors</a:t>
            </a:r>
            <a:endParaRPr lang="en-US" sz="1300" dirty="0"/>
          </a:p>
          <a:p>
            <a:pPr algn="ctr" indent="0" marL="0">
              <a:buNone/>
            </a:pPr>
            <a:r>
              <a:rPr lang="en-US" sz="1300" dirty="0">
                <a:solidFill>
                  <a:srgbClr val="E9E3F7"/>
                </a:solidFill>
                <a:latin typeface="Calibri" pitchFamily="34" charset="0"/>
                <a:ea typeface="Calibri" pitchFamily="34" charset="-122"/>
                <a:cs typeface="Calibri" pitchFamily="34" charset="-120"/>
              </a:rPr>
              <a:t>16-D</a:t>
            </a:r>
            <a:endParaRPr lang="en-US" sz="1300" dirty="0"/>
          </a:p>
        </p:txBody>
      </p:sp>
      <p:sp>
        <p:nvSpPr>
          <p:cNvPr id="11" name="Pipeline step 3"/>
          <p:cNvSpPr/>
          <p:nvPr/>
        </p:nvSpPr>
        <p:spPr>
          <a:xfrm>
            <a:off x="3749040" y="2103120"/>
            <a:ext cx="1481328" cy="1737360"/>
          </a:xfrm>
          <a:prstGeom prst="roundRect">
            <a:avLst>
              <a:gd name="adj" fmla="val 7407"/>
            </a:avLst>
          </a:prstGeom>
          <a:solidFill>
            <a:srgbClr val="E0457B"/>
          </a:solidFill>
          <a:ln w="12700">
            <a:solidFill>
              <a:srgbClr val="E0457B"/>
            </a:solidFill>
            <a:prstDash val="solid"/>
          </a:ln>
        </p:spPr>
      </p:sp>
      <p:sp>
        <p:nvSpPr>
          <p:cNvPr id="12" name="Text 9"/>
          <p:cNvSpPr txBox="1"/>
          <p:nvPr/>
        </p:nvSpPr>
        <p:spPr>
          <a:xfrm>
            <a:off x="3822192" y="2240280"/>
            <a:ext cx="1335024"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LBG-VQ</a:t>
            </a:r>
            <a:endParaRPr lang="en-US" sz="1600" dirty="0"/>
          </a:p>
        </p:txBody>
      </p:sp>
      <p:sp>
        <p:nvSpPr>
          <p:cNvPr id="13" name="Text 10"/>
          <p:cNvSpPr txBox="1"/>
          <p:nvPr/>
        </p:nvSpPr>
        <p:spPr>
          <a:xfrm>
            <a:off x="3822192" y="2834640"/>
            <a:ext cx="1335024" cy="914400"/>
          </a:xfrm>
          <a:prstGeom prst="rect">
            <a:avLst/>
          </a:prstGeom>
          <a:noFill/>
          <a:ln/>
        </p:spPr>
        <p:txBody>
          <a:bodyPr wrap="square" lIns="0" tIns="0" rIns="0" bIns="0" rtlCol="0" anchor="t"/>
          <a:lstStyle/>
          <a:p>
            <a:pPr algn="ctr" indent="0" marL="0">
              <a:buNone/>
            </a:pPr>
            <a:r>
              <a:rPr lang="en-US" sz="1300" dirty="0">
                <a:solidFill>
                  <a:srgbClr val="E9E3F7"/>
                </a:solidFill>
                <a:latin typeface="Calibri" pitchFamily="34" charset="0"/>
                <a:ea typeface="Calibri" pitchFamily="34" charset="-122"/>
                <a:cs typeface="Calibri" pitchFamily="34" charset="-120"/>
              </a:rPr>
              <a:t>codebook K = 64</a:t>
            </a:r>
            <a:endParaRPr lang="en-US" sz="1300" dirty="0"/>
          </a:p>
        </p:txBody>
      </p:sp>
      <p:sp>
        <p:nvSpPr>
          <p:cNvPr id="14" name="Pipeline step 4"/>
          <p:cNvSpPr/>
          <p:nvPr/>
        </p:nvSpPr>
        <p:spPr>
          <a:xfrm>
            <a:off x="5349240" y="2103120"/>
            <a:ext cx="1481328" cy="1737360"/>
          </a:xfrm>
          <a:prstGeom prst="roundRect">
            <a:avLst>
              <a:gd name="adj" fmla="val 7407"/>
            </a:avLst>
          </a:prstGeom>
          <a:solidFill>
            <a:srgbClr val="6B4FA3"/>
          </a:solidFill>
          <a:ln w="12700">
            <a:solidFill>
              <a:srgbClr val="6B4FA3"/>
            </a:solidFill>
            <a:prstDash val="solid"/>
          </a:ln>
        </p:spPr>
      </p:sp>
      <p:sp>
        <p:nvSpPr>
          <p:cNvPr id="15" name="Text 12"/>
          <p:cNvSpPr txBox="1"/>
          <p:nvPr/>
        </p:nvSpPr>
        <p:spPr>
          <a:xfrm>
            <a:off x="5422392" y="2240280"/>
            <a:ext cx="1335024"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Index map</a:t>
            </a:r>
            <a:endParaRPr lang="en-US" sz="1600" dirty="0"/>
          </a:p>
        </p:txBody>
      </p:sp>
      <p:sp>
        <p:nvSpPr>
          <p:cNvPr id="16" name="Text 13"/>
          <p:cNvSpPr txBox="1"/>
          <p:nvPr/>
        </p:nvSpPr>
        <p:spPr>
          <a:xfrm>
            <a:off x="5422392" y="2834640"/>
            <a:ext cx="1335024" cy="914400"/>
          </a:xfrm>
          <a:prstGeom prst="rect">
            <a:avLst/>
          </a:prstGeom>
          <a:noFill/>
          <a:ln/>
        </p:spPr>
        <p:txBody>
          <a:bodyPr wrap="square" lIns="0" tIns="0" rIns="0" bIns="0" rtlCol="0" anchor="t"/>
          <a:lstStyle/>
          <a:p>
            <a:pPr algn="ctr" indent="0" marL="0">
              <a:buNone/>
            </a:pPr>
            <a:r>
              <a:rPr lang="en-US" sz="1300" dirty="0">
                <a:solidFill>
                  <a:srgbClr val="E9E3F7"/>
                </a:solidFill>
                <a:latin typeface="Calibri" pitchFamily="34" charset="0"/>
                <a:ea typeface="Calibri" pitchFamily="34" charset="-122"/>
                <a:cs typeface="Calibri" pitchFamily="34" charset="-120"/>
              </a:rPr>
              <a:t>one label</a:t>
            </a:r>
            <a:endParaRPr lang="en-US" sz="1300" dirty="0"/>
          </a:p>
          <a:p>
            <a:pPr algn="ctr" indent="0" marL="0">
              <a:buNone/>
            </a:pPr>
            <a:r>
              <a:rPr lang="en-US" sz="1300" dirty="0">
                <a:solidFill>
                  <a:srgbClr val="E9E3F7"/>
                </a:solidFill>
                <a:latin typeface="Calibri" pitchFamily="34" charset="0"/>
                <a:ea typeface="Calibri" pitchFamily="34" charset="-122"/>
                <a:cs typeface="Calibri" pitchFamily="34" charset="-120"/>
              </a:rPr>
              <a:t>per block</a:t>
            </a:r>
            <a:endParaRPr lang="en-US" sz="1300" dirty="0"/>
          </a:p>
        </p:txBody>
      </p:sp>
      <p:sp>
        <p:nvSpPr>
          <p:cNvPr id="17" name="Pipeline step 5"/>
          <p:cNvSpPr/>
          <p:nvPr/>
        </p:nvSpPr>
        <p:spPr>
          <a:xfrm>
            <a:off x="6949440" y="2103120"/>
            <a:ext cx="1481328" cy="1737360"/>
          </a:xfrm>
          <a:prstGeom prst="roundRect">
            <a:avLst>
              <a:gd name="adj" fmla="val 7407"/>
            </a:avLst>
          </a:prstGeom>
          <a:solidFill>
            <a:srgbClr val="2E2055"/>
          </a:solidFill>
          <a:ln w="12700">
            <a:solidFill>
              <a:srgbClr val="2E2055"/>
            </a:solidFill>
            <a:prstDash val="solid"/>
          </a:ln>
        </p:spPr>
      </p:sp>
      <p:sp>
        <p:nvSpPr>
          <p:cNvPr id="18" name="Text 15"/>
          <p:cNvSpPr txBox="1"/>
          <p:nvPr/>
        </p:nvSpPr>
        <p:spPr>
          <a:xfrm>
            <a:off x="7022592" y="2240280"/>
            <a:ext cx="1335024"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Delta coding</a:t>
            </a:r>
            <a:endParaRPr lang="en-US" sz="1600" dirty="0"/>
          </a:p>
        </p:txBody>
      </p:sp>
      <p:sp>
        <p:nvSpPr>
          <p:cNvPr id="19" name="Text 16"/>
          <p:cNvSpPr txBox="1"/>
          <p:nvPr/>
        </p:nvSpPr>
        <p:spPr>
          <a:xfrm>
            <a:off x="7022592" y="2834640"/>
            <a:ext cx="1335024" cy="914400"/>
          </a:xfrm>
          <a:prstGeom prst="rect">
            <a:avLst/>
          </a:prstGeom>
          <a:noFill/>
          <a:ln/>
        </p:spPr>
        <p:txBody>
          <a:bodyPr wrap="square" lIns="0" tIns="0" rIns="0" bIns="0" rtlCol="0" anchor="t"/>
          <a:lstStyle/>
          <a:p>
            <a:pPr algn="ctr" indent="0" marL="0">
              <a:buNone/>
            </a:pPr>
            <a:r>
              <a:rPr lang="en-US" sz="1300" dirty="0">
                <a:solidFill>
                  <a:srgbClr val="E9E3F7"/>
                </a:solidFill>
                <a:latin typeface="Calibri" pitchFamily="34" charset="0"/>
                <a:ea typeface="Calibri" pitchFamily="34" charset="-122"/>
                <a:cs typeface="Calibri" pitchFamily="34" charset="-120"/>
              </a:rPr>
              <a:t>offset 128</a:t>
            </a:r>
            <a:endParaRPr lang="en-US" sz="1300" dirty="0"/>
          </a:p>
        </p:txBody>
      </p:sp>
      <p:sp>
        <p:nvSpPr>
          <p:cNvPr id="20" name="Pipeline step 6"/>
          <p:cNvSpPr/>
          <p:nvPr/>
        </p:nvSpPr>
        <p:spPr>
          <a:xfrm>
            <a:off x="8549640" y="2103120"/>
            <a:ext cx="1481328" cy="1737360"/>
          </a:xfrm>
          <a:prstGeom prst="roundRect">
            <a:avLst>
              <a:gd name="adj" fmla="val 7407"/>
            </a:avLst>
          </a:prstGeom>
          <a:solidFill>
            <a:srgbClr val="6B4FA3"/>
          </a:solidFill>
          <a:ln w="12700">
            <a:solidFill>
              <a:srgbClr val="6B4FA3"/>
            </a:solidFill>
            <a:prstDash val="solid"/>
          </a:ln>
        </p:spPr>
      </p:sp>
      <p:sp>
        <p:nvSpPr>
          <p:cNvPr id="21" name="Text 18"/>
          <p:cNvSpPr txBox="1"/>
          <p:nvPr/>
        </p:nvSpPr>
        <p:spPr>
          <a:xfrm>
            <a:off x="8622792" y="2240280"/>
            <a:ext cx="1335024"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Huffman</a:t>
            </a:r>
            <a:endParaRPr lang="en-US" sz="1600" dirty="0"/>
          </a:p>
        </p:txBody>
      </p:sp>
      <p:sp>
        <p:nvSpPr>
          <p:cNvPr id="22" name="Text 19"/>
          <p:cNvSpPr txBox="1"/>
          <p:nvPr/>
        </p:nvSpPr>
        <p:spPr>
          <a:xfrm>
            <a:off x="8622792" y="2834640"/>
            <a:ext cx="1335024" cy="914400"/>
          </a:xfrm>
          <a:prstGeom prst="rect">
            <a:avLst/>
          </a:prstGeom>
          <a:noFill/>
          <a:ln/>
        </p:spPr>
        <p:txBody>
          <a:bodyPr wrap="square" lIns="0" tIns="0" rIns="0" bIns="0" rtlCol="0" anchor="t"/>
          <a:lstStyle/>
          <a:p>
            <a:pPr algn="ctr" indent="0" marL="0">
              <a:buNone/>
            </a:pPr>
            <a:r>
              <a:rPr lang="en-US" sz="1300" dirty="0">
                <a:solidFill>
                  <a:srgbClr val="E9E3F7"/>
                </a:solidFill>
                <a:latin typeface="Calibri" pitchFamily="34" charset="0"/>
                <a:ea typeface="Calibri" pitchFamily="34" charset="-122"/>
                <a:cs typeface="Calibri" pitchFamily="34" charset="-120"/>
              </a:rPr>
              <a:t>entropy code</a:t>
            </a:r>
            <a:endParaRPr lang="en-US" sz="1300" dirty="0"/>
          </a:p>
        </p:txBody>
      </p:sp>
      <p:sp>
        <p:nvSpPr>
          <p:cNvPr id="23" name="Pipeline step 7"/>
          <p:cNvSpPr/>
          <p:nvPr/>
        </p:nvSpPr>
        <p:spPr>
          <a:xfrm>
            <a:off x="10149840" y="2103120"/>
            <a:ext cx="1481328" cy="1737360"/>
          </a:xfrm>
          <a:prstGeom prst="roundRect">
            <a:avLst>
              <a:gd name="adj" fmla="val 7407"/>
            </a:avLst>
          </a:prstGeom>
          <a:solidFill>
            <a:srgbClr val="2E2055"/>
          </a:solidFill>
          <a:ln w="12700">
            <a:solidFill>
              <a:srgbClr val="2E2055"/>
            </a:solidFill>
            <a:prstDash val="solid"/>
          </a:ln>
        </p:spPr>
      </p:sp>
      <p:sp>
        <p:nvSpPr>
          <p:cNvPr id="24" name="Text 21"/>
          <p:cNvSpPr txBox="1"/>
          <p:nvPr/>
        </p:nvSpPr>
        <p:spPr>
          <a:xfrm>
            <a:off x="10222992" y="2240280"/>
            <a:ext cx="1335024"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Bitstream</a:t>
            </a:r>
            <a:endParaRPr lang="en-US" sz="1600" dirty="0"/>
          </a:p>
        </p:txBody>
      </p:sp>
      <p:sp>
        <p:nvSpPr>
          <p:cNvPr id="25" name="Text 22"/>
          <p:cNvSpPr txBox="1"/>
          <p:nvPr/>
        </p:nvSpPr>
        <p:spPr>
          <a:xfrm>
            <a:off x="10222992" y="2834640"/>
            <a:ext cx="1335024" cy="914400"/>
          </a:xfrm>
          <a:prstGeom prst="rect">
            <a:avLst/>
          </a:prstGeom>
          <a:noFill/>
          <a:ln/>
        </p:spPr>
        <p:txBody>
          <a:bodyPr wrap="square" lIns="0" tIns="0" rIns="0" bIns="0" rtlCol="0" anchor="t"/>
          <a:lstStyle/>
          <a:p>
            <a:pPr algn="ctr" indent="0" marL="0">
              <a:buNone/>
            </a:pPr>
            <a:r>
              <a:rPr lang="en-US" sz="1300" dirty="0">
                <a:solidFill>
                  <a:srgbClr val="E9E3F7"/>
                </a:solidFill>
                <a:latin typeface="Calibri" pitchFamily="34" charset="0"/>
                <a:ea typeface="Calibri" pitchFamily="34" charset="-122"/>
                <a:cs typeface="Calibri" pitchFamily="34" charset="-120"/>
              </a:rPr>
              <a:t>data + table</a:t>
            </a:r>
            <a:endParaRPr lang="en-US" sz="1300" dirty="0"/>
          </a:p>
          <a:p>
            <a:pPr algn="ctr" indent="0" marL="0">
              <a:buNone/>
            </a:pPr>
            <a:r>
              <a:rPr lang="en-US" sz="1300" dirty="0">
                <a:solidFill>
                  <a:srgbClr val="E9E3F7"/>
                </a:solidFill>
                <a:latin typeface="Calibri" pitchFamily="34" charset="0"/>
                <a:ea typeface="Calibri" pitchFamily="34" charset="-122"/>
                <a:cs typeface="Calibri" pitchFamily="34" charset="-120"/>
              </a:rPr>
              <a:t>+ codebook</a:t>
            </a:r>
            <a:endParaRPr lang="en-US" sz="1300" dirty="0"/>
          </a:p>
        </p:txBody>
      </p:sp>
      <p:sp>
        <p:nvSpPr>
          <p:cNvPr id="26" name="Encoder card"/>
          <p:cNvSpPr/>
          <p:nvPr/>
        </p:nvSpPr>
        <p:spPr>
          <a:xfrm>
            <a:off x="548640" y="4297680"/>
            <a:ext cx="5394960" cy="1874520"/>
          </a:xfrm>
          <a:prstGeom prst="roundRect">
            <a:avLst>
              <a:gd name="adj" fmla="val 5854"/>
            </a:avLst>
          </a:prstGeom>
          <a:solidFill>
            <a:srgbClr val="F5F1FB"/>
          </a:solidFill>
          <a:ln w="12700">
            <a:solidFill>
              <a:srgbClr val="F5F1FB"/>
            </a:solidFill>
            <a:prstDash val="solid"/>
          </a:ln>
        </p:spPr>
      </p:sp>
      <p:sp>
        <p:nvSpPr>
          <p:cNvPr id="27" name="Text 24"/>
          <p:cNvSpPr txBox="1"/>
          <p:nvPr/>
        </p:nvSpPr>
        <p:spPr>
          <a:xfrm>
            <a:off x="822960" y="4434840"/>
            <a:ext cx="4846320" cy="365760"/>
          </a:xfrm>
          <a:prstGeom prst="rect">
            <a:avLst/>
          </a:prstGeom>
          <a:noFill/>
          <a:ln/>
        </p:spPr>
        <p:txBody>
          <a:bodyPr wrap="square" lIns="0" tIns="0" rIns="0" bIns="0" rtlCol="0" anchor="t"/>
          <a:lstStyle/>
          <a:p>
            <a:pPr indent="0" marL="0">
              <a:buNone/>
            </a:pPr>
            <a:r>
              <a:rPr lang="en-US" sz="1800" b="1" dirty="0">
                <a:solidFill>
                  <a:srgbClr val="6B4FA3"/>
                </a:solidFill>
                <a:latin typeface="Calibri" pitchFamily="34" charset="0"/>
                <a:ea typeface="Calibri" pitchFamily="34" charset="-122"/>
                <a:cs typeface="Calibri" pitchFamily="34" charset="-120"/>
              </a:rPr>
              <a:t>Encoder</a:t>
            </a:r>
            <a:endParaRPr lang="en-US" sz="1800" dirty="0"/>
          </a:p>
        </p:txBody>
      </p:sp>
      <p:sp>
        <p:nvSpPr>
          <p:cNvPr id="28" name="Text 25"/>
          <p:cNvSpPr txBox="1"/>
          <p:nvPr/>
        </p:nvSpPr>
        <p:spPr>
          <a:xfrm>
            <a:off x="822960" y="4846320"/>
            <a:ext cx="4846320" cy="118872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The expensive step is LBG training: that is the stage parallelized with MPI. Delta and Huffman run on rank 0.</a:t>
            </a:r>
            <a:endParaRPr lang="en-US" sz="1500" dirty="0"/>
          </a:p>
        </p:txBody>
      </p:sp>
      <p:sp>
        <p:nvSpPr>
          <p:cNvPr id="29" name="Decoder card"/>
          <p:cNvSpPr/>
          <p:nvPr/>
        </p:nvSpPr>
        <p:spPr>
          <a:xfrm>
            <a:off x="6245352" y="4297680"/>
            <a:ext cx="5394960" cy="1874520"/>
          </a:xfrm>
          <a:prstGeom prst="roundRect">
            <a:avLst>
              <a:gd name="adj" fmla="val 5854"/>
            </a:avLst>
          </a:prstGeom>
          <a:solidFill>
            <a:srgbClr val="F5F1FB"/>
          </a:solidFill>
          <a:ln w="12700">
            <a:solidFill>
              <a:srgbClr val="F5F1FB"/>
            </a:solidFill>
            <a:prstDash val="solid"/>
          </a:ln>
        </p:spPr>
      </p:sp>
      <p:sp>
        <p:nvSpPr>
          <p:cNvPr id="30" name="Text 27"/>
          <p:cNvSpPr txBox="1"/>
          <p:nvPr/>
        </p:nvSpPr>
        <p:spPr>
          <a:xfrm>
            <a:off x="6519672" y="4434840"/>
            <a:ext cx="4846320" cy="365760"/>
          </a:xfrm>
          <a:prstGeom prst="rect">
            <a:avLst/>
          </a:prstGeom>
          <a:noFill/>
          <a:ln/>
        </p:spPr>
        <p:txBody>
          <a:bodyPr wrap="square" lIns="0" tIns="0" rIns="0" bIns="0" rtlCol="0" anchor="t"/>
          <a:lstStyle/>
          <a:p>
            <a:pPr indent="0" marL="0">
              <a:buNone/>
            </a:pPr>
            <a:r>
              <a:rPr lang="en-US" sz="1800" b="1" dirty="0">
                <a:solidFill>
                  <a:srgbClr val="E0457B"/>
                </a:solidFill>
                <a:latin typeface="Calibri" pitchFamily="34" charset="0"/>
                <a:ea typeface="Calibri" pitchFamily="34" charset="-122"/>
                <a:cs typeface="Calibri" pitchFamily="34" charset="-120"/>
              </a:rPr>
              <a:t>Decoder</a:t>
            </a:r>
            <a:endParaRPr lang="en-US" sz="1800" dirty="0"/>
          </a:p>
        </p:txBody>
      </p:sp>
      <p:sp>
        <p:nvSpPr>
          <p:cNvPr id="31" name="Text 28"/>
          <p:cNvSpPr txBox="1"/>
          <p:nvPr/>
        </p:nvSpPr>
        <p:spPr>
          <a:xfrm>
            <a:off x="6519672" y="4846320"/>
            <a:ext cx="4846320" cy="118872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Huffman decode → undo delta → look up each index in the codebook → rebuild the 4×4 blocks.</a:t>
            </a:r>
            <a:endParaRPr lang="en-US" sz="15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5 · PROPOSED WORK</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From pixels to 16-dimensional vectors</a:t>
            </a:r>
            <a:endParaRPr lang="en-US" sz="3000" dirty="0"/>
          </a:p>
        </p:txBody>
      </p:sp>
      <p:pic>
        <p:nvPicPr>
          <p:cNvPr id="5" name="Cameraman zoom" descr="/home/user/mihk/results/seminar/assets/cam_orig_zoom.png">    </p:cNvPr>
          <p:cNvPicPr>
            <a:picLocks noChangeAspect="1"/>
          </p:cNvPicPr>
          <p:nvPr/>
        </p:nvPicPr>
        <p:blipFill>
          <a:blip r:embed="rId1"/>
          <a:stretch>
            <a:fillRect/>
          </a:stretch>
        </p:blipFill>
        <p:spPr>
          <a:xfrm>
            <a:off x="548640" y="1508760"/>
            <a:ext cx="4206240" cy="4206240"/>
          </a:xfrm>
          <a:prstGeom prst="rect">
            <a:avLst/>
          </a:prstGeom>
        </p:spPr>
      </p:pic>
      <p:sp>
        <p:nvSpPr>
          <p:cNvPr id="6" name="Grid v"/>
          <p:cNvSpPr/>
          <p:nvPr/>
        </p:nvSpPr>
        <p:spPr>
          <a:xfrm>
            <a:off x="548640" y="1508760"/>
            <a:ext cx="0" cy="4206240"/>
          </a:xfrm>
          <a:prstGeom prst="line">
            <a:avLst/>
          </a:prstGeom>
          <a:noFill/>
          <a:ln w="6350">
            <a:solidFill>
              <a:srgbClr val="FFFFFF">
                <a:alpha val="60000"/>
              </a:srgbClr>
            </a:solidFill>
            <a:prstDash val="solid"/>
          </a:ln>
        </p:spPr>
      </p:sp>
      <p:sp>
        <p:nvSpPr>
          <p:cNvPr id="7" name="Grid h"/>
          <p:cNvSpPr/>
          <p:nvPr/>
        </p:nvSpPr>
        <p:spPr>
          <a:xfrm>
            <a:off x="548640" y="1508760"/>
            <a:ext cx="4206240" cy="0"/>
          </a:xfrm>
          <a:prstGeom prst="line">
            <a:avLst/>
          </a:prstGeom>
          <a:noFill/>
          <a:ln w="6350">
            <a:solidFill>
              <a:srgbClr val="FFFFFF">
                <a:alpha val="60000"/>
              </a:srgbClr>
            </a:solidFill>
            <a:prstDash val="solid"/>
          </a:ln>
        </p:spPr>
      </p:sp>
      <p:sp>
        <p:nvSpPr>
          <p:cNvPr id="8" name="Grid v"/>
          <p:cNvSpPr/>
          <p:nvPr/>
        </p:nvSpPr>
        <p:spPr>
          <a:xfrm>
            <a:off x="1249680" y="1508760"/>
            <a:ext cx="0" cy="4206240"/>
          </a:xfrm>
          <a:prstGeom prst="line">
            <a:avLst/>
          </a:prstGeom>
          <a:noFill/>
          <a:ln w="6350">
            <a:solidFill>
              <a:srgbClr val="FFFFFF">
                <a:alpha val="60000"/>
              </a:srgbClr>
            </a:solidFill>
            <a:prstDash val="solid"/>
          </a:ln>
        </p:spPr>
      </p:sp>
      <p:sp>
        <p:nvSpPr>
          <p:cNvPr id="9" name="Grid h"/>
          <p:cNvSpPr/>
          <p:nvPr/>
        </p:nvSpPr>
        <p:spPr>
          <a:xfrm>
            <a:off x="548640" y="2209800"/>
            <a:ext cx="4206240" cy="0"/>
          </a:xfrm>
          <a:prstGeom prst="line">
            <a:avLst/>
          </a:prstGeom>
          <a:noFill/>
          <a:ln w="6350">
            <a:solidFill>
              <a:srgbClr val="FFFFFF">
                <a:alpha val="60000"/>
              </a:srgbClr>
            </a:solidFill>
            <a:prstDash val="solid"/>
          </a:ln>
        </p:spPr>
      </p:sp>
      <p:sp>
        <p:nvSpPr>
          <p:cNvPr id="10" name="Grid v"/>
          <p:cNvSpPr/>
          <p:nvPr/>
        </p:nvSpPr>
        <p:spPr>
          <a:xfrm>
            <a:off x="1950720" y="1508760"/>
            <a:ext cx="0" cy="4206240"/>
          </a:xfrm>
          <a:prstGeom prst="line">
            <a:avLst/>
          </a:prstGeom>
          <a:noFill/>
          <a:ln w="6350">
            <a:solidFill>
              <a:srgbClr val="FFFFFF">
                <a:alpha val="60000"/>
              </a:srgbClr>
            </a:solidFill>
            <a:prstDash val="solid"/>
          </a:ln>
        </p:spPr>
      </p:sp>
      <p:sp>
        <p:nvSpPr>
          <p:cNvPr id="11" name="Grid h"/>
          <p:cNvSpPr/>
          <p:nvPr/>
        </p:nvSpPr>
        <p:spPr>
          <a:xfrm>
            <a:off x="548640" y="2910840"/>
            <a:ext cx="4206240" cy="0"/>
          </a:xfrm>
          <a:prstGeom prst="line">
            <a:avLst/>
          </a:prstGeom>
          <a:noFill/>
          <a:ln w="6350">
            <a:solidFill>
              <a:srgbClr val="FFFFFF">
                <a:alpha val="60000"/>
              </a:srgbClr>
            </a:solidFill>
            <a:prstDash val="solid"/>
          </a:ln>
        </p:spPr>
      </p:sp>
      <p:sp>
        <p:nvSpPr>
          <p:cNvPr id="12" name="Grid v"/>
          <p:cNvSpPr/>
          <p:nvPr/>
        </p:nvSpPr>
        <p:spPr>
          <a:xfrm>
            <a:off x="2651760" y="1508760"/>
            <a:ext cx="0" cy="4206240"/>
          </a:xfrm>
          <a:prstGeom prst="line">
            <a:avLst/>
          </a:prstGeom>
          <a:noFill/>
          <a:ln w="6350">
            <a:solidFill>
              <a:srgbClr val="FFFFFF">
                <a:alpha val="60000"/>
              </a:srgbClr>
            </a:solidFill>
            <a:prstDash val="solid"/>
          </a:ln>
        </p:spPr>
      </p:sp>
      <p:sp>
        <p:nvSpPr>
          <p:cNvPr id="13" name="Grid h"/>
          <p:cNvSpPr/>
          <p:nvPr/>
        </p:nvSpPr>
        <p:spPr>
          <a:xfrm>
            <a:off x="548640" y="3611880"/>
            <a:ext cx="4206240" cy="0"/>
          </a:xfrm>
          <a:prstGeom prst="line">
            <a:avLst/>
          </a:prstGeom>
          <a:noFill/>
          <a:ln w="6350">
            <a:solidFill>
              <a:srgbClr val="FFFFFF">
                <a:alpha val="60000"/>
              </a:srgbClr>
            </a:solidFill>
            <a:prstDash val="solid"/>
          </a:ln>
        </p:spPr>
      </p:sp>
      <p:sp>
        <p:nvSpPr>
          <p:cNvPr id="14" name="Grid v"/>
          <p:cNvSpPr/>
          <p:nvPr/>
        </p:nvSpPr>
        <p:spPr>
          <a:xfrm>
            <a:off x="3352800" y="1508760"/>
            <a:ext cx="0" cy="4206240"/>
          </a:xfrm>
          <a:prstGeom prst="line">
            <a:avLst/>
          </a:prstGeom>
          <a:noFill/>
          <a:ln w="6350">
            <a:solidFill>
              <a:srgbClr val="FFFFFF">
                <a:alpha val="60000"/>
              </a:srgbClr>
            </a:solidFill>
            <a:prstDash val="solid"/>
          </a:ln>
        </p:spPr>
      </p:sp>
      <p:sp>
        <p:nvSpPr>
          <p:cNvPr id="15" name="Grid h"/>
          <p:cNvSpPr/>
          <p:nvPr/>
        </p:nvSpPr>
        <p:spPr>
          <a:xfrm>
            <a:off x="548640" y="4312920"/>
            <a:ext cx="4206240" cy="0"/>
          </a:xfrm>
          <a:prstGeom prst="line">
            <a:avLst/>
          </a:prstGeom>
          <a:noFill/>
          <a:ln w="6350">
            <a:solidFill>
              <a:srgbClr val="FFFFFF">
                <a:alpha val="60000"/>
              </a:srgbClr>
            </a:solidFill>
            <a:prstDash val="solid"/>
          </a:ln>
        </p:spPr>
      </p:sp>
      <p:sp>
        <p:nvSpPr>
          <p:cNvPr id="16" name="Grid v"/>
          <p:cNvSpPr/>
          <p:nvPr/>
        </p:nvSpPr>
        <p:spPr>
          <a:xfrm>
            <a:off x="4053840" y="1508760"/>
            <a:ext cx="0" cy="4206240"/>
          </a:xfrm>
          <a:prstGeom prst="line">
            <a:avLst/>
          </a:prstGeom>
          <a:noFill/>
          <a:ln w="6350">
            <a:solidFill>
              <a:srgbClr val="FFFFFF">
                <a:alpha val="60000"/>
              </a:srgbClr>
            </a:solidFill>
            <a:prstDash val="solid"/>
          </a:ln>
        </p:spPr>
      </p:sp>
      <p:sp>
        <p:nvSpPr>
          <p:cNvPr id="17" name="Grid h"/>
          <p:cNvSpPr/>
          <p:nvPr/>
        </p:nvSpPr>
        <p:spPr>
          <a:xfrm>
            <a:off x="548640" y="5013960"/>
            <a:ext cx="4206240" cy="0"/>
          </a:xfrm>
          <a:prstGeom prst="line">
            <a:avLst/>
          </a:prstGeom>
          <a:noFill/>
          <a:ln w="6350">
            <a:solidFill>
              <a:srgbClr val="FFFFFF">
                <a:alpha val="60000"/>
              </a:srgbClr>
            </a:solidFill>
            <a:prstDash val="solid"/>
          </a:ln>
        </p:spPr>
      </p:sp>
      <p:sp>
        <p:nvSpPr>
          <p:cNvPr id="18" name="Grid v"/>
          <p:cNvSpPr/>
          <p:nvPr/>
        </p:nvSpPr>
        <p:spPr>
          <a:xfrm>
            <a:off x="4754880" y="1508760"/>
            <a:ext cx="0" cy="4206240"/>
          </a:xfrm>
          <a:prstGeom prst="line">
            <a:avLst/>
          </a:prstGeom>
          <a:noFill/>
          <a:ln w="6350">
            <a:solidFill>
              <a:srgbClr val="FFFFFF">
                <a:alpha val="60000"/>
              </a:srgbClr>
            </a:solidFill>
            <a:prstDash val="solid"/>
          </a:ln>
        </p:spPr>
      </p:sp>
      <p:sp>
        <p:nvSpPr>
          <p:cNvPr id="19" name="Grid h"/>
          <p:cNvSpPr/>
          <p:nvPr/>
        </p:nvSpPr>
        <p:spPr>
          <a:xfrm>
            <a:off x="548640" y="5715000"/>
            <a:ext cx="4206240" cy="0"/>
          </a:xfrm>
          <a:prstGeom prst="line">
            <a:avLst/>
          </a:prstGeom>
          <a:noFill/>
          <a:ln w="6350">
            <a:solidFill>
              <a:srgbClr val="FFFFFF">
                <a:alpha val="60000"/>
              </a:srgbClr>
            </a:solidFill>
            <a:prstDash val="solid"/>
          </a:ln>
        </p:spPr>
      </p:sp>
      <p:sp>
        <p:nvSpPr>
          <p:cNvPr id="20" name="Highlighted block"/>
          <p:cNvSpPr/>
          <p:nvPr/>
        </p:nvSpPr>
        <p:spPr>
          <a:xfrm>
            <a:off x="1950720" y="2910840"/>
            <a:ext cx="701040" cy="701040"/>
          </a:xfrm>
          <a:prstGeom prst="rect">
            <a:avLst/>
          </a:prstGeom>
          <a:solidFill>
            <a:srgbClr val="E0457B">
              <a:alpha val="0"/>
            </a:srgbClr>
          </a:solidFill>
          <a:ln w="31750">
            <a:solidFill>
              <a:srgbClr val="E0457B"/>
            </a:solidFill>
            <a:prstDash val="solid"/>
          </a:ln>
        </p:spPr>
      </p:sp>
      <p:sp>
        <p:nvSpPr>
          <p:cNvPr id="21" name="Text 17"/>
          <p:cNvSpPr txBox="1"/>
          <p:nvPr/>
        </p:nvSpPr>
        <p:spPr>
          <a:xfrm>
            <a:off x="548640" y="5779008"/>
            <a:ext cx="4206240" cy="457200"/>
          </a:xfrm>
          <a:prstGeom prst="rect">
            <a:avLst/>
          </a:prstGeom>
          <a:noFill/>
          <a:ln/>
        </p:spPr>
        <p:txBody>
          <a:bodyPr wrap="square" lIns="0" tIns="0" rIns="0" bIns="0" rtlCol="0" anchor="t"/>
          <a:lstStyle/>
          <a:p>
            <a:pPr indent="0" marL="0">
              <a:buNone/>
            </a:pPr>
            <a:r>
              <a:rPr lang="en-US" sz="1200" dirty="0">
                <a:solidFill>
                  <a:srgbClr val="5E5878"/>
                </a:solidFill>
                <a:latin typeface="Calibri" pitchFamily="34" charset="0"/>
                <a:ea typeface="Calibri" pitchFamily="34" charset="-122"/>
                <a:cs typeface="Calibri" pitchFamily="34" charset="-120"/>
              </a:rPr>
              <a:t>96×96 region of Cameraman, with the 4×4 block grid</a:t>
            </a:r>
            <a:endParaRPr lang="en-US" sz="1200" dirty="0"/>
          </a:p>
        </p:txBody>
      </p:sp>
      <p:sp>
        <p:nvSpPr>
          <p:cNvPr id="22" name="Arrow"/>
          <p:cNvSpPr/>
          <p:nvPr/>
        </p:nvSpPr>
        <p:spPr>
          <a:xfrm>
            <a:off x="4983480" y="3291840"/>
            <a:ext cx="822960" cy="502920"/>
          </a:xfrm>
          <a:prstGeom prst="rightArrow">
            <a:avLst/>
          </a:prstGeom>
          <a:solidFill>
            <a:srgbClr val="A794D6"/>
          </a:solidFill>
          <a:ln w="12700">
            <a:solidFill>
              <a:srgbClr val="A794D6"/>
            </a:solidFill>
            <a:prstDash val="solid"/>
          </a:ln>
        </p:spPr>
      </p:sp>
      <p:sp>
        <p:nvSpPr>
          <p:cNvPr id="23" name="Vector card"/>
          <p:cNvSpPr/>
          <p:nvPr/>
        </p:nvSpPr>
        <p:spPr>
          <a:xfrm>
            <a:off x="6035040" y="1508760"/>
            <a:ext cx="5605272" cy="2148840"/>
          </a:xfrm>
          <a:prstGeom prst="roundRect">
            <a:avLst>
              <a:gd name="adj" fmla="val 5106"/>
            </a:avLst>
          </a:prstGeom>
          <a:solidFill>
            <a:srgbClr val="F5F1FB"/>
          </a:solidFill>
          <a:ln w="12700">
            <a:solidFill>
              <a:srgbClr val="F5F1FB"/>
            </a:solidFill>
            <a:prstDash val="solid"/>
          </a:ln>
        </p:spPr>
      </p:sp>
      <p:sp>
        <p:nvSpPr>
          <p:cNvPr id="24" name="Text 20"/>
          <p:cNvSpPr txBox="1"/>
          <p:nvPr/>
        </p:nvSpPr>
        <p:spPr>
          <a:xfrm>
            <a:off x="6309360" y="1645920"/>
            <a:ext cx="5029200" cy="365760"/>
          </a:xfrm>
          <a:prstGeom prst="rect">
            <a:avLst/>
          </a:prstGeom>
          <a:noFill/>
          <a:ln/>
        </p:spPr>
        <p:txBody>
          <a:bodyPr wrap="square" lIns="0" tIns="0" rIns="0" bIns="0" rtlCol="0" anchor="t"/>
          <a:lstStyle/>
          <a:p>
            <a:pPr indent="0" marL="0">
              <a:buNone/>
            </a:pPr>
            <a:r>
              <a:rPr lang="en-US" sz="1800" b="1" dirty="0">
                <a:solidFill>
                  <a:srgbClr val="E0457B"/>
                </a:solidFill>
                <a:latin typeface="Calibri" pitchFamily="34" charset="0"/>
                <a:ea typeface="Calibri" pitchFamily="34" charset="-122"/>
                <a:cs typeface="Calibri" pitchFamily="34" charset="-120"/>
              </a:rPr>
              <a:t>One block = one vector</a:t>
            </a:r>
            <a:endParaRPr lang="en-US" sz="1800" dirty="0"/>
          </a:p>
        </p:txBody>
      </p:sp>
      <p:sp>
        <p:nvSpPr>
          <p:cNvPr id="25" name="Text 21"/>
          <p:cNvSpPr txBox="1"/>
          <p:nvPr/>
        </p:nvSpPr>
        <p:spPr>
          <a:xfrm>
            <a:off x="6309360" y="2103120"/>
            <a:ext cx="5029200" cy="457200"/>
          </a:xfrm>
          <a:prstGeom prst="rect">
            <a:avLst/>
          </a:prstGeom>
          <a:noFill/>
          <a:ln/>
        </p:spPr>
        <p:txBody>
          <a:bodyPr wrap="square" lIns="0" tIns="0" rIns="0" bIns="0" rtlCol="0" anchor="t"/>
          <a:lstStyle/>
          <a:p>
            <a:pPr indent="0" marL="0">
              <a:buNone/>
            </a:pPr>
            <a:r>
              <a:rPr lang="en-US" sz="1600" dirty="0">
                <a:solidFill>
                  <a:srgbClr val="1F1A33"/>
                </a:solidFill>
                <a:latin typeface="Calibri" pitchFamily="34" charset="0"/>
                <a:ea typeface="Calibri" pitchFamily="34" charset="-122"/>
                <a:cs typeface="Calibri" pitchFamily="34" charset="-120"/>
              </a:rPr>
              <a:t>x = (p₁, p₂, …, p₁₆)  with 16 pixel values 0…255</a:t>
            </a:r>
            <a:endParaRPr lang="en-US" sz="1600" dirty="0"/>
          </a:p>
        </p:txBody>
      </p:sp>
      <p:sp>
        <p:nvSpPr>
          <p:cNvPr id="26" name="Text 22"/>
          <p:cNvSpPr txBox="1"/>
          <p:nvPr/>
        </p:nvSpPr>
        <p:spPr>
          <a:xfrm>
            <a:off x="6309360" y="2651760"/>
            <a:ext cx="5029200" cy="82296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A 512×512 image gives 16,384 training vectors.</a:t>
            </a:r>
            <a:endParaRPr lang="en-US" sz="1500" dirty="0"/>
          </a:p>
        </p:txBody>
      </p:sp>
      <p:sp>
        <p:nvSpPr>
          <p:cNvPr id="27" name="Codebook card"/>
          <p:cNvSpPr/>
          <p:nvPr/>
        </p:nvSpPr>
        <p:spPr>
          <a:xfrm>
            <a:off x="6035040" y="3886200"/>
            <a:ext cx="5605272" cy="2286000"/>
          </a:xfrm>
          <a:prstGeom prst="roundRect">
            <a:avLst>
              <a:gd name="adj" fmla="val 4800"/>
            </a:avLst>
          </a:prstGeom>
          <a:solidFill>
            <a:srgbClr val="F5F1FB"/>
          </a:solidFill>
          <a:ln w="12700">
            <a:solidFill>
              <a:srgbClr val="F5F1FB"/>
            </a:solidFill>
            <a:prstDash val="solid"/>
          </a:ln>
        </p:spPr>
      </p:sp>
      <p:sp>
        <p:nvSpPr>
          <p:cNvPr id="28" name="Text 24"/>
          <p:cNvSpPr txBox="1"/>
          <p:nvPr/>
        </p:nvSpPr>
        <p:spPr>
          <a:xfrm>
            <a:off x="6309360" y="4023360"/>
            <a:ext cx="5029200" cy="365760"/>
          </a:xfrm>
          <a:prstGeom prst="rect">
            <a:avLst/>
          </a:prstGeom>
          <a:noFill/>
          <a:ln/>
        </p:spPr>
        <p:txBody>
          <a:bodyPr wrap="square" lIns="0" tIns="0" rIns="0" bIns="0" rtlCol="0" anchor="t"/>
          <a:lstStyle/>
          <a:p>
            <a:pPr indent="0" marL="0">
              <a:buNone/>
            </a:pPr>
            <a:r>
              <a:rPr lang="en-US" sz="1800" b="1" dirty="0">
                <a:solidFill>
                  <a:srgbClr val="6B4FA3"/>
                </a:solidFill>
                <a:latin typeface="Calibri" pitchFamily="34" charset="0"/>
                <a:ea typeface="Calibri" pitchFamily="34" charset="-122"/>
                <a:cs typeface="Calibri" pitchFamily="34" charset="-120"/>
              </a:rPr>
              <a:t>Vector quantization</a:t>
            </a:r>
            <a:endParaRPr lang="en-US" sz="1800" dirty="0"/>
          </a:p>
        </p:txBody>
      </p:sp>
      <p:sp>
        <p:nvSpPr>
          <p:cNvPr id="29" name="Text 25"/>
          <p:cNvSpPr txBox="1"/>
          <p:nvPr/>
        </p:nvSpPr>
        <p:spPr>
          <a:xfrm>
            <a:off x="6309360" y="4480560"/>
            <a:ext cx="5029200" cy="155448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Each vector is replaced by the index of its nearest codeword. With K = 64 the codebook costs only 64 × 16 = 1,024 bytes, and each index needs at most 6 bits before entropy coding.</a:t>
            </a:r>
            <a:endParaRPr lang="en-US" sz="15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5 · PROPOSED WORK</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LBG: splitting + Lloyd iterations</a:t>
            </a:r>
            <a:endParaRPr lang="en-US" sz="3000" dirty="0"/>
          </a:p>
        </p:txBody>
      </p:sp>
      <p:sp>
        <p:nvSpPr>
          <p:cNvPr id="5" name="Codebook size 1"/>
          <p:cNvSpPr/>
          <p:nvPr/>
        </p:nvSpPr>
        <p:spPr>
          <a:xfrm>
            <a:off x="548640" y="1600200"/>
            <a:ext cx="1371600" cy="914400"/>
          </a:xfrm>
          <a:prstGeom prst="roundRect">
            <a:avLst>
              <a:gd name="adj" fmla="val 10000"/>
            </a:avLst>
          </a:prstGeom>
          <a:solidFill>
            <a:srgbClr val="6B4FA3"/>
          </a:solidFill>
          <a:ln w="12700">
            <a:solidFill>
              <a:srgbClr val="FFFFFF"/>
            </a:solidFill>
            <a:prstDash val="solid"/>
          </a:ln>
        </p:spPr>
      </p:sp>
      <p:sp>
        <p:nvSpPr>
          <p:cNvPr id="6" name="Text 3"/>
          <p:cNvSpPr txBox="1"/>
          <p:nvPr/>
        </p:nvSpPr>
        <p:spPr>
          <a:xfrm>
            <a:off x="548640" y="1600200"/>
            <a:ext cx="1371600" cy="9144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K = 1</a:t>
            </a:r>
            <a:endParaRPr lang="en-US" sz="2000" dirty="0"/>
          </a:p>
        </p:txBody>
      </p:sp>
      <p:sp>
        <p:nvSpPr>
          <p:cNvPr id="7" name="Split arrow"/>
          <p:cNvSpPr/>
          <p:nvPr/>
        </p:nvSpPr>
        <p:spPr>
          <a:xfrm>
            <a:off x="1938528" y="1892808"/>
            <a:ext cx="219456" cy="329184"/>
          </a:xfrm>
          <a:prstGeom prst="rightArrow">
            <a:avLst/>
          </a:prstGeom>
          <a:solidFill>
            <a:srgbClr val="A794D6"/>
          </a:solidFill>
          <a:ln w="12700">
            <a:solidFill>
              <a:srgbClr val="A794D6"/>
            </a:solidFill>
            <a:prstDash val="solid"/>
          </a:ln>
        </p:spPr>
      </p:sp>
      <p:sp>
        <p:nvSpPr>
          <p:cNvPr id="8" name="Codebook size 2"/>
          <p:cNvSpPr/>
          <p:nvPr/>
        </p:nvSpPr>
        <p:spPr>
          <a:xfrm>
            <a:off x="2157984" y="1600200"/>
            <a:ext cx="1371600" cy="914400"/>
          </a:xfrm>
          <a:prstGeom prst="roundRect">
            <a:avLst>
              <a:gd name="adj" fmla="val 10000"/>
            </a:avLst>
          </a:prstGeom>
          <a:solidFill>
            <a:srgbClr val="6B4FA3"/>
          </a:solidFill>
          <a:ln w="12700">
            <a:solidFill>
              <a:srgbClr val="FFFFFF"/>
            </a:solidFill>
            <a:prstDash val="solid"/>
          </a:ln>
        </p:spPr>
      </p:sp>
      <p:sp>
        <p:nvSpPr>
          <p:cNvPr id="9" name="Text 6"/>
          <p:cNvSpPr txBox="1"/>
          <p:nvPr/>
        </p:nvSpPr>
        <p:spPr>
          <a:xfrm>
            <a:off x="2157984" y="1600200"/>
            <a:ext cx="1371600" cy="9144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K = 2</a:t>
            </a:r>
            <a:endParaRPr lang="en-US" sz="2000" dirty="0"/>
          </a:p>
        </p:txBody>
      </p:sp>
      <p:sp>
        <p:nvSpPr>
          <p:cNvPr id="10" name="Split arrow"/>
          <p:cNvSpPr/>
          <p:nvPr/>
        </p:nvSpPr>
        <p:spPr>
          <a:xfrm>
            <a:off x="3547872" y="1892808"/>
            <a:ext cx="219456" cy="329184"/>
          </a:xfrm>
          <a:prstGeom prst="rightArrow">
            <a:avLst/>
          </a:prstGeom>
          <a:solidFill>
            <a:srgbClr val="A794D6"/>
          </a:solidFill>
          <a:ln w="12700">
            <a:solidFill>
              <a:srgbClr val="A794D6"/>
            </a:solidFill>
            <a:prstDash val="solid"/>
          </a:ln>
        </p:spPr>
      </p:sp>
      <p:sp>
        <p:nvSpPr>
          <p:cNvPr id="11" name="Codebook size 4"/>
          <p:cNvSpPr/>
          <p:nvPr/>
        </p:nvSpPr>
        <p:spPr>
          <a:xfrm>
            <a:off x="3767328" y="1600200"/>
            <a:ext cx="1371600" cy="914400"/>
          </a:xfrm>
          <a:prstGeom prst="roundRect">
            <a:avLst>
              <a:gd name="adj" fmla="val 10000"/>
            </a:avLst>
          </a:prstGeom>
          <a:solidFill>
            <a:srgbClr val="6B4FA3"/>
          </a:solidFill>
          <a:ln w="12700">
            <a:solidFill>
              <a:srgbClr val="FFFFFF"/>
            </a:solidFill>
            <a:prstDash val="solid"/>
          </a:ln>
        </p:spPr>
      </p:sp>
      <p:sp>
        <p:nvSpPr>
          <p:cNvPr id="12" name="Text 9"/>
          <p:cNvSpPr txBox="1"/>
          <p:nvPr/>
        </p:nvSpPr>
        <p:spPr>
          <a:xfrm>
            <a:off x="3767328" y="1600200"/>
            <a:ext cx="1371600" cy="9144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K = 4</a:t>
            </a:r>
            <a:endParaRPr lang="en-US" sz="2000" dirty="0"/>
          </a:p>
        </p:txBody>
      </p:sp>
      <p:sp>
        <p:nvSpPr>
          <p:cNvPr id="13" name="Split arrow"/>
          <p:cNvSpPr/>
          <p:nvPr/>
        </p:nvSpPr>
        <p:spPr>
          <a:xfrm>
            <a:off x="5157216" y="1892808"/>
            <a:ext cx="219456" cy="329184"/>
          </a:xfrm>
          <a:prstGeom prst="rightArrow">
            <a:avLst/>
          </a:prstGeom>
          <a:solidFill>
            <a:srgbClr val="A794D6"/>
          </a:solidFill>
          <a:ln w="12700">
            <a:solidFill>
              <a:srgbClr val="A794D6"/>
            </a:solidFill>
            <a:prstDash val="solid"/>
          </a:ln>
        </p:spPr>
      </p:sp>
      <p:sp>
        <p:nvSpPr>
          <p:cNvPr id="14" name="Codebook size 8"/>
          <p:cNvSpPr/>
          <p:nvPr/>
        </p:nvSpPr>
        <p:spPr>
          <a:xfrm>
            <a:off x="5376672" y="1600200"/>
            <a:ext cx="1371600" cy="914400"/>
          </a:xfrm>
          <a:prstGeom prst="roundRect">
            <a:avLst>
              <a:gd name="adj" fmla="val 10000"/>
            </a:avLst>
          </a:prstGeom>
          <a:solidFill>
            <a:srgbClr val="6B4FA3"/>
          </a:solidFill>
          <a:ln w="12700">
            <a:solidFill>
              <a:srgbClr val="FFFFFF"/>
            </a:solidFill>
            <a:prstDash val="solid"/>
          </a:ln>
        </p:spPr>
      </p:sp>
      <p:sp>
        <p:nvSpPr>
          <p:cNvPr id="15" name="Text 12"/>
          <p:cNvSpPr txBox="1"/>
          <p:nvPr/>
        </p:nvSpPr>
        <p:spPr>
          <a:xfrm>
            <a:off x="5376672" y="1600200"/>
            <a:ext cx="1371600" cy="9144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K = 8</a:t>
            </a:r>
            <a:endParaRPr lang="en-US" sz="2000" dirty="0"/>
          </a:p>
        </p:txBody>
      </p:sp>
      <p:sp>
        <p:nvSpPr>
          <p:cNvPr id="16" name="Split arrow"/>
          <p:cNvSpPr/>
          <p:nvPr/>
        </p:nvSpPr>
        <p:spPr>
          <a:xfrm>
            <a:off x="6766560" y="1892808"/>
            <a:ext cx="219456" cy="329184"/>
          </a:xfrm>
          <a:prstGeom prst="rightArrow">
            <a:avLst/>
          </a:prstGeom>
          <a:solidFill>
            <a:srgbClr val="A794D6"/>
          </a:solidFill>
          <a:ln w="12700">
            <a:solidFill>
              <a:srgbClr val="A794D6"/>
            </a:solidFill>
            <a:prstDash val="solid"/>
          </a:ln>
        </p:spPr>
      </p:sp>
      <p:sp>
        <p:nvSpPr>
          <p:cNvPr id="17" name="Codebook size 16"/>
          <p:cNvSpPr/>
          <p:nvPr/>
        </p:nvSpPr>
        <p:spPr>
          <a:xfrm>
            <a:off x="6986016" y="1600200"/>
            <a:ext cx="1371600" cy="914400"/>
          </a:xfrm>
          <a:prstGeom prst="roundRect">
            <a:avLst>
              <a:gd name="adj" fmla="val 10000"/>
            </a:avLst>
          </a:prstGeom>
          <a:solidFill>
            <a:srgbClr val="6B4FA3"/>
          </a:solidFill>
          <a:ln w="12700">
            <a:solidFill>
              <a:srgbClr val="FFFFFF"/>
            </a:solidFill>
            <a:prstDash val="solid"/>
          </a:ln>
        </p:spPr>
      </p:sp>
      <p:sp>
        <p:nvSpPr>
          <p:cNvPr id="18" name="Text 15"/>
          <p:cNvSpPr txBox="1"/>
          <p:nvPr/>
        </p:nvSpPr>
        <p:spPr>
          <a:xfrm>
            <a:off x="6986016" y="1600200"/>
            <a:ext cx="1371600" cy="9144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K = 16</a:t>
            </a:r>
            <a:endParaRPr lang="en-US" sz="2000" dirty="0"/>
          </a:p>
        </p:txBody>
      </p:sp>
      <p:sp>
        <p:nvSpPr>
          <p:cNvPr id="19" name="Split arrow"/>
          <p:cNvSpPr/>
          <p:nvPr/>
        </p:nvSpPr>
        <p:spPr>
          <a:xfrm>
            <a:off x="8375904" y="1892808"/>
            <a:ext cx="219456" cy="329184"/>
          </a:xfrm>
          <a:prstGeom prst="rightArrow">
            <a:avLst/>
          </a:prstGeom>
          <a:solidFill>
            <a:srgbClr val="A794D6"/>
          </a:solidFill>
          <a:ln w="12700">
            <a:solidFill>
              <a:srgbClr val="A794D6"/>
            </a:solidFill>
            <a:prstDash val="solid"/>
          </a:ln>
        </p:spPr>
      </p:sp>
      <p:sp>
        <p:nvSpPr>
          <p:cNvPr id="20" name="Codebook size 32"/>
          <p:cNvSpPr/>
          <p:nvPr/>
        </p:nvSpPr>
        <p:spPr>
          <a:xfrm>
            <a:off x="8595360" y="1600200"/>
            <a:ext cx="1371600" cy="914400"/>
          </a:xfrm>
          <a:prstGeom prst="roundRect">
            <a:avLst>
              <a:gd name="adj" fmla="val 10000"/>
            </a:avLst>
          </a:prstGeom>
          <a:solidFill>
            <a:srgbClr val="6B4FA3"/>
          </a:solidFill>
          <a:ln w="12700">
            <a:solidFill>
              <a:srgbClr val="FFFFFF"/>
            </a:solidFill>
            <a:prstDash val="solid"/>
          </a:ln>
        </p:spPr>
      </p:sp>
      <p:sp>
        <p:nvSpPr>
          <p:cNvPr id="21" name="Text 18"/>
          <p:cNvSpPr txBox="1"/>
          <p:nvPr/>
        </p:nvSpPr>
        <p:spPr>
          <a:xfrm>
            <a:off x="8595360" y="1600200"/>
            <a:ext cx="1371600" cy="9144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K = 32</a:t>
            </a:r>
            <a:endParaRPr lang="en-US" sz="2000" dirty="0"/>
          </a:p>
        </p:txBody>
      </p:sp>
      <p:sp>
        <p:nvSpPr>
          <p:cNvPr id="22" name="Split arrow"/>
          <p:cNvSpPr/>
          <p:nvPr/>
        </p:nvSpPr>
        <p:spPr>
          <a:xfrm>
            <a:off x="9985248" y="1892808"/>
            <a:ext cx="219456" cy="329184"/>
          </a:xfrm>
          <a:prstGeom prst="rightArrow">
            <a:avLst/>
          </a:prstGeom>
          <a:solidFill>
            <a:srgbClr val="A794D6"/>
          </a:solidFill>
          <a:ln w="12700">
            <a:solidFill>
              <a:srgbClr val="A794D6"/>
            </a:solidFill>
            <a:prstDash val="solid"/>
          </a:ln>
        </p:spPr>
      </p:sp>
      <p:sp>
        <p:nvSpPr>
          <p:cNvPr id="23" name="Codebook size 64"/>
          <p:cNvSpPr/>
          <p:nvPr/>
        </p:nvSpPr>
        <p:spPr>
          <a:xfrm>
            <a:off x="10204704" y="1600200"/>
            <a:ext cx="1371600" cy="914400"/>
          </a:xfrm>
          <a:prstGeom prst="roundRect">
            <a:avLst>
              <a:gd name="adj" fmla="val 10000"/>
            </a:avLst>
          </a:prstGeom>
          <a:solidFill>
            <a:srgbClr val="E0457B"/>
          </a:solidFill>
          <a:ln w="12700">
            <a:solidFill>
              <a:srgbClr val="FFFFFF"/>
            </a:solidFill>
            <a:prstDash val="solid"/>
          </a:ln>
        </p:spPr>
      </p:sp>
      <p:sp>
        <p:nvSpPr>
          <p:cNvPr id="24" name="Text 21"/>
          <p:cNvSpPr txBox="1"/>
          <p:nvPr/>
        </p:nvSpPr>
        <p:spPr>
          <a:xfrm>
            <a:off x="10204704" y="1600200"/>
            <a:ext cx="1371600" cy="9144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K = 64</a:t>
            </a:r>
            <a:endParaRPr lang="en-US" sz="2000" dirty="0"/>
          </a:p>
        </p:txBody>
      </p:sp>
      <p:sp>
        <p:nvSpPr>
          <p:cNvPr id="25" name="Text 22"/>
          <p:cNvSpPr txBox="1"/>
          <p:nvPr/>
        </p:nvSpPr>
        <p:spPr>
          <a:xfrm>
            <a:off x="548640" y="2606040"/>
            <a:ext cx="10972800" cy="320040"/>
          </a:xfrm>
          <a:prstGeom prst="rect">
            <a:avLst/>
          </a:prstGeom>
          <a:noFill/>
          <a:ln/>
        </p:spPr>
        <p:txBody>
          <a:bodyPr wrap="square" lIns="0" tIns="0" rIns="0" bIns="0" rtlCol="0" anchor="t"/>
          <a:lstStyle/>
          <a:p>
            <a:pPr indent="0" marL="0">
              <a:buNone/>
            </a:pPr>
            <a:r>
              <a:rPr lang="en-US" sz="1400" i="1" dirty="0">
                <a:solidFill>
                  <a:srgbClr val="5E5878"/>
                </a:solidFill>
                <a:latin typeface="Calibri" pitchFamily="34" charset="0"/>
                <a:ea typeface="Calibri" pitchFamily="34" charset="-122"/>
                <a:cs typeface="Calibri" pitchFamily="34" charset="-120"/>
              </a:rPr>
              <a:t>split  ×2  →  Lloyd until convergence  →  split again</a:t>
            </a:r>
            <a:endParaRPr lang="en-US" sz="1400" dirty="0"/>
          </a:p>
        </p:txBody>
      </p:sp>
      <p:sp>
        <p:nvSpPr>
          <p:cNvPr id="26" name="Step card"/>
          <p:cNvSpPr/>
          <p:nvPr/>
        </p:nvSpPr>
        <p:spPr>
          <a:xfrm>
            <a:off x="548640" y="3154680"/>
            <a:ext cx="5440680" cy="1325880"/>
          </a:xfrm>
          <a:prstGeom prst="roundRect">
            <a:avLst>
              <a:gd name="adj" fmla="val 8276"/>
            </a:avLst>
          </a:prstGeom>
          <a:solidFill>
            <a:srgbClr val="F5F1FB"/>
          </a:solidFill>
          <a:ln w="12700">
            <a:solidFill>
              <a:srgbClr val="F5F1FB"/>
            </a:solidFill>
            <a:prstDash val="solid"/>
          </a:ln>
        </p:spPr>
      </p:sp>
      <p:sp>
        <p:nvSpPr>
          <p:cNvPr id="27" name="Text 24"/>
          <p:cNvSpPr txBox="1"/>
          <p:nvPr/>
        </p:nvSpPr>
        <p:spPr>
          <a:xfrm>
            <a:off x="822960" y="3291840"/>
            <a:ext cx="4846320" cy="365760"/>
          </a:xfrm>
          <a:prstGeom prst="rect">
            <a:avLst/>
          </a:prstGeom>
          <a:noFill/>
          <a:ln/>
        </p:spPr>
        <p:txBody>
          <a:bodyPr wrap="square" lIns="0" tIns="0" rIns="0" bIns="0" rtlCol="0" anchor="t"/>
          <a:lstStyle/>
          <a:p>
            <a:pPr indent="0" marL="0">
              <a:buNone/>
            </a:pPr>
            <a:r>
              <a:rPr lang="en-US" sz="1800" b="1" dirty="0">
                <a:solidFill>
                  <a:srgbClr val="6B4FA3"/>
                </a:solidFill>
                <a:latin typeface="Calibri" pitchFamily="34" charset="0"/>
                <a:ea typeface="Calibri" pitchFamily="34" charset="-122"/>
                <a:cs typeface="Calibri" pitchFamily="34" charset="-120"/>
              </a:rPr>
              <a:t>1  Split</a:t>
            </a:r>
            <a:endParaRPr lang="en-US" sz="1800" dirty="0"/>
          </a:p>
        </p:txBody>
      </p:sp>
      <p:sp>
        <p:nvSpPr>
          <p:cNvPr id="28" name="Text 25"/>
          <p:cNvSpPr txBox="1"/>
          <p:nvPr/>
        </p:nvSpPr>
        <p:spPr>
          <a:xfrm>
            <a:off x="822960" y="3703320"/>
            <a:ext cx="4846320" cy="73152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Each codeword c → c(1+δ) and c(1−δ),  δ = 0.01</a:t>
            </a:r>
            <a:endParaRPr lang="en-US" sz="1500" dirty="0"/>
          </a:p>
        </p:txBody>
      </p:sp>
      <p:sp>
        <p:nvSpPr>
          <p:cNvPr id="29" name="Step card"/>
          <p:cNvSpPr/>
          <p:nvPr/>
        </p:nvSpPr>
        <p:spPr>
          <a:xfrm>
            <a:off x="6172200" y="3154680"/>
            <a:ext cx="5440680" cy="1325880"/>
          </a:xfrm>
          <a:prstGeom prst="roundRect">
            <a:avLst>
              <a:gd name="adj" fmla="val 8276"/>
            </a:avLst>
          </a:prstGeom>
          <a:solidFill>
            <a:srgbClr val="F5F1FB"/>
          </a:solidFill>
          <a:ln w="12700">
            <a:solidFill>
              <a:srgbClr val="F5F1FB"/>
            </a:solidFill>
            <a:prstDash val="solid"/>
          </a:ln>
        </p:spPr>
      </p:sp>
      <p:sp>
        <p:nvSpPr>
          <p:cNvPr id="30" name="Text 27"/>
          <p:cNvSpPr txBox="1"/>
          <p:nvPr/>
        </p:nvSpPr>
        <p:spPr>
          <a:xfrm>
            <a:off x="6446520" y="3291840"/>
            <a:ext cx="4846320" cy="365760"/>
          </a:xfrm>
          <a:prstGeom prst="rect">
            <a:avLst/>
          </a:prstGeom>
          <a:noFill/>
          <a:ln/>
        </p:spPr>
        <p:txBody>
          <a:bodyPr wrap="square" lIns="0" tIns="0" rIns="0" bIns="0" rtlCol="0" anchor="t"/>
          <a:lstStyle/>
          <a:p>
            <a:pPr indent="0" marL="0">
              <a:buNone/>
            </a:pPr>
            <a:r>
              <a:rPr lang="en-US" sz="1800" b="1" dirty="0">
                <a:solidFill>
                  <a:srgbClr val="E0457B"/>
                </a:solidFill>
                <a:latin typeface="Calibri" pitchFamily="34" charset="0"/>
                <a:ea typeface="Calibri" pitchFamily="34" charset="-122"/>
                <a:cs typeface="Calibri" pitchFamily="34" charset="-120"/>
              </a:rPr>
              <a:t>2  Assign</a:t>
            </a:r>
            <a:endParaRPr lang="en-US" sz="1800" dirty="0"/>
          </a:p>
        </p:txBody>
      </p:sp>
      <p:sp>
        <p:nvSpPr>
          <p:cNvPr id="31" name="Text 28"/>
          <p:cNvSpPr txBox="1"/>
          <p:nvPr/>
        </p:nvSpPr>
        <p:spPr>
          <a:xfrm>
            <a:off x="6446520" y="3703320"/>
            <a:ext cx="4846320" cy="73152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Every vector goes to its nearest codeword (squared Euclidean distance)</a:t>
            </a:r>
            <a:endParaRPr lang="en-US" sz="1500" dirty="0"/>
          </a:p>
        </p:txBody>
      </p:sp>
      <p:sp>
        <p:nvSpPr>
          <p:cNvPr id="32" name="Step card"/>
          <p:cNvSpPr/>
          <p:nvPr/>
        </p:nvSpPr>
        <p:spPr>
          <a:xfrm>
            <a:off x="548640" y="4663440"/>
            <a:ext cx="5440680" cy="1325880"/>
          </a:xfrm>
          <a:prstGeom prst="roundRect">
            <a:avLst>
              <a:gd name="adj" fmla="val 8276"/>
            </a:avLst>
          </a:prstGeom>
          <a:solidFill>
            <a:srgbClr val="F5F1FB"/>
          </a:solidFill>
          <a:ln w="12700">
            <a:solidFill>
              <a:srgbClr val="F5F1FB"/>
            </a:solidFill>
            <a:prstDash val="solid"/>
          </a:ln>
        </p:spPr>
      </p:sp>
      <p:sp>
        <p:nvSpPr>
          <p:cNvPr id="33" name="Text 30"/>
          <p:cNvSpPr txBox="1"/>
          <p:nvPr/>
        </p:nvSpPr>
        <p:spPr>
          <a:xfrm>
            <a:off x="822960" y="4800600"/>
            <a:ext cx="4846320" cy="365760"/>
          </a:xfrm>
          <a:prstGeom prst="rect">
            <a:avLst/>
          </a:prstGeom>
          <a:noFill/>
          <a:ln/>
        </p:spPr>
        <p:txBody>
          <a:bodyPr wrap="square" lIns="0" tIns="0" rIns="0" bIns="0" rtlCol="0" anchor="t"/>
          <a:lstStyle/>
          <a:p>
            <a:pPr indent="0" marL="0">
              <a:buNone/>
            </a:pPr>
            <a:r>
              <a:rPr lang="en-US" sz="1800" b="1" dirty="0">
                <a:solidFill>
                  <a:srgbClr val="6B4FA3"/>
                </a:solidFill>
                <a:latin typeface="Calibri" pitchFamily="34" charset="0"/>
                <a:ea typeface="Calibri" pitchFamily="34" charset="-122"/>
                <a:cs typeface="Calibri" pitchFamily="34" charset="-120"/>
              </a:rPr>
              <a:t>3  Update</a:t>
            </a:r>
            <a:endParaRPr lang="en-US" sz="1800" dirty="0"/>
          </a:p>
        </p:txBody>
      </p:sp>
      <p:sp>
        <p:nvSpPr>
          <p:cNvPr id="34" name="Text 31"/>
          <p:cNvSpPr txBox="1"/>
          <p:nvPr/>
        </p:nvSpPr>
        <p:spPr>
          <a:xfrm>
            <a:off x="822960" y="5212080"/>
            <a:ext cx="4846320" cy="73152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Each codeword becomes the mean of its assigned vectors</a:t>
            </a:r>
            <a:endParaRPr lang="en-US" sz="1500" dirty="0"/>
          </a:p>
        </p:txBody>
      </p:sp>
      <p:sp>
        <p:nvSpPr>
          <p:cNvPr id="35" name="Step card"/>
          <p:cNvSpPr/>
          <p:nvPr/>
        </p:nvSpPr>
        <p:spPr>
          <a:xfrm>
            <a:off x="6172200" y="4663440"/>
            <a:ext cx="5440680" cy="1325880"/>
          </a:xfrm>
          <a:prstGeom prst="roundRect">
            <a:avLst>
              <a:gd name="adj" fmla="val 8276"/>
            </a:avLst>
          </a:prstGeom>
          <a:solidFill>
            <a:srgbClr val="F5F1FB"/>
          </a:solidFill>
          <a:ln w="12700">
            <a:solidFill>
              <a:srgbClr val="F5F1FB"/>
            </a:solidFill>
            <a:prstDash val="solid"/>
          </a:ln>
        </p:spPr>
      </p:sp>
      <p:sp>
        <p:nvSpPr>
          <p:cNvPr id="36" name="Text 33"/>
          <p:cNvSpPr txBox="1"/>
          <p:nvPr/>
        </p:nvSpPr>
        <p:spPr>
          <a:xfrm>
            <a:off x="6446520" y="4800600"/>
            <a:ext cx="4846320" cy="365760"/>
          </a:xfrm>
          <a:prstGeom prst="rect">
            <a:avLst/>
          </a:prstGeom>
          <a:noFill/>
          <a:ln/>
        </p:spPr>
        <p:txBody>
          <a:bodyPr wrap="square" lIns="0" tIns="0" rIns="0" bIns="0" rtlCol="0" anchor="t"/>
          <a:lstStyle/>
          <a:p>
            <a:pPr indent="0" marL="0">
              <a:buNone/>
            </a:pPr>
            <a:r>
              <a:rPr lang="en-US" sz="1800" b="1" dirty="0">
                <a:solidFill>
                  <a:srgbClr val="6B4FA3"/>
                </a:solidFill>
                <a:latin typeface="Calibri" pitchFamily="34" charset="0"/>
                <a:ea typeface="Calibri" pitchFamily="34" charset="-122"/>
                <a:cs typeface="Calibri" pitchFamily="34" charset="-120"/>
              </a:rPr>
              <a:t>4  Test</a:t>
            </a:r>
            <a:endParaRPr lang="en-US" sz="1800" dirty="0"/>
          </a:p>
        </p:txBody>
      </p:sp>
      <p:sp>
        <p:nvSpPr>
          <p:cNvPr id="37" name="Text 34"/>
          <p:cNvSpPr txBox="1"/>
          <p:nvPr/>
        </p:nvSpPr>
        <p:spPr>
          <a:xfrm>
            <a:off x="6446520" y="5212080"/>
            <a:ext cx="4846320" cy="73152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Stop when |ΔD| / D ≤ ε = 10⁻⁴ or after 100 iterations</a:t>
            </a:r>
            <a:endParaRPr lang="en-US" sz="1500" dirty="0"/>
          </a:p>
        </p:txBody>
      </p:sp>
      <p:sp>
        <p:nvSpPr>
          <p:cNvPr id="38" name="Text 35"/>
          <p:cNvSpPr txBox="1"/>
          <p:nvPr/>
        </p:nvSpPr>
        <p:spPr>
          <a:xfrm>
            <a:off x="548640" y="6144768"/>
            <a:ext cx="9144000" cy="274320"/>
          </a:xfrm>
          <a:prstGeom prst="rect">
            <a:avLst/>
          </a:prstGeom>
          <a:noFill/>
          <a:ln/>
        </p:spPr>
        <p:txBody>
          <a:bodyPr wrap="square" lIns="0" tIns="0" rIns="0" bIns="0" rtlCol="0" anchor="t"/>
          <a:lstStyle/>
          <a:p>
            <a:pPr indent="0" marL="0">
              <a:buNone/>
            </a:pPr>
            <a:r>
              <a:rPr lang="en-US" sz="1200" dirty="0">
                <a:solidFill>
                  <a:srgbClr val="5E5878"/>
                </a:solidFill>
                <a:latin typeface="Calibri" pitchFamily="34" charset="0"/>
                <a:ea typeface="Calibri" pitchFamily="34" charset="-122"/>
                <a:cs typeface="Calibri" pitchFamily="34" charset="-120"/>
              </a:rPr>
              <a:t>Typical run: about 150 Lloyd iterations in total over the six stages.</a:t>
            </a:r>
            <a:endParaRPr lang="en-US" sz="1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5 · PROPOSED WORK</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Delta coding lowers the entropy of the indices</a:t>
            </a:r>
            <a:endParaRPr lang="en-US" sz="3000" dirty="0"/>
          </a:p>
        </p:txBody>
      </p:sp>
      <p:graphicFrame>
        <p:nvGraphicFramePr>
          <p:cNvPr id="5" name="Chart 0" descr=""/>
          <p:cNvGraphicFramePr/>
          <p:nvPr/>
        </p:nvGraphicFramePr>
        <p:xfrm>
          <a:off x="548640" y="1508760"/>
          <a:ext cx="6949440" cy="4480560"/>
        </p:xfrm>
        <a:graphic xmlns:a="http://schemas.openxmlformats.org/drawingml/2006/main">
          <a:graphicData uri="http://schemas.openxmlformats.org/drawingml/2006/chart">
            <c:chart xmlns:c="http://schemas.openxmlformats.org/drawingml/2006/chart" r:id="rId1"/>
          </a:graphicData>
        </a:graphic>
      </p:graphicFrame>
      <p:sp>
        <p:nvSpPr>
          <p:cNvPr id="6" name="Mean card"/>
          <p:cNvSpPr/>
          <p:nvPr/>
        </p:nvSpPr>
        <p:spPr>
          <a:xfrm>
            <a:off x="7772400" y="1508760"/>
            <a:ext cx="3867912" cy="2103120"/>
          </a:xfrm>
          <a:prstGeom prst="roundRect">
            <a:avLst>
              <a:gd name="adj" fmla="val 5217"/>
            </a:avLst>
          </a:prstGeom>
          <a:solidFill>
            <a:srgbClr val="F5F1FB"/>
          </a:solidFill>
          <a:ln w="12700">
            <a:solidFill>
              <a:srgbClr val="F5F1FB"/>
            </a:solidFill>
            <a:prstDash val="solid"/>
          </a:ln>
        </p:spPr>
      </p:sp>
      <p:sp>
        <p:nvSpPr>
          <p:cNvPr id="7" name="Text 3"/>
          <p:cNvSpPr txBox="1"/>
          <p:nvPr/>
        </p:nvSpPr>
        <p:spPr>
          <a:xfrm>
            <a:off x="8001000" y="1645920"/>
            <a:ext cx="3474720" cy="822960"/>
          </a:xfrm>
          <a:prstGeom prst="rect">
            <a:avLst/>
          </a:prstGeom>
          <a:noFill/>
          <a:ln/>
        </p:spPr>
        <p:txBody>
          <a:bodyPr wrap="square" lIns="0" tIns="0" rIns="0" bIns="0" rtlCol="0" anchor="t"/>
          <a:lstStyle/>
          <a:p>
            <a:pPr indent="0" marL="0">
              <a:buNone/>
            </a:pPr>
            <a:r>
              <a:rPr lang="en-US" sz="3600" b="1" dirty="0">
                <a:solidFill>
                  <a:srgbClr val="E0457B"/>
                </a:solidFill>
                <a:latin typeface="Cambria" pitchFamily="34" charset="0"/>
                <a:ea typeface="Cambria" pitchFamily="34" charset="-122"/>
                <a:cs typeface="Cambria" pitchFamily="34" charset="-120"/>
              </a:rPr>
              <a:t>5.30 → 4.19</a:t>
            </a:r>
            <a:endParaRPr lang="en-US" sz="3600" dirty="0"/>
          </a:p>
        </p:txBody>
      </p:sp>
      <p:sp>
        <p:nvSpPr>
          <p:cNvPr id="8" name="Text 4"/>
          <p:cNvSpPr txBox="1"/>
          <p:nvPr/>
        </p:nvSpPr>
        <p:spPr>
          <a:xfrm>
            <a:off x="8001000" y="2514600"/>
            <a:ext cx="3474720" cy="100584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mean entropy in bits per index (grayscale), a 1.1-bit reduction.</a:t>
            </a:r>
            <a:endParaRPr lang="en-US" sz="1500" dirty="0"/>
          </a:p>
        </p:txBody>
      </p:sp>
      <p:sp>
        <p:nvSpPr>
          <p:cNvPr id="9" name="Huffman card"/>
          <p:cNvSpPr/>
          <p:nvPr/>
        </p:nvSpPr>
        <p:spPr>
          <a:xfrm>
            <a:off x="7772400" y="3840480"/>
            <a:ext cx="3867912" cy="2148840"/>
          </a:xfrm>
          <a:prstGeom prst="roundRect">
            <a:avLst>
              <a:gd name="adj" fmla="val 5106"/>
            </a:avLst>
          </a:prstGeom>
          <a:solidFill>
            <a:srgbClr val="F5F1FB"/>
          </a:solidFill>
          <a:ln w="12700">
            <a:solidFill>
              <a:srgbClr val="F5F1FB"/>
            </a:solidFill>
            <a:prstDash val="solid"/>
          </a:ln>
        </p:spPr>
      </p:sp>
      <p:sp>
        <p:nvSpPr>
          <p:cNvPr id="10" name="Text 6"/>
          <p:cNvSpPr txBox="1"/>
          <p:nvPr/>
        </p:nvSpPr>
        <p:spPr>
          <a:xfrm>
            <a:off x="8001000" y="3977640"/>
            <a:ext cx="3474720" cy="548640"/>
          </a:xfrm>
          <a:prstGeom prst="rect">
            <a:avLst/>
          </a:prstGeom>
          <a:noFill/>
          <a:ln/>
        </p:spPr>
        <p:txBody>
          <a:bodyPr wrap="square" lIns="0" tIns="0" rIns="0" bIns="0" rtlCol="0" anchor="t"/>
          <a:lstStyle/>
          <a:p>
            <a:pPr indent="0" marL="0">
              <a:buNone/>
            </a:pPr>
            <a:r>
              <a:rPr lang="en-US" sz="2600" b="1" dirty="0">
                <a:solidFill>
                  <a:srgbClr val="6B4FA3"/>
                </a:solidFill>
                <a:latin typeface="Cambria" pitchFamily="34" charset="0"/>
                <a:ea typeface="Cambria" pitchFamily="34" charset="-122"/>
                <a:cs typeface="Cambria" pitchFamily="34" charset="-120"/>
              </a:rPr>
              <a:t>4.23 bits/index</a:t>
            </a:r>
            <a:endParaRPr lang="en-US" sz="2600" dirty="0"/>
          </a:p>
        </p:txBody>
      </p:sp>
      <p:sp>
        <p:nvSpPr>
          <p:cNvPr id="11" name="Text 7"/>
          <p:cNvSpPr txBox="1"/>
          <p:nvPr/>
        </p:nvSpPr>
        <p:spPr>
          <a:xfrm>
            <a:off x="8001000" y="4572000"/>
            <a:ext cx="3474720" cy="132588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Huffman rate, only 0.039 bit above the entropy: 29.5% less than fixed 6-bit indices.</a:t>
            </a:r>
            <a:endParaRPr lang="en-US" sz="15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5 · PROPOSED WORK</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System compression ratio: every byte counted</a:t>
            </a:r>
            <a:endParaRPr lang="en-US" sz="3000" dirty="0"/>
          </a:p>
        </p:txBody>
      </p:sp>
      <p:graphicFrame>
        <p:nvGraphicFramePr>
          <p:cNvPr id="5" name="Chart 0" descr=""/>
          <p:cNvGraphicFramePr/>
          <p:nvPr/>
        </p:nvGraphicFramePr>
        <p:xfrm>
          <a:off x="548640" y="1508760"/>
          <a:ext cx="6309360" cy="4480560"/>
        </p:xfrm>
        <a:graphic xmlns:a="http://schemas.openxmlformats.org/drawingml/2006/main">
          <a:graphicData uri="http://schemas.openxmlformats.org/drawingml/2006/chart">
            <c:chart xmlns:c="http://schemas.openxmlformats.org/drawingml/2006/chart" r:id="rId1"/>
          </a:graphicData>
        </a:graphic>
      </p:graphicFrame>
      <p:sp>
        <p:nvSpPr>
          <p:cNvPr id="6" name="Stat card"/>
          <p:cNvSpPr/>
          <p:nvPr/>
        </p:nvSpPr>
        <p:spPr>
          <a:xfrm>
            <a:off x="7178040" y="1508760"/>
            <a:ext cx="4462272" cy="1371600"/>
          </a:xfrm>
          <a:prstGeom prst="roundRect">
            <a:avLst>
              <a:gd name="adj" fmla="val 8000"/>
            </a:avLst>
          </a:prstGeom>
          <a:solidFill>
            <a:srgbClr val="F5F1FB"/>
          </a:solidFill>
          <a:ln w="12700">
            <a:solidFill>
              <a:srgbClr val="F5F1FB"/>
            </a:solidFill>
            <a:prstDash val="solid"/>
          </a:ln>
        </p:spPr>
      </p:sp>
      <p:sp>
        <p:nvSpPr>
          <p:cNvPr id="7" name="Text 3"/>
          <p:cNvSpPr txBox="1"/>
          <p:nvPr/>
        </p:nvSpPr>
        <p:spPr>
          <a:xfrm>
            <a:off x="7360920" y="1645920"/>
            <a:ext cx="4096512" cy="777240"/>
          </a:xfrm>
          <a:prstGeom prst="rect">
            <a:avLst/>
          </a:prstGeom>
          <a:noFill/>
          <a:ln/>
        </p:spPr>
        <p:txBody>
          <a:bodyPr wrap="square" lIns="0" tIns="0" rIns="0" bIns="0" rtlCol="0" anchor="ctr"/>
          <a:lstStyle/>
          <a:p>
            <a:pPr indent="0" marL="0">
              <a:buNone/>
            </a:pPr>
            <a:r>
              <a:rPr lang="en-US" sz="4000" b="1" dirty="0">
                <a:solidFill>
                  <a:srgbClr val="E0457B"/>
                </a:solidFill>
                <a:latin typeface="Cambria" pitchFamily="34" charset="0"/>
                <a:ea typeface="Cambria" pitchFamily="34" charset="-122"/>
                <a:cs typeface="Cambria" pitchFamily="34" charset="-120"/>
              </a:rPr>
              <a:t>+31.6%</a:t>
            </a:r>
            <a:endParaRPr lang="en-US" sz="4000" dirty="0"/>
          </a:p>
        </p:txBody>
      </p:sp>
      <p:sp>
        <p:nvSpPr>
          <p:cNvPr id="8" name="Text 4"/>
          <p:cNvSpPr txBox="1"/>
          <p:nvPr/>
        </p:nvSpPr>
        <p:spPr>
          <a:xfrm>
            <a:off x="7360920" y="2377440"/>
            <a:ext cx="4096512"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gain of delta + Huffman over 6-bit indices</a:t>
            </a:r>
            <a:endParaRPr lang="en-US" sz="1400" dirty="0"/>
          </a:p>
        </p:txBody>
      </p:sp>
      <p:sp>
        <p:nvSpPr>
          <p:cNvPr id="9" name="Accounting"/>
          <p:cNvSpPr/>
          <p:nvPr/>
        </p:nvSpPr>
        <p:spPr>
          <a:xfrm>
            <a:off x="7178040" y="3108960"/>
            <a:ext cx="4462272" cy="2880360"/>
          </a:xfrm>
          <a:prstGeom prst="roundRect">
            <a:avLst>
              <a:gd name="adj" fmla="val 3810"/>
            </a:avLst>
          </a:prstGeom>
          <a:solidFill>
            <a:srgbClr val="F5F1FB"/>
          </a:solidFill>
          <a:ln w="12700">
            <a:solidFill>
              <a:srgbClr val="F5F1FB"/>
            </a:solidFill>
            <a:prstDash val="solid"/>
          </a:ln>
        </p:spPr>
      </p:sp>
      <p:sp>
        <p:nvSpPr>
          <p:cNvPr id="10" name="Text 6"/>
          <p:cNvSpPr txBox="1"/>
          <p:nvPr/>
        </p:nvSpPr>
        <p:spPr>
          <a:xfrm>
            <a:off x="7406640" y="3246120"/>
            <a:ext cx="4023360" cy="1828800"/>
          </a:xfrm>
          <a:prstGeom prst="rect">
            <a:avLst/>
          </a:prstGeom>
          <a:noFill/>
          <a:ln/>
        </p:spPr>
        <p:txBody>
          <a:bodyPr wrap="square" lIns="0" tIns="0" rIns="0" bIns="0" rtlCol="0" anchor="t"/>
          <a:lstStyle/>
          <a:p>
            <a:pPr indent="0" marL="0">
              <a:spcAft>
                <a:spcPts val="600"/>
              </a:spcAft>
              <a:buNone/>
            </a:pPr>
            <a:r>
              <a:rPr lang="en-US" sz="1500" b="1" dirty="0">
                <a:solidFill>
                  <a:srgbClr val="6B4FA3"/>
                </a:solidFill>
                <a:latin typeface="Calibri" pitchFamily="34" charset="0"/>
                <a:ea typeface="Calibri" pitchFamily="34" charset="-122"/>
                <a:cs typeface="Calibri" pitchFamily="34" charset="-120"/>
              </a:rPr>
              <a:t>Compressed size counts:</a:t>
            </a:r>
            <a:endParaRPr lang="en-US" sz="1500" dirty="0"/>
          </a:p>
          <a:p>
            <a:pPr marL="342900" indent="-342900">
              <a:spcAft>
                <a:spcPts val="600"/>
              </a:spcAft>
              <a:buSzPct val="100000"/>
              <a:buChar char="•"/>
            </a:pPr>
            <a:r>
              <a:rPr lang="en-US" sz="1500" dirty="0">
                <a:solidFill>
                  <a:srgbClr val="1F1A33"/>
                </a:solidFill>
                <a:latin typeface="Calibri" pitchFamily="34" charset="0"/>
                <a:ea typeface="Calibri" pitchFamily="34" charset="-122"/>
                <a:cs typeface="Calibri" pitchFamily="34" charset="-120"/>
              </a:rPr>
              <a:t>codebook: 64 × 16 = 1,024 bytes</a:t>
            </a:r>
            <a:endParaRPr lang="en-US" sz="1500" dirty="0"/>
          </a:p>
          <a:p>
            <a:pPr marL="342900" indent="-342900">
              <a:spcAft>
                <a:spcPts val="600"/>
              </a:spcAft>
              <a:buSzPct val="100000"/>
              <a:buChar char="•"/>
            </a:pPr>
            <a:r>
              <a:rPr lang="en-US" sz="1500" dirty="0">
                <a:solidFill>
                  <a:srgbClr val="1F1A33"/>
                </a:solidFill>
                <a:latin typeface="Calibri" pitchFamily="34" charset="0"/>
                <a:ea typeface="Calibri" pitchFamily="34" charset="-122"/>
                <a:cs typeface="Calibri" pitchFamily="34" charset="-120"/>
              </a:rPr>
              <a:t>Huffman table: 4 bytes per used symbol</a:t>
            </a:r>
            <a:endParaRPr lang="en-US" sz="1500" dirty="0"/>
          </a:p>
          <a:p>
            <a:pPr marL="342900" indent="-342900">
              <a:spcAft>
                <a:spcPts val="600"/>
              </a:spcAft>
              <a:buSzPct val="100000"/>
              <a:buChar char="•"/>
            </a:pPr>
            <a:r>
              <a:rPr lang="en-US" sz="1500" dirty="0">
                <a:solidFill>
                  <a:srgbClr val="1F1A33"/>
                </a:solidFill>
                <a:latin typeface="Calibri" pitchFamily="34" charset="0"/>
                <a:ea typeface="Calibri" pitchFamily="34" charset="-122"/>
                <a:cs typeface="Calibri" pitchFamily="34" charset="-120"/>
              </a:rPr>
              <a:t>Huffman-coded index data</a:t>
            </a:r>
            <a:endParaRPr lang="en-US" sz="1500" dirty="0"/>
          </a:p>
        </p:txBody>
      </p:sp>
      <p:sp>
        <p:nvSpPr>
          <p:cNvPr id="11" name="Text 7"/>
          <p:cNvSpPr txBox="1"/>
          <p:nvPr/>
        </p:nvSpPr>
        <p:spPr>
          <a:xfrm>
            <a:off x="7406640" y="5029200"/>
            <a:ext cx="4023360" cy="868680"/>
          </a:xfrm>
          <a:prstGeom prst="rect">
            <a:avLst/>
          </a:prstGeom>
          <a:noFill/>
          <a:ln/>
        </p:spPr>
        <p:txBody>
          <a:bodyPr wrap="square" lIns="0" tIns="0" rIns="0" bIns="0" rtlCol="0" anchor="t"/>
          <a:lstStyle/>
          <a:p>
            <a:pPr indent="0" marL="0">
              <a:buNone/>
            </a:pPr>
            <a:r>
              <a:rPr lang="en-US" sz="1200" i="1" dirty="0">
                <a:solidFill>
                  <a:srgbClr val="5E5878"/>
                </a:solidFill>
                <a:latin typeface="Calibri" pitchFamily="34" charset="0"/>
                <a:ea typeface="Calibri" pitchFamily="34" charset="-122"/>
                <a:cs typeface="Calibri" pitchFamily="34" charset="-120"/>
              </a:rPr>
              <a:t>CR is computed from these sizes; the program does not write a stored file. A 5-byte table entry would lower CR by about 1%.</a:t>
            </a:r>
            <a:endParaRPr lang="en-US" sz="1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5 · PROPOSED WORK</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Test images</a:t>
            </a:r>
            <a:endParaRPr lang="en-US" sz="3000" dirty="0"/>
          </a:p>
        </p:txBody>
      </p:sp>
      <p:pic>
        <p:nvPicPr>
          <p:cNvPr id="5" name="Thumbnail Lena" descr="/home/user/mihk/results/seminar/assets/t_lena.png">    </p:cNvPr>
          <p:cNvPicPr>
            <a:picLocks noChangeAspect="1"/>
          </p:cNvPicPr>
          <p:nvPr/>
        </p:nvPicPr>
        <p:blipFill>
          <a:blip r:embed="rId1"/>
          <a:stretch>
            <a:fillRect/>
          </a:stretch>
        </p:blipFill>
        <p:spPr>
          <a:xfrm>
            <a:off x="548640" y="1554480"/>
            <a:ext cx="2057400" cy="2057400"/>
          </a:xfrm>
          <a:prstGeom prst="rect">
            <a:avLst/>
          </a:prstGeom>
        </p:spPr>
      </p:pic>
      <p:sp>
        <p:nvSpPr>
          <p:cNvPr id="6" name="Text 2"/>
          <p:cNvSpPr txBox="1"/>
          <p:nvPr/>
        </p:nvSpPr>
        <p:spPr>
          <a:xfrm>
            <a:off x="548640" y="3675888"/>
            <a:ext cx="2057400" cy="320040"/>
          </a:xfrm>
          <a:prstGeom prst="rect">
            <a:avLst/>
          </a:prstGeom>
          <a:noFill/>
          <a:ln/>
        </p:spPr>
        <p:txBody>
          <a:bodyPr wrap="square" lIns="0" tIns="0" rIns="0" bIns="0" rtlCol="0" anchor="t"/>
          <a:lstStyle/>
          <a:p>
            <a:pPr algn="ctr" indent="0" marL="0">
              <a:buNone/>
            </a:pPr>
            <a:r>
              <a:rPr lang="en-US" sz="1400" b="1" dirty="0">
                <a:solidFill>
                  <a:srgbClr val="1F1A33"/>
                </a:solidFill>
                <a:latin typeface="Calibri" pitchFamily="34" charset="0"/>
                <a:ea typeface="Calibri" pitchFamily="34" charset="-122"/>
                <a:cs typeface="Calibri" pitchFamily="34" charset="-120"/>
              </a:rPr>
              <a:t>Lena</a:t>
            </a:r>
            <a:endParaRPr lang="en-US" sz="1400" dirty="0"/>
          </a:p>
        </p:txBody>
      </p:sp>
      <p:pic>
        <p:nvPicPr>
          <p:cNvPr id="7" name="Thumbnail Cameraman" descr="/home/user/mihk/results/seminar/assets/t_cam.png">    </p:cNvPr>
          <p:cNvPicPr>
            <a:picLocks noChangeAspect="1"/>
          </p:cNvPicPr>
          <p:nvPr/>
        </p:nvPicPr>
        <p:blipFill>
          <a:blip r:embed="rId2"/>
          <a:stretch>
            <a:fillRect/>
          </a:stretch>
        </p:blipFill>
        <p:spPr>
          <a:xfrm>
            <a:off x="2788920" y="1554480"/>
            <a:ext cx="2057400" cy="2057400"/>
          </a:xfrm>
          <a:prstGeom prst="rect">
            <a:avLst/>
          </a:prstGeom>
        </p:spPr>
      </p:pic>
      <p:sp>
        <p:nvSpPr>
          <p:cNvPr id="8" name="Text 3"/>
          <p:cNvSpPr txBox="1"/>
          <p:nvPr/>
        </p:nvSpPr>
        <p:spPr>
          <a:xfrm>
            <a:off x="2788920" y="3675888"/>
            <a:ext cx="2057400" cy="320040"/>
          </a:xfrm>
          <a:prstGeom prst="rect">
            <a:avLst/>
          </a:prstGeom>
          <a:noFill/>
          <a:ln/>
        </p:spPr>
        <p:txBody>
          <a:bodyPr wrap="square" lIns="0" tIns="0" rIns="0" bIns="0" rtlCol="0" anchor="t"/>
          <a:lstStyle/>
          <a:p>
            <a:pPr algn="ctr" indent="0" marL="0">
              <a:buNone/>
            </a:pPr>
            <a:r>
              <a:rPr lang="en-US" sz="1400" b="1" dirty="0">
                <a:solidFill>
                  <a:srgbClr val="1F1A33"/>
                </a:solidFill>
                <a:latin typeface="Calibri" pitchFamily="34" charset="0"/>
                <a:ea typeface="Calibri" pitchFamily="34" charset="-122"/>
                <a:cs typeface="Calibri" pitchFamily="34" charset="-120"/>
              </a:rPr>
              <a:t>Cameraman</a:t>
            </a:r>
            <a:endParaRPr lang="en-US" sz="1400" dirty="0"/>
          </a:p>
        </p:txBody>
      </p:sp>
      <p:pic>
        <p:nvPicPr>
          <p:cNvPr id="9" name="Thumbnail Peppers" descr="/home/user/mihk/results/seminar/assets/t_pep.png">    </p:cNvPr>
          <p:cNvPicPr>
            <a:picLocks noChangeAspect="1"/>
          </p:cNvPicPr>
          <p:nvPr/>
        </p:nvPicPr>
        <p:blipFill>
          <a:blip r:embed="rId3"/>
          <a:stretch>
            <a:fillRect/>
          </a:stretch>
        </p:blipFill>
        <p:spPr>
          <a:xfrm>
            <a:off x="5029200" y="1554480"/>
            <a:ext cx="2057400" cy="2057400"/>
          </a:xfrm>
          <a:prstGeom prst="rect">
            <a:avLst/>
          </a:prstGeom>
        </p:spPr>
      </p:pic>
      <p:sp>
        <p:nvSpPr>
          <p:cNvPr id="10" name="Text 4"/>
          <p:cNvSpPr txBox="1"/>
          <p:nvPr/>
        </p:nvSpPr>
        <p:spPr>
          <a:xfrm>
            <a:off x="5029200" y="3675888"/>
            <a:ext cx="2057400" cy="320040"/>
          </a:xfrm>
          <a:prstGeom prst="rect">
            <a:avLst/>
          </a:prstGeom>
          <a:noFill/>
          <a:ln/>
        </p:spPr>
        <p:txBody>
          <a:bodyPr wrap="square" lIns="0" tIns="0" rIns="0" bIns="0" rtlCol="0" anchor="t"/>
          <a:lstStyle/>
          <a:p>
            <a:pPr algn="ctr" indent="0" marL="0">
              <a:buNone/>
            </a:pPr>
            <a:r>
              <a:rPr lang="en-US" sz="1400" b="1" dirty="0">
                <a:solidFill>
                  <a:srgbClr val="1F1A33"/>
                </a:solidFill>
                <a:latin typeface="Calibri" pitchFamily="34" charset="0"/>
                <a:ea typeface="Calibri" pitchFamily="34" charset="-122"/>
                <a:cs typeface="Calibri" pitchFamily="34" charset="-120"/>
              </a:rPr>
              <a:t>Peppers</a:t>
            </a:r>
            <a:endParaRPr lang="en-US" sz="1400" dirty="0"/>
          </a:p>
        </p:txBody>
      </p:sp>
      <p:pic>
        <p:nvPicPr>
          <p:cNvPr id="11" name="Thumbnail F-16" descr="/home/user/mihk/results/seminar/assets/t_f16.png">    </p:cNvPr>
          <p:cNvPicPr>
            <a:picLocks noChangeAspect="1"/>
          </p:cNvPicPr>
          <p:nvPr/>
        </p:nvPicPr>
        <p:blipFill>
          <a:blip r:embed="rId4"/>
          <a:stretch>
            <a:fillRect/>
          </a:stretch>
        </p:blipFill>
        <p:spPr>
          <a:xfrm>
            <a:off x="7269480" y="1554480"/>
            <a:ext cx="2057400" cy="2057400"/>
          </a:xfrm>
          <a:prstGeom prst="rect">
            <a:avLst/>
          </a:prstGeom>
        </p:spPr>
      </p:pic>
      <p:sp>
        <p:nvSpPr>
          <p:cNvPr id="12" name="Text 5"/>
          <p:cNvSpPr txBox="1"/>
          <p:nvPr/>
        </p:nvSpPr>
        <p:spPr>
          <a:xfrm>
            <a:off x="7269480" y="3675888"/>
            <a:ext cx="2057400" cy="320040"/>
          </a:xfrm>
          <a:prstGeom prst="rect">
            <a:avLst/>
          </a:prstGeom>
          <a:noFill/>
          <a:ln/>
        </p:spPr>
        <p:txBody>
          <a:bodyPr wrap="square" lIns="0" tIns="0" rIns="0" bIns="0" rtlCol="0" anchor="t"/>
          <a:lstStyle/>
          <a:p>
            <a:pPr algn="ctr" indent="0" marL="0">
              <a:buNone/>
            </a:pPr>
            <a:r>
              <a:rPr lang="en-US" sz="1400" b="1" dirty="0">
                <a:solidFill>
                  <a:srgbClr val="1F1A33"/>
                </a:solidFill>
                <a:latin typeface="Calibri" pitchFamily="34" charset="0"/>
                <a:ea typeface="Calibri" pitchFamily="34" charset="-122"/>
                <a:cs typeface="Calibri" pitchFamily="34" charset="-120"/>
              </a:rPr>
              <a:t>F-16</a:t>
            </a:r>
            <a:endParaRPr lang="en-US" sz="1400" dirty="0"/>
          </a:p>
        </p:txBody>
      </p:sp>
      <p:pic>
        <p:nvPicPr>
          <p:cNvPr id="13" name="Thumbnail Gold Hill" descr="/home/user/mihk/results/seminar/assets/t_gold.png">    </p:cNvPr>
          <p:cNvPicPr>
            <a:picLocks noChangeAspect="1"/>
          </p:cNvPicPr>
          <p:nvPr/>
        </p:nvPicPr>
        <p:blipFill>
          <a:blip r:embed="rId5"/>
          <a:stretch>
            <a:fillRect/>
          </a:stretch>
        </p:blipFill>
        <p:spPr>
          <a:xfrm>
            <a:off x="9509760" y="1554480"/>
            <a:ext cx="2057400" cy="2057400"/>
          </a:xfrm>
          <a:prstGeom prst="rect">
            <a:avLst/>
          </a:prstGeom>
        </p:spPr>
      </p:pic>
      <p:sp>
        <p:nvSpPr>
          <p:cNvPr id="14" name="Text 6"/>
          <p:cNvSpPr txBox="1"/>
          <p:nvPr/>
        </p:nvSpPr>
        <p:spPr>
          <a:xfrm>
            <a:off x="9509760" y="3675888"/>
            <a:ext cx="2057400" cy="320040"/>
          </a:xfrm>
          <a:prstGeom prst="rect">
            <a:avLst/>
          </a:prstGeom>
          <a:noFill/>
          <a:ln/>
        </p:spPr>
        <p:txBody>
          <a:bodyPr wrap="square" lIns="0" tIns="0" rIns="0" bIns="0" rtlCol="0" anchor="t"/>
          <a:lstStyle/>
          <a:p>
            <a:pPr algn="ctr" indent="0" marL="0">
              <a:buNone/>
            </a:pPr>
            <a:r>
              <a:rPr lang="en-US" sz="1400" b="1" dirty="0">
                <a:solidFill>
                  <a:srgbClr val="1F1A33"/>
                </a:solidFill>
                <a:latin typeface="Calibri" pitchFamily="34" charset="0"/>
                <a:ea typeface="Calibri" pitchFamily="34" charset="-122"/>
                <a:cs typeface="Calibri" pitchFamily="34" charset="-120"/>
              </a:rPr>
              <a:t>Gold Hill</a:t>
            </a:r>
            <a:endParaRPr lang="en-US" sz="1400" dirty="0"/>
          </a:p>
        </p:txBody>
      </p:sp>
      <p:sp>
        <p:nvSpPr>
          <p:cNvPr id="15" name="Gray card"/>
          <p:cNvSpPr/>
          <p:nvPr/>
        </p:nvSpPr>
        <p:spPr>
          <a:xfrm>
            <a:off x="548640" y="4297680"/>
            <a:ext cx="5440680" cy="1874520"/>
          </a:xfrm>
          <a:prstGeom prst="roundRect">
            <a:avLst>
              <a:gd name="adj" fmla="val 5854"/>
            </a:avLst>
          </a:prstGeom>
          <a:solidFill>
            <a:srgbClr val="F5F1FB"/>
          </a:solidFill>
          <a:ln w="12700">
            <a:solidFill>
              <a:srgbClr val="F5F1FB"/>
            </a:solidFill>
            <a:prstDash val="solid"/>
          </a:ln>
        </p:spPr>
      </p:sp>
      <p:sp>
        <p:nvSpPr>
          <p:cNvPr id="16" name="Text 8"/>
          <p:cNvSpPr txBox="1"/>
          <p:nvPr/>
        </p:nvSpPr>
        <p:spPr>
          <a:xfrm>
            <a:off x="822960" y="4434840"/>
            <a:ext cx="4937760" cy="365760"/>
          </a:xfrm>
          <a:prstGeom prst="rect">
            <a:avLst/>
          </a:prstGeom>
          <a:noFill/>
          <a:ln/>
        </p:spPr>
        <p:txBody>
          <a:bodyPr wrap="square" lIns="0" tIns="0" rIns="0" bIns="0" rtlCol="0" anchor="t"/>
          <a:lstStyle/>
          <a:p>
            <a:pPr indent="0" marL="0">
              <a:buNone/>
            </a:pPr>
            <a:r>
              <a:rPr lang="en-US" sz="1800" b="1" dirty="0">
                <a:solidFill>
                  <a:srgbClr val="6B4FA3"/>
                </a:solidFill>
                <a:latin typeface="Calibri" pitchFamily="34" charset="0"/>
                <a:ea typeface="Calibri" pitchFamily="34" charset="-122"/>
                <a:cs typeface="Calibri" pitchFamily="34" charset="-120"/>
              </a:rPr>
              <a:t>Grayscale (4)</a:t>
            </a:r>
            <a:endParaRPr lang="en-US" sz="1800" dirty="0"/>
          </a:p>
        </p:txBody>
      </p:sp>
      <p:sp>
        <p:nvSpPr>
          <p:cNvPr id="17" name="Text 9"/>
          <p:cNvSpPr txBox="1"/>
          <p:nvPr/>
        </p:nvSpPr>
        <p:spPr>
          <a:xfrm>
            <a:off x="822960" y="4846320"/>
            <a:ext cx="4937760" cy="118872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Lena, Boat, Cameraman, Peppers: 1 byte per pixel, 16,384 vectors.</a:t>
            </a:r>
            <a:endParaRPr lang="en-US" sz="1500" dirty="0"/>
          </a:p>
        </p:txBody>
      </p:sp>
      <p:sp>
        <p:nvSpPr>
          <p:cNvPr id="18" name="Color card"/>
          <p:cNvSpPr/>
          <p:nvPr/>
        </p:nvSpPr>
        <p:spPr>
          <a:xfrm>
            <a:off x="6199632" y="4297680"/>
            <a:ext cx="5440680" cy="1874520"/>
          </a:xfrm>
          <a:prstGeom prst="roundRect">
            <a:avLst>
              <a:gd name="adj" fmla="val 5854"/>
            </a:avLst>
          </a:prstGeom>
          <a:solidFill>
            <a:srgbClr val="F5F1FB"/>
          </a:solidFill>
          <a:ln w="12700">
            <a:solidFill>
              <a:srgbClr val="F5F1FB"/>
            </a:solidFill>
            <a:prstDash val="solid"/>
          </a:ln>
        </p:spPr>
      </p:sp>
      <p:sp>
        <p:nvSpPr>
          <p:cNvPr id="19" name="Text 11"/>
          <p:cNvSpPr txBox="1"/>
          <p:nvPr/>
        </p:nvSpPr>
        <p:spPr>
          <a:xfrm>
            <a:off x="6473952" y="4434840"/>
            <a:ext cx="4937760" cy="365760"/>
          </a:xfrm>
          <a:prstGeom prst="rect">
            <a:avLst/>
          </a:prstGeom>
          <a:noFill/>
          <a:ln/>
        </p:spPr>
        <p:txBody>
          <a:bodyPr wrap="square" lIns="0" tIns="0" rIns="0" bIns="0" rtlCol="0" anchor="t"/>
          <a:lstStyle/>
          <a:p>
            <a:pPr indent="0" marL="0">
              <a:buNone/>
            </a:pPr>
            <a:r>
              <a:rPr lang="en-US" sz="1800" b="1" dirty="0">
                <a:solidFill>
                  <a:srgbClr val="E0457B"/>
                </a:solidFill>
                <a:latin typeface="Calibri" pitchFamily="34" charset="0"/>
                <a:ea typeface="Calibri" pitchFamily="34" charset="-122"/>
                <a:cs typeface="Calibri" pitchFamily="34" charset="-120"/>
              </a:rPr>
              <a:t>Color (4)</a:t>
            </a:r>
            <a:endParaRPr lang="en-US" sz="1800" dirty="0"/>
          </a:p>
        </p:txBody>
      </p:sp>
      <p:sp>
        <p:nvSpPr>
          <p:cNvPr id="20" name="Text 12"/>
          <p:cNvSpPr txBox="1"/>
          <p:nvPr/>
        </p:nvSpPr>
        <p:spPr>
          <a:xfrm>
            <a:off x="6473952" y="4846320"/>
            <a:ext cx="4937760" cy="118872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Lena, Peppers, F-16, Gold Hill: R, G, B coded as three independent channels, CR and MSE pooled.</a:t>
            </a:r>
            <a:endParaRPr lang="en-US" sz="15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5 · PROPOSED WORK</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MPI design: SPMD with one Allreduce per iteration</a:t>
            </a:r>
            <a:endParaRPr lang="en-US" sz="3000" dirty="0"/>
          </a:p>
        </p:txBody>
      </p:sp>
      <p:sp>
        <p:nvSpPr>
          <p:cNvPr id="5" name="MPI step 1"/>
          <p:cNvSpPr/>
          <p:nvPr/>
        </p:nvSpPr>
        <p:spPr>
          <a:xfrm>
            <a:off x="548640" y="1691640"/>
            <a:ext cx="1691640" cy="1600200"/>
          </a:xfrm>
          <a:prstGeom prst="roundRect">
            <a:avLst>
              <a:gd name="adj" fmla="val 6857"/>
            </a:avLst>
          </a:prstGeom>
          <a:solidFill>
            <a:srgbClr val="2E2055"/>
          </a:solidFill>
          <a:ln w="12700">
            <a:solidFill>
              <a:srgbClr val="2E2055"/>
            </a:solidFill>
            <a:prstDash val="solid"/>
          </a:ln>
        </p:spPr>
      </p:sp>
      <p:sp>
        <p:nvSpPr>
          <p:cNvPr id="6" name="Text 3"/>
          <p:cNvSpPr txBox="1"/>
          <p:nvPr/>
        </p:nvSpPr>
        <p:spPr>
          <a:xfrm>
            <a:off x="594360" y="1783080"/>
            <a:ext cx="160020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Rank 0</a:t>
            </a:r>
            <a:endParaRPr lang="en-US" sz="1500" dirty="0"/>
          </a:p>
        </p:txBody>
      </p:sp>
      <p:sp>
        <p:nvSpPr>
          <p:cNvPr id="7" name="Text 4"/>
          <p:cNvSpPr txBox="1"/>
          <p:nvPr/>
        </p:nvSpPr>
        <p:spPr>
          <a:xfrm>
            <a:off x="594360" y="2331720"/>
            <a:ext cx="1600200" cy="868680"/>
          </a:xfrm>
          <a:prstGeom prst="rect">
            <a:avLst/>
          </a:prstGeom>
          <a:noFill/>
          <a:ln/>
        </p:spPr>
        <p:txBody>
          <a:bodyPr wrap="square" lIns="0" tIns="0" rIns="0" bIns="0" rtlCol="0" anchor="t"/>
          <a:lstStyle/>
          <a:p>
            <a:pPr algn="ctr" indent="0" marL="0">
              <a:buNone/>
            </a:pPr>
            <a:r>
              <a:rPr lang="en-US" sz="1300" dirty="0">
                <a:solidFill>
                  <a:srgbClr val="E9E3F7"/>
                </a:solidFill>
                <a:latin typeface="Calibri" pitchFamily="34" charset="0"/>
                <a:ea typeface="Calibri" pitchFamily="34" charset="-122"/>
                <a:cs typeface="Calibri" pitchFamily="34" charset="-120"/>
              </a:rPr>
              <a:t>read image,</a:t>
            </a:r>
            <a:endParaRPr lang="en-US" sz="1300" dirty="0"/>
          </a:p>
          <a:p>
            <a:pPr algn="ctr" indent="0" marL="0">
              <a:buNone/>
            </a:pPr>
            <a:r>
              <a:rPr lang="en-US" sz="1300" dirty="0">
                <a:solidFill>
                  <a:srgbClr val="E9E3F7"/>
                </a:solidFill>
                <a:latin typeface="Calibri" pitchFamily="34" charset="0"/>
                <a:ea typeface="Calibri" pitchFamily="34" charset="-122"/>
                <a:cs typeface="Calibri" pitchFamily="34" charset="-120"/>
              </a:rPr>
              <a:t>build vectors</a:t>
            </a:r>
            <a:endParaRPr lang="en-US" sz="1300" dirty="0"/>
          </a:p>
        </p:txBody>
      </p:sp>
      <p:sp>
        <p:nvSpPr>
          <p:cNvPr id="8" name="Arrow"/>
          <p:cNvSpPr/>
          <p:nvPr/>
        </p:nvSpPr>
        <p:spPr>
          <a:xfrm>
            <a:off x="2258568" y="2331720"/>
            <a:ext cx="146304" cy="274320"/>
          </a:xfrm>
          <a:prstGeom prst="rightArrow">
            <a:avLst/>
          </a:prstGeom>
          <a:solidFill>
            <a:srgbClr val="A794D6"/>
          </a:solidFill>
          <a:ln w="12700">
            <a:solidFill>
              <a:srgbClr val="A794D6"/>
            </a:solidFill>
            <a:prstDash val="solid"/>
          </a:ln>
        </p:spPr>
      </p:sp>
      <p:sp>
        <p:nvSpPr>
          <p:cNvPr id="9" name="MPI step 2"/>
          <p:cNvSpPr/>
          <p:nvPr/>
        </p:nvSpPr>
        <p:spPr>
          <a:xfrm>
            <a:off x="2423160" y="1691640"/>
            <a:ext cx="1691640" cy="1600200"/>
          </a:xfrm>
          <a:prstGeom prst="roundRect">
            <a:avLst>
              <a:gd name="adj" fmla="val 6857"/>
            </a:avLst>
          </a:prstGeom>
          <a:solidFill>
            <a:srgbClr val="6B4FA3"/>
          </a:solidFill>
          <a:ln w="12700">
            <a:solidFill>
              <a:srgbClr val="6B4FA3"/>
            </a:solidFill>
            <a:prstDash val="solid"/>
          </a:ln>
        </p:spPr>
      </p:sp>
      <p:sp>
        <p:nvSpPr>
          <p:cNvPr id="10" name="Text 7"/>
          <p:cNvSpPr txBox="1"/>
          <p:nvPr/>
        </p:nvSpPr>
        <p:spPr>
          <a:xfrm>
            <a:off x="2468880" y="1783080"/>
            <a:ext cx="160020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Bcast + Scatterv</a:t>
            </a:r>
            <a:endParaRPr lang="en-US" sz="1500" dirty="0"/>
          </a:p>
        </p:txBody>
      </p:sp>
      <p:sp>
        <p:nvSpPr>
          <p:cNvPr id="11" name="Text 8"/>
          <p:cNvSpPr txBox="1"/>
          <p:nvPr/>
        </p:nvSpPr>
        <p:spPr>
          <a:xfrm>
            <a:off x="2468880" y="2331720"/>
            <a:ext cx="1600200" cy="868680"/>
          </a:xfrm>
          <a:prstGeom prst="rect">
            <a:avLst/>
          </a:prstGeom>
          <a:noFill/>
          <a:ln/>
        </p:spPr>
        <p:txBody>
          <a:bodyPr wrap="square" lIns="0" tIns="0" rIns="0" bIns="0" rtlCol="0" anchor="t"/>
          <a:lstStyle/>
          <a:p>
            <a:pPr algn="ctr" indent="0" marL="0">
              <a:buNone/>
            </a:pPr>
            <a:r>
              <a:rPr lang="en-US" sz="1300" dirty="0">
                <a:solidFill>
                  <a:srgbClr val="E9E3F7"/>
                </a:solidFill>
                <a:latin typeface="Calibri" pitchFamily="34" charset="0"/>
                <a:ea typeface="Calibri" pitchFamily="34" charset="-122"/>
                <a:cs typeface="Calibri" pitchFamily="34" charset="-120"/>
              </a:rPr>
              <a:t>parameters,</a:t>
            </a:r>
            <a:endParaRPr lang="en-US" sz="1300" dirty="0"/>
          </a:p>
          <a:p>
            <a:pPr algn="ctr" indent="0" marL="0">
              <a:buNone/>
            </a:pPr>
            <a:r>
              <a:rPr lang="en-US" sz="1300" dirty="0">
                <a:solidFill>
                  <a:srgbClr val="E9E3F7"/>
                </a:solidFill>
                <a:latin typeface="Calibri" pitchFamily="34" charset="0"/>
                <a:ea typeface="Calibri" pitchFamily="34" charset="-122"/>
                <a:cs typeface="Calibri" pitchFamily="34" charset="-120"/>
              </a:rPr>
              <a:t>vector blocks</a:t>
            </a:r>
            <a:endParaRPr lang="en-US" sz="1300" dirty="0"/>
          </a:p>
        </p:txBody>
      </p:sp>
      <p:sp>
        <p:nvSpPr>
          <p:cNvPr id="12" name="Arrow"/>
          <p:cNvSpPr/>
          <p:nvPr/>
        </p:nvSpPr>
        <p:spPr>
          <a:xfrm>
            <a:off x="4133088" y="2331720"/>
            <a:ext cx="146304" cy="274320"/>
          </a:xfrm>
          <a:prstGeom prst="rightArrow">
            <a:avLst/>
          </a:prstGeom>
          <a:solidFill>
            <a:srgbClr val="A794D6"/>
          </a:solidFill>
          <a:ln w="12700">
            <a:solidFill>
              <a:srgbClr val="A794D6"/>
            </a:solidFill>
            <a:prstDash val="solid"/>
          </a:ln>
        </p:spPr>
      </p:sp>
      <p:sp>
        <p:nvSpPr>
          <p:cNvPr id="13" name="MPI step 3"/>
          <p:cNvSpPr/>
          <p:nvPr/>
        </p:nvSpPr>
        <p:spPr>
          <a:xfrm>
            <a:off x="4297680" y="1691640"/>
            <a:ext cx="1691640" cy="1600200"/>
          </a:xfrm>
          <a:prstGeom prst="roundRect">
            <a:avLst>
              <a:gd name="adj" fmla="val 6857"/>
            </a:avLst>
          </a:prstGeom>
          <a:solidFill>
            <a:srgbClr val="E0457B"/>
          </a:solidFill>
          <a:ln w="12700">
            <a:solidFill>
              <a:srgbClr val="E0457B"/>
            </a:solidFill>
            <a:prstDash val="solid"/>
          </a:ln>
        </p:spPr>
      </p:sp>
      <p:sp>
        <p:nvSpPr>
          <p:cNvPr id="14" name="Text 11"/>
          <p:cNvSpPr txBox="1"/>
          <p:nvPr/>
        </p:nvSpPr>
        <p:spPr>
          <a:xfrm>
            <a:off x="4343400" y="1783080"/>
            <a:ext cx="160020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Local assign</a:t>
            </a:r>
            <a:endParaRPr lang="en-US" sz="1500" dirty="0"/>
          </a:p>
        </p:txBody>
      </p:sp>
      <p:sp>
        <p:nvSpPr>
          <p:cNvPr id="15" name="Text 12"/>
          <p:cNvSpPr txBox="1"/>
          <p:nvPr/>
        </p:nvSpPr>
        <p:spPr>
          <a:xfrm>
            <a:off x="4343400" y="2331720"/>
            <a:ext cx="1600200" cy="868680"/>
          </a:xfrm>
          <a:prstGeom prst="rect">
            <a:avLst/>
          </a:prstGeom>
          <a:noFill/>
          <a:ln/>
        </p:spPr>
        <p:txBody>
          <a:bodyPr wrap="square" lIns="0" tIns="0" rIns="0" bIns="0" rtlCol="0" anchor="t"/>
          <a:lstStyle/>
          <a:p>
            <a:pPr algn="ctr" indent="0" marL="0">
              <a:buNone/>
            </a:pPr>
            <a:r>
              <a:rPr lang="en-US" sz="1300" dirty="0">
                <a:solidFill>
                  <a:srgbClr val="E9E3F7"/>
                </a:solidFill>
                <a:latin typeface="Calibri" pitchFamily="34" charset="0"/>
                <a:ea typeface="Calibri" pitchFamily="34" charset="-122"/>
                <a:cs typeface="Calibri" pitchFamily="34" charset="-120"/>
              </a:rPr>
              <a:t>nearest codeword,</a:t>
            </a:r>
            <a:endParaRPr lang="en-US" sz="1300" dirty="0"/>
          </a:p>
          <a:p>
            <a:pPr algn="ctr" indent="0" marL="0">
              <a:buNone/>
            </a:pPr>
            <a:r>
              <a:rPr lang="en-US" sz="1300" dirty="0">
                <a:solidFill>
                  <a:srgbClr val="E9E3F7"/>
                </a:solidFill>
                <a:latin typeface="Calibri" pitchFamily="34" charset="0"/>
                <a:ea typeface="Calibri" pitchFamily="34" charset="-122"/>
                <a:cs typeface="Calibri" pitchFamily="34" charset="-120"/>
              </a:rPr>
              <a:t>partial sums</a:t>
            </a:r>
            <a:endParaRPr lang="en-US" sz="1300" dirty="0"/>
          </a:p>
        </p:txBody>
      </p:sp>
      <p:sp>
        <p:nvSpPr>
          <p:cNvPr id="16" name="Arrow"/>
          <p:cNvSpPr/>
          <p:nvPr/>
        </p:nvSpPr>
        <p:spPr>
          <a:xfrm>
            <a:off x="6007608" y="2331720"/>
            <a:ext cx="146304" cy="274320"/>
          </a:xfrm>
          <a:prstGeom prst="rightArrow">
            <a:avLst/>
          </a:prstGeom>
          <a:solidFill>
            <a:srgbClr val="A794D6"/>
          </a:solidFill>
          <a:ln w="12700">
            <a:solidFill>
              <a:srgbClr val="A794D6"/>
            </a:solidFill>
            <a:prstDash val="solid"/>
          </a:ln>
        </p:spPr>
      </p:sp>
      <p:sp>
        <p:nvSpPr>
          <p:cNvPr id="17" name="MPI step 4"/>
          <p:cNvSpPr/>
          <p:nvPr/>
        </p:nvSpPr>
        <p:spPr>
          <a:xfrm>
            <a:off x="6172200" y="1691640"/>
            <a:ext cx="1691640" cy="1600200"/>
          </a:xfrm>
          <a:prstGeom prst="roundRect">
            <a:avLst>
              <a:gd name="adj" fmla="val 6857"/>
            </a:avLst>
          </a:prstGeom>
          <a:solidFill>
            <a:srgbClr val="2A9D8F"/>
          </a:solidFill>
          <a:ln w="12700">
            <a:solidFill>
              <a:srgbClr val="2A9D8F"/>
            </a:solidFill>
            <a:prstDash val="solid"/>
          </a:ln>
        </p:spPr>
      </p:sp>
      <p:sp>
        <p:nvSpPr>
          <p:cNvPr id="18" name="Text 15"/>
          <p:cNvSpPr txBox="1"/>
          <p:nvPr/>
        </p:nvSpPr>
        <p:spPr>
          <a:xfrm>
            <a:off x="6217920" y="1783080"/>
            <a:ext cx="160020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Allreduce</a:t>
            </a:r>
            <a:endParaRPr lang="en-US" sz="1500" dirty="0"/>
          </a:p>
        </p:txBody>
      </p:sp>
      <p:sp>
        <p:nvSpPr>
          <p:cNvPr id="19" name="Text 16"/>
          <p:cNvSpPr txBox="1"/>
          <p:nvPr/>
        </p:nvSpPr>
        <p:spPr>
          <a:xfrm>
            <a:off x="6217920" y="2331720"/>
            <a:ext cx="1600200" cy="868680"/>
          </a:xfrm>
          <a:prstGeom prst="rect">
            <a:avLst/>
          </a:prstGeom>
          <a:noFill/>
          <a:ln/>
        </p:spPr>
        <p:txBody>
          <a:bodyPr wrap="square" lIns="0" tIns="0" rIns="0" bIns="0" rtlCol="0" anchor="t"/>
          <a:lstStyle/>
          <a:p>
            <a:pPr algn="ctr" indent="0" marL="0">
              <a:buNone/>
            </a:pPr>
            <a:r>
              <a:rPr lang="en-US" sz="1300" dirty="0">
                <a:solidFill>
                  <a:srgbClr val="E9E3F7"/>
                </a:solidFill>
                <a:latin typeface="Calibri" pitchFamily="34" charset="0"/>
                <a:ea typeface="Calibri" pitchFamily="34" charset="-122"/>
                <a:cs typeface="Calibri" pitchFamily="34" charset="-120"/>
              </a:rPr>
              <a:t>sums + counts</a:t>
            </a:r>
            <a:endParaRPr lang="en-US" sz="1300" dirty="0"/>
          </a:p>
          <a:p>
            <a:pPr algn="ctr" indent="0" marL="0">
              <a:buNone/>
            </a:pPr>
            <a:r>
              <a:rPr lang="en-US" sz="1300" dirty="0">
                <a:solidFill>
                  <a:srgbClr val="E9E3F7"/>
                </a:solidFill>
                <a:latin typeface="Calibri" pitchFamily="34" charset="0"/>
                <a:ea typeface="Calibri" pitchFamily="34" charset="-122"/>
                <a:cs typeface="Calibri" pitchFamily="34" charset="-120"/>
              </a:rPr>
              <a:t>(double)</a:t>
            </a:r>
            <a:endParaRPr lang="en-US" sz="1300" dirty="0"/>
          </a:p>
        </p:txBody>
      </p:sp>
      <p:sp>
        <p:nvSpPr>
          <p:cNvPr id="20" name="Arrow"/>
          <p:cNvSpPr/>
          <p:nvPr/>
        </p:nvSpPr>
        <p:spPr>
          <a:xfrm>
            <a:off x="7882128" y="2331720"/>
            <a:ext cx="146304" cy="274320"/>
          </a:xfrm>
          <a:prstGeom prst="rightArrow">
            <a:avLst/>
          </a:prstGeom>
          <a:solidFill>
            <a:srgbClr val="A794D6"/>
          </a:solidFill>
          <a:ln w="12700">
            <a:solidFill>
              <a:srgbClr val="A794D6"/>
            </a:solidFill>
            <a:prstDash val="solid"/>
          </a:ln>
        </p:spPr>
      </p:sp>
      <p:sp>
        <p:nvSpPr>
          <p:cNvPr id="21" name="MPI step 5"/>
          <p:cNvSpPr/>
          <p:nvPr/>
        </p:nvSpPr>
        <p:spPr>
          <a:xfrm>
            <a:off x="8046720" y="1691640"/>
            <a:ext cx="1691640" cy="1600200"/>
          </a:xfrm>
          <a:prstGeom prst="roundRect">
            <a:avLst>
              <a:gd name="adj" fmla="val 6857"/>
            </a:avLst>
          </a:prstGeom>
          <a:solidFill>
            <a:srgbClr val="6B4FA3"/>
          </a:solidFill>
          <a:ln w="12700">
            <a:solidFill>
              <a:srgbClr val="6B4FA3"/>
            </a:solidFill>
            <a:prstDash val="solid"/>
          </a:ln>
        </p:spPr>
      </p:sp>
      <p:sp>
        <p:nvSpPr>
          <p:cNvPr id="22" name="Text 19"/>
          <p:cNvSpPr txBox="1"/>
          <p:nvPr/>
        </p:nvSpPr>
        <p:spPr>
          <a:xfrm>
            <a:off x="8092440" y="1783080"/>
            <a:ext cx="160020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Update</a:t>
            </a:r>
            <a:endParaRPr lang="en-US" sz="1500" dirty="0"/>
          </a:p>
        </p:txBody>
      </p:sp>
      <p:sp>
        <p:nvSpPr>
          <p:cNvPr id="23" name="Text 20"/>
          <p:cNvSpPr txBox="1"/>
          <p:nvPr/>
        </p:nvSpPr>
        <p:spPr>
          <a:xfrm>
            <a:off x="8092440" y="2331720"/>
            <a:ext cx="1600200" cy="868680"/>
          </a:xfrm>
          <a:prstGeom prst="rect">
            <a:avLst/>
          </a:prstGeom>
          <a:noFill/>
          <a:ln/>
        </p:spPr>
        <p:txBody>
          <a:bodyPr wrap="square" lIns="0" tIns="0" rIns="0" bIns="0" rtlCol="0" anchor="t"/>
          <a:lstStyle/>
          <a:p>
            <a:pPr algn="ctr" indent="0" marL="0">
              <a:buNone/>
            </a:pPr>
            <a:r>
              <a:rPr lang="en-US" sz="1300" dirty="0">
                <a:solidFill>
                  <a:srgbClr val="E9E3F7"/>
                </a:solidFill>
                <a:latin typeface="Calibri" pitchFamily="34" charset="0"/>
                <a:ea typeface="Calibri" pitchFamily="34" charset="-122"/>
                <a:cs typeface="Calibri" pitchFamily="34" charset="-120"/>
              </a:rPr>
              <a:t>new codebook</a:t>
            </a:r>
            <a:endParaRPr lang="en-US" sz="1300" dirty="0"/>
          </a:p>
          <a:p>
            <a:pPr algn="ctr" indent="0" marL="0">
              <a:buNone/>
            </a:pPr>
            <a:r>
              <a:rPr lang="en-US" sz="1300" dirty="0">
                <a:solidFill>
                  <a:srgbClr val="E9E3F7"/>
                </a:solidFill>
                <a:latin typeface="Calibri" pitchFamily="34" charset="0"/>
                <a:ea typeface="Calibri" pitchFamily="34" charset="-122"/>
                <a:cs typeface="Calibri" pitchFamily="34" charset="-120"/>
              </a:rPr>
              <a:t>on every rank</a:t>
            </a:r>
            <a:endParaRPr lang="en-US" sz="1300" dirty="0"/>
          </a:p>
        </p:txBody>
      </p:sp>
      <p:sp>
        <p:nvSpPr>
          <p:cNvPr id="24" name="Arrow"/>
          <p:cNvSpPr/>
          <p:nvPr/>
        </p:nvSpPr>
        <p:spPr>
          <a:xfrm>
            <a:off x="9756648" y="2331720"/>
            <a:ext cx="146304" cy="274320"/>
          </a:xfrm>
          <a:prstGeom prst="rightArrow">
            <a:avLst/>
          </a:prstGeom>
          <a:solidFill>
            <a:srgbClr val="A794D6"/>
          </a:solidFill>
          <a:ln w="12700">
            <a:solidFill>
              <a:srgbClr val="A794D6"/>
            </a:solidFill>
            <a:prstDash val="solid"/>
          </a:ln>
        </p:spPr>
      </p:sp>
      <p:sp>
        <p:nvSpPr>
          <p:cNvPr id="25" name="MPI step 6"/>
          <p:cNvSpPr/>
          <p:nvPr/>
        </p:nvSpPr>
        <p:spPr>
          <a:xfrm>
            <a:off x="9921240" y="1691640"/>
            <a:ext cx="1691640" cy="1600200"/>
          </a:xfrm>
          <a:prstGeom prst="roundRect">
            <a:avLst>
              <a:gd name="adj" fmla="val 6857"/>
            </a:avLst>
          </a:prstGeom>
          <a:solidFill>
            <a:srgbClr val="2E2055"/>
          </a:solidFill>
          <a:ln w="12700">
            <a:solidFill>
              <a:srgbClr val="2E2055"/>
            </a:solidFill>
            <a:prstDash val="solid"/>
          </a:ln>
        </p:spPr>
      </p:sp>
      <p:sp>
        <p:nvSpPr>
          <p:cNvPr id="26" name="Text 23"/>
          <p:cNvSpPr txBox="1"/>
          <p:nvPr/>
        </p:nvSpPr>
        <p:spPr>
          <a:xfrm>
            <a:off x="9966960" y="1783080"/>
            <a:ext cx="160020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Gatherv</a:t>
            </a:r>
            <a:endParaRPr lang="en-US" sz="1500" dirty="0"/>
          </a:p>
        </p:txBody>
      </p:sp>
      <p:sp>
        <p:nvSpPr>
          <p:cNvPr id="27" name="Text 24"/>
          <p:cNvSpPr txBox="1"/>
          <p:nvPr/>
        </p:nvSpPr>
        <p:spPr>
          <a:xfrm>
            <a:off x="9966960" y="2331720"/>
            <a:ext cx="1600200" cy="868680"/>
          </a:xfrm>
          <a:prstGeom prst="rect">
            <a:avLst/>
          </a:prstGeom>
          <a:noFill/>
          <a:ln/>
        </p:spPr>
        <p:txBody>
          <a:bodyPr wrap="square" lIns="0" tIns="0" rIns="0" bIns="0" rtlCol="0" anchor="t"/>
          <a:lstStyle/>
          <a:p>
            <a:pPr algn="ctr" indent="0" marL="0">
              <a:buNone/>
            </a:pPr>
            <a:r>
              <a:rPr lang="en-US" sz="1300" dirty="0">
                <a:solidFill>
                  <a:srgbClr val="E9E3F7"/>
                </a:solidFill>
                <a:latin typeface="Calibri" pitchFamily="34" charset="0"/>
                <a:ea typeface="Calibri" pitchFamily="34" charset="-122"/>
                <a:cs typeface="Calibri" pitchFamily="34" charset="-120"/>
              </a:rPr>
              <a:t>labels to rank 0</a:t>
            </a:r>
            <a:endParaRPr lang="en-US" sz="1300" dirty="0"/>
          </a:p>
        </p:txBody>
      </p:sp>
      <p:sp>
        <p:nvSpPr>
          <p:cNvPr id="28" name="Loop line"/>
          <p:cNvSpPr/>
          <p:nvPr/>
        </p:nvSpPr>
        <p:spPr>
          <a:xfrm>
            <a:off x="5394960" y="3429000"/>
            <a:ext cx="3611880" cy="0"/>
          </a:xfrm>
          <a:prstGeom prst="rect">
            <a:avLst/>
          </a:prstGeom>
          <a:noFill/>
          <a:ln w="19050">
            <a:solidFill>
              <a:srgbClr val="E0457B"/>
            </a:solidFill>
            <a:prstDash val="dash"/>
          </a:ln>
        </p:spPr>
      </p:sp>
      <p:sp>
        <p:nvSpPr>
          <p:cNvPr id="29" name="Text 26"/>
          <p:cNvSpPr txBox="1"/>
          <p:nvPr/>
        </p:nvSpPr>
        <p:spPr>
          <a:xfrm>
            <a:off x="5394960" y="3474720"/>
            <a:ext cx="3611880" cy="320040"/>
          </a:xfrm>
          <a:prstGeom prst="rect">
            <a:avLst/>
          </a:prstGeom>
          <a:noFill/>
          <a:ln/>
        </p:spPr>
        <p:txBody>
          <a:bodyPr wrap="square" lIns="0" tIns="0" rIns="0" bIns="0" rtlCol="0" anchor="t"/>
          <a:lstStyle/>
          <a:p>
            <a:pPr algn="ctr" indent="0" marL="0">
              <a:buNone/>
            </a:pPr>
            <a:r>
              <a:rPr lang="en-US" sz="1300" b="1" dirty="0">
                <a:solidFill>
                  <a:srgbClr val="E0457B"/>
                </a:solidFill>
                <a:latin typeface="Calibri" pitchFamily="34" charset="0"/>
                <a:ea typeface="Calibri" pitchFamily="34" charset="-122"/>
                <a:cs typeface="Calibri" pitchFamily="34" charset="-120"/>
              </a:rPr>
              <a:t>loop: repeat until converged</a:t>
            </a:r>
            <a:endParaRPr lang="en-US" sz="1300" dirty="0"/>
          </a:p>
        </p:txBody>
      </p:sp>
      <p:sp>
        <p:nvSpPr>
          <p:cNvPr id="30" name="Why exact"/>
          <p:cNvSpPr/>
          <p:nvPr/>
        </p:nvSpPr>
        <p:spPr>
          <a:xfrm>
            <a:off x="548640" y="4023360"/>
            <a:ext cx="5440680" cy="2148840"/>
          </a:xfrm>
          <a:prstGeom prst="roundRect">
            <a:avLst>
              <a:gd name="adj" fmla="val 5106"/>
            </a:avLst>
          </a:prstGeom>
          <a:solidFill>
            <a:srgbClr val="F5F1FB"/>
          </a:solidFill>
          <a:ln w="12700">
            <a:solidFill>
              <a:srgbClr val="F5F1FB"/>
            </a:solidFill>
            <a:prstDash val="solid"/>
          </a:ln>
        </p:spPr>
      </p:sp>
      <p:sp>
        <p:nvSpPr>
          <p:cNvPr id="31" name="Text 28"/>
          <p:cNvSpPr txBox="1"/>
          <p:nvPr/>
        </p:nvSpPr>
        <p:spPr>
          <a:xfrm>
            <a:off x="822960" y="4160520"/>
            <a:ext cx="4937760" cy="365760"/>
          </a:xfrm>
          <a:prstGeom prst="rect">
            <a:avLst/>
          </a:prstGeom>
          <a:noFill/>
          <a:ln/>
        </p:spPr>
        <p:txBody>
          <a:bodyPr wrap="square" lIns="0" tIns="0" rIns="0" bIns="0" rtlCol="0" anchor="t"/>
          <a:lstStyle/>
          <a:p>
            <a:pPr indent="0" marL="0">
              <a:buNone/>
            </a:pPr>
            <a:r>
              <a:rPr lang="en-US" sz="1800" b="1" dirty="0">
                <a:solidFill>
                  <a:srgbClr val="6B4FA3"/>
                </a:solidFill>
                <a:latin typeface="Calibri" pitchFamily="34" charset="0"/>
                <a:ea typeface="Calibri" pitchFamily="34" charset="-122"/>
                <a:cs typeface="Calibri" pitchFamily="34" charset="-120"/>
              </a:rPr>
              <a:t>Why the result does not depend on P</a:t>
            </a:r>
            <a:endParaRPr lang="en-US" sz="1800" dirty="0"/>
          </a:p>
        </p:txBody>
      </p:sp>
      <p:sp>
        <p:nvSpPr>
          <p:cNvPr id="32" name="Text 29"/>
          <p:cNvSpPr txBox="1"/>
          <p:nvPr/>
        </p:nvSpPr>
        <p:spPr>
          <a:xfrm>
            <a:off x="822960" y="4617720"/>
            <a:ext cx="4937760" cy="146304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Training vectors are integers 0…255, so sums and counts are exact in double precision and independent of summation order. The iteration count was the same for every P.</a:t>
            </a:r>
            <a:endParaRPr lang="en-US" sz="1500" dirty="0"/>
          </a:p>
        </p:txBody>
      </p:sp>
      <p:sp>
        <p:nvSpPr>
          <p:cNvPr id="33" name="Non-parallel"/>
          <p:cNvSpPr/>
          <p:nvPr/>
        </p:nvSpPr>
        <p:spPr>
          <a:xfrm>
            <a:off x="6199632" y="4023360"/>
            <a:ext cx="5440680" cy="2148840"/>
          </a:xfrm>
          <a:prstGeom prst="roundRect">
            <a:avLst>
              <a:gd name="adj" fmla="val 5106"/>
            </a:avLst>
          </a:prstGeom>
          <a:solidFill>
            <a:srgbClr val="F5F1FB"/>
          </a:solidFill>
          <a:ln w="12700">
            <a:solidFill>
              <a:srgbClr val="F5F1FB"/>
            </a:solidFill>
            <a:prstDash val="solid"/>
          </a:ln>
        </p:spPr>
      </p:sp>
      <p:sp>
        <p:nvSpPr>
          <p:cNvPr id="34" name="Text 31"/>
          <p:cNvSpPr txBox="1"/>
          <p:nvPr/>
        </p:nvSpPr>
        <p:spPr>
          <a:xfrm>
            <a:off x="6473952" y="4160520"/>
            <a:ext cx="4937760" cy="365760"/>
          </a:xfrm>
          <a:prstGeom prst="rect">
            <a:avLst/>
          </a:prstGeom>
          <a:noFill/>
          <a:ln/>
        </p:spPr>
        <p:txBody>
          <a:bodyPr wrap="square" lIns="0" tIns="0" rIns="0" bIns="0" rtlCol="0" anchor="t"/>
          <a:lstStyle/>
          <a:p>
            <a:pPr indent="0" marL="0">
              <a:buNone/>
            </a:pPr>
            <a:r>
              <a:rPr lang="en-US" sz="1800" b="1" dirty="0">
                <a:solidFill>
                  <a:srgbClr val="E0457B"/>
                </a:solidFill>
                <a:latin typeface="Calibri" pitchFamily="34" charset="0"/>
                <a:ea typeface="Calibri" pitchFamily="34" charset="-122"/>
                <a:cs typeface="Calibri" pitchFamily="34" charset="-120"/>
              </a:rPr>
              <a:t>What stays on rank 0</a:t>
            </a:r>
            <a:endParaRPr lang="en-US" sz="1800" dirty="0"/>
          </a:p>
        </p:txBody>
      </p:sp>
      <p:sp>
        <p:nvSpPr>
          <p:cNvPr id="35" name="Text 32"/>
          <p:cNvSpPr txBox="1"/>
          <p:nvPr/>
        </p:nvSpPr>
        <p:spPr>
          <a:xfrm>
            <a:off x="6473952" y="4617720"/>
            <a:ext cx="4937760" cy="146304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Image I/O, delta coding, Huffman, reconstruction and metrics. These stages limit the total speedup (Amdahl).</a:t>
            </a:r>
            <a:endParaRPr lang="en-US" sz="15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5 · PROPOSED WORK</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Equal vs Adaptive workload distribution</a:t>
            </a:r>
            <a:endParaRPr lang="en-US" sz="3000" dirty="0"/>
          </a:p>
        </p:txBody>
      </p:sp>
      <p:sp>
        <p:nvSpPr>
          <p:cNvPr id="5" name="Text 2"/>
          <p:cNvSpPr txBox="1"/>
          <p:nvPr/>
        </p:nvSpPr>
        <p:spPr>
          <a:xfrm>
            <a:off x="548640" y="1554480"/>
            <a:ext cx="5394960" cy="365760"/>
          </a:xfrm>
          <a:prstGeom prst="rect">
            <a:avLst/>
          </a:prstGeom>
          <a:noFill/>
          <a:ln/>
        </p:spPr>
        <p:txBody>
          <a:bodyPr wrap="square" lIns="0" tIns="0" rIns="0" bIns="0" rtlCol="0" anchor="t"/>
          <a:lstStyle/>
          <a:p>
            <a:pPr indent="0" marL="0">
              <a:buNone/>
            </a:pPr>
            <a:r>
              <a:rPr lang="en-US" sz="2000" b="1" dirty="0">
                <a:solidFill>
                  <a:srgbClr val="5E5878"/>
                </a:solidFill>
                <a:latin typeface="Calibri" pitchFamily="34" charset="0"/>
                <a:ea typeface="Calibri" pitchFamily="34" charset="-122"/>
                <a:cs typeface="Calibri" pitchFamily="34" charset="-120"/>
              </a:rPr>
              <a:t>Equal</a:t>
            </a:r>
            <a:endParaRPr lang="en-US" sz="2000" dirty="0"/>
          </a:p>
        </p:txBody>
      </p:sp>
      <p:sp>
        <p:nvSpPr>
          <p:cNvPr id="6" name="Share bar"/>
          <p:cNvSpPr/>
          <p:nvPr/>
        </p:nvSpPr>
        <p:spPr>
          <a:xfrm>
            <a:off x="1645920" y="2103120"/>
            <a:ext cx="3291840" cy="402336"/>
          </a:xfrm>
          <a:prstGeom prst="roundRect">
            <a:avLst>
              <a:gd name="adj" fmla="val 13636"/>
            </a:avLst>
          </a:prstGeom>
          <a:solidFill>
            <a:srgbClr val="6B4FA3"/>
          </a:solidFill>
          <a:ln w="12700">
            <a:solidFill>
              <a:srgbClr val="FFFFFF"/>
            </a:solidFill>
            <a:prstDash val="solid"/>
          </a:ln>
        </p:spPr>
      </p:sp>
      <p:sp>
        <p:nvSpPr>
          <p:cNvPr id="7" name="Text 4"/>
          <p:cNvSpPr txBox="1"/>
          <p:nvPr/>
        </p:nvSpPr>
        <p:spPr>
          <a:xfrm>
            <a:off x="548640" y="2103120"/>
            <a:ext cx="1051560" cy="402336"/>
          </a:xfrm>
          <a:prstGeom prst="rect">
            <a:avLst/>
          </a:prstGeom>
          <a:noFill/>
          <a:ln/>
        </p:spPr>
        <p:txBody>
          <a:bodyPr wrap="square" lIns="0" tIns="0" rIns="0" bIns="0" rtlCol="0" anchor="ctr"/>
          <a:lstStyle/>
          <a:p>
            <a:pPr indent="0" marL="0">
              <a:buNone/>
            </a:pPr>
            <a:r>
              <a:rPr lang="en-US" sz="1200" dirty="0">
                <a:solidFill>
                  <a:srgbClr val="5E5878"/>
                </a:solidFill>
                <a:latin typeface="Calibri" pitchFamily="34" charset="0"/>
                <a:ea typeface="Calibri" pitchFamily="34" charset="-122"/>
                <a:cs typeface="Calibri" pitchFamily="34" charset="-120"/>
              </a:rPr>
              <a:t>P-core rank</a:t>
            </a:r>
            <a:endParaRPr lang="en-US" sz="1200" dirty="0"/>
          </a:p>
        </p:txBody>
      </p:sp>
      <p:sp>
        <p:nvSpPr>
          <p:cNvPr id="8" name="Share bar"/>
          <p:cNvSpPr/>
          <p:nvPr/>
        </p:nvSpPr>
        <p:spPr>
          <a:xfrm>
            <a:off x="1645920" y="2670048"/>
            <a:ext cx="3291840" cy="402336"/>
          </a:xfrm>
          <a:prstGeom prst="roundRect">
            <a:avLst>
              <a:gd name="adj" fmla="val 13636"/>
            </a:avLst>
          </a:prstGeom>
          <a:solidFill>
            <a:srgbClr val="6B4FA3"/>
          </a:solidFill>
          <a:ln w="12700">
            <a:solidFill>
              <a:srgbClr val="FFFFFF"/>
            </a:solidFill>
            <a:prstDash val="solid"/>
          </a:ln>
        </p:spPr>
      </p:sp>
      <p:sp>
        <p:nvSpPr>
          <p:cNvPr id="9" name="Text 6"/>
          <p:cNvSpPr txBox="1"/>
          <p:nvPr/>
        </p:nvSpPr>
        <p:spPr>
          <a:xfrm>
            <a:off x="548640" y="2670048"/>
            <a:ext cx="1051560" cy="402336"/>
          </a:xfrm>
          <a:prstGeom prst="rect">
            <a:avLst/>
          </a:prstGeom>
          <a:noFill/>
          <a:ln/>
        </p:spPr>
        <p:txBody>
          <a:bodyPr wrap="square" lIns="0" tIns="0" rIns="0" bIns="0" rtlCol="0" anchor="ctr"/>
          <a:lstStyle/>
          <a:p>
            <a:pPr indent="0" marL="0">
              <a:buNone/>
            </a:pPr>
            <a:r>
              <a:rPr lang="en-US" sz="1200" dirty="0">
                <a:solidFill>
                  <a:srgbClr val="5E5878"/>
                </a:solidFill>
                <a:latin typeface="Calibri" pitchFamily="34" charset="0"/>
                <a:ea typeface="Calibri" pitchFamily="34" charset="-122"/>
                <a:cs typeface="Calibri" pitchFamily="34" charset="-120"/>
              </a:rPr>
              <a:t>P-core rank</a:t>
            </a:r>
            <a:endParaRPr lang="en-US" sz="1200" dirty="0"/>
          </a:p>
        </p:txBody>
      </p:sp>
      <p:sp>
        <p:nvSpPr>
          <p:cNvPr id="10" name="Share bar"/>
          <p:cNvSpPr/>
          <p:nvPr/>
        </p:nvSpPr>
        <p:spPr>
          <a:xfrm>
            <a:off x="1645920" y="3236976"/>
            <a:ext cx="3291840" cy="402336"/>
          </a:xfrm>
          <a:prstGeom prst="roundRect">
            <a:avLst>
              <a:gd name="adj" fmla="val 13636"/>
            </a:avLst>
          </a:prstGeom>
          <a:solidFill>
            <a:srgbClr val="A794D6"/>
          </a:solidFill>
          <a:ln w="12700">
            <a:solidFill>
              <a:srgbClr val="FFFFFF"/>
            </a:solidFill>
            <a:prstDash val="solid"/>
          </a:ln>
        </p:spPr>
      </p:sp>
      <p:sp>
        <p:nvSpPr>
          <p:cNvPr id="11" name="Text 8"/>
          <p:cNvSpPr txBox="1"/>
          <p:nvPr/>
        </p:nvSpPr>
        <p:spPr>
          <a:xfrm>
            <a:off x="548640" y="3236976"/>
            <a:ext cx="1051560" cy="402336"/>
          </a:xfrm>
          <a:prstGeom prst="rect">
            <a:avLst/>
          </a:prstGeom>
          <a:noFill/>
          <a:ln/>
        </p:spPr>
        <p:txBody>
          <a:bodyPr wrap="square" lIns="0" tIns="0" rIns="0" bIns="0" rtlCol="0" anchor="ctr"/>
          <a:lstStyle/>
          <a:p>
            <a:pPr indent="0" marL="0">
              <a:buNone/>
            </a:pPr>
            <a:r>
              <a:rPr lang="en-US" sz="1200" dirty="0">
                <a:solidFill>
                  <a:srgbClr val="5E5878"/>
                </a:solidFill>
                <a:latin typeface="Calibri" pitchFamily="34" charset="0"/>
                <a:ea typeface="Calibri" pitchFamily="34" charset="-122"/>
                <a:cs typeface="Calibri" pitchFamily="34" charset="-120"/>
              </a:rPr>
              <a:t>E-core rank</a:t>
            </a:r>
            <a:endParaRPr lang="en-US" sz="1200" dirty="0"/>
          </a:p>
        </p:txBody>
      </p:sp>
      <p:sp>
        <p:nvSpPr>
          <p:cNvPr id="12" name="Share bar"/>
          <p:cNvSpPr/>
          <p:nvPr/>
        </p:nvSpPr>
        <p:spPr>
          <a:xfrm>
            <a:off x="1645920" y="3803904"/>
            <a:ext cx="3291840" cy="402336"/>
          </a:xfrm>
          <a:prstGeom prst="roundRect">
            <a:avLst>
              <a:gd name="adj" fmla="val 13636"/>
            </a:avLst>
          </a:prstGeom>
          <a:solidFill>
            <a:srgbClr val="A794D6"/>
          </a:solidFill>
          <a:ln w="12700">
            <a:solidFill>
              <a:srgbClr val="FFFFFF"/>
            </a:solidFill>
            <a:prstDash val="solid"/>
          </a:ln>
        </p:spPr>
      </p:sp>
      <p:sp>
        <p:nvSpPr>
          <p:cNvPr id="13" name="Text 10"/>
          <p:cNvSpPr txBox="1"/>
          <p:nvPr/>
        </p:nvSpPr>
        <p:spPr>
          <a:xfrm>
            <a:off x="548640" y="3803904"/>
            <a:ext cx="1051560" cy="402336"/>
          </a:xfrm>
          <a:prstGeom prst="rect">
            <a:avLst/>
          </a:prstGeom>
          <a:noFill/>
          <a:ln/>
        </p:spPr>
        <p:txBody>
          <a:bodyPr wrap="square" lIns="0" tIns="0" rIns="0" bIns="0" rtlCol="0" anchor="ctr"/>
          <a:lstStyle/>
          <a:p>
            <a:pPr indent="0" marL="0">
              <a:buNone/>
            </a:pPr>
            <a:r>
              <a:rPr lang="en-US" sz="1200" dirty="0">
                <a:solidFill>
                  <a:srgbClr val="5E5878"/>
                </a:solidFill>
                <a:latin typeface="Calibri" pitchFamily="34" charset="0"/>
                <a:ea typeface="Calibri" pitchFamily="34" charset="-122"/>
                <a:cs typeface="Calibri" pitchFamily="34" charset="-120"/>
              </a:rPr>
              <a:t>E-core rank</a:t>
            </a:r>
            <a:endParaRPr lang="en-US" sz="1200" dirty="0"/>
          </a:p>
        </p:txBody>
      </p:sp>
      <p:sp>
        <p:nvSpPr>
          <p:cNvPr id="14" name="Text 11"/>
          <p:cNvSpPr txBox="1"/>
          <p:nvPr/>
        </p:nvSpPr>
        <p:spPr>
          <a:xfrm>
            <a:off x="6245352" y="1554480"/>
            <a:ext cx="5394960" cy="365760"/>
          </a:xfrm>
          <a:prstGeom prst="rect">
            <a:avLst/>
          </a:prstGeom>
          <a:noFill/>
          <a:ln/>
        </p:spPr>
        <p:txBody>
          <a:bodyPr wrap="square" lIns="0" tIns="0" rIns="0" bIns="0" rtlCol="0" anchor="t"/>
          <a:lstStyle/>
          <a:p>
            <a:pPr indent="0" marL="0">
              <a:buNone/>
            </a:pPr>
            <a:r>
              <a:rPr lang="en-US" sz="2000" b="1" dirty="0">
                <a:solidFill>
                  <a:srgbClr val="E0457B"/>
                </a:solidFill>
                <a:latin typeface="Calibri" pitchFamily="34" charset="0"/>
                <a:ea typeface="Calibri" pitchFamily="34" charset="-122"/>
                <a:cs typeface="Calibri" pitchFamily="34" charset="-120"/>
              </a:rPr>
              <a:t>Adaptive (speed-weighted)</a:t>
            </a:r>
            <a:endParaRPr lang="en-US" sz="2000" dirty="0"/>
          </a:p>
        </p:txBody>
      </p:sp>
      <p:sp>
        <p:nvSpPr>
          <p:cNvPr id="15" name="Share bar"/>
          <p:cNvSpPr/>
          <p:nvPr/>
        </p:nvSpPr>
        <p:spPr>
          <a:xfrm>
            <a:off x="7342632" y="2103120"/>
            <a:ext cx="3840480" cy="402336"/>
          </a:xfrm>
          <a:prstGeom prst="roundRect">
            <a:avLst>
              <a:gd name="adj" fmla="val 13636"/>
            </a:avLst>
          </a:prstGeom>
          <a:solidFill>
            <a:srgbClr val="6B4FA3"/>
          </a:solidFill>
          <a:ln w="12700">
            <a:solidFill>
              <a:srgbClr val="FFFFFF"/>
            </a:solidFill>
            <a:prstDash val="solid"/>
          </a:ln>
        </p:spPr>
      </p:sp>
      <p:sp>
        <p:nvSpPr>
          <p:cNvPr id="16" name="Text 13"/>
          <p:cNvSpPr txBox="1"/>
          <p:nvPr/>
        </p:nvSpPr>
        <p:spPr>
          <a:xfrm>
            <a:off x="6245352" y="2103120"/>
            <a:ext cx="1051560" cy="402336"/>
          </a:xfrm>
          <a:prstGeom prst="rect">
            <a:avLst/>
          </a:prstGeom>
          <a:noFill/>
          <a:ln/>
        </p:spPr>
        <p:txBody>
          <a:bodyPr wrap="square" lIns="0" tIns="0" rIns="0" bIns="0" rtlCol="0" anchor="ctr"/>
          <a:lstStyle/>
          <a:p>
            <a:pPr indent="0" marL="0">
              <a:buNone/>
            </a:pPr>
            <a:r>
              <a:rPr lang="en-US" sz="1200" dirty="0">
                <a:solidFill>
                  <a:srgbClr val="5E5878"/>
                </a:solidFill>
                <a:latin typeface="Calibri" pitchFamily="34" charset="0"/>
                <a:ea typeface="Calibri" pitchFamily="34" charset="-122"/>
                <a:cs typeface="Calibri" pitchFamily="34" charset="-120"/>
              </a:rPr>
              <a:t>P-core rank</a:t>
            </a:r>
            <a:endParaRPr lang="en-US" sz="1200" dirty="0"/>
          </a:p>
        </p:txBody>
      </p:sp>
      <p:sp>
        <p:nvSpPr>
          <p:cNvPr id="17" name="Share bar"/>
          <p:cNvSpPr/>
          <p:nvPr/>
        </p:nvSpPr>
        <p:spPr>
          <a:xfrm>
            <a:off x="7342632" y="2670048"/>
            <a:ext cx="3840480" cy="402336"/>
          </a:xfrm>
          <a:prstGeom prst="roundRect">
            <a:avLst>
              <a:gd name="adj" fmla="val 13636"/>
            </a:avLst>
          </a:prstGeom>
          <a:solidFill>
            <a:srgbClr val="6B4FA3"/>
          </a:solidFill>
          <a:ln w="12700">
            <a:solidFill>
              <a:srgbClr val="FFFFFF"/>
            </a:solidFill>
            <a:prstDash val="solid"/>
          </a:ln>
        </p:spPr>
      </p:sp>
      <p:sp>
        <p:nvSpPr>
          <p:cNvPr id="18" name="Text 15"/>
          <p:cNvSpPr txBox="1"/>
          <p:nvPr/>
        </p:nvSpPr>
        <p:spPr>
          <a:xfrm>
            <a:off x="6245352" y="2670048"/>
            <a:ext cx="1051560" cy="402336"/>
          </a:xfrm>
          <a:prstGeom prst="rect">
            <a:avLst/>
          </a:prstGeom>
          <a:noFill/>
          <a:ln/>
        </p:spPr>
        <p:txBody>
          <a:bodyPr wrap="square" lIns="0" tIns="0" rIns="0" bIns="0" rtlCol="0" anchor="ctr"/>
          <a:lstStyle/>
          <a:p>
            <a:pPr indent="0" marL="0">
              <a:buNone/>
            </a:pPr>
            <a:r>
              <a:rPr lang="en-US" sz="1200" dirty="0">
                <a:solidFill>
                  <a:srgbClr val="5E5878"/>
                </a:solidFill>
                <a:latin typeface="Calibri" pitchFamily="34" charset="0"/>
                <a:ea typeface="Calibri" pitchFamily="34" charset="-122"/>
                <a:cs typeface="Calibri" pitchFamily="34" charset="-120"/>
              </a:rPr>
              <a:t>P-core rank</a:t>
            </a:r>
            <a:endParaRPr lang="en-US" sz="1200" dirty="0"/>
          </a:p>
        </p:txBody>
      </p:sp>
      <p:sp>
        <p:nvSpPr>
          <p:cNvPr id="19" name="Share bar"/>
          <p:cNvSpPr/>
          <p:nvPr/>
        </p:nvSpPr>
        <p:spPr>
          <a:xfrm>
            <a:off x="7342632" y="3236976"/>
            <a:ext cx="2743200" cy="402336"/>
          </a:xfrm>
          <a:prstGeom prst="roundRect">
            <a:avLst>
              <a:gd name="adj" fmla="val 13636"/>
            </a:avLst>
          </a:prstGeom>
          <a:solidFill>
            <a:srgbClr val="A794D6"/>
          </a:solidFill>
          <a:ln w="12700">
            <a:solidFill>
              <a:srgbClr val="FFFFFF"/>
            </a:solidFill>
            <a:prstDash val="solid"/>
          </a:ln>
        </p:spPr>
      </p:sp>
      <p:sp>
        <p:nvSpPr>
          <p:cNvPr id="20" name="Text 17"/>
          <p:cNvSpPr txBox="1"/>
          <p:nvPr/>
        </p:nvSpPr>
        <p:spPr>
          <a:xfrm>
            <a:off x="6245352" y="3236976"/>
            <a:ext cx="1051560" cy="402336"/>
          </a:xfrm>
          <a:prstGeom prst="rect">
            <a:avLst/>
          </a:prstGeom>
          <a:noFill/>
          <a:ln/>
        </p:spPr>
        <p:txBody>
          <a:bodyPr wrap="square" lIns="0" tIns="0" rIns="0" bIns="0" rtlCol="0" anchor="ctr"/>
          <a:lstStyle/>
          <a:p>
            <a:pPr indent="0" marL="0">
              <a:buNone/>
            </a:pPr>
            <a:r>
              <a:rPr lang="en-US" sz="1200" dirty="0">
                <a:solidFill>
                  <a:srgbClr val="5E5878"/>
                </a:solidFill>
                <a:latin typeface="Calibri" pitchFamily="34" charset="0"/>
                <a:ea typeface="Calibri" pitchFamily="34" charset="-122"/>
                <a:cs typeface="Calibri" pitchFamily="34" charset="-120"/>
              </a:rPr>
              <a:t>E-core rank</a:t>
            </a:r>
            <a:endParaRPr lang="en-US" sz="1200" dirty="0"/>
          </a:p>
        </p:txBody>
      </p:sp>
      <p:sp>
        <p:nvSpPr>
          <p:cNvPr id="21" name="Share bar"/>
          <p:cNvSpPr/>
          <p:nvPr/>
        </p:nvSpPr>
        <p:spPr>
          <a:xfrm>
            <a:off x="7342632" y="3803904"/>
            <a:ext cx="2743200" cy="402336"/>
          </a:xfrm>
          <a:prstGeom prst="roundRect">
            <a:avLst>
              <a:gd name="adj" fmla="val 13636"/>
            </a:avLst>
          </a:prstGeom>
          <a:solidFill>
            <a:srgbClr val="A794D6"/>
          </a:solidFill>
          <a:ln w="12700">
            <a:solidFill>
              <a:srgbClr val="FFFFFF"/>
            </a:solidFill>
            <a:prstDash val="solid"/>
          </a:ln>
        </p:spPr>
      </p:sp>
      <p:sp>
        <p:nvSpPr>
          <p:cNvPr id="22" name="Text 19"/>
          <p:cNvSpPr txBox="1"/>
          <p:nvPr/>
        </p:nvSpPr>
        <p:spPr>
          <a:xfrm>
            <a:off x="6245352" y="3803904"/>
            <a:ext cx="1051560" cy="402336"/>
          </a:xfrm>
          <a:prstGeom prst="rect">
            <a:avLst/>
          </a:prstGeom>
          <a:noFill/>
          <a:ln/>
        </p:spPr>
        <p:txBody>
          <a:bodyPr wrap="square" lIns="0" tIns="0" rIns="0" bIns="0" rtlCol="0" anchor="ctr"/>
          <a:lstStyle/>
          <a:p>
            <a:pPr indent="0" marL="0">
              <a:buNone/>
            </a:pPr>
            <a:r>
              <a:rPr lang="en-US" sz="1200" dirty="0">
                <a:solidFill>
                  <a:srgbClr val="5E5878"/>
                </a:solidFill>
                <a:latin typeface="Calibri" pitchFamily="34" charset="0"/>
                <a:ea typeface="Calibri" pitchFamily="34" charset="-122"/>
                <a:cs typeface="Calibri" pitchFamily="34" charset="-120"/>
              </a:rPr>
              <a:t>E-core rank</a:t>
            </a:r>
            <a:endParaRPr lang="en-US" sz="1200" dirty="0"/>
          </a:p>
        </p:txBody>
      </p:sp>
      <p:sp>
        <p:nvSpPr>
          <p:cNvPr id="23" name="Text 20"/>
          <p:cNvSpPr txBox="1"/>
          <p:nvPr/>
        </p:nvSpPr>
        <p:spPr>
          <a:xfrm>
            <a:off x="548640" y="4434840"/>
            <a:ext cx="5486400" cy="274320"/>
          </a:xfrm>
          <a:prstGeom prst="rect">
            <a:avLst/>
          </a:prstGeom>
          <a:noFill/>
          <a:ln/>
        </p:spPr>
        <p:txBody>
          <a:bodyPr wrap="square" lIns="0" tIns="0" rIns="0" bIns="0" rtlCol="0" anchor="t"/>
          <a:lstStyle/>
          <a:p>
            <a:pPr indent="0" marL="0">
              <a:buNone/>
            </a:pPr>
            <a:r>
              <a:rPr lang="en-US" sz="1100" i="1" dirty="0">
                <a:solidFill>
                  <a:srgbClr val="5E5878"/>
                </a:solidFill>
                <a:latin typeface="Calibri" pitchFamily="34" charset="0"/>
                <a:ea typeface="Calibri" pitchFamily="34" charset="-122"/>
                <a:cs typeface="Calibri" pitchFamily="34" charset="-120"/>
              </a:rPr>
              <a:t>schematic: share of training vectors per rank</a:t>
            </a:r>
            <a:endParaRPr lang="en-US" sz="1100" dirty="0"/>
          </a:p>
        </p:txBody>
      </p:sp>
      <p:sp>
        <p:nvSpPr>
          <p:cNvPr id="24" name="Equal card"/>
          <p:cNvSpPr/>
          <p:nvPr/>
        </p:nvSpPr>
        <p:spPr>
          <a:xfrm>
            <a:off x="548640" y="4754880"/>
            <a:ext cx="5440680" cy="1417320"/>
          </a:xfrm>
          <a:prstGeom prst="roundRect">
            <a:avLst>
              <a:gd name="adj" fmla="val 7742"/>
            </a:avLst>
          </a:prstGeom>
          <a:solidFill>
            <a:srgbClr val="F5F1FB"/>
          </a:solidFill>
          <a:ln w="12700">
            <a:solidFill>
              <a:srgbClr val="F5F1FB"/>
            </a:solidFill>
            <a:prstDash val="solid"/>
          </a:ln>
        </p:spPr>
      </p:sp>
      <p:sp>
        <p:nvSpPr>
          <p:cNvPr id="25" name="Text 22"/>
          <p:cNvSpPr txBox="1"/>
          <p:nvPr/>
        </p:nvSpPr>
        <p:spPr>
          <a:xfrm>
            <a:off x="822960" y="4846320"/>
            <a:ext cx="4937760" cy="365760"/>
          </a:xfrm>
          <a:prstGeom prst="rect">
            <a:avLst/>
          </a:prstGeom>
          <a:noFill/>
          <a:ln/>
        </p:spPr>
        <p:txBody>
          <a:bodyPr wrap="square" lIns="0" tIns="0" rIns="0" bIns="0" rtlCol="0" anchor="t"/>
          <a:lstStyle/>
          <a:p>
            <a:pPr indent="0" marL="0">
              <a:buNone/>
            </a:pPr>
            <a:r>
              <a:rPr lang="en-US" sz="1700" b="1" dirty="0">
                <a:solidFill>
                  <a:srgbClr val="5E5878"/>
                </a:solidFill>
                <a:latin typeface="Calibri" pitchFamily="34" charset="0"/>
                <a:ea typeface="Calibri" pitchFamily="34" charset="-122"/>
                <a:cs typeface="Calibri" pitchFamily="34" charset="-120"/>
              </a:rPr>
              <a:t>Equal  (default for P ≤ 4)</a:t>
            </a:r>
            <a:endParaRPr lang="en-US" sz="1700" dirty="0"/>
          </a:p>
        </p:txBody>
      </p:sp>
      <p:sp>
        <p:nvSpPr>
          <p:cNvPr id="26" name="Text 23"/>
          <p:cNvSpPr txBox="1"/>
          <p:nvPr/>
        </p:nvSpPr>
        <p:spPr>
          <a:xfrm>
            <a:off x="822960" y="5257800"/>
            <a:ext cx="4937760" cy="82296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Each rank gets N/P vectors. Simple, but the slowest rank sets the pace.</a:t>
            </a:r>
            <a:endParaRPr lang="en-US" sz="1400" dirty="0"/>
          </a:p>
        </p:txBody>
      </p:sp>
      <p:sp>
        <p:nvSpPr>
          <p:cNvPr id="27" name="Adaptive card"/>
          <p:cNvSpPr/>
          <p:nvPr/>
        </p:nvSpPr>
        <p:spPr>
          <a:xfrm>
            <a:off x="6245352" y="4754880"/>
            <a:ext cx="5394960" cy="1417320"/>
          </a:xfrm>
          <a:prstGeom prst="roundRect">
            <a:avLst>
              <a:gd name="adj" fmla="val 7742"/>
            </a:avLst>
          </a:prstGeom>
          <a:solidFill>
            <a:srgbClr val="F5F1FB"/>
          </a:solidFill>
          <a:ln w="12700">
            <a:solidFill>
              <a:srgbClr val="F5F1FB"/>
            </a:solidFill>
            <a:prstDash val="solid"/>
          </a:ln>
        </p:spPr>
      </p:sp>
      <p:sp>
        <p:nvSpPr>
          <p:cNvPr id="28" name="Text 25"/>
          <p:cNvSpPr txBox="1"/>
          <p:nvPr/>
        </p:nvSpPr>
        <p:spPr>
          <a:xfrm>
            <a:off x="6519672" y="4846320"/>
            <a:ext cx="4937760" cy="365760"/>
          </a:xfrm>
          <a:prstGeom prst="rect">
            <a:avLst/>
          </a:prstGeom>
          <a:noFill/>
          <a:ln/>
        </p:spPr>
        <p:txBody>
          <a:bodyPr wrap="square" lIns="0" tIns="0" rIns="0" bIns="0" rtlCol="0" anchor="t"/>
          <a:lstStyle/>
          <a:p>
            <a:pPr indent="0" marL="0">
              <a:buNone/>
            </a:pPr>
            <a:r>
              <a:rPr lang="en-US" sz="1700" b="1" dirty="0">
                <a:solidFill>
                  <a:srgbClr val="E0457B"/>
                </a:solidFill>
                <a:latin typeface="Calibri" pitchFamily="34" charset="0"/>
                <a:ea typeface="Calibri" pitchFamily="34" charset="-122"/>
                <a:cs typeface="Calibri" pitchFamily="34" charset="-120"/>
              </a:rPr>
              <a:t>Adaptive  (default for P &gt; 4)</a:t>
            </a:r>
            <a:endParaRPr lang="en-US" sz="1700" dirty="0"/>
          </a:p>
        </p:txBody>
      </p:sp>
      <p:sp>
        <p:nvSpPr>
          <p:cNvPr id="29" name="Text 26"/>
          <p:cNvSpPr txBox="1"/>
          <p:nvPr/>
        </p:nvSpPr>
        <p:spPr>
          <a:xfrm>
            <a:off x="6519672" y="5257800"/>
            <a:ext cx="4937760" cy="82296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calibrate_speed() times a short kernel on each rank; shares are proportional to measured speed.</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5 · PROPOSED WORK</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Platform and measurement protocol</a:t>
            </a:r>
            <a:endParaRPr lang="en-US" sz="3000" dirty="0"/>
          </a:p>
        </p:txBody>
      </p:sp>
      <p:sp>
        <p:nvSpPr>
          <p:cNvPr id="5" name="Stat card"/>
          <p:cNvSpPr/>
          <p:nvPr/>
        </p:nvSpPr>
        <p:spPr>
          <a:xfrm>
            <a:off x="548640" y="1554480"/>
            <a:ext cx="3566160" cy="1371600"/>
          </a:xfrm>
          <a:prstGeom prst="roundRect">
            <a:avLst>
              <a:gd name="adj" fmla="val 8000"/>
            </a:avLst>
          </a:prstGeom>
          <a:solidFill>
            <a:srgbClr val="F5F1FB"/>
          </a:solidFill>
          <a:ln w="12700">
            <a:solidFill>
              <a:srgbClr val="F5F1FB"/>
            </a:solidFill>
            <a:prstDash val="solid"/>
          </a:ln>
        </p:spPr>
      </p:sp>
      <p:sp>
        <p:nvSpPr>
          <p:cNvPr id="6" name="Text 3"/>
          <p:cNvSpPr txBox="1"/>
          <p:nvPr/>
        </p:nvSpPr>
        <p:spPr>
          <a:xfrm>
            <a:off x="731520" y="1691640"/>
            <a:ext cx="3200400" cy="777240"/>
          </a:xfrm>
          <a:prstGeom prst="rect">
            <a:avLst/>
          </a:prstGeom>
          <a:noFill/>
          <a:ln/>
        </p:spPr>
        <p:txBody>
          <a:bodyPr wrap="square" lIns="0" tIns="0" rIns="0" bIns="0" rtlCol="0" anchor="ctr"/>
          <a:lstStyle/>
          <a:p>
            <a:pPr indent="0" marL="0">
              <a:buNone/>
            </a:pPr>
            <a:r>
              <a:rPr lang="en-US" sz="4000" b="1" dirty="0">
                <a:solidFill>
                  <a:srgbClr val="6B4FA3"/>
                </a:solidFill>
                <a:latin typeface="Cambria" pitchFamily="34" charset="0"/>
                <a:ea typeface="Cambria" pitchFamily="34" charset="-122"/>
                <a:cs typeface="Cambria" pitchFamily="34" charset="-120"/>
              </a:rPr>
              <a:t>6 P + 8 E</a:t>
            </a:r>
            <a:endParaRPr lang="en-US" sz="4000" dirty="0"/>
          </a:p>
        </p:txBody>
      </p:sp>
      <p:sp>
        <p:nvSpPr>
          <p:cNvPr id="7" name="Text 4"/>
          <p:cNvSpPr txBox="1"/>
          <p:nvPr/>
        </p:nvSpPr>
        <p:spPr>
          <a:xfrm>
            <a:off x="731520" y="2423160"/>
            <a:ext cx="3200400"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Intel Core i7-13650HX: 14 cores, hybrid</a:t>
            </a:r>
            <a:endParaRPr lang="en-US" sz="1400" dirty="0"/>
          </a:p>
        </p:txBody>
      </p:sp>
      <p:sp>
        <p:nvSpPr>
          <p:cNvPr id="8" name="Stat card"/>
          <p:cNvSpPr/>
          <p:nvPr/>
        </p:nvSpPr>
        <p:spPr>
          <a:xfrm>
            <a:off x="4297680" y="1554480"/>
            <a:ext cx="3566160" cy="1371600"/>
          </a:xfrm>
          <a:prstGeom prst="roundRect">
            <a:avLst>
              <a:gd name="adj" fmla="val 8000"/>
            </a:avLst>
          </a:prstGeom>
          <a:solidFill>
            <a:srgbClr val="F5F1FB"/>
          </a:solidFill>
          <a:ln w="12700">
            <a:solidFill>
              <a:srgbClr val="F5F1FB"/>
            </a:solidFill>
            <a:prstDash val="solid"/>
          </a:ln>
        </p:spPr>
      </p:sp>
      <p:sp>
        <p:nvSpPr>
          <p:cNvPr id="9" name="Text 6"/>
          <p:cNvSpPr txBox="1"/>
          <p:nvPr/>
        </p:nvSpPr>
        <p:spPr>
          <a:xfrm>
            <a:off x="4480560" y="1691640"/>
            <a:ext cx="3200400" cy="777240"/>
          </a:xfrm>
          <a:prstGeom prst="rect">
            <a:avLst/>
          </a:prstGeom>
          <a:noFill/>
          <a:ln/>
        </p:spPr>
        <p:txBody>
          <a:bodyPr wrap="square" lIns="0" tIns="0" rIns="0" bIns="0" rtlCol="0" anchor="ctr"/>
          <a:lstStyle/>
          <a:p>
            <a:pPr indent="0" marL="0">
              <a:buNone/>
            </a:pPr>
            <a:r>
              <a:rPr lang="en-US" sz="4000" b="1" dirty="0">
                <a:solidFill>
                  <a:srgbClr val="E0457B"/>
                </a:solidFill>
                <a:latin typeface="Cambria" pitchFamily="34" charset="0"/>
                <a:ea typeface="Cambria" pitchFamily="34" charset="-122"/>
                <a:cs typeface="Cambria" pitchFamily="34" charset="-120"/>
              </a:rPr>
              <a:t>P = 2 … 14</a:t>
            </a:r>
            <a:endParaRPr lang="en-US" sz="4000" dirty="0"/>
          </a:p>
        </p:txBody>
      </p:sp>
      <p:sp>
        <p:nvSpPr>
          <p:cNvPr id="10" name="Text 7"/>
          <p:cNvSpPr txBox="1"/>
          <p:nvPr/>
        </p:nvSpPr>
        <p:spPr>
          <a:xfrm>
            <a:off x="4480560" y="2423160"/>
            <a:ext cx="3200400"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MPI processes, Open MPI, one per core</a:t>
            </a:r>
            <a:endParaRPr lang="en-US" sz="1400" dirty="0"/>
          </a:p>
        </p:txBody>
      </p:sp>
      <p:sp>
        <p:nvSpPr>
          <p:cNvPr id="11" name="Stat card"/>
          <p:cNvSpPr/>
          <p:nvPr/>
        </p:nvSpPr>
        <p:spPr>
          <a:xfrm>
            <a:off x="8046720" y="1554480"/>
            <a:ext cx="3593592" cy="1371600"/>
          </a:xfrm>
          <a:prstGeom prst="roundRect">
            <a:avLst>
              <a:gd name="adj" fmla="val 8000"/>
            </a:avLst>
          </a:prstGeom>
          <a:solidFill>
            <a:srgbClr val="F5F1FB"/>
          </a:solidFill>
          <a:ln w="12700">
            <a:solidFill>
              <a:srgbClr val="F5F1FB"/>
            </a:solidFill>
            <a:prstDash val="solid"/>
          </a:ln>
        </p:spPr>
      </p:sp>
      <p:sp>
        <p:nvSpPr>
          <p:cNvPr id="12" name="Text 9"/>
          <p:cNvSpPr txBox="1"/>
          <p:nvPr/>
        </p:nvSpPr>
        <p:spPr>
          <a:xfrm>
            <a:off x="8229600" y="1691640"/>
            <a:ext cx="3227832" cy="777240"/>
          </a:xfrm>
          <a:prstGeom prst="rect">
            <a:avLst/>
          </a:prstGeom>
          <a:noFill/>
          <a:ln/>
        </p:spPr>
        <p:txBody>
          <a:bodyPr wrap="square" lIns="0" tIns="0" rIns="0" bIns="0" rtlCol="0" anchor="ctr"/>
          <a:lstStyle/>
          <a:p>
            <a:pPr indent="0" marL="0">
              <a:buNone/>
            </a:pPr>
            <a:r>
              <a:rPr lang="en-US" sz="4000" b="1" dirty="0">
                <a:solidFill>
                  <a:srgbClr val="2A9D8F"/>
                </a:solidFill>
                <a:latin typeface="Cambria" pitchFamily="34" charset="0"/>
                <a:ea typeface="Cambria" pitchFamily="34" charset="-122"/>
                <a:cs typeface="Cambria" pitchFamily="34" charset="-120"/>
              </a:rPr>
              <a:t>Median of 5</a:t>
            </a:r>
            <a:endParaRPr lang="en-US" sz="4000" dirty="0"/>
          </a:p>
        </p:txBody>
      </p:sp>
      <p:sp>
        <p:nvSpPr>
          <p:cNvPr id="13" name="Text 10"/>
          <p:cNvSpPr txBox="1"/>
          <p:nvPr/>
        </p:nvSpPr>
        <p:spPr>
          <a:xfrm>
            <a:off x="8229600" y="2423160"/>
            <a:ext cx="3227832"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runs per configuration and image</a:t>
            </a:r>
            <a:endParaRPr lang="en-US" sz="1400" dirty="0"/>
          </a:p>
        </p:txBody>
      </p:sp>
      <p:sp>
        <p:nvSpPr>
          <p:cNvPr id="14" name="Protocol card"/>
          <p:cNvSpPr/>
          <p:nvPr/>
        </p:nvSpPr>
        <p:spPr>
          <a:xfrm>
            <a:off x="548640" y="3291840"/>
            <a:ext cx="5440680" cy="1280160"/>
          </a:xfrm>
          <a:prstGeom prst="roundRect">
            <a:avLst>
              <a:gd name="adj" fmla="val 8571"/>
            </a:avLst>
          </a:prstGeom>
          <a:solidFill>
            <a:srgbClr val="F5F1FB"/>
          </a:solidFill>
          <a:ln w="12700">
            <a:solidFill>
              <a:srgbClr val="F5F1FB"/>
            </a:solidFill>
            <a:prstDash val="solid"/>
          </a:ln>
        </p:spPr>
      </p:sp>
      <p:sp>
        <p:nvSpPr>
          <p:cNvPr id="15" name="Icon circle"/>
          <p:cNvSpPr/>
          <p:nvPr/>
        </p:nvSpPr>
        <p:spPr>
          <a:xfrm>
            <a:off x="777240" y="3566160"/>
            <a:ext cx="731520" cy="731520"/>
          </a:xfrm>
          <a:prstGeom prst="ellipse">
            <a:avLst/>
          </a:prstGeom>
          <a:solidFill>
            <a:srgbClr val="6B4FA3"/>
          </a:solidFill>
          <a:ln w="12700">
            <a:solidFill>
              <a:srgbClr val="6B4FA3"/>
            </a:solidFill>
            <a:prstDash val="solid"/>
          </a:ln>
        </p:spPr>
      </p:sp>
      <p:pic>
        <p:nvPicPr>
          <p:cNvPr id="16" name="Icon" descr="preencoded.png">    </p:cNvPr>
          <p:cNvPicPr>
            <a:picLocks noChangeAspect="1"/>
          </p:cNvPicPr>
          <p:nvPr/>
        </p:nvPicPr>
        <p:blipFill>
          <a:blip r:embed="rId1"/>
          <a:stretch>
            <a:fillRect/>
          </a:stretch>
        </p:blipFill>
        <p:spPr>
          <a:xfrm>
            <a:off x="960120" y="3749040"/>
            <a:ext cx="365760" cy="365760"/>
          </a:xfrm>
          <a:prstGeom prst="rect">
            <a:avLst/>
          </a:prstGeom>
        </p:spPr>
      </p:pic>
      <p:sp>
        <p:nvSpPr>
          <p:cNvPr id="17" name="Text 13"/>
          <p:cNvSpPr txBox="1"/>
          <p:nvPr/>
        </p:nvSpPr>
        <p:spPr>
          <a:xfrm>
            <a:off x="1737360" y="3383280"/>
            <a:ext cx="4069080" cy="1097280"/>
          </a:xfrm>
          <a:prstGeom prst="rect">
            <a:avLst/>
          </a:prstGeom>
          <a:noFill/>
          <a:ln/>
        </p:spPr>
        <p:txBody>
          <a:bodyPr wrap="square" lIns="0" tIns="0" rIns="0" bIns="0" rtlCol="0" anchor="ctr"/>
          <a:lstStyle/>
          <a:p>
            <a:pPr indent="0" marL="0">
              <a:buNone/>
            </a:pPr>
            <a:r>
              <a:rPr lang="en-US" sz="1600" dirty="0">
                <a:solidFill>
                  <a:srgbClr val="1F1A33"/>
                </a:solidFill>
                <a:latin typeface="Calibri" pitchFamily="34" charset="0"/>
                <a:ea typeface="Calibri" pitchFamily="34" charset="-122"/>
                <a:cs typeface="Calibri" pitchFamily="34" charset="-120"/>
              </a:rPr>
              <a:t>CPU governor: performance, AC power</a:t>
            </a:r>
            <a:endParaRPr lang="en-US" sz="1600" dirty="0"/>
          </a:p>
        </p:txBody>
      </p:sp>
      <p:sp>
        <p:nvSpPr>
          <p:cNvPr id="18" name="Protocol card"/>
          <p:cNvSpPr/>
          <p:nvPr/>
        </p:nvSpPr>
        <p:spPr>
          <a:xfrm>
            <a:off x="6172200" y="3291840"/>
            <a:ext cx="5440680" cy="1280160"/>
          </a:xfrm>
          <a:prstGeom prst="roundRect">
            <a:avLst>
              <a:gd name="adj" fmla="val 8571"/>
            </a:avLst>
          </a:prstGeom>
          <a:solidFill>
            <a:srgbClr val="F5F1FB"/>
          </a:solidFill>
          <a:ln w="12700">
            <a:solidFill>
              <a:srgbClr val="F5F1FB"/>
            </a:solidFill>
            <a:prstDash val="solid"/>
          </a:ln>
        </p:spPr>
      </p:sp>
      <p:sp>
        <p:nvSpPr>
          <p:cNvPr id="19" name="Icon circle"/>
          <p:cNvSpPr/>
          <p:nvPr/>
        </p:nvSpPr>
        <p:spPr>
          <a:xfrm>
            <a:off x="6400800" y="3566160"/>
            <a:ext cx="731520" cy="731520"/>
          </a:xfrm>
          <a:prstGeom prst="ellipse">
            <a:avLst/>
          </a:prstGeom>
          <a:solidFill>
            <a:srgbClr val="E0457B"/>
          </a:solidFill>
          <a:ln w="12700">
            <a:solidFill>
              <a:srgbClr val="E0457B"/>
            </a:solidFill>
            <a:prstDash val="solid"/>
          </a:ln>
        </p:spPr>
      </p:sp>
      <p:pic>
        <p:nvPicPr>
          <p:cNvPr id="20" name="Icon" descr="preencoded.png">    </p:cNvPr>
          <p:cNvPicPr>
            <a:picLocks noChangeAspect="1"/>
          </p:cNvPicPr>
          <p:nvPr/>
        </p:nvPicPr>
        <p:blipFill>
          <a:blip r:embed="rId2"/>
          <a:stretch>
            <a:fillRect/>
          </a:stretch>
        </p:blipFill>
        <p:spPr>
          <a:xfrm>
            <a:off x="6583680" y="3749040"/>
            <a:ext cx="365760" cy="365760"/>
          </a:xfrm>
          <a:prstGeom prst="rect">
            <a:avLst/>
          </a:prstGeom>
        </p:spPr>
      </p:pic>
      <p:sp>
        <p:nvSpPr>
          <p:cNvPr id="21" name="Text 16"/>
          <p:cNvSpPr txBox="1"/>
          <p:nvPr/>
        </p:nvSpPr>
        <p:spPr>
          <a:xfrm>
            <a:off x="7360920" y="3383280"/>
            <a:ext cx="4069080" cy="1097280"/>
          </a:xfrm>
          <a:prstGeom prst="rect">
            <a:avLst/>
          </a:prstGeom>
          <a:noFill/>
          <a:ln/>
        </p:spPr>
        <p:txBody>
          <a:bodyPr wrap="square" lIns="0" tIns="0" rIns="0" bIns="0" rtlCol="0" anchor="ctr"/>
          <a:lstStyle/>
          <a:p>
            <a:pPr indent="0" marL="0">
              <a:buNone/>
            </a:pPr>
            <a:r>
              <a:rPr lang="en-US" sz="1600" dirty="0">
                <a:solidFill>
                  <a:srgbClr val="1F1A33"/>
                </a:solidFill>
                <a:latin typeface="Calibri" pitchFamily="34" charset="0"/>
                <a:ea typeface="Calibri" pitchFamily="34" charset="-122"/>
                <a:cs typeface="Calibri" pitchFamily="34" charset="-120"/>
              </a:rPr>
              <a:t>mpirun --bind-to core: one rank per core</a:t>
            </a:r>
            <a:endParaRPr lang="en-US" sz="1600" dirty="0"/>
          </a:p>
        </p:txBody>
      </p:sp>
      <p:sp>
        <p:nvSpPr>
          <p:cNvPr id="22" name="Protocol card"/>
          <p:cNvSpPr/>
          <p:nvPr/>
        </p:nvSpPr>
        <p:spPr>
          <a:xfrm>
            <a:off x="548640" y="4754880"/>
            <a:ext cx="5440680" cy="1280160"/>
          </a:xfrm>
          <a:prstGeom prst="roundRect">
            <a:avLst>
              <a:gd name="adj" fmla="val 8571"/>
            </a:avLst>
          </a:prstGeom>
          <a:solidFill>
            <a:srgbClr val="F5F1FB"/>
          </a:solidFill>
          <a:ln w="12700">
            <a:solidFill>
              <a:srgbClr val="F5F1FB"/>
            </a:solidFill>
            <a:prstDash val="solid"/>
          </a:ln>
        </p:spPr>
      </p:sp>
      <p:sp>
        <p:nvSpPr>
          <p:cNvPr id="23" name="Icon circle"/>
          <p:cNvSpPr/>
          <p:nvPr/>
        </p:nvSpPr>
        <p:spPr>
          <a:xfrm>
            <a:off x="777240" y="5029200"/>
            <a:ext cx="731520" cy="731520"/>
          </a:xfrm>
          <a:prstGeom prst="ellipse">
            <a:avLst/>
          </a:prstGeom>
          <a:solidFill>
            <a:srgbClr val="2A9D8F"/>
          </a:solidFill>
          <a:ln w="12700">
            <a:solidFill>
              <a:srgbClr val="2A9D8F"/>
            </a:solidFill>
            <a:prstDash val="solid"/>
          </a:ln>
        </p:spPr>
      </p:sp>
      <p:pic>
        <p:nvPicPr>
          <p:cNvPr id="24" name="Icon" descr="preencoded.png">    </p:cNvPr>
          <p:cNvPicPr>
            <a:picLocks noChangeAspect="1"/>
          </p:cNvPicPr>
          <p:nvPr/>
        </p:nvPicPr>
        <p:blipFill>
          <a:blip r:embed="rId3"/>
          <a:stretch>
            <a:fillRect/>
          </a:stretch>
        </p:blipFill>
        <p:spPr>
          <a:xfrm>
            <a:off x="960120" y="5212080"/>
            <a:ext cx="365760" cy="365760"/>
          </a:xfrm>
          <a:prstGeom prst="rect">
            <a:avLst/>
          </a:prstGeom>
        </p:spPr>
      </p:pic>
      <p:sp>
        <p:nvSpPr>
          <p:cNvPr id="25" name="Text 19"/>
          <p:cNvSpPr txBox="1"/>
          <p:nvPr/>
        </p:nvSpPr>
        <p:spPr>
          <a:xfrm>
            <a:off x="1737360" y="4846320"/>
            <a:ext cx="4069080" cy="1097280"/>
          </a:xfrm>
          <a:prstGeom prst="rect">
            <a:avLst/>
          </a:prstGeom>
          <a:noFill/>
          <a:ln/>
        </p:spPr>
        <p:txBody>
          <a:bodyPr wrap="square" lIns="0" tIns="0" rIns="0" bIns="0" rtlCol="0" anchor="ctr"/>
          <a:lstStyle/>
          <a:p>
            <a:pPr indent="0" marL="0">
              <a:buNone/>
            </a:pPr>
            <a:r>
              <a:rPr lang="en-US" sz="1600" dirty="0">
                <a:solidFill>
                  <a:srgbClr val="1F1A33"/>
                </a:solidFill>
                <a:latin typeface="Calibri" pitchFamily="34" charset="0"/>
                <a:ea typeface="Calibri" pitchFamily="34" charset="-122"/>
                <a:cs typeface="Calibri" pitchFamily="34" charset="-120"/>
              </a:rPr>
              <a:t>Sequential program pinned to CPU 6</a:t>
            </a:r>
            <a:endParaRPr lang="en-US" sz="1600" dirty="0"/>
          </a:p>
        </p:txBody>
      </p:sp>
      <p:sp>
        <p:nvSpPr>
          <p:cNvPr id="26" name="Protocol card"/>
          <p:cNvSpPr/>
          <p:nvPr/>
        </p:nvSpPr>
        <p:spPr>
          <a:xfrm>
            <a:off x="6172200" y="4754880"/>
            <a:ext cx="5440680" cy="1280160"/>
          </a:xfrm>
          <a:prstGeom prst="roundRect">
            <a:avLst>
              <a:gd name="adj" fmla="val 8571"/>
            </a:avLst>
          </a:prstGeom>
          <a:solidFill>
            <a:srgbClr val="F5F1FB"/>
          </a:solidFill>
          <a:ln w="12700">
            <a:solidFill>
              <a:srgbClr val="F5F1FB"/>
            </a:solidFill>
            <a:prstDash val="solid"/>
          </a:ln>
        </p:spPr>
      </p:sp>
      <p:sp>
        <p:nvSpPr>
          <p:cNvPr id="27" name="Icon circle"/>
          <p:cNvSpPr/>
          <p:nvPr/>
        </p:nvSpPr>
        <p:spPr>
          <a:xfrm>
            <a:off x="6400800" y="5029200"/>
            <a:ext cx="731520" cy="731520"/>
          </a:xfrm>
          <a:prstGeom prst="ellipse">
            <a:avLst/>
          </a:prstGeom>
          <a:solidFill>
            <a:srgbClr val="F2B134"/>
          </a:solidFill>
          <a:ln w="12700">
            <a:solidFill>
              <a:srgbClr val="F2B134"/>
            </a:solidFill>
            <a:prstDash val="solid"/>
          </a:ln>
        </p:spPr>
      </p:sp>
      <p:pic>
        <p:nvPicPr>
          <p:cNvPr id="28" name="Icon" descr="preencoded.png">    </p:cNvPr>
          <p:cNvPicPr>
            <a:picLocks noChangeAspect="1"/>
          </p:cNvPicPr>
          <p:nvPr/>
        </p:nvPicPr>
        <p:blipFill>
          <a:blip r:embed="rId4"/>
          <a:stretch>
            <a:fillRect/>
          </a:stretch>
        </p:blipFill>
        <p:spPr>
          <a:xfrm>
            <a:off x="6583680" y="5212080"/>
            <a:ext cx="365760" cy="365760"/>
          </a:xfrm>
          <a:prstGeom prst="rect">
            <a:avLst/>
          </a:prstGeom>
        </p:spPr>
      </p:pic>
      <p:sp>
        <p:nvSpPr>
          <p:cNvPr id="29" name="Text 22"/>
          <p:cNvSpPr txBox="1"/>
          <p:nvPr/>
        </p:nvSpPr>
        <p:spPr>
          <a:xfrm>
            <a:off x="7360920" y="4846320"/>
            <a:ext cx="4069080" cy="1097280"/>
          </a:xfrm>
          <a:prstGeom prst="rect">
            <a:avLst/>
          </a:prstGeom>
          <a:noFill/>
          <a:ln/>
        </p:spPr>
        <p:txBody>
          <a:bodyPr wrap="square" lIns="0" tIns="0" rIns="0" bIns="0" rtlCol="0" anchor="ctr"/>
          <a:lstStyle/>
          <a:p>
            <a:pPr indent="0" marL="0">
              <a:buNone/>
            </a:pPr>
            <a:r>
              <a:rPr lang="en-US" sz="1600" dirty="0">
                <a:solidFill>
                  <a:srgbClr val="1F1A33"/>
                </a:solidFill>
                <a:latin typeface="Calibri" pitchFamily="34" charset="0"/>
                <a:ea typeface="Calibri" pitchFamily="34" charset="-122"/>
                <a:cs typeface="Calibri" pitchFamily="34" charset="-120"/>
              </a:rPr>
              <a:t>gcc / mpicc -O2; LBG time excludes calibration, Total includes it</a:t>
            </a:r>
            <a:endParaRPr lang="en-US" sz="16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5 · PROPOSED WORK</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Verification: parallel = sequential</a:t>
            </a:r>
            <a:endParaRPr lang="en-US" sz="3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5943600" cy="914400"/>
        </p:xfrm>
        <a:graphic>
          <a:graphicData uri="http://schemas.openxmlformats.org/drawingml/2006/table">
            <a:tbl>
              <a:tblPr/>
              <a:tblGrid>
                <a:gridCol w="3017520"/>
                <a:gridCol w="1280160"/>
                <a:gridCol w="1645920"/>
              </a:tblGrid>
              <a:tr h="457200">
                <a:tc>
                  <a:txBody>
                    <a:bodyPr/>
                    <a:lstStyle/>
                    <a:p>
                      <a:pPr algn="ctr" indent="0" marL="0">
                        <a:buNone/>
                      </a:pPr>
                      <a:r>
                        <a:rPr lang="en-US" sz="1300" b="1" dirty="0">
                          <a:solidFill>
                            <a:srgbClr val="FFFFFF"/>
                          </a:solidFill>
                        </a:rPr>
                        <a:t>Run</a:t>
                      </a:r>
                      <a:endParaRPr lang="en-US" sz="13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2E2055"/>
                    </a:solidFill>
                  </a:tcPr>
                </a:tc>
                <a:tc>
                  <a:txBody>
                    <a:bodyPr/>
                    <a:lstStyle/>
                    <a:p>
                      <a:pPr algn="ctr" indent="0" marL="0">
                        <a:buNone/>
                      </a:pPr>
                      <a:r>
                        <a:rPr lang="en-US" sz="1300" b="1" dirty="0">
                          <a:solidFill>
                            <a:srgbClr val="FFFFFF"/>
                          </a:solidFill>
                        </a:rPr>
                        <a:t>Processes</a:t>
                      </a:r>
                      <a:endParaRPr lang="en-US" sz="13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2E2055"/>
                    </a:solidFill>
                  </a:tcPr>
                </a:tc>
                <a:tc>
                  <a:txBody>
                    <a:bodyPr/>
                    <a:lstStyle/>
                    <a:p>
                      <a:pPr algn="ctr" indent="0" marL="0">
                        <a:buNone/>
                      </a:pPr>
                      <a:r>
                        <a:rPr lang="en-US" sz="1300" b="1" dirty="0">
                          <a:solidFill>
                            <a:srgbClr val="FFFFFF"/>
                          </a:solidFill>
                        </a:rPr>
                        <a:t>Strategy</a:t>
                      </a:r>
                      <a:endParaRPr lang="en-US" sz="13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2E2055"/>
                    </a:solidFill>
                  </a:tcPr>
                </a:tc>
              </a:tr>
              <a:tr h="548640">
                <a:tc>
                  <a:txBody>
                    <a:bodyPr/>
                    <a:lstStyle/>
                    <a:p>
                      <a:pPr algn="l" indent="0" marL="0">
                        <a:buNone/>
                      </a:pPr>
                      <a:r>
                        <a:rPr lang="en-US" sz="1400" dirty="0">
                          <a:solidFill>
                            <a:srgbClr val="1F1A33"/>
                          </a:solidFill>
                        </a:rPr>
                        <a:t>1  Sequential reference</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1</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r>
              <a:tr h="548640">
                <a:tc>
                  <a:txBody>
                    <a:bodyPr/>
                    <a:lstStyle/>
                    <a:p>
                      <a:pPr algn="l" indent="0" marL="0">
                        <a:buNone/>
                      </a:pPr>
                      <a:r>
                        <a:rPr lang="en-US" sz="1400" dirty="0">
                          <a:solidFill>
                            <a:srgbClr val="1F1A33"/>
                          </a:solidFill>
                        </a:rPr>
                        <a:t>2  Parallel</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4</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Equal (default)</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r>
              <a:tr h="548640">
                <a:tc>
                  <a:txBody>
                    <a:bodyPr/>
                    <a:lstStyle/>
                    <a:p>
                      <a:pPr algn="l" indent="0" marL="0">
                        <a:buNone/>
                      </a:pPr>
                      <a:r>
                        <a:rPr lang="en-US" sz="1400" dirty="0">
                          <a:solidFill>
                            <a:srgbClr val="1F1A33"/>
                          </a:solidFill>
                        </a:rPr>
                        <a:t>3  Parallel</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14</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Adaptive (default)</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r>
              <a:tr h="548640">
                <a:tc>
                  <a:txBody>
                    <a:bodyPr/>
                    <a:lstStyle/>
                    <a:p>
                      <a:pPr algn="l" indent="0" marL="0">
                        <a:buNone/>
                      </a:pPr>
                      <a:r>
                        <a:rPr lang="en-US" sz="1400" dirty="0">
                          <a:solidFill>
                            <a:srgbClr val="1F1A33"/>
                          </a:solidFill>
                        </a:rPr>
                        <a:t>4  Parallel</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14</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Equal (forced)</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r>
            </a:tbl>
          </a:graphicData>
        </a:graphic>
      </p:graphicFrame>
      <p:sp>
        <p:nvSpPr>
          <p:cNvPr id="6" name="Stat card"/>
          <p:cNvSpPr/>
          <p:nvPr/>
        </p:nvSpPr>
        <p:spPr>
          <a:xfrm>
            <a:off x="6858000" y="1600200"/>
            <a:ext cx="4782312" cy="1371600"/>
          </a:xfrm>
          <a:prstGeom prst="roundRect">
            <a:avLst>
              <a:gd name="adj" fmla="val 8000"/>
            </a:avLst>
          </a:prstGeom>
          <a:solidFill>
            <a:srgbClr val="F5F1FB"/>
          </a:solidFill>
          <a:ln w="12700">
            <a:solidFill>
              <a:srgbClr val="F5F1FB"/>
            </a:solidFill>
            <a:prstDash val="solid"/>
          </a:ln>
        </p:spPr>
      </p:sp>
      <p:sp>
        <p:nvSpPr>
          <p:cNvPr id="7" name="Text 3"/>
          <p:cNvSpPr txBox="1"/>
          <p:nvPr/>
        </p:nvSpPr>
        <p:spPr>
          <a:xfrm>
            <a:off x="7040880" y="1737360"/>
            <a:ext cx="4416552" cy="777240"/>
          </a:xfrm>
          <a:prstGeom prst="rect">
            <a:avLst/>
          </a:prstGeom>
          <a:noFill/>
          <a:ln/>
        </p:spPr>
        <p:txBody>
          <a:bodyPr wrap="square" lIns="0" tIns="0" rIns="0" bIns="0" rtlCol="0" anchor="ctr"/>
          <a:lstStyle/>
          <a:p>
            <a:pPr indent="0" marL="0">
              <a:buNone/>
            </a:pPr>
            <a:r>
              <a:rPr lang="en-US" sz="4000" b="1" dirty="0">
                <a:solidFill>
                  <a:srgbClr val="E0457B"/>
                </a:solidFill>
                <a:latin typeface="Cambria" pitchFamily="34" charset="0"/>
                <a:ea typeface="Cambria" pitchFamily="34" charset="-122"/>
                <a:cs typeface="Cambria" pitchFamily="34" charset="-120"/>
              </a:rPr>
              <a:t>8 / 8</a:t>
            </a:r>
            <a:endParaRPr lang="en-US" sz="4000" dirty="0"/>
          </a:p>
        </p:txBody>
      </p:sp>
      <p:sp>
        <p:nvSpPr>
          <p:cNvPr id="8" name="Text 4"/>
          <p:cNvSpPr txBox="1"/>
          <p:nvPr/>
        </p:nvSpPr>
        <p:spPr>
          <a:xfrm>
            <a:off x="7040880" y="2468880"/>
            <a:ext cx="4416552"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images with identical metrics and identical MD5</a:t>
            </a:r>
            <a:endParaRPr lang="en-US" sz="1400" dirty="0"/>
          </a:p>
        </p:txBody>
      </p:sp>
      <p:sp>
        <p:nvSpPr>
          <p:cNvPr id="9" name="Stat card"/>
          <p:cNvSpPr/>
          <p:nvPr/>
        </p:nvSpPr>
        <p:spPr>
          <a:xfrm>
            <a:off x="6858000" y="3154680"/>
            <a:ext cx="4782312" cy="1371600"/>
          </a:xfrm>
          <a:prstGeom prst="roundRect">
            <a:avLst>
              <a:gd name="adj" fmla="val 8000"/>
            </a:avLst>
          </a:prstGeom>
          <a:solidFill>
            <a:srgbClr val="F5F1FB"/>
          </a:solidFill>
          <a:ln w="12700">
            <a:solidFill>
              <a:srgbClr val="F5F1FB"/>
            </a:solidFill>
            <a:prstDash val="solid"/>
          </a:ln>
        </p:spPr>
      </p:sp>
      <p:sp>
        <p:nvSpPr>
          <p:cNvPr id="10" name="Text 6"/>
          <p:cNvSpPr txBox="1"/>
          <p:nvPr/>
        </p:nvSpPr>
        <p:spPr>
          <a:xfrm>
            <a:off x="7040880" y="3291840"/>
            <a:ext cx="4416552" cy="777240"/>
          </a:xfrm>
          <a:prstGeom prst="rect">
            <a:avLst/>
          </a:prstGeom>
          <a:noFill/>
          <a:ln/>
        </p:spPr>
        <p:txBody>
          <a:bodyPr wrap="square" lIns="0" tIns="0" rIns="0" bIns="0" rtlCol="0" anchor="ctr"/>
          <a:lstStyle/>
          <a:p>
            <a:pPr indent="0" marL="0">
              <a:buNone/>
            </a:pPr>
            <a:r>
              <a:rPr lang="en-US" sz="4000" b="1" dirty="0">
                <a:solidFill>
                  <a:srgbClr val="2A9D8F"/>
                </a:solidFill>
                <a:latin typeface="Cambria" pitchFamily="34" charset="0"/>
                <a:ea typeface="Cambria" pitchFamily="34" charset="-122"/>
                <a:cs typeface="Cambria" pitchFamily="34" charset="-120"/>
              </a:rPr>
              <a:t>same iterations</a:t>
            </a:r>
            <a:endParaRPr lang="en-US" sz="4000" dirty="0"/>
          </a:p>
        </p:txBody>
      </p:sp>
      <p:sp>
        <p:nvSpPr>
          <p:cNvPr id="11" name="Text 7"/>
          <p:cNvSpPr txBox="1"/>
          <p:nvPr/>
        </p:nvSpPr>
        <p:spPr>
          <a:xfrm>
            <a:off x="7040880" y="4023360"/>
            <a:ext cx="4416552"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LBG iteration count constant for every P</a:t>
            </a:r>
            <a:endParaRPr lang="en-US" sz="1400" dirty="0"/>
          </a:p>
        </p:txBody>
      </p:sp>
      <p:sp>
        <p:nvSpPr>
          <p:cNvPr id="12" name="Claim"/>
          <p:cNvSpPr/>
          <p:nvPr/>
        </p:nvSpPr>
        <p:spPr>
          <a:xfrm>
            <a:off x="548640" y="4572000"/>
            <a:ext cx="11091672" cy="1600200"/>
          </a:xfrm>
          <a:prstGeom prst="roundRect">
            <a:avLst>
              <a:gd name="adj" fmla="val 6857"/>
            </a:avLst>
          </a:prstGeom>
          <a:solidFill>
            <a:srgbClr val="F5F1FB"/>
          </a:solidFill>
          <a:ln w="12700">
            <a:solidFill>
              <a:srgbClr val="F5F1FB"/>
            </a:solidFill>
            <a:prstDash val="solid"/>
          </a:ln>
        </p:spPr>
      </p:sp>
      <p:sp>
        <p:nvSpPr>
          <p:cNvPr id="13" name="Text 9"/>
          <p:cNvSpPr txBox="1"/>
          <p:nvPr/>
        </p:nvSpPr>
        <p:spPr>
          <a:xfrm>
            <a:off x="822960" y="4663440"/>
            <a:ext cx="10515600" cy="1417320"/>
          </a:xfrm>
          <a:prstGeom prst="rect">
            <a:avLst/>
          </a:prstGeom>
          <a:noFill/>
          <a:ln/>
        </p:spPr>
        <p:txBody>
          <a:bodyPr wrap="square" lIns="0" tIns="0" rIns="0" bIns="0" rtlCol="0" anchor="t"/>
          <a:lstStyle/>
          <a:p>
            <a:pPr indent="0" marL="0">
              <a:spcAft>
                <a:spcPts val="400"/>
              </a:spcAft>
              <a:buNone/>
            </a:pPr>
            <a:r>
              <a:rPr lang="en-US" sz="1700" b="1" dirty="0">
                <a:solidFill>
                  <a:srgbClr val="6B4FA3"/>
                </a:solidFill>
                <a:latin typeface="Calibri" pitchFamily="34" charset="0"/>
                <a:ea typeface="Calibri" pitchFamily="34" charset="-122"/>
                <a:cs typeface="Calibri" pitchFamily="34" charset="-120"/>
              </a:rPr>
              <a:t>Scope of the claim</a:t>
            </a:r>
            <a:endParaRPr lang="en-US" sz="1500" dirty="0"/>
          </a:p>
          <a:p>
            <a:pPr indent="0" marL="0">
              <a:spcAft>
                <a:spcPts val="400"/>
              </a:spcAft>
              <a:buNone/>
            </a:pPr>
            <a:r>
              <a:rPr lang="en-US" sz="1500" dirty="0">
                <a:solidFill>
                  <a:srgbClr val="5E5878"/>
                </a:solidFill>
                <a:latin typeface="Calibri" pitchFamily="34" charset="0"/>
                <a:ea typeface="Calibri" pitchFamily="34" charset="-122"/>
                <a:cs typeface="Calibri" pitchFamily="34" charset="-120"/>
              </a:rPr>
              <a:t>Compared: CR, MSE, PSNR, SSIM, iterations and the MD5 of the reconstructed BMP (external md5sum tool). The codebooks and bitstreams were not compared directly, so equivalence is stated for the tested configurations.</a:t>
            </a:r>
            <a:endParaRPr lang="en-US" sz="15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6 · EXPERIMENTAL RESULTS</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Parameter study: block size and codebook size</a:t>
            </a:r>
            <a:endParaRPr lang="en-US" sz="3000" dirty="0"/>
          </a:p>
        </p:txBody>
      </p:sp>
      <p:graphicFrame>
        <p:nvGraphicFramePr>
          <p:cNvPr id="5" name="Chart 0" descr=""/>
          <p:cNvGraphicFramePr/>
          <p:nvPr/>
        </p:nvGraphicFramePr>
        <p:xfrm>
          <a:off x="548640" y="1508760"/>
          <a:ext cx="5486400" cy="402336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6153912" y="1508760"/>
          <a:ext cx="5486400" cy="4023360"/>
        </p:xfrm>
        <a:graphic xmlns:a="http://schemas.openxmlformats.org/drawingml/2006/main">
          <a:graphicData uri="http://schemas.openxmlformats.org/drawingml/2006/chart">
            <c:chart xmlns:c="http://schemas.openxmlformats.org/drawingml/2006/chart" r:id="rId2"/>
          </a:graphicData>
        </a:graphic>
      </p:graphicFrame>
      <p:sp>
        <p:nvSpPr>
          <p:cNvPr id="7" name="Takeaway"/>
          <p:cNvSpPr/>
          <p:nvPr/>
        </p:nvSpPr>
        <p:spPr>
          <a:xfrm>
            <a:off x="548640" y="5623560"/>
            <a:ext cx="11091672" cy="594360"/>
          </a:xfrm>
          <a:prstGeom prst="roundRect">
            <a:avLst>
              <a:gd name="adj" fmla="val 18462"/>
            </a:avLst>
          </a:prstGeom>
          <a:solidFill>
            <a:srgbClr val="F5F1FB"/>
          </a:solidFill>
          <a:ln w="12700">
            <a:solidFill>
              <a:srgbClr val="F5F1FB"/>
            </a:solidFill>
            <a:prstDash val="solid"/>
          </a:ln>
        </p:spPr>
      </p:sp>
      <p:sp>
        <p:nvSpPr>
          <p:cNvPr id="8" name="Text 3"/>
          <p:cNvSpPr txBox="1"/>
          <p:nvPr/>
        </p:nvSpPr>
        <p:spPr>
          <a:xfrm>
            <a:off x="822960" y="5623560"/>
            <a:ext cx="10515600" cy="594360"/>
          </a:xfrm>
          <a:prstGeom prst="rect">
            <a:avLst/>
          </a:prstGeom>
          <a:noFill/>
          <a:ln/>
        </p:spPr>
        <p:txBody>
          <a:bodyPr wrap="square" lIns="0" tIns="0" rIns="0" bIns="0" rtlCol="0" anchor="ctr"/>
          <a:lstStyle/>
          <a:p>
            <a:pPr indent="0" marL="0">
              <a:buNone/>
            </a:pPr>
            <a:r>
              <a:rPr lang="en-US" sz="1500" b="1" dirty="0">
                <a:solidFill>
                  <a:srgbClr val="6B4FA3"/>
                </a:solidFill>
                <a:latin typeface="Calibri" pitchFamily="34" charset="0"/>
                <a:ea typeface="Calibri" pitchFamily="34" charset="-122"/>
                <a:cs typeface="Calibri" pitchFamily="34" charset="-120"/>
              </a:rPr>
              <a:t>4×4 / K = 64: CR 25.9, PSNR 29.5 dB. The trade-off is monotonic: more compression, less fidelity.</a:t>
            </a:r>
            <a:endParaRPr lang="en-US" sz="15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6 · EXPERIMENTAL RESULTS</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Grayscale results (4×4 blocks, K = 64)</a:t>
            </a:r>
            <a:endParaRPr lang="en-US" sz="3000" dirty="0"/>
          </a:p>
        </p:txBody>
      </p:sp>
      <p:graphicFrame>
        <p:nvGraphicFramePr>
          <p:cNvPr id="5" name="Chart 0" descr=""/>
          <p:cNvGraphicFramePr/>
          <p:nvPr/>
        </p:nvGraphicFramePr>
        <p:xfrm>
          <a:off x="548640" y="1508760"/>
          <a:ext cx="3657600" cy="329184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4270248" y="1508760"/>
          <a:ext cx="3657600" cy="3291840"/>
        </p:xfrm>
        <a:graphic xmlns:a="http://schemas.openxmlformats.org/drawingml/2006/main">
          <a:graphicData uri="http://schemas.openxmlformats.org/drawingml/2006/chart">
            <c:chart xmlns:c="http://schemas.openxmlformats.org/drawingml/2006/chart" r:id="rId2"/>
          </a:graphicData>
        </a:graphic>
      </p:graphicFrame>
      <p:graphicFrame>
        <p:nvGraphicFramePr>
          <p:cNvPr id="7" name="Chart 2" descr=""/>
          <p:cNvGraphicFramePr/>
          <p:nvPr/>
        </p:nvGraphicFramePr>
        <p:xfrm>
          <a:off x="7991856" y="1508760"/>
          <a:ext cx="3657600" cy="3291840"/>
        </p:xfrm>
        <a:graphic xmlns:a="http://schemas.openxmlformats.org/drawingml/2006/main">
          <a:graphicData uri="http://schemas.openxmlformats.org/drawingml/2006/chart">
            <c:chart xmlns:c="http://schemas.openxmlformats.org/drawingml/2006/chart" r:id="rId3"/>
          </a:graphicData>
        </a:graphic>
      </p:graphicFrame>
      <p:sp>
        <p:nvSpPr>
          <p:cNvPr id="8" name="Stat card"/>
          <p:cNvSpPr/>
          <p:nvPr/>
        </p:nvSpPr>
        <p:spPr>
          <a:xfrm>
            <a:off x="548640" y="4937760"/>
            <a:ext cx="3566160" cy="1371600"/>
          </a:xfrm>
          <a:prstGeom prst="roundRect">
            <a:avLst>
              <a:gd name="adj" fmla="val 8000"/>
            </a:avLst>
          </a:prstGeom>
          <a:solidFill>
            <a:srgbClr val="F5F1FB"/>
          </a:solidFill>
          <a:ln w="12700">
            <a:solidFill>
              <a:srgbClr val="F5F1FB"/>
            </a:solidFill>
            <a:prstDash val="solid"/>
          </a:ln>
        </p:spPr>
      </p:sp>
      <p:sp>
        <p:nvSpPr>
          <p:cNvPr id="9" name="Text 3"/>
          <p:cNvSpPr txBox="1"/>
          <p:nvPr/>
        </p:nvSpPr>
        <p:spPr>
          <a:xfrm>
            <a:off x="731520" y="5074920"/>
            <a:ext cx="3200400" cy="777240"/>
          </a:xfrm>
          <a:prstGeom prst="rect">
            <a:avLst/>
          </a:prstGeom>
          <a:noFill/>
          <a:ln/>
        </p:spPr>
        <p:txBody>
          <a:bodyPr wrap="square" lIns="0" tIns="0" rIns="0" bIns="0" rtlCol="0" anchor="ctr"/>
          <a:lstStyle/>
          <a:p>
            <a:pPr indent="0" marL="0">
              <a:buNone/>
            </a:pPr>
            <a:r>
              <a:rPr lang="en-US" sz="4000" b="1" dirty="0">
                <a:solidFill>
                  <a:srgbClr val="E0457B"/>
                </a:solidFill>
                <a:latin typeface="Cambria" pitchFamily="34" charset="0"/>
                <a:ea typeface="Cambria" pitchFamily="34" charset="-122"/>
                <a:cs typeface="Cambria" pitchFamily="34" charset="-120"/>
              </a:rPr>
              <a:t>25.92</a:t>
            </a:r>
            <a:endParaRPr lang="en-US" sz="4000" dirty="0"/>
          </a:p>
        </p:txBody>
      </p:sp>
      <p:sp>
        <p:nvSpPr>
          <p:cNvPr id="10" name="Text 4"/>
          <p:cNvSpPr txBox="1"/>
          <p:nvPr/>
        </p:nvSpPr>
        <p:spPr>
          <a:xfrm>
            <a:off x="731520" y="5806440"/>
            <a:ext cx="3200400"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mean system CR</a:t>
            </a:r>
            <a:endParaRPr lang="en-US" sz="1400" dirty="0"/>
          </a:p>
        </p:txBody>
      </p:sp>
      <p:sp>
        <p:nvSpPr>
          <p:cNvPr id="11" name="Stat card"/>
          <p:cNvSpPr/>
          <p:nvPr/>
        </p:nvSpPr>
        <p:spPr>
          <a:xfrm>
            <a:off x="4297680" y="4937760"/>
            <a:ext cx="3566160" cy="1371600"/>
          </a:xfrm>
          <a:prstGeom prst="roundRect">
            <a:avLst>
              <a:gd name="adj" fmla="val 8000"/>
            </a:avLst>
          </a:prstGeom>
          <a:solidFill>
            <a:srgbClr val="F5F1FB"/>
          </a:solidFill>
          <a:ln w="12700">
            <a:solidFill>
              <a:srgbClr val="F5F1FB"/>
            </a:solidFill>
            <a:prstDash val="solid"/>
          </a:ln>
        </p:spPr>
      </p:sp>
      <p:sp>
        <p:nvSpPr>
          <p:cNvPr id="12" name="Text 6"/>
          <p:cNvSpPr txBox="1"/>
          <p:nvPr/>
        </p:nvSpPr>
        <p:spPr>
          <a:xfrm>
            <a:off x="4480560" y="5074920"/>
            <a:ext cx="3200400" cy="777240"/>
          </a:xfrm>
          <a:prstGeom prst="rect">
            <a:avLst/>
          </a:prstGeom>
          <a:noFill/>
          <a:ln/>
        </p:spPr>
        <p:txBody>
          <a:bodyPr wrap="square" lIns="0" tIns="0" rIns="0" bIns="0" rtlCol="0" anchor="ctr"/>
          <a:lstStyle/>
          <a:p>
            <a:pPr indent="0" marL="0">
              <a:buNone/>
            </a:pPr>
            <a:r>
              <a:rPr lang="en-US" sz="4000" b="1" dirty="0">
                <a:solidFill>
                  <a:srgbClr val="6B4FA3"/>
                </a:solidFill>
                <a:latin typeface="Cambria" pitchFamily="34" charset="0"/>
                <a:ea typeface="Cambria" pitchFamily="34" charset="-122"/>
                <a:cs typeface="Cambria" pitchFamily="34" charset="-120"/>
              </a:rPr>
              <a:t>29.49 dB</a:t>
            </a:r>
            <a:endParaRPr lang="en-US" sz="4000" dirty="0"/>
          </a:p>
        </p:txBody>
      </p:sp>
      <p:sp>
        <p:nvSpPr>
          <p:cNvPr id="13" name="Text 7"/>
          <p:cNvSpPr txBox="1"/>
          <p:nvPr/>
        </p:nvSpPr>
        <p:spPr>
          <a:xfrm>
            <a:off x="4480560" y="5806440"/>
            <a:ext cx="3200400"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mean PSNR</a:t>
            </a:r>
            <a:endParaRPr lang="en-US" sz="1400" dirty="0"/>
          </a:p>
        </p:txBody>
      </p:sp>
      <p:sp>
        <p:nvSpPr>
          <p:cNvPr id="14" name="Stat card"/>
          <p:cNvSpPr/>
          <p:nvPr/>
        </p:nvSpPr>
        <p:spPr>
          <a:xfrm>
            <a:off x="8046720" y="4937760"/>
            <a:ext cx="3593592" cy="1371600"/>
          </a:xfrm>
          <a:prstGeom prst="roundRect">
            <a:avLst>
              <a:gd name="adj" fmla="val 8000"/>
            </a:avLst>
          </a:prstGeom>
          <a:solidFill>
            <a:srgbClr val="F5F1FB"/>
          </a:solidFill>
          <a:ln w="12700">
            <a:solidFill>
              <a:srgbClr val="F5F1FB"/>
            </a:solidFill>
            <a:prstDash val="solid"/>
          </a:ln>
        </p:spPr>
      </p:sp>
      <p:sp>
        <p:nvSpPr>
          <p:cNvPr id="15" name="Text 9"/>
          <p:cNvSpPr txBox="1"/>
          <p:nvPr/>
        </p:nvSpPr>
        <p:spPr>
          <a:xfrm>
            <a:off x="8229600" y="5074920"/>
            <a:ext cx="3227832" cy="777240"/>
          </a:xfrm>
          <a:prstGeom prst="rect">
            <a:avLst/>
          </a:prstGeom>
          <a:noFill/>
          <a:ln/>
        </p:spPr>
        <p:txBody>
          <a:bodyPr wrap="square" lIns="0" tIns="0" rIns="0" bIns="0" rtlCol="0" anchor="ctr"/>
          <a:lstStyle/>
          <a:p>
            <a:pPr indent="0" marL="0">
              <a:buNone/>
            </a:pPr>
            <a:r>
              <a:rPr lang="en-US" sz="4000" b="1" dirty="0">
                <a:solidFill>
                  <a:srgbClr val="2A9D8F"/>
                </a:solidFill>
                <a:latin typeface="Cambria" pitchFamily="34" charset="0"/>
                <a:ea typeface="Cambria" pitchFamily="34" charset="-122"/>
                <a:cs typeface="Cambria" pitchFamily="34" charset="-120"/>
              </a:rPr>
              <a:t>0.8266</a:t>
            </a:r>
            <a:endParaRPr lang="en-US" sz="4000" dirty="0"/>
          </a:p>
        </p:txBody>
      </p:sp>
      <p:sp>
        <p:nvSpPr>
          <p:cNvPr id="16" name="Text 10"/>
          <p:cNvSpPr txBox="1"/>
          <p:nvPr/>
        </p:nvSpPr>
        <p:spPr>
          <a:xfrm>
            <a:off x="8229600" y="5806440"/>
            <a:ext cx="3227832"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mean SSIM</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6 · EXPERIMENTAL RESULTS</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Color results (R, G, B coded independently)</a:t>
            </a:r>
            <a:endParaRPr lang="en-US" sz="3000" dirty="0"/>
          </a:p>
        </p:txBody>
      </p:sp>
      <p:graphicFrame>
        <p:nvGraphicFramePr>
          <p:cNvPr id="5" name="Chart 0" descr=""/>
          <p:cNvGraphicFramePr/>
          <p:nvPr/>
        </p:nvGraphicFramePr>
        <p:xfrm>
          <a:off x="548640" y="1508760"/>
          <a:ext cx="3657600" cy="329184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4270248" y="1508760"/>
          <a:ext cx="3657600" cy="3291840"/>
        </p:xfrm>
        <a:graphic xmlns:a="http://schemas.openxmlformats.org/drawingml/2006/main">
          <a:graphicData uri="http://schemas.openxmlformats.org/drawingml/2006/chart">
            <c:chart xmlns:c="http://schemas.openxmlformats.org/drawingml/2006/chart" r:id="rId2"/>
          </a:graphicData>
        </a:graphic>
      </p:graphicFrame>
      <p:graphicFrame>
        <p:nvGraphicFramePr>
          <p:cNvPr id="7" name="Chart 2" descr=""/>
          <p:cNvGraphicFramePr/>
          <p:nvPr/>
        </p:nvGraphicFramePr>
        <p:xfrm>
          <a:off x="7991856" y="1508760"/>
          <a:ext cx="3657600" cy="3291840"/>
        </p:xfrm>
        <a:graphic xmlns:a="http://schemas.openxmlformats.org/drawingml/2006/main">
          <a:graphicData uri="http://schemas.openxmlformats.org/drawingml/2006/chart">
            <c:chart xmlns:c="http://schemas.openxmlformats.org/drawingml/2006/chart" r:id="rId3"/>
          </a:graphicData>
        </a:graphic>
      </p:graphicFrame>
      <p:sp>
        <p:nvSpPr>
          <p:cNvPr id="8" name="Stat card"/>
          <p:cNvSpPr/>
          <p:nvPr/>
        </p:nvSpPr>
        <p:spPr>
          <a:xfrm>
            <a:off x="548640" y="4937760"/>
            <a:ext cx="3566160" cy="1371600"/>
          </a:xfrm>
          <a:prstGeom prst="roundRect">
            <a:avLst>
              <a:gd name="adj" fmla="val 8000"/>
            </a:avLst>
          </a:prstGeom>
          <a:solidFill>
            <a:srgbClr val="F5F1FB"/>
          </a:solidFill>
          <a:ln w="12700">
            <a:solidFill>
              <a:srgbClr val="F5F1FB"/>
            </a:solidFill>
            <a:prstDash val="solid"/>
          </a:ln>
        </p:spPr>
      </p:sp>
      <p:sp>
        <p:nvSpPr>
          <p:cNvPr id="9" name="Text 3"/>
          <p:cNvSpPr txBox="1"/>
          <p:nvPr/>
        </p:nvSpPr>
        <p:spPr>
          <a:xfrm>
            <a:off x="731520" y="5074920"/>
            <a:ext cx="3200400" cy="777240"/>
          </a:xfrm>
          <a:prstGeom prst="rect">
            <a:avLst/>
          </a:prstGeom>
          <a:noFill/>
          <a:ln/>
        </p:spPr>
        <p:txBody>
          <a:bodyPr wrap="square" lIns="0" tIns="0" rIns="0" bIns="0" rtlCol="0" anchor="ctr"/>
          <a:lstStyle/>
          <a:p>
            <a:pPr indent="0" marL="0">
              <a:buNone/>
            </a:pPr>
            <a:r>
              <a:rPr lang="en-US" sz="4000" b="1" dirty="0">
                <a:solidFill>
                  <a:srgbClr val="E0457B"/>
                </a:solidFill>
                <a:latin typeface="Cambria" pitchFamily="34" charset="0"/>
                <a:ea typeface="Cambria" pitchFamily="34" charset="-122"/>
                <a:cs typeface="Cambria" pitchFamily="34" charset="-120"/>
              </a:rPr>
              <a:t>24.47</a:t>
            </a:r>
            <a:endParaRPr lang="en-US" sz="4000" dirty="0"/>
          </a:p>
        </p:txBody>
      </p:sp>
      <p:sp>
        <p:nvSpPr>
          <p:cNvPr id="10" name="Text 4"/>
          <p:cNvSpPr txBox="1"/>
          <p:nvPr/>
        </p:nvSpPr>
        <p:spPr>
          <a:xfrm>
            <a:off x="731520" y="5806440"/>
            <a:ext cx="3200400"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mean system CR</a:t>
            </a:r>
            <a:endParaRPr lang="en-US" sz="1400" dirty="0"/>
          </a:p>
        </p:txBody>
      </p:sp>
      <p:sp>
        <p:nvSpPr>
          <p:cNvPr id="11" name="Stat card"/>
          <p:cNvSpPr/>
          <p:nvPr/>
        </p:nvSpPr>
        <p:spPr>
          <a:xfrm>
            <a:off x="4297680" y="4937760"/>
            <a:ext cx="3566160" cy="1371600"/>
          </a:xfrm>
          <a:prstGeom prst="roundRect">
            <a:avLst>
              <a:gd name="adj" fmla="val 8000"/>
            </a:avLst>
          </a:prstGeom>
          <a:solidFill>
            <a:srgbClr val="F5F1FB"/>
          </a:solidFill>
          <a:ln w="12700">
            <a:solidFill>
              <a:srgbClr val="F5F1FB"/>
            </a:solidFill>
            <a:prstDash val="solid"/>
          </a:ln>
        </p:spPr>
      </p:sp>
      <p:sp>
        <p:nvSpPr>
          <p:cNvPr id="12" name="Text 6"/>
          <p:cNvSpPr txBox="1"/>
          <p:nvPr/>
        </p:nvSpPr>
        <p:spPr>
          <a:xfrm>
            <a:off x="4480560" y="5074920"/>
            <a:ext cx="3200400" cy="777240"/>
          </a:xfrm>
          <a:prstGeom prst="rect">
            <a:avLst/>
          </a:prstGeom>
          <a:noFill/>
          <a:ln/>
        </p:spPr>
        <p:txBody>
          <a:bodyPr wrap="square" lIns="0" tIns="0" rIns="0" bIns="0" rtlCol="0" anchor="ctr"/>
          <a:lstStyle/>
          <a:p>
            <a:pPr indent="0" marL="0">
              <a:buNone/>
            </a:pPr>
            <a:r>
              <a:rPr lang="en-US" sz="4000" b="1" dirty="0">
                <a:solidFill>
                  <a:srgbClr val="6B4FA3"/>
                </a:solidFill>
                <a:latin typeface="Cambria" pitchFamily="34" charset="0"/>
                <a:ea typeface="Cambria" pitchFamily="34" charset="-122"/>
                <a:cs typeface="Cambria" pitchFamily="34" charset="-120"/>
              </a:rPr>
              <a:t>28.80 dB</a:t>
            </a:r>
            <a:endParaRPr lang="en-US" sz="4000" dirty="0"/>
          </a:p>
        </p:txBody>
      </p:sp>
      <p:sp>
        <p:nvSpPr>
          <p:cNvPr id="13" name="Text 7"/>
          <p:cNvSpPr txBox="1"/>
          <p:nvPr/>
        </p:nvSpPr>
        <p:spPr>
          <a:xfrm>
            <a:off x="4480560" y="5806440"/>
            <a:ext cx="3200400"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mean PSNR</a:t>
            </a:r>
            <a:endParaRPr lang="en-US" sz="1400" dirty="0"/>
          </a:p>
        </p:txBody>
      </p:sp>
      <p:sp>
        <p:nvSpPr>
          <p:cNvPr id="14" name="Stat card"/>
          <p:cNvSpPr/>
          <p:nvPr/>
        </p:nvSpPr>
        <p:spPr>
          <a:xfrm>
            <a:off x="8046720" y="4937760"/>
            <a:ext cx="3593592" cy="1371600"/>
          </a:xfrm>
          <a:prstGeom prst="roundRect">
            <a:avLst>
              <a:gd name="adj" fmla="val 8000"/>
            </a:avLst>
          </a:prstGeom>
          <a:solidFill>
            <a:srgbClr val="F5F1FB"/>
          </a:solidFill>
          <a:ln w="12700">
            <a:solidFill>
              <a:srgbClr val="F5F1FB"/>
            </a:solidFill>
            <a:prstDash val="solid"/>
          </a:ln>
        </p:spPr>
      </p:sp>
      <p:sp>
        <p:nvSpPr>
          <p:cNvPr id="15" name="Text 9"/>
          <p:cNvSpPr txBox="1"/>
          <p:nvPr/>
        </p:nvSpPr>
        <p:spPr>
          <a:xfrm>
            <a:off x="8229600" y="5074920"/>
            <a:ext cx="3227832" cy="777240"/>
          </a:xfrm>
          <a:prstGeom prst="rect">
            <a:avLst/>
          </a:prstGeom>
          <a:noFill/>
          <a:ln/>
        </p:spPr>
        <p:txBody>
          <a:bodyPr wrap="square" lIns="0" tIns="0" rIns="0" bIns="0" rtlCol="0" anchor="ctr"/>
          <a:lstStyle/>
          <a:p>
            <a:pPr indent="0" marL="0">
              <a:buNone/>
            </a:pPr>
            <a:r>
              <a:rPr lang="en-US" sz="4000" b="1" dirty="0">
                <a:solidFill>
                  <a:srgbClr val="2A9D8F"/>
                </a:solidFill>
                <a:latin typeface="Cambria" pitchFamily="34" charset="0"/>
                <a:ea typeface="Cambria" pitchFamily="34" charset="-122"/>
                <a:cs typeface="Cambria" pitchFamily="34" charset="-120"/>
              </a:rPr>
              <a:t>0.7654</a:t>
            </a:r>
            <a:endParaRPr lang="en-US" sz="4000" dirty="0"/>
          </a:p>
        </p:txBody>
      </p:sp>
      <p:sp>
        <p:nvSpPr>
          <p:cNvPr id="16" name="Text 10"/>
          <p:cNvSpPr txBox="1"/>
          <p:nvPr/>
        </p:nvSpPr>
        <p:spPr>
          <a:xfrm>
            <a:off x="8229600" y="5806440"/>
            <a:ext cx="3227832"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mean SSIM</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6 · EXPERIMENTAL RESULTS</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Visual result: Cameraman</a:t>
            </a:r>
            <a:endParaRPr lang="en-US" sz="3000" dirty="0"/>
          </a:p>
        </p:txBody>
      </p:sp>
      <p:pic>
        <p:nvPicPr>
          <p:cNvPr id="5" name="Original" descr="/home/user/mihk/results/seminar/assets/cam_orig.png">    </p:cNvPr>
          <p:cNvPicPr>
            <a:picLocks noChangeAspect="1"/>
          </p:cNvPicPr>
          <p:nvPr/>
        </p:nvPicPr>
        <p:blipFill>
          <a:blip r:embed="rId1"/>
          <a:stretch>
            <a:fillRect/>
          </a:stretch>
        </p:blipFill>
        <p:spPr>
          <a:xfrm>
            <a:off x="548640" y="1508760"/>
            <a:ext cx="3566160" cy="3566160"/>
          </a:xfrm>
          <a:prstGeom prst="rect">
            <a:avLst/>
          </a:prstGeom>
        </p:spPr>
      </p:pic>
      <p:sp>
        <p:nvSpPr>
          <p:cNvPr id="6" name="Text 2"/>
          <p:cNvSpPr txBox="1"/>
          <p:nvPr/>
        </p:nvSpPr>
        <p:spPr>
          <a:xfrm>
            <a:off x="548640" y="5120640"/>
            <a:ext cx="3566160" cy="320040"/>
          </a:xfrm>
          <a:prstGeom prst="rect">
            <a:avLst/>
          </a:prstGeom>
          <a:noFill/>
          <a:ln/>
        </p:spPr>
        <p:txBody>
          <a:bodyPr wrap="square" lIns="0" tIns="0" rIns="0" bIns="0" rtlCol="0" anchor="t"/>
          <a:lstStyle/>
          <a:p>
            <a:pPr algn="ctr" indent="0" marL="0">
              <a:buNone/>
            </a:pPr>
            <a:r>
              <a:rPr lang="en-US" sz="1400" b="1" dirty="0">
                <a:solidFill>
                  <a:srgbClr val="1F1A33"/>
                </a:solidFill>
                <a:latin typeface="Calibri" pitchFamily="34" charset="0"/>
                <a:ea typeface="Calibri" pitchFamily="34" charset="-122"/>
                <a:cs typeface="Calibri" pitchFamily="34" charset="-120"/>
              </a:rPr>
              <a:t>Original</a:t>
            </a:r>
            <a:endParaRPr lang="en-US" sz="1400" dirty="0"/>
          </a:p>
        </p:txBody>
      </p:sp>
      <p:pic>
        <p:nvPicPr>
          <p:cNvPr id="7" name="Reconstructed (K = 64)" descr="/home/user/mihk/results/seminar/assets/cam_rec.png">    </p:cNvPr>
          <p:cNvPicPr>
            <a:picLocks noChangeAspect="1"/>
          </p:cNvPicPr>
          <p:nvPr/>
        </p:nvPicPr>
        <p:blipFill>
          <a:blip r:embed="rId2"/>
          <a:stretch>
            <a:fillRect/>
          </a:stretch>
        </p:blipFill>
        <p:spPr>
          <a:xfrm>
            <a:off x="4416552" y="1508760"/>
            <a:ext cx="3566160" cy="3566160"/>
          </a:xfrm>
          <a:prstGeom prst="rect">
            <a:avLst/>
          </a:prstGeom>
        </p:spPr>
      </p:pic>
      <p:sp>
        <p:nvSpPr>
          <p:cNvPr id="8" name="Text 3"/>
          <p:cNvSpPr txBox="1"/>
          <p:nvPr/>
        </p:nvSpPr>
        <p:spPr>
          <a:xfrm>
            <a:off x="4416552" y="5120640"/>
            <a:ext cx="3566160" cy="320040"/>
          </a:xfrm>
          <a:prstGeom prst="rect">
            <a:avLst/>
          </a:prstGeom>
          <a:noFill/>
          <a:ln/>
        </p:spPr>
        <p:txBody>
          <a:bodyPr wrap="square" lIns="0" tIns="0" rIns="0" bIns="0" rtlCol="0" anchor="t"/>
          <a:lstStyle/>
          <a:p>
            <a:pPr algn="ctr" indent="0" marL="0">
              <a:buNone/>
            </a:pPr>
            <a:r>
              <a:rPr lang="en-US" sz="1400" b="1" dirty="0">
                <a:solidFill>
                  <a:srgbClr val="1F1A33"/>
                </a:solidFill>
                <a:latin typeface="Calibri" pitchFamily="34" charset="0"/>
                <a:ea typeface="Calibri" pitchFamily="34" charset="-122"/>
                <a:cs typeface="Calibri" pitchFamily="34" charset="-120"/>
              </a:rPr>
              <a:t>Reconstructed (K = 64)</a:t>
            </a:r>
            <a:endParaRPr lang="en-US" sz="1400" dirty="0"/>
          </a:p>
        </p:txBody>
      </p:sp>
      <p:pic>
        <p:nvPicPr>
          <p:cNvPr id="9" name="Zoom original" descr="/home/user/mihk/results/seminar/assets/cam_orig_zoom.png">    </p:cNvPr>
          <p:cNvPicPr>
            <a:picLocks noChangeAspect="1"/>
          </p:cNvPicPr>
          <p:nvPr/>
        </p:nvPicPr>
        <p:blipFill>
          <a:blip r:embed="rId3"/>
          <a:stretch>
            <a:fillRect/>
          </a:stretch>
        </p:blipFill>
        <p:spPr>
          <a:xfrm>
            <a:off x="8284464" y="1508760"/>
            <a:ext cx="1645920" cy="1645920"/>
          </a:xfrm>
          <a:prstGeom prst="rect">
            <a:avLst/>
          </a:prstGeom>
        </p:spPr>
      </p:pic>
      <p:pic>
        <p:nvPicPr>
          <p:cNvPr id="10" name="Zoom reconstructed" descr="/home/user/mihk/results/seminar/assets/cam_rec_zoom.png">    </p:cNvPr>
          <p:cNvPicPr>
            <a:picLocks noChangeAspect="1"/>
          </p:cNvPicPr>
          <p:nvPr/>
        </p:nvPicPr>
        <p:blipFill>
          <a:blip r:embed="rId4"/>
          <a:stretch>
            <a:fillRect/>
          </a:stretch>
        </p:blipFill>
        <p:spPr>
          <a:xfrm>
            <a:off x="9994392" y="1508760"/>
            <a:ext cx="1645920" cy="1645920"/>
          </a:xfrm>
          <a:prstGeom prst="rect">
            <a:avLst/>
          </a:prstGeom>
        </p:spPr>
      </p:pic>
      <p:sp>
        <p:nvSpPr>
          <p:cNvPr id="11" name="Text 4"/>
          <p:cNvSpPr txBox="1"/>
          <p:nvPr/>
        </p:nvSpPr>
        <p:spPr>
          <a:xfrm>
            <a:off x="8284464" y="3200400"/>
            <a:ext cx="1645920" cy="274320"/>
          </a:xfrm>
          <a:prstGeom prst="rect">
            <a:avLst/>
          </a:prstGeom>
          <a:noFill/>
          <a:ln/>
        </p:spPr>
        <p:txBody>
          <a:bodyPr wrap="square" lIns="0" tIns="0" rIns="0" bIns="0" rtlCol="0" anchor="t"/>
          <a:lstStyle/>
          <a:p>
            <a:pPr algn="ctr" indent="0" marL="0">
              <a:buNone/>
            </a:pPr>
            <a:r>
              <a:rPr lang="en-US" sz="1200" dirty="0">
                <a:solidFill>
                  <a:srgbClr val="5E5878"/>
                </a:solidFill>
                <a:latin typeface="Calibri" pitchFamily="34" charset="0"/>
                <a:ea typeface="Calibri" pitchFamily="34" charset="-122"/>
                <a:cs typeface="Calibri" pitchFamily="34" charset="-120"/>
              </a:rPr>
              <a:t>original</a:t>
            </a:r>
            <a:endParaRPr lang="en-US" sz="1200" dirty="0"/>
          </a:p>
        </p:txBody>
      </p:sp>
      <p:sp>
        <p:nvSpPr>
          <p:cNvPr id="12" name="Text 5"/>
          <p:cNvSpPr txBox="1"/>
          <p:nvPr/>
        </p:nvSpPr>
        <p:spPr>
          <a:xfrm>
            <a:off x="9994392" y="3200400"/>
            <a:ext cx="1645920" cy="274320"/>
          </a:xfrm>
          <a:prstGeom prst="rect">
            <a:avLst/>
          </a:prstGeom>
          <a:noFill/>
          <a:ln/>
        </p:spPr>
        <p:txBody>
          <a:bodyPr wrap="square" lIns="0" tIns="0" rIns="0" bIns="0" rtlCol="0" anchor="t"/>
          <a:lstStyle/>
          <a:p>
            <a:pPr algn="ctr" indent="0" marL="0">
              <a:buNone/>
            </a:pPr>
            <a:r>
              <a:rPr lang="en-US" sz="1200" dirty="0">
                <a:solidFill>
                  <a:srgbClr val="5E5878"/>
                </a:solidFill>
                <a:latin typeface="Calibri" pitchFamily="34" charset="0"/>
                <a:ea typeface="Calibri" pitchFamily="34" charset="-122"/>
                <a:cs typeface="Calibri" pitchFamily="34" charset="-120"/>
              </a:rPr>
              <a:t>reconstructed</a:t>
            </a:r>
            <a:endParaRPr lang="en-US" sz="1200" dirty="0"/>
          </a:p>
        </p:txBody>
      </p:sp>
      <p:sp>
        <p:nvSpPr>
          <p:cNvPr id="13" name="Text 6"/>
          <p:cNvSpPr txBox="1"/>
          <p:nvPr/>
        </p:nvSpPr>
        <p:spPr>
          <a:xfrm>
            <a:off x="8284464" y="3474720"/>
            <a:ext cx="3355848" cy="274320"/>
          </a:xfrm>
          <a:prstGeom prst="rect">
            <a:avLst/>
          </a:prstGeom>
          <a:noFill/>
          <a:ln/>
        </p:spPr>
        <p:txBody>
          <a:bodyPr wrap="square" lIns="0" tIns="0" rIns="0" bIns="0" rtlCol="0" anchor="t"/>
          <a:lstStyle/>
          <a:p>
            <a:pPr algn="ctr" indent="0" marL="0">
              <a:buNone/>
            </a:pPr>
            <a:r>
              <a:rPr lang="en-US" sz="1200" i="1" dirty="0">
                <a:solidFill>
                  <a:srgbClr val="5E5878"/>
                </a:solidFill>
                <a:latin typeface="Calibri" pitchFamily="34" charset="0"/>
                <a:ea typeface="Calibri" pitchFamily="34" charset="-122"/>
                <a:cs typeface="Calibri" pitchFamily="34" charset="-120"/>
              </a:rPr>
              <a:t>4× zoom of the same 96×96 region</a:t>
            </a:r>
            <a:endParaRPr lang="en-US" sz="1200" dirty="0"/>
          </a:p>
        </p:txBody>
      </p:sp>
      <p:sp>
        <p:nvSpPr>
          <p:cNvPr id="14" name="Stat card"/>
          <p:cNvSpPr/>
          <p:nvPr/>
        </p:nvSpPr>
        <p:spPr>
          <a:xfrm>
            <a:off x="8284464" y="3840480"/>
            <a:ext cx="1645920" cy="1371600"/>
          </a:xfrm>
          <a:prstGeom prst="roundRect">
            <a:avLst>
              <a:gd name="adj" fmla="val 8000"/>
            </a:avLst>
          </a:prstGeom>
          <a:solidFill>
            <a:srgbClr val="F5F1FB"/>
          </a:solidFill>
          <a:ln w="12700">
            <a:solidFill>
              <a:srgbClr val="F5F1FB"/>
            </a:solidFill>
            <a:prstDash val="solid"/>
          </a:ln>
        </p:spPr>
      </p:sp>
      <p:sp>
        <p:nvSpPr>
          <p:cNvPr id="15" name="Text 8"/>
          <p:cNvSpPr txBox="1"/>
          <p:nvPr/>
        </p:nvSpPr>
        <p:spPr>
          <a:xfrm>
            <a:off x="8467344" y="3977640"/>
            <a:ext cx="1280160" cy="777240"/>
          </a:xfrm>
          <a:prstGeom prst="rect">
            <a:avLst/>
          </a:prstGeom>
          <a:noFill/>
          <a:ln/>
        </p:spPr>
        <p:txBody>
          <a:bodyPr wrap="square" lIns="0" tIns="0" rIns="0" bIns="0" rtlCol="0" anchor="ctr"/>
          <a:lstStyle/>
          <a:p>
            <a:pPr indent="0" marL="0">
              <a:buNone/>
            </a:pPr>
            <a:r>
              <a:rPr lang="en-US" sz="4000" b="1" dirty="0">
                <a:solidFill>
                  <a:srgbClr val="E0457B"/>
                </a:solidFill>
                <a:latin typeface="Cambria" pitchFamily="34" charset="0"/>
                <a:ea typeface="Cambria" pitchFamily="34" charset="-122"/>
                <a:cs typeface="Cambria" pitchFamily="34" charset="-120"/>
              </a:rPr>
              <a:t>28.88</a:t>
            </a:r>
            <a:endParaRPr lang="en-US" sz="4000" dirty="0"/>
          </a:p>
        </p:txBody>
      </p:sp>
      <p:sp>
        <p:nvSpPr>
          <p:cNvPr id="16" name="Text 9"/>
          <p:cNvSpPr txBox="1"/>
          <p:nvPr/>
        </p:nvSpPr>
        <p:spPr>
          <a:xfrm>
            <a:off x="8467344" y="4709160"/>
            <a:ext cx="1280160"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CR</a:t>
            </a:r>
            <a:endParaRPr lang="en-US" sz="1400" dirty="0"/>
          </a:p>
        </p:txBody>
      </p:sp>
      <p:sp>
        <p:nvSpPr>
          <p:cNvPr id="17" name="Stat card"/>
          <p:cNvSpPr/>
          <p:nvPr/>
        </p:nvSpPr>
        <p:spPr>
          <a:xfrm>
            <a:off x="9994392" y="3840480"/>
            <a:ext cx="1645920" cy="1371600"/>
          </a:xfrm>
          <a:prstGeom prst="roundRect">
            <a:avLst>
              <a:gd name="adj" fmla="val 8000"/>
            </a:avLst>
          </a:prstGeom>
          <a:solidFill>
            <a:srgbClr val="F5F1FB"/>
          </a:solidFill>
          <a:ln w="12700">
            <a:solidFill>
              <a:srgbClr val="F5F1FB"/>
            </a:solidFill>
            <a:prstDash val="solid"/>
          </a:ln>
        </p:spPr>
      </p:sp>
      <p:sp>
        <p:nvSpPr>
          <p:cNvPr id="18" name="Text 11"/>
          <p:cNvSpPr txBox="1"/>
          <p:nvPr/>
        </p:nvSpPr>
        <p:spPr>
          <a:xfrm>
            <a:off x="10177272" y="3977640"/>
            <a:ext cx="1280160" cy="777240"/>
          </a:xfrm>
          <a:prstGeom prst="rect">
            <a:avLst/>
          </a:prstGeom>
          <a:noFill/>
          <a:ln/>
        </p:spPr>
        <p:txBody>
          <a:bodyPr wrap="square" lIns="0" tIns="0" rIns="0" bIns="0" rtlCol="0" anchor="ctr"/>
          <a:lstStyle/>
          <a:p>
            <a:pPr indent="0" marL="0">
              <a:buNone/>
            </a:pPr>
            <a:r>
              <a:rPr lang="en-US" sz="4000" b="1" dirty="0">
                <a:solidFill>
                  <a:srgbClr val="6B4FA3"/>
                </a:solidFill>
                <a:latin typeface="Cambria" pitchFamily="34" charset="0"/>
                <a:ea typeface="Cambria" pitchFamily="34" charset="-122"/>
                <a:cs typeface="Cambria" pitchFamily="34" charset="-120"/>
              </a:rPr>
              <a:t>29.75</a:t>
            </a:r>
            <a:endParaRPr lang="en-US" sz="4000" dirty="0"/>
          </a:p>
        </p:txBody>
      </p:sp>
      <p:sp>
        <p:nvSpPr>
          <p:cNvPr id="19" name="Text 12"/>
          <p:cNvSpPr txBox="1"/>
          <p:nvPr/>
        </p:nvSpPr>
        <p:spPr>
          <a:xfrm>
            <a:off x="10177272" y="4709160"/>
            <a:ext cx="1280160"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PSNR dB</a:t>
            </a:r>
            <a:endParaRPr lang="en-US" sz="1400" dirty="0"/>
          </a:p>
        </p:txBody>
      </p:sp>
      <p:sp>
        <p:nvSpPr>
          <p:cNvPr id="20" name="Text 13"/>
          <p:cNvSpPr txBox="1"/>
          <p:nvPr/>
        </p:nvSpPr>
        <p:spPr>
          <a:xfrm>
            <a:off x="8284464" y="5303520"/>
            <a:ext cx="3355848" cy="320040"/>
          </a:xfrm>
          <a:prstGeom prst="rect">
            <a:avLst/>
          </a:prstGeom>
          <a:noFill/>
          <a:ln/>
        </p:spPr>
        <p:txBody>
          <a:bodyPr wrap="square" lIns="0" tIns="0" rIns="0" bIns="0" rtlCol="0" anchor="t"/>
          <a:lstStyle/>
          <a:p>
            <a:pPr algn="ctr" indent="0" marL="0">
              <a:buNone/>
            </a:pPr>
            <a:r>
              <a:rPr lang="en-US" sz="1400" b="1" dirty="0">
                <a:solidFill>
                  <a:srgbClr val="1F1A33"/>
                </a:solidFill>
                <a:latin typeface="Calibri" pitchFamily="34" charset="0"/>
                <a:ea typeface="Calibri" pitchFamily="34" charset="-122"/>
                <a:cs typeface="Calibri" pitchFamily="34" charset="-120"/>
              </a:rPr>
              <a:t>SSIM 0.8855  ·  MSE 68.84</a:t>
            </a:r>
            <a:endParaRPr lang="en-US" sz="1400" dirty="0"/>
          </a:p>
        </p:txBody>
      </p:sp>
      <p:sp>
        <p:nvSpPr>
          <p:cNvPr id="21" name="Note"/>
          <p:cNvSpPr/>
          <p:nvPr/>
        </p:nvSpPr>
        <p:spPr>
          <a:xfrm>
            <a:off x="548640" y="5623560"/>
            <a:ext cx="11091672" cy="594360"/>
          </a:xfrm>
          <a:prstGeom prst="roundRect">
            <a:avLst>
              <a:gd name="adj" fmla="val 18462"/>
            </a:avLst>
          </a:prstGeom>
          <a:solidFill>
            <a:srgbClr val="F5F1FB"/>
          </a:solidFill>
          <a:ln w="12700">
            <a:solidFill>
              <a:srgbClr val="F5F1FB"/>
            </a:solidFill>
            <a:prstDash val="solid"/>
          </a:ln>
        </p:spPr>
      </p:sp>
      <p:sp>
        <p:nvSpPr>
          <p:cNvPr id="22" name="Text 15"/>
          <p:cNvSpPr txBox="1"/>
          <p:nvPr/>
        </p:nvSpPr>
        <p:spPr>
          <a:xfrm>
            <a:off x="822960" y="5623560"/>
            <a:ext cx="10515600" cy="594360"/>
          </a:xfrm>
          <a:prstGeom prst="rect">
            <a:avLst/>
          </a:prstGeom>
          <a:noFill/>
          <a:ln/>
        </p:spPr>
        <p:txBody>
          <a:bodyPr wrap="square" lIns="0" tIns="0" rIns="0" bIns="0" rtlCol="0" anchor="ctr"/>
          <a:lstStyle/>
          <a:p>
            <a:pPr indent="0" marL="0">
              <a:buNone/>
            </a:pPr>
            <a:r>
              <a:rPr lang="en-US" sz="1500" b="1" dirty="0">
                <a:solidFill>
                  <a:srgbClr val="6B4FA3"/>
                </a:solidFill>
                <a:latin typeface="Calibri" pitchFamily="34" charset="0"/>
                <a:ea typeface="Calibri" pitchFamily="34" charset="-122"/>
                <a:cs typeface="Calibri" pitchFamily="34" charset="-120"/>
              </a:rPr>
              <a:t>At CR ≈ 29 the image remains recognisable; fine textures show the 4×4 block structure of VQ.</a:t>
            </a:r>
            <a:endParaRPr lang="en-US" sz="15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6 · EXPERIMENTAL RESULTS</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Quality at matched compression ratio</a:t>
            </a:r>
            <a:endParaRPr lang="en-US" sz="3000" dirty="0"/>
          </a:p>
        </p:txBody>
      </p:sp>
      <p:graphicFrame>
        <p:nvGraphicFramePr>
          <p:cNvPr id="5" name="Chart 0" descr=""/>
          <p:cNvGraphicFramePr/>
          <p:nvPr/>
        </p:nvGraphicFramePr>
        <p:xfrm>
          <a:off x="548640" y="1508760"/>
          <a:ext cx="7406640" cy="4480560"/>
        </p:xfrm>
        <a:graphic xmlns:a="http://schemas.openxmlformats.org/drawingml/2006/main">
          <a:graphicData uri="http://schemas.openxmlformats.org/drawingml/2006/chart">
            <c:chart xmlns:c="http://schemas.openxmlformats.org/drawingml/2006/chart" r:id="rId1"/>
          </a:graphicData>
        </a:graphic>
      </p:graphicFrame>
      <p:sp>
        <p:nvSpPr>
          <p:cNvPr id="6" name="Reading"/>
          <p:cNvSpPr/>
          <p:nvPr/>
        </p:nvSpPr>
        <p:spPr>
          <a:xfrm>
            <a:off x="8183880" y="1508760"/>
            <a:ext cx="3456432" cy="4480560"/>
          </a:xfrm>
          <a:prstGeom prst="roundRect">
            <a:avLst>
              <a:gd name="adj" fmla="val 3175"/>
            </a:avLst>
          </a:prstGeom>
          <a:solidFill>
            <a:srgbClr val="F5F1FB"/>
          </a:solidFill>
          <a:ln w="12700">
            <a:solidFill>
              <a:srgbClr val="F5F1FB"/>
            </a:solidFill>
            <a:prstDash val="solid"/>
          </a:ln>
        </p:spPr>
      </p:sp>
      <p:sp>
        <p:nvSpPr>
          <p:cNvPr id="7" name="Text 3"/>
          <p:cNvSpPr txBox="1"/>
          <p:nvPr/>
        </p:nvSpPr>
        <p:spPr>
          <a:xfrm>
            <a:off x="8412480" y="1645920"/>
            <a:ext cx="3017520" cy="4206240"/>
          </a:xfrm>
          <a:prstGeom prst="rect">
            <a:avLst/>
          </a:prstGeom>
          <a:noFill/>
          <a:ln/>
        </p:spPr>
        <p:txBody>
          <a:bodyPr wrap="square" lIns="0" tIns="0" rIns="0" bIns="0" rtlCol="0" anchor="t"/>
          <a:lstStyle/>
          <a:p>
            <a:pPr indent="0" marL="0">
              <a:spcAft>
                <a:spcPts val="800"/>
              </a:spcAft>
              <a:buNone/>
            </a:pPr>
            <a:r>
              <a:rPr lang="en-US" sz="1800" b="1" dirty="0">
                <a:solidFill>
                  <a:srgbClr val="6B4FA3"/>
                </a:solidFill>
                <a:latin typeface="Calibri" pitchFamily="34" charset="0"/>
                <a:ea typeface="Calibri" pitchFamily="34" charset="-122"/>
                <a:cs typeface="Calibri" pitchFamily="34" charset="-120"/>
              </a:rPr>
              <a:t>How to read it</a:t>
            </a:r>
            <a:endParaRPr lang="en-US" sz="1500" dirty="0"/>
          </a:p>
          <a:p>
            <a:pPr marL="342900" indent="-342900">
              <a:spcAft>
                <a:spcPts val="800"/>
              </a:spcAft>
              <a:buSzPct val="100000"/>
              <a:buChar char="•"/>
            </a:pPr>
            <a:r>
              <a:rPr lang="en-US" sz="1500" dirty="0">
                <a:solidFill>
                  <a:srgbClr val="1F1A33"/>
                </a:solidFill>
                <a:latin typeface="Calibri" pitchFamily="34" charset="0"/>
                <a:ea typeface="Calibri" pitchFamily="34" charset="-122"/>
                <a:cs typeface="Calibri" pitchFamily="34" charset="-120"/>
              </a:rPr>
              <a:t>Each image: CR matched within ≈ 2%.</a:t>
            </a:r>
            <a:endParaRPr lang="en-US" sz="1500" dirty="0"/>
          </a:p>
          <a:p>
            <a:pPr marL="342900" indent="-342900">
              <a:spcAft>
                <a:spcPts val="800"/>
              </a:spcAft>
              <a:buSzPct val="100000"/>
              <a:buChar char="•"/>
            </a:pPr>
            <a:r>
              <a:rPr lang="en-US" sz="1500" dirty="0">
                <a:solidFill>
                  <a:srgbClr val="1F1A33"/>
                </a:solidFill>
                <a:latin typeface="Calibri" pitchFamily="34" charset="0"/>
                <a:ea typeface="Calibri" pitchFamily="34" charset="-122"/>
                <a:cs typeface="Calibri" pitchFamily="34" charset="-120"/>
              </a:rPr>
              <a:t>JPEG 2000 &gt; JPEG &gt; proposed VQ &gt; generic DWT+Huffman in PSNR.</a:t>
            </a:r>
            <a:endParaRPr lang="en-US" sz="1500" dirty="0"/>
          </a:p>
          <a:p>
            <a:pPr marL="342900" indent="-342900">
              <a:spcAft>
                <a:spcPts val="800"/>
              </a:spcAft>
              <a:buSzPct val="100000"/>
              <a:buChar char="•"/>
            </a:pPr>
            <a:r>
              <a:rPr lang="en-US" sz="1500" dirty="0">
                <a:solidFill>
                  <a:srgbClr val="1F1A33"/>
                </a:solidFill>
                <a:latin typeface="Calibri" pitchFamily="34" charset="0"/>
                <a:ea typeface="Calibri" pitchFamily="34" charset="-122"/>
                <a:cs typeface="Calibri" pitchFamily="34" charset="-120"/>
              </a:rPr>
              <a:t>VQ gives a simple, parallelizable codec with a fast decoder.</a:t>
            </a:r>
            <a:endParaRPr lang="en-US" sz="15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6 · EXPERIMENTAL RESULTS</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Where the sequential time goes</a:t>
            </a:r>
            <a:endParaRPr lang="en-US" sz="3000" dirty="0"/>
          </a:p>
        </p:txBody>
      </p:sp>
      <p:graphicFrame>
        <p:nvGraphicFramePr>
          <p:cNvPr id="5" name="Chart 0" descr=""/>
          <p:cNvGraphicFramePr/>
          <p:nvPr/>
        </p:nvGraphicFramePr>
        <p:xfrm>
          <a:off x="548640" y="1508760"/>
          <a:ext cx="4754880" cy="384048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5394960" y="1508760"/>
          <a:ext cx="4754880" cy="3840480"/>
        </p:xfrm>
        <a:graphic xmlns:a="http://schemas.openxmlformats.org/drawingml/2006/main">
          <a:graphicData uri="http://schemas.openxmlformats.org/drawingml/2006/chart">
            <c:chart xmlns:c="http://schemas.openxmlformats.org/drawingml/2006/chart" r:id="rId2"/>
          </a:graphicData>
        </a:graphic>
      </p:graphicFrame>
      <p:sp>
        <p:nvSpPr>
          <p:cNvPr id="7" name="Stat card"/>
          <p:cNvSpPr/>
          <p:nvPr/>
        </p:nvSpPr>
        <p:spPr>
          <a:xfrm>
            <a:off x="10195560" y="1508760"/>
            <a:ext cx="1444752" cy="1371600"/>
          </a:xfrm>
          <a:prstGeom prst="roundRect">
            <a:avLst>
              <a:gd name="adj" fmla="val 8000"/>
            </a:avLst>
          </a:prstGeom>
          <a:solidFill>
            <a:srgbClr val="F5F1FB"/>
          </a:solidFill>
          <a:ln w="12700">
            <a:solidFill>
              <a:srgbClr val="F5F1FB"/>
            </a:solidFill>
            <a:prstDash val="solid"/>
          </a:ln>
        </p:spPr>
      </p:sp>
      <p:sp>
        <p:nvSpPr>
          <p:cNvPr id="8" name="Text 3"/>
          <p:cNvSpPr txBox="1"/>
          <p:nvPr/>
        </p:nvSpPr>
        <p:spPr>
          <a:xfrm>
            <a:off x="10378440" y="1645920"/>
            <a:ext cx="1078992" cy="777240"/>
          </a:xfrm>
          <a:prstGeom prst="rect">
            <a:avLst/>
          </a:prstGeom>
          <a:noFill/>
          <a:ln/>
        </p:spPr>
        <p:txBody>
          <a:bodyPr wrap="square" lIns="0" tIns="0" rIns="0" bIns="0" rtlCol="0" anchor="ctr"/>
          <a:lstStyle/>
          <a:p>
            <a:pPr indent="0" marL="0">
              <a:buNone/>
            </a:pPr>
            <a:r>
              <a:rPr lang="en-US" sz="4000" b="1" dirty="0">
                <a:solidFill>
                  <a:srgbClr val="E0457B"/>
                </a:solidFill>
                <a:latin typeface="Cambria" pitchFamily="34" charset="0"/>
                <a:ea typeface="Cambria" pitchFamily="34" charset="-122"/>
                <a:cs typeface="Cambria" pitchFamily="34" charset="-120"/>
              </a:rPr>
              <a:t>77%</a:t>
            </a:r>
            <a:endParaRPr lang="en-US" sz="4000" dirty="0"/>
          </a:p>
        </p:txBody>
      </p:sp>
      <p:sp>
        <p:nvSpPr>
          <p:cNvPr id="9" name="Text 4"/>
          <p:cNvSpPr txBox="1"/>
          <p:nvPr/>
        </p:nvSpPr>
        <p:spPr>
          <a:xfrm>
            <a:off x="10378440" y="2377440"/>
            <a:ext cx="1078992"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gray</a:t>
            </a:r>
            <a:endParaRPr lang="en-US" sz="1400" dirty="0"/>
          </a:p>
        </p:txBody>
      </p:sp>
      <p:sp>
        <p:nvSpPr>
          <p:cNvPr id="10" name="Stat card"/>
          <p:cNvSpPr/>
          <p:nvPr/>
        </p:nvSpPr>
        <p:spPr>
          <a:xfrm>
            <a:off x="10195560" y="3108960"/>
            <a:ext cx="1444752" cy="1371600"/>
          </a:xfrm>
          <a:prstGeom prst="roundRect">
            <a:avLst>
              <a:gd name="adj" fmla="val 8000"/>
            </a:avLst>
          </a:prstGeom>
          <a:solidFill>
            <a:srgbClr val="F5F1FB"/>
          </a:solidFill>
          <a:ln w="12700">
            <a:solidFill>
              <a:srgbClr val="F5F1FB"/>
            </a:solidFill>
            <a:prstDash val="solid"/>
          </a:ln>
        </p:spPr>
      </p:sp>
      <p:sp>
        <p:nvSpPr>
          <p:cNvPr id="11" name="Text 6"/>
          <p:cNvSpPr txBox="1"/>
          <p:nvPr/>
        </p:nvSpPr>
        <p:spPr>
          <a:xfrm>
            <a:off x="10378440" y="3246120"/>
            <a:ext cx="1078992" cy="777240"/>
          </a:xfrm>
          <a:prstGeom prst="rect">
            <a:avLst/>
          </a:prstGeom>
          <a:noFill/>
          <a:ln/>
        </p:spPr>
        <p:txBody>
          <a:bodyPr wrap="square" lIns="0" tIns="0" rIns="0" bIns="0" rtlCol="0" anchor="ctr"/>
          <a:lstStyle/>
          <a:p>
            <a:pPr indent="0" marL="0">
              <a:buNone/>
            </a:pPr>
            <a:r>
              <a:rPr lang="en-US" sz="4000" b="1" dirty="0">
                <a:solidFill>
                  <a:srgbClr val="6B4FA3"/>
                </a:solidFill>
                <a:latin typeface="Cambria" pitchFamily="34" charset="0"/>
                <a:ea typeface="Cambria" pitchFamily="34" charset="-122"/>
                <a:cs typeface="Cambria" pitchFamily="34" charset="-120"/>
              </a:rPr>
              <a:t>81%</a:t>
            </a:r>
            <a:endParaRPr lang="en-US" sz="4000" dirty="0"/>
          </a:p>
        </p:txBody>
      </p:sp>
      <p:sp>
        <p:nvSpPr>
          <p:cNvPr id="12" name="Text 7"/>
          <p:cNvSpPr txBox="1"/>
          <p:nvPr/>
        </p:nvSpPr>
        <p:spPr>
          <a:xfrm>
            <a:off x="10378440" y="3977640"/>
            <a:ext cx="1078992"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color</a:t>
            </a:r>
            <a:endParaRPr lang="en-US" sz="1400" dirty="0"/>
          </a:p>
        </p:txBody>
      </p:sp>
      <p:sp>
        <p:nvSpPr>
          <p:cNvPr id="13" name="Takeaway"/>
          <p:cNvSpPr/>
          <p:nvPr/>
        </p:nvSpPr>
        <p:spPr>
          <a:xfrm>
            <a:off x="548640" y="5486400"/>
            <a:ext cx="11091672" cy="731520"/>
          </a:xfrm>
          <a:prstGeom prst="roundRect">
            <a:avLst>
              <a:gd name="adj" fmla="val 15000"/>
            </a:avLst>
          </a:prstGeom>
          <a:solidFill>
            <a:srgbClr val="F5F1FB"/>
          </a:solidFill>
          <a:ln w="12700">
            <a:solidFill>
              <a:srgbClr val="F5F1FB"/>
            </a:solidFill>
            <a:prstDash val="solid"/>
          </a:ln>
        </p:spPr>
      </p:sp>
      <p:sp>
        <p:nvSpPr>
          <p:cNvPr id="14" name="Text 9"/>
          <p:cNvSpPr txBox="1"/>
          <p:nvPr/>
        </p:nvSpPr>
        <p:spPr>
          <a:xfrm>
            <a:off x="822960" y="5486400"/>
            <a:ext cx="10515600" cy="731520"/>
          </a:xfrm>
          <a:prstGeom prst="rect">
            <a:avLst/>
          </a:prstGeom>
          <a:noFill/>
          <a:ln/>
        </p:spPr>
        <p:txBody>
          <a:bodyPr wrap="square" lIns="0" tIns="0" rIns="0" bIns="0" rtlCol="0" anchor="ctr"/>
          <a:lstStyle/>
          <a:p>
            <a:pPr indent="0" marL="0">
              <a:buNone/>
            </a:pPr>
            <a:r>
              <a:rPr lang="en-US" sz="1500" b="1" dirty="0">
                <a:solidFill>
                  <a:srgbClr val="6B4FA3"/>
                </a:solidFill>
                <a:latin typeface="Calibri" pitchFamily="34" charset="0"/>
                <a:ea typeface="Calibri" pitchFamily="34" charset="-122"/>
                <a:cs typeface="Calibri" pitchFamily="34" charset="-120"/>
              </a:rPr>
              <a:t>Mean sequential times: gray LBG 0.256 s of 0.332 s total; color LBG 0.783 s of 0.964 s.</a:t>
            </a:r>
            <a:endParaRPr lang="en-US" sz="15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6 · EXPERIMENTAL RESULTS</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LBG speedup versus number of processes</a:t>
            </a:r>
            <a:endParaRPr lang="en-US" sz="3000" dirty="0"/>
          </a:p>
        </p:txBody>
      </p:sp>
      <p:graphicFrame>
        <p:nvGraphicFramePr>
          <p:cNvPr id="5" name="Chart 0" descr=""/>
          <p:cNvGraphicFramePr/>
          <p:nvPr/>
        </p:nvGraphicFramePr>
        <p:xfrm>
          <a:off x="548640" y="1508760"/>
          <a:ext cx="7498080" cy="4572000"/>
        </p:xfrm>
        <a:graphic xmlns:a="http://schemas.openxmlformats.org/drawingml/2006/main">
          <a:graphicData uri="http://schemas.openxmlformats.org/drawingml/2006/chart">
            <c:chart xmlns:c="http://schemas.openxmlformats.org/drawingml/2006/chart" r:id="rId1"/>
          </a:graphicData>
        </a:graphic>
      </p:graphicFrame>
      <p:sp>
        <p:nvSpPr>
          <p:cNvPr id="6" name="Stat card"/>
          <p:cNvSpPr/>
          <p:nvPr/>
        </p:nvSpPr>
        <p:spPr>
          <a:xfrm>
            <a:off x="8321040" y="1508760"/>
            <a:ext cx="3319272" cy="1371600"/>
          </a:xfrm>
          <a:prstGeom prst="roundRect">
            <a:avLst>
              <a:gd name="adj" fmla="val 8000"/>
            </a:avLst>
          </a:prstGeom>
          <a:solidFill>
            <a:srgbClr val="F5F1FB"/>
          </a:solidFill>
          <a:ln w="12700">
            <a:solidFill>
              <a:srgbClr val="F5F1FB"/>
            </a:solidFill>
            <a:prstDash val="solid"/>
          </a:ln>
        </p:spPr>
      </p:sp>
      <p:sp>
        <p:nvSpPr>
          <p:cNvPr id="7" name="Text 3"/>
          <p:cNvSpPr txBox="1"/>
          <p:nvPr/>
        </p:nvSpPr>
        <p:spPr>
          <a:xfrm>
            <a:off x="8503920" y="1645920"/>
            <a:ext cx="2953512" cy="777240"/>
          </a:xfrm>
          <a:prstGeom prst="rect">
            <a:avLst/>
          </a:prstGeom>
          <a:noFill/>
          <a:ln/>
        </p:spPr>
        <p:txBody>
          <a:bodyPr wrap="square" lIns="0" tIns="0" rIns="0" bIns="0" rtlCol="0" anchor="ctr"/>
          <a:lstStyle/>
          <a:p>
            <a:pPr indent="0" marL="0">
              <a:buNone/>
            </a:pPr>
            <a:r>
              <a:rPr lang="en-US" sz="4000" b="1" dirty="0">
                <a:solidFill>
                  <a:srgbClr val="E0457B"/>
                </a:solidFill>
                <a:latin typeface="Cambria" pitchFamily="34" charset="0"/>
                <a:ea typeface="Cambria" pitchFamily="34" charset="-122"/>
                <a:cs typeface="Cambria" pitchFamily="34" charset="-120"/>
              </a:rPr>
              <a:t>9.19×</a:t>
            </a:r>
            <a:endParaRPr lang="en-US" sz="4000" dirty="0"/>
          </a:p>
        </p:txBody>
      </p:sp>
      <p:sp>
        <p:nvSpPr>
          <p:cNvPr id="8" name="Text 4"/>
          <p:cNvSpPr txBox="1"/>
          <p:nvPr/>
        </p:nvSpPr>
        <p:spPr>
          <a:xfrm>
            <a:off x="8503920" y="2377440"/>
            <a:ext cx="2953512"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LBG speedup at P = 14 (range 9.10–9.24)</a:t>
            </a:r>
            <a:endParaRPr lang="en-US" sz="1400" dirty="0"/>
          </a:p>
        </p:txBody>
      </p:sp>
      <p:sp>
        <p:nvSpPr>
          <p:cNvPr id="9" name="Stat card"/>
          <p:cNvSpPr/>
          <p:nvPr/>
        </p:nvSpPr>
        <p:spPr>
          <a:xfrm>
            <a:off x="8321040" y="3063240"/>
            <a:ext cx="3319272" cy="1371600"/>
          </a:xfrm>
          <a:prstGeom prst="roundRect">
            <a:avLst>
              <a:gd name="adj" fmla="val 8000"/>
            </a:avLst>
          </a:prstGeom>
          <a:solidFill>
            <a:srgbClr val="F5F1FB"/>
          </a:solidFill>
          <a:ln w="12700">
            <a:solidFill>
              <a:srgbClr val="F5F1FB"/>
            </a:solidFill>
            <a:prstDash val="solid"/>
          </a:ln>
        </p:spPr>
      </p:sp>
      <p:sp>
        <p:nvSpPr>
          <p:cNvPr id="10" name="Text 6"/>
          <p:cNvSpPr txBox="1"/>
          <p:nvPr/>
        </p:nvSpPr>
        <p:spPr>
          <a:xfrm>
            <a:off x="8503920" y="3200400"/>
            <a:ext cx="2953512" cy="777240"/>
          </a:xfrm>
          <a:prstGeom prst="rect">
            <a:avLst/>
          </a:prstGeom>
          <a:noFill/>
          <a:ln/>
        </p:spPr>
        <p:txBody>
          <a:bodyPr wrap="square" lIns="0" tIns="0" rIns="0" bIns="0" rtlCol="0" anchor="ctr"/>
          <a:lstStyle/>
          <a:p>
            <a:pPr indent="0" marL="0">
              <a:buNone/>
            </a:pPr>
            <a:r>
              <a:rPr lang="en-US" sz="4000" b="1" dirty="0">
                <a:solidFill>
                  <a:srgbClr val="6B4FA3"/>
                </a:solidFill>
                <a:latin typeface="Cambria" pitchFamily="34" charset="0"/>
                <a:ea typeface="Cambria" pitchFamily="34" charset="-122"/>
                <a:cs typeface="Cambria" pitchFamily="34" charset="-120"/>
              </a:rPr>
              <a:t>65.7%</a:t>
            </a:r>
            <a:endParaRPr lang="en-US" sz="4000" dirty="0"/>
          </a:p>
        </p:txBody>
      </p:sp>
      <p:sp>
        <p:nvSpPr>
          <p:cNvPr id="11" name="Text 7"/>
          <p:cNvSpPr txBox="1"/>
          <p:nvPr/>
        </p:nvSpPr>
        <p:spPr>
          <a:xfrm>
            <a:off x="8503920" y="3931920"/>
            <a:ext cx="2953512"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parallel efficiency at P = 14</a:t>
            </a:r>
            <a:endParaRPr lang="en-US" sz="1400" dirty="0"/>
          </a:p>
        </p:txBody>
      </p:sp>
      <p:sp>
        <p:nvSpPr>
          <p:cNvPr id="12" name="Note"/>
          <p:cNvSpPr/>
          <p:nvPr/>
        </p:nvSpPr>
        <p:spPr>
          <a:xfrm>
            <a:off x="8321040" y="4617720"/>
            <a:ext cx="3319272" cy="1463040"/>
          </a:xfrm>
          <a:prstGeom prst="roundRect">
            <a:avLst>
              <a:gd name="adj" fmla="val 7500"/>
            </a:avLst>
          </a:prstGeom>
          <a:solidFill>
            <a:srgbClr val="F5F1FB"/>
          </a:solidFill>
          <a:ln w="12700">
            <a:solidFill>
              <a:srgbClr val="F5F1FB"/>
            </a:solidFill>
            <a:prstDash val="solid"/>
          </a:ln>
        </p:spPr>
      </p:sp>
      <p:sp>
        <p:nvSpPr>
          <p:cNvPr id="13" name="Text 9"/>
          <p:cNvSpPr txBox="1"/>
          <p:nvPr/>
        </p:nvSpPr>
        <p:spPr>
          <a:xfrm>
            <a:off x="8503920" y="4709160"/>
            <a:ext cx="2971800" cy="128016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Efficiency is high through the 6 P-cores, then limited by slower E-cores.</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6 · EXPERIMENTAL RESULTS</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Efficiency and the Karp–Flatt metric</a:t>
            </a:r>
            <a:endParaRPr lang="en-US" sz="3000" dirty="0"/>
          </a:p>
        </p:txBody>
      </p:sp>
      <p:graphicFrame>
        <p:nvGraphicFramePr>
          <p:cNvPr id="5" name="Chart 0" descr=""/>
          <p:cNvGraphicFramePr/>
          <p:nvPr/>
        </p:nvGraphicFramePr>
        <p:xfrm>
          <a:off x="548640" y="1508760"/>
          <a:ext cx="6766560" cy="384048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7498080" y="1508760"/>
          <a:ext cx="4142232" cy="3840480"/>
        </p:xfrm>
        <a:graphic xmlns:a="http://schemas.openxmlformats.org/drawingml/2006/main">
          <a:graphicData uri="http://schemas.openxmlformats.org/drawingml/2006/chart">
            <c:chart xmlns:c="http://schemas.openxmlformats.org/drawingml/2006/chart" r:id="rId2"/>
          </a:graphicData>
        </a:graphic>
      </p:graphicFrame>
      <p:sp>
        <p:nvSpPr>
          <p:cNvPr id="7" name="Takeaway"/>
          <p:cNvSpPr/>
          <p:nvPr/>
        </p:nvSpPr>
        <p:spPr>
          <a:xfrm>
            <a:off x="548640" y="5486400"/>
            <a:ext cx="11091672" cy="731520"/>
          </a:xfrm>
          <a:prstGeom prst="roundRect">
            <a:avLst>
              <a:gd name="adj" fmla="val 15000"/>
            </a:avLst>
          </a:prstGeom>
          <a:solidFill>
            <a:srgbClr val="F5F1FB"/>
          </a:solidFill>
          <a:ln w="12700">
            <a:solidFill>
              <a:srgbClr val="F5F1FB"/>
            </a:solidFill>
            <a:prstDash val="solid"/>
          </a:ln>
        </p:spPr>
      </p:sp>
      <p:sp>
        <p:nvSpPr>
          <p:cNvPr id="8" name="Text 3"/>
          <p:cNvSpPr txBox="1"/>
          <p:nvPr/>
        </p:nvSpPr>
        <p:spPr>
          <a:xfrm>
            <a:off x="822960" y="5486400"/>
            <a:ext cx="10515600" cy="731520"/>
          </a:xfrm>
          <a:prstGeom prst="rect">
            <a:avLst/>
          </a:prstGeom>
          <a:noFill/>
          <a:ln/>
        </p:spPr>
        <p:txBody>
          <a:bodyPr wrap="square" lIns="0" tIns="0" rIns="0" bIns="0" rtlCol="0" anchor="ctr"/>
          <a:lstStyle/>
          <a:p>
            <a:pPr indent="0" marL="0">
              <a:buNone/>
            </a:pPr>
            <a:r>
              <a:rPr lang="en-US" sz="1500" b="1" dirty="0">
                <a:solidFill>
                  <a:srgbClr val="6B4FA3"/>
                </a:solidFill>
                <a:latin typeface="Calibri" pitchFamily="34" charset="0"/>
                <a:ea typeface="Calibri" pitchFamily="34" charset="-122"/>
                <a:cs typeface="Calibri" pitchFamily="34" charset="-120"/>
              </a:rPr>
              <a:t>LBG serial fraction ≈ 0.04 for P ≥ 8: the loss is the E-core speed gap, not communication.</a:t>
            </a:r>
            <a:endParaRPr lang="en-US" sz="15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6 · EXPERIMENTAL RESULTS</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Throughput of the LBG stage</a:t>
            </a:r>
            <a:endParaRPr lang="en-US" sz="3000" dirty="0"/>
          </a:p>
        </p:txBody>
      </p:sp>
      <p:graphicFrame>
        <p:nvGraphicFramePr>
          <p:cNvPr id="5" name="Chart 0" descr=""/>
          <p:cNvGraphicFramePr/>
          <p:nvPr/>
        </p:nvGraphicFramePr>
        <p:xfrm>
          <a:off x="548640" y="1508760"/>
          <a:ext cx="7863840" cy="4572000"/>
        </p:xfrm>
        <a:graphic xmlns:a="http://schemas.openxmlformats.org/drawingml/2006/main">
          <a:graphicData uri="http://schemas.openxmlformats.org/drawingml/2006/chart">
            <c:chart xmlns:c="http://schemas.openxmlformats.org/drawingml/2006/chart" r:id="rId1"/>
          </a:graphicData>
        </a:graphic>
      </p:graphicFrame>
      <p:sp>
        <p:nvSpPr>
          <p:cNvPr id="6" name="Stat card"/>
          <p:cNvSpPr/>
          <p:nvPr/>
        </p:nvSpPr>
        <p:spPr>
          <a:xfrm>
            <a:off x="8686800" y="1508760"/>
            <a:ext cx="2953512" cy="1371600"/>
          </a:xfrm>
          <a:prstGeom prst="roundRect">
            <a:avLst>
              <a:gd name="adj" fmla="val 8000"/>
            </a:avLst>
          </a:prstGeom>
          <a:solidFill>
            <a:srgbClr val="F5F1FB"/>
          </a:solidFill>
          <a:ln w="12700">
            <a:solidFill>
              <a:srgbClr val="F5F1FB"/>
            </a:solidFill>
            <a:prstDash val="solid"/>
          </a:ln>
        </p:spPr>
      </p:sp>
      <p:sp>
        <p:nvSpPr>
          <p:cNvPr id="7" name="Text 3"/>
          <p:cNvSpPr txBox="1"/>
          <p:nvPr/>
        </p:nvSpPr>
        <p:spPr>
          <a:xfrm>
            <a:off x="8869680" y="1645920"/>
            <a:ext cx="2587752" cy="777240"/>
          </a:xfrm>
          <a:prstGeom prst="rect">
            <a:avLst/>
          </a:prstGeom>
          <a:noFill/>
          <a:ln/>
        </p:spPr>
        <p:txBody>
          <a:bodyPr wrap="square" lIns="0" tIns="0" rIns="0" bIns="0" rtlCol="0" anchor="ctr"/>
          <a:lstStyle/>
          <a:p>
            <a:pPr indent="0" marL="0">
              <a:buNone/>
            </a:pPr>
            <a:r>
              <a:rPr lang="en-US" sz="4000" b="1" dirty="0">
                <a:solidFill>
                  <a:srgbClr val="6B4FA3"/>
                </a:solidFill>
                <a:latin typeface="Cambria" pitchFamily="34" charset="0"/>
                <a:ea typeface="Cambria" pitchFamily="34" charset="-122"/>
                <a:cs typeface="Cambria" pitchFamily="34" charset="-120"/>
              </a:rPr>
              <a:t>9.7 → 88.7</a:t>
            </a:r>
            <a:endParaRPr lang="en-US" sz="4000" dirty="0"/>
          </a:p>
        </p:txBody>
      </p:sp>
      <p:sp>
        <p:nvSpPr>
          <p:cNvPr id="8" name="Text 4"/>
          <p:cNvSpPr txBox="1"/>
          <p:nvPr/>
        </p:nvSpPr>
        <p:spPr>
          <a:xfrm>
            <a:off x="8869680" y="2377440"/>
            <a:ext cx="2587752"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M vec-it/s, gray (P = 1 → 14)</a:t>
            </a:r>
            <a:endParaRPr lang="en-US" sz="1400" dirty="0"/>
          </a:p>
        </p:txBody>
      </p:sp>
      <p:sp>
        <p:nvSpPr>
          <p:cNvPr id="9" name="Stat card"/>
          <p:cNvSpPr/>
          <p:nvPr/>
        </p:nvSpPr>
        <p:spPr>
          <a:xfrm>
            <a:off x="8686800" y="3063240"/>
            <a:ext cx="2953512" cy="1371600"/>
          </a:xfrm>
          <a:prstGeom prst="roundRect">
            <a:avLst>
              <a:gd name="adj" fmla="val 8000"/>
            </a:avLst>
          </a:prstGeom>
          <a:solidFill>
            <a:srgbClr val="F5F1FB"/>
          </a:solidFill>
          <a:ln w="12700">
            <a:solidFill>
              <a:srgbClr val="F5F1FB"/>
            </a:solidFill>
            <a:prstDash val="solid"/>
          </a:ln>
        </p:spPr>
      </p:sp>
      <p:sp>
        <p:nvSpPr>
          <p:cNvPr id="10" name="Text 6"/>
          <p:cNvSpPr txBox="1"/>
          <p:nvPr/>
        </p:nvSpPr>
        <p:spPr>
          <a:xfrm>
            <a:off x="8869680" y="3200400"/>
            <a:ext cx="2587752" cy="777240"/>
          </a:xfrm>
          <a:prstGeom prst="rect">
            <a:avLst/>
          </a:prstGeom>
          <a:noFill/>
          <a:ln/>
        </p:spPr>
        <p:txBody>
          <a:bodyPr wrap="square" lIns="0" tIns="0" rIns="0" bIns="0" rtlCol="0" anchor="ctr"/>
          <a:lstStyle/>
          <a:p>
            <a:pPr indent="0" marL="0">
              <a:buNone/>
            </a:pPr>
            <a:r>
              <a:rPr lang="en-US" sz="4000" b="1" dirty="0">
                <a:solidFill>
                  <a:srgbClr val="E0457B"/>
                </a:solidFill>
                <a:latin typeface="Cambria" pitchFamily="34" charset="0"/>
                <a:ea typeface="Cambria" pitchFamily="34" charset="-122"/>
                <a:cs typeface="Cambria" pitchFamily="34" charset="-120"/>
              </a:rPr>
              <a:t>9.8 → 90.3</a:t>
            </a:r>
            <a:endParaRPr lang="en-US" sz="4000" dirty="0"/>
          </a:p>
        </p:txBody>
      </p:sp>
      <p:sp>
        <p:nvSpPr>
          <p:cNvPr id="11" name="Text 7"/>
          <p:cNvSpPr txBox="1"/>
          <p:nvPr/>
        </p:nvSpPr>
        <p:spPr>
          <a:xfrm>
            <a:off x="8869680" y="3931920"/>
            <a:ext cx="2587752"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M vec-it/s, color per channel</a:t>
            </a:r>
            <a:endParaRPr lang="en-US" sz="1400" dirty="0"/>
          </a:p>
        </p:txBody>
      </p:sp>
      <p:sp>
        <p:nvSpPr>
          <p:cNvPr id="12" name="Note"/>
          <p:cNvSpPr/>
          <p:nvPr/>
        </p:nvSpPr>
        <p:spPr>
          <a:xfrm>
            <a:off x="8686800" y="4617720"/>
            <a:ext cx="2953512" cy="1463040"/>
          </a:xfrm>
          <a:prstGeom prst="roundRect">
            <a:avLst>
              <a:gd name="adj" fmla="val 7500"/>
            </a:avLst>
          </a:prstGeom>
          <a:solidFill>
            <a:srgbClr val="F5F1FB"/>
          </a:solidFill>
          <a:ln w="12700">
            <a:solidFill>
              <a:srgbClr val="F5F1FB"/>
            </a:solidFill>
            <a:prstDash val="solid"/>
          </a:ln>
        </p:spPr>
      </p:sp>
      <p:sp>
        <p:nvSpPr>
          <p:cNvPr id="13" name="Text 9"/>
          <p:cNvSpPr txBox="1"/>
          <p:nvPr/>
        </p:nvSpPr>
        <p:spPr>
          <a:xfrm>
            <a:off x="8869680" y="4709160"/>
            <a:ext cx="2606040" cy="128016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Throughput scales with P for both modes, as expected for a data-parallel kernel.</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6 · EXPERIMENTAL RESULTS</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Total speedup: Amdahl in action</a:t>
            </a:r>
            <a:endParaRPr lang="en-US" sz="3000" dirty="0"/>
          </a:p>
        </p:txBody>
      </p:sp>
      <p:graphicFrame>
        <p:nvGraphicFramePr>
          <p:cNvPr id="5" name="Chart 0" descr=""/>
          <p:cNvGraphicFramePr/>
          <p:nvPr/>
        </p:nvGraphicFramePr>
        <p:xfrm>
          <a:off x="548640" y="1508760"/>
          <a:ext cx="7498080" cy="4572000"/>
        </p:xfrm>
        <a:graphic xmlns:a="http://schemas.openxmlformats.org/drawingml/2006/main">
          <a:graphicData uri="http://schemas.openxmlformats.org/drawingml/2006/chart">
            <c:chart xmlns:c="http://schemas.openxmlformats.org/drawingml/2006/chart" r:id="rId1"/>
          </a:graphicData>
        </a:graphic>
      </p:graphicFrame>
      <p:sp>
        <p:nvSpPr>
          <p:cNvPr id="6" name="Stat card"/>
          <p:cNvSpPr/>
          <p:nvPr/>
        </p:nvSpPr>
        <p:spPr>
          <a:xfrm>
            <a:off x="8321040" y="1508760"/>
            <a:ext cx="3319272" cy="1371600"/>
          </a:xfrm>
          <a:prstGeom prst="roundRect">
            <a:avLst>
              <a:gd name="adj" fmla="val 8000"/>
            </a:avLst>
          </a:prstGeom>
          <a:solidFill>
            <a:srgbClr val="F5F1FB"/>
          </a:solidFill>
          <a:ln w="12700">
            <a:solidFill>
              <a:srgbClr val="F5F1FB"/>
            </a:solidFill>
            <a:prstDash val="solid"/>
          </a:ln>
        </p:spPr>
      </p:sp>
      <p:sp>
        <p:nvSpPr>
          <p:cNvPr id="7" name="Text 3"/>
          <p:cNvSpPr txBox="1"/>
          <p:nvPr/>
        </p:nvSpPr>
        <p:spPr>
          <a:xfrm>
            <a:off x="8503920" y="1645920"/>
            <a:ext cx="2953512" cy="777240"/>
          </a:xfrm>
          <a:prstGeom prst="rect">
            <a:avLst/>
          </a:prstGeom>
          <a:noFill/>
          <a:ln/>
        </p:spPr>
        <p:txBody>
          <a:bodyPr wrap="square" lIns="0" tIns="0" rIns="0" bIns="0" rtlCol="0" anchor="ctr"/>
          <a:lstStyle/>
          <a:p>
            <a:pPr indent="0" marL="0">
              <a:buNone/>
            </a:pPr>
            <a:r>
              <a:rPr lang="en-US" sz="4000" b="1" dirty="0">
                <a:solidFill>
                  <a:srgbClr val="6B4FA3"/>
                </a:solidFill>
                <a:latin typeface="Cambria" pitchFamily="34" charset="0"/>
                <a:ea typeface="Cambria" pitchFamily="34" charset="-122"/>
                <a:cs typeface="Cambria" pitchFamily="34" charset="-120"/>
              </a:rPr>
              <a:t>5.00×</a:t>
            </a:r>
            <a:endParaRPr lang="en-US" sz="4000" dirty="0"/>
          </a:p>
        </p:txBody>
      </p:sp>
      <p:sp>
        <p:nvSpPr>
          <p:cNvPr id="8" name="Text 4"/>
          <p:cNvSpPr txBox="1"/>
          <p:nvPr/>
        </p:nvSpPr>
        <p:spPr>
          <a:xfrm>
            <a:off x="8503920" y="2377440"/>
            <a:ext cx="2953512"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total speedup, gray (P = 14)</a:t>
            </a:r>
            <a:endParaRPr lang="en-US" sz="1400" dirty="0"/>
          </a:p>
        </p:txBody>
      </p:sp>
      <p:sp>
        <p:nvSpPr>
          <p:cNvPr id="9" name="Stat card"/>
          <p:cNvSpPr/>
          <p:nvPr/>
        </p:nvSpPr>
        <p:spPr>
          <a:xfrm>
            <a:off x="8321040" y="3063240"/>
            <a:ext cx="3319272" cy="1371600"/>
          </a:xfrm>
          <a:prstGeom prst="roundRect">
            <a:avLst>
              <a:gd name="adj" fmla="val 8000"/>
            </a:avLst>
          </a:prstGeom>
          <a:solidFill>
            <a:srgbClr val="F5F1FB"/>
          </a:solidFill>
          <a:ln w="12700">
            <a:solidFill>
              <a:srgbClr val="F5F1FB"/>
            </a:solidFill>
            <a:prstDash val="solid"/>
          </a:ln>
        </p:spPr>
      </p:sp>
      <p:sp>
        <p:nvSpPr>
          <p:cNvPr id="10" name="Text 6"/>
          <p:cNvSpPr txBox="1"/>
          <p:nvPr/>
        </p:nvSpPr>
        <p:spPr>
          <a:xfrm>
            <a:off x="8503920" y="3200400"/>
            <a:ext cx="2953512" cy="777240"/>
          </a:xfrm>
          <a:prstGeom prst="rect">
            <a:avLst/>
          </a:prstGeom>
          <a:noFill/>
          <a:ln/>
        </p:spPr>
        <p:txBody>
          <a:bodyPr wrap="square" lIns="0" tIns="0" rIns="0" bIns="0" rtlCol="0" anchor="ctr"/>
          <a:lstStyle/>
          <a:p>
            <a:pPr indent="0" marL="0">
              <a:buNone/>
            </a:pPr>
            <a:r>
              <a:rPr lang="en-US" sz="4000" b="1" dirty="0">
                <a:solidFill>
                  <a:srgbClr val="2A9D8F"/>
                </a:solidFill>
                <a:latin typeface="Cambria" pitchFamily="34" charset="0"/>
                <a:ea typeface="Cambria" pitchFamily="34" charset="-122"/>
                <a:cs typeface="Cambria" pitchFamily="34" charset="-120"/>
              </a:rPr>
              <a:t>6.84×</a:t>
            </a:r>
            <a:endParaRPr lang="en-US" sz="4000" dirty="0"/>
          </a:p>
        </p:txBody>
      </p:sp>
      <p:sp>
        <p:nvSpPr>
          <p:cNvPr id="11" name="Text 7"/>
          <p:cNvSpPr txBox="1"/>
          <p:nvPr/>
        </p:nvSpPr>
        <p:spPr>
          <a:xfrm>
            <a:off x="8503920" y="3931920"/>
            <a:ext cx="2953512"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total speedup, color (P = 14)</a:t>
            </a:r>
            <a:endParaRPr lang="en-US" sz="1400" dirty="0"/>
          </a:p>
        </p:txBody>
      </p:sp>
      <p:sp>
        <p:nvSpPr>
          <p:cNvPr id="12" name="Note"/>
          <p:cNvSpPr/>
          <p:nvPr/>
        </p:nvSpPr>
        <p:spPr>
          <a:xfrm>
            <a:off x="8321040" y="4617720"/>
            <a:ext cx="3319272" cy="1463040"/>
          </a:xfrm>
          <a:prstGeom prst="roundRect">
            <a:avLst>
              <a:gd name="adj" fmla="val 7500"/>
            </a:avLst>
          </a:prstGeom>
          <a:solidFill>
            <a:srgbClr val="F5F1FB"/>
          </a:solidFill>
          <a:ln w="12700">
            <a:solidFill>
              <a:srgbClr val="F5F1FB"/>
            </a:solidFill>
            <a:prstDash val="solid"/>
          </a:ln>
        </p:spPr>
      </p:sp>
      <p:sp>
        <p:nvSpPr>
          <p:cNvPr id="13" name="Text 9"/>
          <p:cNvSpPr txBox="1"/>
          <p:nvPr/>
        </p:nvSpPr>
        <p:spPr>
          <a:xfrm>
            <a:off x="8503920" y="4709160"/>
            <a:ext cx="2971800" cy="128016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Karp–Flatt of Total ≈ 0.14 (gray) and 0.08 (color): the non-parallel stages.</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6 · EXPERIMENTAL RESULTS</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Time breakdown: sequential vs P = 14</a:t>
            </a:r>
            <a:endParaRPr lang="en-US" sz="3000" dirty="0"/>
          </a:p>
        </p:txBody>
      </p:sp>
      <p:graphicFrame>
        <p:nvGraphicFramePr>
          <p:cNvPr id="5" name="Chart 0" descr=""/>
          <p:cNvGraphicFramePr/>
          <p:nvPr/>
        </p:nvGraphicFramePr>
        <p:xfrm>
          <a:off x="548640" y="1508760"/>
          <a:ext cx="5486400" cy="384048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6153912" y="1508760"/>
          <a:ext cx="5486400" cy="3840480"/>
        </p:xfrm>
        <a:graphic xmlns:a="http://schemas.openxmlformats.org/drawingml/2006/main">
          <a:graphicData uri="http://schemas.openxmlformats.org/drawingml/2006/chart">
            <c:chart xmlns:c="http://schemas.openxmlformats.org/drawingml/2006/chart" r:id="rId2"/>
          </a:graphicData>
        </a:graphic>
      </p:graphicFrame>
      <p:sp>
        <p:nvSpPr>
          <p:cNvPr id="7" name="Takeaway"/>
          <p:cNvSpPr/>
          <p:nvPr/>
        </p:nvSpPr>
        <p:spPr>
          <a:xfrm>
            <a:off x="548640" y="5486400"/>
            <a:ext cx="11091672" cy="731520"/>
          </a:xfrm>
          <a:prstGeom prst="roundRect">
            <a:avLst>
              <a:gd name="adj" fmla="val 15000"/>
            </a:avLst>
          </a:prstGeom>
          <a:solidFill>
            <a:srgbClr val="F5F1FB"/>
          </a:solidFill>
          <a:ln w="12700">
            <a:solidFill>
              <a:srgbClr val="F5F1FB"/>
            </a:solidFill>
            <a:prstDash val="solid"/>
          </a:ln>
        </p:spPr>
      </p:sp>
      <p:sp>
        <p:nvSpPr>
          <p:cNvPr id="8" name="Text 3"/>
          <p:cNvSpPr txBox="1"/>
          <p:nvPr/>
        </p:nvSpPr>
        <p:spPr>
          <a:xfrm>
            <a:off x="822960" y="5486400"/>
            <a:ext cx="10515600" cy="731520"/>
          </a:xfrm>
          <a:prstGeom prst="rect">
            <a:avLst/>
          </a:prstGeom>
          <a:noFill/>
          <a:ln/>
        </p:spPr>
        <p:txBody>
          <a:bodyPr wrap="square" lIns="0" tIns="0" rIns="0" bIns="0" rtlCol="0" anchor="ctr"/>
          <a:lstStyle/>
          <a:p>
            <a:pPr indent="0" marL="0">
              <a:buNone/>
            </a:pPr>
            <a:r>
              <a:rPr lang="en-US" sz="1600" b="1" dirty="0">
                <a:solidFill>
                  <a:srgbClr val="6B4FA3"/>
                </a:solidFill>
                <a:latin typeface="Calibri" pitchFamily="34" charset="0"/>
                <a:ea typeface="Calibri" pitchFamily="34" charset="-122"/>
                <a:cs typeface="Calibri" pitchFamily="34" charset="-120"/>
              </a:rPr>
              <a:t>Share of non-LBG stages in the total: 23% → 58% (gray) and 19% → 40% (color).</a:t>
            </a:r>
            <a:endParaRPr lang="en-US" sz="16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6 · EXPERIMENTAL RESULTS</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Equal vs Adaptive: LBG execution time</a:t>
            </a:r>
            <a:endParaRPr lang="en-US" sz="3000" dirty="0"/>
          </a:p>
        </p:txBody>
      </p:sp>
      <p:graphicFrame>
        <p:nvGraphicFramePr>
          <p:cNvPr id="5" name="Chart 0" descr=""/>
          <p:cNvGraphicFramePr/>
          <p:nvPr/>
        </p:nvGraphicFramePr>
        <p:xfrm>
          <a:off x="548640" y="1508760"/>
          <a:ext cx="5486400" cy="420624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6153912" y="1508760"/>
          <a:ext cx="5486400" cy="4206240"/>
        </p:xfrm>
        <a:graphic xmlns:a="http://schemas.openxmlformats.org/drawingml/2006/main">
          <a:graphicData uri="http://schemas.openxmlformats.org/drawingml/2006/chart">
            <c:chart xmlns:c="http://schemas.openxmlformats.org/drawingml/2006/chart" r:id="rId2"/>
          </a:graphicData>
        </a:graphic>
      </p:graphicFrame>
      <p:sp>
        <p:nvSpPr>
          <p:cNvPr id="7" name="Takeaway"/>
          <p:cNvSpPr/>
          <p:nvPr/>
        </p:nvSpPr>
        <p:spPr>
          <a:xfrm>
            <a:off x="548640" y="5806440"/>
            <a:ext cx="11091672" cy="457200"/>
          </a:xfrm>
          <a:prstGeom prst="roundRect">
            <a:avLst>
              <a:gd name="adj" fmla="val 24000"/>
            </a:avLst>
          </a:prstGeom>
          <a:solidFill>
            <a:srgbClr val="F5F1FB"/>
          </a:solidFill>
          <a:ln w="12700">
            <a:solidFill>
              <a:srgbClr val="F5F1FB"/>
            </a:solidFill>
            <a:prstDash val="solid"/>
          </a:ln>
        </p:spPr>
      </p:sp>
      <p:sp>
        <p:nvSpPr>
          <p:cNvPr id="8" name="Text 3"/>
          <p:cNvSpPr txBox="1"/>
          <p:nvPr/>
        </p:nvSpPr>
        <p:spPr>
          <a:xfrm>
            <a:off x="822960" y="5806440"/>
            <a:ext cx="10515600" cy="457200"/>
          </a:xfrm>
          <a:prstGeom prst="rect">
            <a:avLst/>
          </a:prstGeom>
          <a:noFill/>
          <a:ln/>
        </p:spPr>
        <p:txBody>
          <a:bodyPr wrap="square" lIns="0" tIns="0" rIns="0" bIns="0" rtlCol="0" anchor="ctr"/>
          <a:lstStyle/>
          <a:p>
            <a:pPr indent="0" marL="0">
              <a:buNone/>
            </a:pPr>
            <a:r>
              <a:rPr lang="en-US" sz="1500" b="1" dirty="0">
                <a:solidFill>
                  <a:srgbClr val="6B4FA3"/>
                </a:solidFill>
                <a:latin typeface="Calibri" pitchFamily="34" charset="0"/>
                <a:ea typeface="Calibri" pitchFamily="34" charset="-122"/>
                <a:cs typeface="Calibri" pitchFamily="34" charset="-120"/>
              </a:rPr>
              <a:t>Equal and Adaptive coincide for P ≤ 6; for P ≥ 8 Adaptive is faster on all 8 images.</a:t>
            </a:r>
            <a:endParaRPr lang="en-US" sz="15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6 · EXPERIMENTAL RESULTS</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Adaptive gain over Equal distribution</a:t>
            </a:r>
            <a:endParaRPr lang="en-US" sz="3000" dirty="0"/>
          </a:p>
        </p:txBody>
      </p:sp>
      <p:graphicFrame>
        <p:nvGraphicFramePr>
          <p:cNvPr id="5" name="Chart 0" descr=""/>
          <p:cNvGraphicFramePr/>
          <p:nvPr/>
        </p:nvGraphicFramePr>
        <p:xfrm>
          <a:off x="548640" y="1508760"/>
          <a:ext cx="7680960" cy="4572000"/>
        </p:xfrm>
        <a:graphic xmlns:a="http://schemas.openxmlformats.org/drawingml/2006/main">
          <a:graphicData uri="http://schemas.openxmlformats.org/drawingml/2006/chart">
            <c:chart xmlns:c="http://schemas.openxmlformats.org/drawingml/2006/chart" r:id="rId1"/>
          </a:graphicData>
        </a:graphic>
      </p:graphicFrame>
      <p:sp>
        <p:nvSpPr>
          <p:cNvPr id="6" name="Stat card"/>
          <p:cNvSpPr/>
          <p:nvPr/>
        </p:nvSpPr>
        <p:spPr>
          <a:xfrm>
            <a:off x="8503920" y="1508760"/>
            <a:ext cx="3136392" cy="1371600"/>
          </a:xfrm>
          <a:prstGeom prst="roundRect">
            <a:avLst>
              <a:gd name="adj" fmla="val 8000"/>
            </a:avLst>
          </a:prstGeom>
          <a:solidFill>
            <a:srgbClr val="F5F1FB"/>
          </a:solidFill>
          <a:ln w="12700">
            <a:solidFill>
              <a:srgbClr val="F5F1FB"/>
            </a:solidFill>
            <a:prstDash val="solid"/>
          </a:ln>
        </p:spPr>
      </p:sp>
      <p:sp>
        <p:nvSpPr>
          <p:cNvPr id="7" name="Text 3"/>
          <p:cNvSpPr txBox="1"/>
          <p:nvPr/>
        </p:nvSpPr>
        <p:spPr>
          <a:xfrm>
            <a:off x="8686800" y="1645920"/>
            <a:ext cx="2770632" cy="777240"/>
          </a:xfrm>
          <a:prstGeom prst="rect">
            <a:avLst/>
          </a:prstGeom>
          <a:noFill/>
          <a:ln/>
        </p:spPr>
        <p:txBody>
          <a:bodyPr wrap="square" lIns="0" tIns="0" rIns="0" bIns="0" rtlCol="0" anchor="ctr"/>
          <a:lstStyle/>
          <a:p>
            <a:pPr indent="0" marL="0">
              <a:buNone/>
            </a:pPr>
            <a:r>
              <a:rPr lang="en-US" sz="4000" b="1" dirty="0">
                <a:solidFill>
                  <a:srgbClr val="E0457B"/>
                </a:solidFill>
                <a:latin typeface="Cambria" pitchFamily="34" charset="0"/>
                <a:ea typeface="Cambria" pitchFamily="34" charset="-122"/>
                <a:cs typeface="Cambria" pitchFamily="34" charset="-120"/>
              </a:rPr>
              <a:t>28.3%</a:t>
            </a:r>
            <a:endParaRPr lang="en-US" sz="4000" dirty="0"/>
          </a:p>
        </p:txBody>
      </p:sp>
      <p:sp>
        <p:nvSpPr>
          <p:cNvPr id="8" name="Text 4"/>
          <p:cNvSpPr txBox="1"/>
          <p:nvPr/>
        </p:nvSpPr>
        <p:spPr>
          <a:xfrm>
            <a:off x="8686800" y="2377440"/>
            <a:ext cx="2770632"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LBG time saved at P = 8</a:t>
            </a:r>
            <a:endParaRPr lang="en-US" sz="1400" dirty="0"/>
          </a:p>
        </p:txBody>
      </p:sp>
      <p:sp>
        <p:nvSpPr>
          <p:cNvPr id="9" name="Stat card"/>
          <p:cNvSpPr/>
          <p:nvPr/>
        </p:nvSpPr>
        <p:spPr>
          <a:xfrm>
            <a:off x="8503920" y="3063240"/>
            <a:ext cx="3136392" cy="1371600"/>
          </a:xfrm>
          <a:prstGeom prst="roundRect">
            <a:avLst>
              <a:gd name="adj" fmla="val 8000"/>
            </a:avLst>
          </a:prstGeom>
          <a:solidFill>
            <a:srgbClr val="F5F1FB"/>
          </a:solidFill>
          <a:ln w="12700">
            <a:solidFill>
              <a:srgbClr val="F5F1FB"/>
            </a:solidFill>
            <a:prstDash val="solid"/>
          </a:ln>
        </p:spPr>
      </p:sp>
      <p:sp>
        <p:nvSpPr>
          <p:cNvPr id="10" name="Text 6"/>
          <p:cNvSpPr txBox="1"/>
          <p:nvPr/>
        </p:nvSpPr>
        <p:spPr>
          <a:xfrm>
            <a:off x="8686800" y="3200400"/>
            <a:ext cx="2770632" cy="777240"/>
          </a:xfrm>
          <a:prstGeom prst="rect">
            <a:avLst/>
          </a:prstGeom>
          <a:noFill/>
          <a:ln/>
        </p:spPr>
        <p:txBody>
          <a:bodyPr wrap="square" lIns="0" tIns="0" rIns="0" bIns="0" rtlCol="0" anchor="ctr"/>
          <a:lstStyle/>
          <a:p>
            <a:pPr indent="0" marL="0">
              <a:buNone/>
            </a:pPr>
            <a:r>
              <a:rPr lang="en-US" sz="4000" b="1" dirty="0">
                <a:solidFill>
                  <a:srgbClr val="6B4FA3"/>
                </a:solidFill>
                <a:latin typeface="Cambria" pitchFamily="34" charset="0"/>
                <a:ea typeface="Cambria" pitchFamily="34" charset="-122"/>
                <a:cs typeface="Cambria" pitchFamily="34" charset="-120"/>
              </a:rPr>
              <a:t>17.2%</a:t>
            </a:r>
            <a:endParaRPr lang="en-US" sz="4000" dirty="0"/>
          </a:p>
        </p:txBody>
      </p:sp>
      <p:sp>
        <p:nvSpPr>
          <p:cNvPr id="11" name="Text 7"/>
          <p:cNvSpPr txBox="1"/>
          <p:nvPr/>
        </p:nvSpPr>
        <p:spPr>
          <a:xfrm>
            <a:off x="8686800" y="3931920"/>
            <a:ext cx="2770632"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LBG time saved at P = 14</a:t>
            </a:r>
            <a:endParaRPr lang="en-US" sz="1400" dirty="0"/>
          </a:p>
        </p:txBody>
      </p:sp>
      <p:sp>
        <p:nvSpPr>
          <p:cNvPr id="12" name="Note"/>
          <p:cNvSpPr/>
          <p:nvPr/>
        </p:nvSpPr>
        <p:spPr>
          <a:xfrm>
            <a:off x="8503920" y="4617720"/>
            <a:ext cx="3136392" cy="1463040"/>
          </a:xfrm>
          <a:prstGeom prst="roundRect">
            <a:avLst>
              <a:gd name="adj" fmla="val 7500"/>
            </a:avLst>
          </a:prstGeom>
          <a:solidFill>
            <a:srgbClr val="F5F1FB"/>
          </a:solidFill>
          <a:ln w="12700">
            <a:solidFill>
              <a:srgbClr val="F5F1FB"/>
            </a:solidFill>
            <a:prstDash val="solid"/>
          </a:ln>
        </p:spPr>
      </p:sp>
      <p:sp>
        <p:nvSpPr>
          <p:cNvPr id="13" name="Text 9"/>
          <p:cNvSpPr txBox="1"/>
          <p:nvPr/>
        </p:nvSpPr>
        <p:spPr>
          <a:xfrm>
            <a:off x="8686800" y="4709160"/>
            <a:ext cx="2788920" cy="128016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No difference for P ≤ 6 (±1%): only P-cores are used.</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6 · EXPERIMENTAL RESULTS</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Comparison with reported studies: compression</a:t>
            </a:r>
            <a:endParaRPr lang="en-US" sz="30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2011680"/>
                <a:gridCol w="3383280"/>
                <a:gridCol w="1645920"/>
                <a:gridCol w="2194560"/>
                <a:gridCol w="1856232"/>
              </a:tblGrid>
              <a:tr h="457200">
                <a:tc>
                  <a:txBody>
                    <a:bodyPr/>
                    <a:lstStyle/>
                    <a:p>
                      <a:pPr algn="ctr" indent="0" marL="0">
                        <a:buNone/>
                      </a:pPr>
                      <a:r>
                        <a:rPr lang="en-US" sz="1300" b="1" dirty="0">
                          <a:solidFill>
                            <a:srgbClr val="FFFFFF"/>
                          </a:solidFill>
                        </a:rPr>
                        <a:t>Image</a:t>
                      </a:r>
                      <a:endParaRPr lang="en-US" sz="13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2E2055"/>
                    </a:solidFill>
                  </a:tcPr>
                </a:tc>
                <a:tc>
                  <a:txBody>
                    <a:bodyPr/>
                    <a:lstStyle/>
                    <a:p>
                      <a:pPr algn="ctr" indent="0" marL="0">
                        <a:buNone/>
                      </a:pPr>
                      <a:r>
                        <a:rPr lang="en-US" sz="1300" b="1" dirty="0">
                          <a:solidFill>
                            <a:srgbClr val="FFFFFF"/>
                          </a:solidFill>
                        </a:rPr>
                        <a:t>Reference</a:t>
                      </a:r>
                      <a:endParaRPr lang="en-US" sz="13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2E2055"/>
                    </a:solidFill>
                  </a:tcPr>
                </a:tc>
                <a:tc>
                  <a:txBody>
                    <a:bodyPr/>
                    <a:lstStyle/>
                    <a:p>
                      <a:pPr algn="ctr" indent="0" marL="0">
                        <a:buNone/>
                      </a:pPr>
                      <a:r>
                        <a:rPr lang="en-US" sz="1300" b="1" dirty="0">
                          <a:solidFill>
                            <a:srgbClr val="FFFFFF"/>
                          </a:solidFill>
                        </a:rPr>
                        <a:t>CR</a:t>
                      </a:r>
                      <a:endParaRPr lang="en-US" sz="13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2E2055"/>
                    </a:solidFill>
                  </a:tcPr>
                </a:tc>
                <a:tc>
                  <a:txBody>
                    <a:bodyPr/>
                    <a:lstStyle/>
                    <a:p>
                      <a:pPr algn="ctr" indent="0" marL="0">
                        <a:buNone/>
                      </a:pPr>
                      <a:r>
                        <a:rPr lang="en-US" sz="1300" b="1" dirty="0">
                          <a:solidFill>
                            <a:srgbClr val="FFFFFF"/>
                          </a:solidFill>
                        </a:rPr>
                        <a:t>PSNR (dB)</a:t>
                      </a:r>
                      <a:endParaRPr lang="en-US" sz="13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2E2055"/>
                    </a:solidFill>
                  </a:tcPr>
                </a:tc>
                <a:tc>
                  <a:txBody>
                    <a:bodyPr/>
                    <a:lstStyle/>
                    <a:p>
                      <a:pPr algn="ctr" indent="0" marL="0">
                        <a:buNone/>
                      </a:pPr>
                      <a:r>
                        <a:rPr lang="en-US" sz="1300" b="1" dirty="0">
                          <a:solidFill>
                            <a:srgbClr val="FFFFFF"/>
                          </a:solidFill>
                        </a:rPr>
                        <a:t>Time ratio</a:t>
                      </a:r>
                      <a:endParaRPr lang="en-US" sz="13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2E2055"/>
                    </a:solidFill>
                  </a:tcPr>
                </a:tc>
              </a:tr>
              <a:tr h="457200">
                <a:tc>
                  <a:txBody>
                    <a:bodyPr/>
                    <a:lstStyle/>
                    <a:p>
                      <a:pPr algn="ctr" indent="0" marL="0">
                        <a:buNone/>
                      </a:pPr>
                      <a:r>
                        <a:rPr lang="en-US" sz="1400" b="1" dirty="0">
                          <a:solidFill>
                            <a:srgbClr val="1F1A33"/>
                          </a:solidFill>
                        </a:rPr>
                        <a:t>Lena</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Thomas et al. [6]</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1.52</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54.28</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r>
              <a:tr h="457200">
                <a:tc>
                  <a:txBody>
                    <a:bodyPr/>
                    <a:lstStyle/>
                    <a:p>
                      <a:pPr algn="ctr" indent="0" marL="0">
                        <a:buNone/>
                      </a:pP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Ranjan &amp; Kumar [16]</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4.41</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34.78</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r>
              <a:tr h="457200">
                <a:tc>
                  <a:txBody>
                    <a:bodyPr/>
                    <a:lstStyle/>
                    <a:p>
                      <a:pPr algn="ctr" indent="0" marL="0">
                        <a:buNone/>
                      </a:pP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E0457B"/>
                          </a:solidFill>
                        </a:rPr>
                        <a:t>This work</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5F1FB"/>
                    </a:solidFill>
                  </a:tcPr>
                </a:tc>
                <a:tc>
                  <a:txBody>
                    <a:bodyPr/>
                    <a:lstStyle/>
                    <a:p>
                      <a:pPr algn="ctr" indent="0" marL="0">
                        <a:buNone/>
                      </a:pPr>
                      <a:r>
                        <a:rPr lang="en-US" sz="1400" b="1" dirty="0">
                          <a:solidFill>
                            <a:srgbClr val="E0457B"/>
                          </a:solidFill>
                        </a:rPr>
                        <a:t>23.50</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5F1FB"/>
                    </a:solidFill>
                  </a:tcPr>
                </a:tc>
                <a:tc>
                  <a:txBody>
                    <a:bodyPr/>
                    <a:lstStyle/>
                    <a:p>
                      <a:pPr algn="ctr" indent="0" marL="0">
                        <a:buNone/>
                      </a:pPr>
                      <a:r>
                        <a:rPr lang="en-US" sz="1400" b="1" dirty="0">
                          <a:solidFill>
                            <a:srgbClr val="E0457B"/>
                          </a:solidFill>
                        </a:rPr>
                        <a:t>29.67</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5F1FB"/>
                    </a:solidFill>
                  </a:tcPr>
                </a:tc>
                <a:tc>
                  <a:txBody>
                    <a:bodyPr/>
                    <a:lstStyle/>
                    <a:p>
                      <a:pPr algn="ctr" indent="0" marL="0">
                        <a:buNone/>
                      </a:pPr>
                      <a:r>
                        <a:rPr lang="en-US" sz="1400" b="1" dirty="0">
                          <a:solidFill>
                            <a:srgbClr val="E0457B"/>
                          </a:solidFill>
                        </a:rPr>
                        <a:t>9.21×</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5F1FB"/>
                    </a:solidFill>
                  </a:tcPr>
                </a:tc>
              </a:tr>
              <a:tr h="457200">
                <a:tc>
                  <a:txBody>
                    <a:bodyPr/>
                    <a:lstStyle/>
                    <a:p>
                      <a:pPr algn="ctr" indent="0" marL="0">
                        <a:buNone/>
                      </a:pPr>
                      <a:r>
                        <a:rPr lang="en-US" sz="1400" b="1" dirty="0">
                          <a:solidFill>
                            <a:srgbClr val="1F1A33"/>
                          </a:solidFill>
                        </a:rPr>
                        <a:t>Boat</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Thomas et al. [6]</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1.41</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54.07</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r>
              <a:tr h="457200">
                <a:tc>
                  <a:txBody>
                    <a:bodyPr/>
                    <a:lstStyle/>
                    <a:p>
                      <a:pPr algn="ctr" indent="0" marL="0">
                        <a:buNone/>
                      </a:pP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E0457B"/>
                          </a:solidFill>
                        </a:rPr>
                        <a:t>This work</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5F1FB"/>
                    </a:solidFill>
                  </a:tcPr>
                </a:tc>
                <a:tc>
                  <a:txBody>
                    <a:bodyPr/>
                    <a:lstStyle/>
                    <a:p>
                      <a:pPr algn="ctr" indent="0" marL="0">
                        <a:buNone/>
                      </a:pPr>
                      <a:r>
                        <a:rPr lang="en-US" sz="1400" b="1" dirty="0">
                          <a:solidFill>
                            <a:srgbClr val="E0457B"/>
                          </a:solidFill>
                        </a:rPr>
                        <a:t>26.54</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5F1FB"/>
                    </a:solidFill>
                  </a:tcPr>
                </a:tc>
                <a:tc>
                  <a:txBody>
                    <a:bodyPr/>
                    <a:lstStyle/>
                    <a:p>
                      <a:pPr algn="ctr" indent="0" marL="0">
                        <a:buNone/>
                      </a:pPr>
                      <a:r>
                        <a:rPr lang="en-US" sz="1400" b="1" dirty="0">
                          <a:solidFill>
                            <a:srgbClr val="E0457B"/>
                          </a:solidFill>
                        </a:rPr>
                        <a:t>29.11</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5F1FB"/>
                    </a:solidFill>
                  </a:tcPr>
                </a:tc>
                <a:tc>
                  <a:txBody>
                    <a:bodyPr/>
                    <a:lstStyle/>
                    <a:p>
                      <a:pPr algn="ctr" indent="0" marL="0">
                        <a:buNone/>
                      </a:pPr>
                      <a:r>
                        <a:rPr lang="en-US" sz="1400" b="1" dirty="0">
                          <a:solidFill>
                            <a:srgbClr val="E0457B"/>
                          </a:solidFill>
                        </a:rPr>
                        <a:t>9.22×</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5F1FB"/>
                    </a:solidFill>
                  </a:tcPr>
                </a:tc>
              </a:tr>
              <a:tr h="457200">
                <a:tc>
                  <a:txBody>
                    <a:bodyPr/>
                    <a:lstStyle/>
                    <a:p>
                      <a:pPr algn="ctr" indent="0" marL="0">
                        <a:buNone/>
                      </a:pPr>
                      <a:r>
                        <a:rPr lang="en-US" sz="1400" b="1" dirty="0">
                          <a:solidFill>
                            <a:srgbClr val="1F1A33"/>
                          </a:solidFill>
                        </a:rPr>
                        <a:t>Cameraman</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Bilal et al. [17]</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25.3–26.8*</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1A33"/>
                          </a:solidFill>
                        </a:rPr>
                        <a:t>2.61×</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r>
              <a:tr h="457200">
                <a:tc>
                  <a:txBody>
                    <a:bodyPr/>
                    <a:lstStyle/>
                    <a:p>
                      <a:pPr algn="ctr" indent="0" marL="0">
                        <a:buNone/>
                      </a:pP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E0457B"/>
                          </a:solidFill>
                        </a:rPr>
                        <a:t>This work</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5F1FB"/>
                    </a:solidFill>
                  </a:tcPr>
                </a:tc>
                <a:tc>
                  <a:txBody>
                    <a:bodyPr/>
                    <a:lstStyle/>
                    <a:p>
                      <a:pPr algn="ctr" indent="0" marL="0">
                        <a:buNone/>
                      </a:pPr>
                      <a:r>
                        <a:rPr lang="en-US" sz="1400" b="1" dirty="0">
                          <a:solidFill>
                            <a:srgbClr val="E0457B"/>
                          </a:solidFill>
                        </a:rPr>
                        <a:t>28.88</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5F1FB"/>
                    </a:solidFill>
                  </a:tcPr>
                </a:tc>
                <a:tc>
                  <a:txBody>
                    <a:bodyPr/>
                    <a:lstStyle/>
                    <a:p>
                      <a:pPr algn="ctr" indent="0" marL="0">
                        <a:buNone/>
                      </a:pPr>
                      <a:r>
                        <a:rPr lang="en-US" sz="1400" b="1" dirty="0">
                          <a:solidFill>
                            <a:srgbClr val="E0457B"/>
                          </a:solidFill>
                        </a:rPr>
                        <a:t>29.75</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5F1FB"/>
                    </a:solidFill>
                  </a:tcPr>
                </a:tc>
                <a:tc>
                  <a:txBody>
                    <a:bodyPr/>
                    <a:lstStyle/>
                    <a:p>
                      <a:pPr algn="ctr" indent="0" marL="0">
                        <a:buNone/>
                      </a:pPr>
                      <a:r>
                        <a:rPr lang="en-US" sz="1400" b="1" dirty="0">
                          <a:solidFill>
                            <a:srgbClr val="E0457B"/>
                          </a:solidFill>
                        </a:rPr>
                        <a:t>9.10×</a:t>
                      </a:r>
                      <a:endParaRPr lang="en-US" sz="1400" dirty="0"/>
                    </a:p>
                  </a:txBody>
                  <a:tcPr marL="91440" marR="91440"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5F1FB"/>
                    </a:solidFill>
                  </a:tcPr>
                </a:tc>
              </a:tr>
            </a:tbl>
          </a:graphicData>
        </a:graphic>
      </p:graphicFrame>
      <p:sp>
        <p:nvSpPr>
          <p:cNvPr id="6" name="Text 2"/>
          <p:cNvSpPr txBox="1"/>
          <p:nvPr/>
        </p:nvSpPr>
        <p:spPr>
          <a:xfrm>
            <a:off x="548640" y="5303520"/>
            <a:ext cx="11091672" cy="457200"/>
          </a:xfrm>
          <a:prstGeom prst="rect">
            <a:avLst/>
          </a:prstGeom>
          <a:noFill/>
          <a:ln/>
        </p:spPr>
        <p:txBody>
          <a:bodyPr wrap="square" lIns="0" tIns="0" rIns="0" bIns="0" rtlCol="0" anchor="t"/>
          <a:lstStyle/>
          <a:p>
            <a:pPr indent="0" marL="0">
              <a:buNone/>
            </a:pPr>
            <a:r>
              <a:rPr lang="en-US" sz="1100" i="1" dirty="0">
                <a:solidFill>
                  <a:srgbClr val="5E5878"/>
                </a:solidFill>
                <a:latin typeface="Calibri" pitchFamily="34" charset="0"/>
                <a:ea typeface="Calibri" pitchFamily="34" charset="-122"/>
                <a:cs typeface="Calibri" pitchFamily="34" charset="-120"/>
              </a:rPr>
              <a:t>* at ≤ 0.625 bpp. “–” = not reported. Time ratio is computed within each study (LBG/FLBG time vs sequential/MPI time at P = 14); the mechanisms and hardware differ.  Indicative only: images, implementations and size accounting differ.</a:t>
            </a:r>
            <a:endParaRPr lang="en-US" sz="1100" dirty="0"/>
          </a:p>
        </p:txBody>
      </p:sp>
      <p:sp>
        <p:nvSpPr>
          <p:cNvPr id="7" name="Takeaway"/>
          <p:cNvSpPr/>
          <p:nvPr/>
        </p:nvSpPr>
        <p:spPr>
          <a:xfrm>
            <a:off x="548640" y="5760720"/>
            <a:ext cx="11091672" cy="548640"/>
          </a:xfrm>
          <a:prstGeom prst="roundRect">
            <a:avLst>
              <a:gd name="adj" fmla="val 20000"/>
            </a:avLst>
          </a:prstGeom>
          <a:solidFill>
            <a:srgbClr val="F5F1FB"/>
          </a:solidFill>
          <a:ln w="12700">
            <a:solidFill>
              <a:srgbClr val="F5F1FB"/>
            </a:solidFill>
            <a:prstDash val="solid"/>
          </a:ln>
        </p:spPr>
      </p:sp>
      <p:sp>
        <p:nvSpPr>
          <p:cNvPr id="8" name="Text 4"/>
          <p:cNvSpPr txBox="1"/>
          <p:nvPr/>
        </p:nvSpPr>
        <p:spPr>
          <a:xfrm>
            <a:off x="822960" y="5760720"/>
            <a:ext cx="10515600" cy="548640"/>
          </a:xfrm>
          <a:prstGeom prst="rect">
            <a:avLst/>
          </a:prstGeom>
          <a:noFill/>
          <a:ln/>
        </p:spPr>
        <p:txBody>
          <a:bodyPr wrap="square" lIns="0" tIns="0" rIns="0" bIns="0" rtlCol="0" anchor="ctr"/>
          <a:lstStyle/>
          <a:p>
            <a:pPr indent="0" marL="0">
              <a:buNone/>
            </a:pPr>
            <a:r>
              <a:rPr lang="en-US" sz="1500" b="1" dirty="0">
                <a:solidFill>
                  <a:srgbClr val="6B4FA3"/>
                </a:solidFill>
                <a:latin typeface="Calibri" pitchFamily="34" charset="0"/>
                <a:ea typeface="Calibri" pitchFamily="34" charset="-122"/>
                <a:cs typeface="Calibri" pitchFamily="34" charset="-120"/>
              </a:rPr>
              <a:t>Different operating points: near-lossless wavelet methods vs a high-compression VQ codec (CR 23–29).</a:t>
            </a:r>
            <a:endParaRPr lang="en-US" sz="15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6 · EXPERIMENTAL RESULTS</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Comparison with reported studies: parallel speedup</a:t>
            </a:r>
            <a:endParaRPr lang="en-US" sz="30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1920240"/>
                <a:gridCol w="2651760"/>
                <a:gridCol w="2560320"/>
                <a:gridCol w="1463040"/>
                <a:gridCol w="2496312"/>
              </a:tblGrid>
              <a:tr h="457200">
                <a:tc>
                  <a:txBody>
                    <a:bodyPr/>
                    <a:lstStyle/>
                    <a:p>
                      <a:pPr indent="0" marL="0">
                        <a:buNone/>
                      </a:pPr>
                      <a:r>
                        <a:rPr lang="en-US" sz="1300" b="1" dirty="0">
                          <a:solidFill>
                            <a:srgbClr val="FFFFFF"/>
                          </a:solidFill>
                        </a:rPr>
                        <a:t>Study</a:t>
                      </a:r>
                      <a:endParaRPr lang="en-US" sz="13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2E2055"/>
                    </a:solidFill>
                  </a:tcPr>
                </a:tc>
                <a:tc>
                  <a:txBody>
                    <a:bodyPr/>
                    <a:lstStyle/>
                    <a:p>
                      <a:pPr indent="0" marL="0">
                        <a:buNone/>
                      </a:pPr>
                      <a:r>
                        <a:rPr lang="en-US" sz="1300" b="1" dirty="0">
                          <a:solidFill>
                            <a:srgbClr val="FFFFFF"/>
                          </a:solidFill>
                        </a:rPr>
                        <a:t>Application</a:t>
                      </a:r>
                      <a:endParaRPr lang="en-US" sz="13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2E2055"/>
                    </a:solidFill>
                  </a:tcPr>
                </a:tc>
                <a:tc>
                  <a:txBody>
                    <a:bodyPr/>
                    <a:lstStyle/>
                    <a:p>
                      <a:pPr indent="0" marL="0">
                        <a:buNone/>
                      </a:pPr>
                      <a:r>
                        <a:rPr lang="en-US" sz="1300" b="1" dirty="0">
                          <a:solidFill>
                            <a:srgbClr val="FFFFFF"/>
                          </a:solidFill>
                        </a:rPr>
                        <a:t>Resources</a:t>
                      </a:r>
                      <a:endParaRPr lang="en-US" sz="13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2E2055"/>
                    </a:solidFill>
                  </a:tcPr>
                </a:tc>
                <a:tc>
                  <a:txBody>
                    <a:bodyPr/>
                    <a:lstStyle/>
                    <a:p>
                      <a:pPr indent="0" marL="0">
                        <a:buNone/>
                      </a:pPr>
                      <a:r>
                        <a:rPr lang="en-US" sz="1300" b="1" dirty="0">
                          <a:solidFill>
                            <a:srgbClr val="FFFFFF"/>
                          </a:solidFill>
                        </a:rPr>
                        <a:t>Baseline</a:t>
                      </a:r>
                      <a:endParaRPr lang="en-US" sz="13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2E2055"/>
                    </a:solidFill>
                  </a:tcPr>
                </a:tc>
                <a:tc>
                  <a:txBody>
                    <a:bodyPr/>
                    <a:lstStyle/>
                    <a:p>
                      <a:pPr indent="0" marL="0">
                        <a:buNone/>
                      </a:pPr>
                      <a:r>
                        <a:rPr lang="en-US" sz="1300" b="1" dirty="0">
                          <a:solidFill>
                            <a:srgbClr val="FFFFFF"/>
                          </a:solidFill>
                        </a:rPr>
                        <a:t>Speedup</a:t>
                      </a:r>
                      <a:endParaRPr lang="en-US" sz="13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2E2055"/>
                    </a:solidFill>
                  </a:tcPr>
                </a:tc>
              </a:tr>
              <a:tr h="640080">
                <a:tc>
                  <a:txBody>
                    <a:bodyPr/>
                    <a:lstStyle/>
                    <a:p>
                      <a:pPr indent="0" marL="0">
                        <a:buNone/>
                      </a:pPr>
                      <a:r>
                        <a:rPr lang="en-US" sz="1400" b="1" dirty="0">
                          <a:solidFill>
                            <a:srgbClr val="1F1A33"/>
                          </a:solidFill>
                        </a:rPr>
                        <a:t>Tanović 2024</a:t>
                      </a:r>
                      <a:endParaRPr lang="en-US" sz="14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rPr>
                        <a:t>k-means, image classification</a:t>
                      </a:r>
                      <a:endParaRPr lang="en-US" sz="14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rPr>
                        <a:t>12 cores</a:t>
                      </a:r>
                      <a:endParaRPr lang="en-US" sz="14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rPr>
                        <a:t>not stated</a:t>
                      </a:r>
                      <a:endParaRPr lang="en-US" sz="14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rPr>
                        <a:t>up to 10.2×</a:t>
                      </a:r>
                      <a:endParaRPr lang="en-US" sz="14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r>
              <a:tr h="640080">
                <a:tc>
                  <a:txBody>
                    <a:bodyPr/>
                    <a:lstStyle/>
                    <a:p>
                      <a:pPr indent="0" marL="0">
                        <a:buNone/>
                      </a:pPr>
                      <a:r>
                        <a:rPr lang="en-US" sz="1400" b="1" dirty="0">
                          <a:solidFill>
                            <a:srgbClr val="1F1A33"/>
                          </a:solidFill>
                        </a:rPr>
                        <a:t>Papakyriakou 2025</a:t>
                      </a:r>
                      <a:endParaRPr lang="en-US" sz="14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rPr>
                        <a:t>k-means, 75 M points</a:t>
                      </a:r>
                      <a:endParaRPr lang="en-US" sz="14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rPr>
                        <a:t>2–48 MPI processes</a:t>
                      </a:r>
                      <a:endParaRPr lang="en-US" sz="14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rPr>
                        <a:t>2 processes</a:t>
                      </a:r>
                      <a:endParaRPr lang="en-US" sz="14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rPr>
                        <a:t>≈10.05×</a:t>
                      </a:r>
                      <a:endParaRPr lang="en-US" sz="14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r>
              <a:tr h="640080">
                <a:tc>
                  <a:txBody>
                    <a:bodyPr/>
                    <a:lstStyle/>
                    <a:p>
                      <a:pPr indent="0" marL="0">
                        <a:buNone/>
                      </a:pPr>
                      <a:r>
                        <a:rPr lang="en-US" sz="1400" b="1" dirty="0">
                          <a:solidFill>
                            <a:srgbClr val="1F1A33"/>
                          </a:solidFill>
                        </a:rPr>
                        <a:t>Bystrov 2023</a:t>
                      </a:r>
                      <a:endParaRPr lang="en-US" sz="14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rPr>
                        <a:t>DEM simulation</a:t>
                      </a:r>
                      <a:endParaRPr lang="en-US" sz="14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rPr>
                        <a:t>8 heterogeneous containers</a:t>
                      </a:r>
                      <a:endParaRPr lang="en-US" sz="14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rPr>
                        <a:t>sequential</a:t>
                      </a:r>
                      <a:endParaRPr lang="en-US" sz="14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c>
                  <a:txBody>
                    <a:bodyPr/>
                    <a:lstStyle/>
                    <a:p>
                      <a:pPr indent="0" marL="0">
                        <a:buNone/>
                      </a:pPr>
                      <a:r>
                        <a:rPr lang="en-US" sz="1400" dirty="0">
                          <a:solidFill>
                            <a:srgbClr val="1F1A33"/>
                          </a:solidFill>
                        </a:rPr>
                        <a:t>up to 6.0×</a:t>
                      </a:r>
                      <a:endParaRPr lang="en-US" sz="14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FFFFF"/>
                    </a:solidFill>
                  </a:tcPr>
                </a:tc>
              </a:tr>
              <a:tr h="731520">
                <a:tc>
                  <a:txBody>
                    <a:bodyPr/>
                    <a:lstStyle/>
                    <a:p>
                      <a:pPr indent="0" marL="0">
                        <a:buNone/>
                      </a:pPr>
                      <a:r>
                        <a:rPr lang="en-US" sz="1400" b="1" dirty="0">
                          <a:solidFill>
                            <a:srgbClr val="E0457B"/>
                          </a:solidFill>
                        </a:rPr>
                        <a:t>This work</a:t>
                      </a:r>
                      <a:endParaRPr lang="en-US" sz="14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5F1FB"/>
                    </a:solidFill>
                  </a:tcPr>
                </a:tc>
                <a:tc>
                  <a:txBody>
                    <a:bodyPr/>
                    <a:lstStyle/>
                    <a:p>
                      <a:pPr indent="0" marL="0">
                        <a:buNone/>
                      </a:pPr>
                      <a:r>
                        <a:rPr lang="en-US" sz="1400" b="1" dirty="0">
                          <a:solidFill>
                            <a:srgbClr val="E0457B"/>
                          </a:solidFill>
                        </a:rPr>
                        <a:t>LBG image compression</a:t>
                      </a:r>
                      <a:endParaRPr lang="en-US" sz="14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5F1FB"/>
                    </a:solidFill>
                  </a:tcPr>
                </a:tc>
                <a:tc>
                  <a:txBody>
                    <a:bodyPr/>
                    <a:lstStyle/>
                    <a:p>
                      <a:pPr indent="0" marL="0">
                        <a:buNone/>
                      </a:pPr>
                      <a:r>
                        <a:rPr lang="en-US" sz="1400" b="1" dirty="0">
                          <a:solidFill>
                            <a:srgbClr val="E0457B"/>
                          </a:solidFill>
                        </a:rPr>
                        <a:t>14 MPI processes (6 P + 8 E)</a:t>
                      </a:r>
                      <a:endParaRPr lang="en-US" sz="14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5F1FB"/>
                    </a:solidFill>
                  </a:tcPr>
                </a:tc>
                <a:tc>
                  <a:txBody>
                    <a:bodyPr/>
                    <a:lstStyle/>
                    <a:p>
                      <a:pPr indent="0" marL="0">
                        <a:buNone/>
                      </a:pPr>
                      <a:r>
                        <a:rPr lang="en-US" sz="1400" b="1" dirty="0">
                          <a:solidFill>
                            <a:srgbClr val="E0457B"/>
                          </a:solidFill>
                        </a:rPr>
                        <a:t>sequential</a:t>
                      </a:r>
                      <a:endParaRPr lang="en-US" sz="14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5F1FB"/>
                    </a:solidFill>
                  </a:tcPr>
                </a:tc>
                <a:tc>
                  <a:txBody>
                    <a:bodyPr/>
                    <a:lstStyle/>
                    <a:p>
                      <a:pPr indent="0" marL="0">
                        <a:buNone/>
                      </a:pPr>
                      <a:r>
                        <a:rPr lang="en-US" sz="1400" b="1" dirty="0">
                          <a:solidFill>
                            <a:srgbClr val="E0457B"/>
                          </a:solidFill>
                        </a:rPr>
                        <a:t>9.19× LBG; 5.00× / 6.84× total</a:t>
                      </a:r>
                      <a:endParaRPr lang="en-US" sz="1400" dirty="0"/>
                    </a:p>
                  </a:txBody>
                  <a:tcPr marL="109728" marR="109728" marT="45720" marB="45720" anchor="ctr">
                    <a:lnL w="9525" cap="flat" cmpd="sng" algn="ctr">
                      <a:solidFill>
                        <a:srgbClr val="DDD5EE"/>
                      </a:solidFill>
                      <a:prstDash val="solid"/>
                      <a:round/>
                      <a:headEnd type="none" w="med" len="med"/>
                      <a:tailEnd type="none" w="med" len="med"/>
                    </a:lnL>
                    <a:lnR w="9525" cap="flat" cmpd="sng" algn="ctr">
                      <a:solidFill>
                        <a:srgbClr val="DDD5EE"/>
                      </a:solidFill>
                      <a:prstDash val="solid"/>
                      <a:round/>
                      <a:headEnd type="none" w="med" len="med"/>
                      <a:tailEnd type="none" w="med" len="med"/>
                    </a:lnR>
                    <a:lnT w="9525" cap="flat" cmpd="sng" algn="ctr">
                      <a:solidFill>
                        <a:srgbClr val="DDD5EE"/>
                      </a:solidFill>
                      <a:prstDash val="solid"/>
                      <a:round/>
                      <a:headEnd type="none" w="med" len="med"/>
                      <a:tailEnd type="none" w="med" len="med"/>
                    </a:lnT>
                    <a:lnB w="9525" cap="flat" cmpd="sng" algn="ctr">
                      <a:solidFill>
                        <a:srgbClr val="DDD5EE"/>
                      </a:solidFill>
                      <a:prstDash val="solid"/>
                      <a:round/>
                      <a:headEnd type="none" w="med" len="med"/>
                      <a:tailEnd type="none" w="med" len="med"/>
                    </a:lnB>
                    <a:solidFill>
                      <a:srgbClr val="F5F1FB"/>
                    </a:solidFill>
                  </a:tcPr>
                </a:tc>
              </a:tr>
            </a:tbl>
          </a:graphicData>
        </a:graphic>
      </p:graphicFrame>
      <p:sp>
        <p:nvSpPr>
          <p:cNvPr id="6" name="Text 2"/>
          <p:cNvSpPr txBox="1"/>
          <p:nvPr/>
        </p:nvSpPr>
        <p:spPr>
          <a:xfrm>
            <a:off x="548640" y="4681728"/>
            <a:ext cx="11091672" cy="594360"/>
          </a:xfrm>
          <a:prstGeom prst="rect">
            <a:avLst/>
          </a:prstGeom>
          <a:noFill/>
          <a:ln/>
        </p:spPr>
        <p:txBody>
          <a:bodyPr wrap="square" lIns="0" tIns="0" rIns="0" bIns="0" rtlCol="0" anchor="t"/>
          <a:lstStyle/>
          <a:p>
            <a:pPr indent="0" marL="0">
              <a:buNone/>
            </a:pPr>
            <a:r>
              <a:rPr lang="en-US" sz="1100" i="1" dirty="0">
                <a:solidFill>
                  <a:srgbClr val="5E5878"/>
                </a:solidFill>
                <a:latin typeface="Calibri" pitchFamily="34" charset="0"/>
                <a:ea typeface="Calibri" pitchFamily="34" charset="-122"/>
                <a:cs typeface="Calibri" pitchFamily="34" charset="-120"/>
              </a:rPr>
              <a:t>Papakyriakou: 181.83 s → 18.09 s, efficiency 41.89% at 48 processes, relative to the two-process baseline. The studies differ in application, workload, hardware, process count and speedup baseline: contextual comparison, not a ranking.</a:t>
            </a:r>
            <a:endParaRPr lang="en-US" sz="1100" dirty="0"/>
          </a:p>
        </p:txBody>
      </p:sp>
      <p:sp>
        <p:nvSpPr>
          <p:cNvPr id="7" name="Takeaway"/>
          <p:cNvSpPr/>
          <p:nvPr/>
        </p:nvSpPr>
        <p:spPr>
          <a:xfrm>
            <a:off x="548640" y="5349240"/>
            <a:ext cx="11091672" cy="868680"/>
          </a:xfrm>
          <a:prstGeom prst="roundRect">
            <a:avLst>
              <a:gd name="adj" fmla="val 12632"/>
            </a:avLst>
          </a:prstGeom>
          <a:solidFill>
            <a:srgbClr val="F5F1FB"/>
          </a:solidFill>
          <a:ln w="12700">
            <a:solidFill>
              <a:srgbClr val="F5F1FB"/>
            </a:solidFill>
            <a:prstDash val="solid"/>
          </a:ln>
        </p:spPr>
      </p:sp>
      <p:sp>
        <p:nvSpPr>
          <p:cNvPr id="8" name="Text 4"/>
          <p:cNvSpPr txBox="1"/>
          <p:nvPr/>
        </p:nvSpPr>
        <p:spPr>
          <a:xfrm>
            <a:off x="822960" y="5349240"/>
            <a:ext cx="10515600" cy="868680"/>
          </a:xfrm>
          <a:prstGeom prst="rect">
            <a:avLst/>
          </a:prstGeom>
          <a:noFill/>
          <a:ln/>
        </p:spPr>
        <p:txBody>
          <a:bodyPr wrap="square" lIns="0" tIns="0" rIns="0" bIns="0" rtlCol="0" anchor="ctr"/>
          <a:lstStyle/>
          <a:p>
            <a:pPr indent="0" marL="0">
              <a:buNone/>
            </a:pPr>
            <a:r>
              <a:rPr lang="en-US" sz="1500" b="1" dirty="0">
                <a:solidFill>
                  <a:srgbClr val="6B4FA3"/>
                </a:solidFill>
                <a:latin typeface="Calibri" pitchFamily="34" charset="0"/>
                <a:ea typeface="Calibri" pitchFamily="34" charset="-122"/>
                <a:cs typeface="Calibri" pitchFamily="34" charset="-120"/>
              </a:rPr>
              <a:t>The speedup is of the same order as the reported 6–10×. The contribution is the speed-aware distribution on a hybrid CPU (17–28% faster LBG than Equal), not a higher absolute speedup.</a:t>
            </a:r>
            <a:endParaRPr lang="en-US" sz="15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7 · CONCLUSION</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Limitations</a:t>
            </a:r>
            <a:endParaRPr lang="en-US" sz="3000" dirty="0"/>
          </a:p>
        </p:txBody>
      </p:sp>
      <p:sp>
        <p:nvSpPr>
          <p:cNvPr id="5" name="Limitation card"/>
          <p:cNvSpPr/>
          <p:nvPr/>
        </p:nvSpPr>
        <p:spPr>
          <a:xfrm>
            <a:off x="548640" y="1554480"/>
            <a:ext cx="5440680" cy="2194560"/>
          </a:xfrm>
          <a:prstGeom prst="roundRect">
            <a:avLst>
              <a:gd name="adj" fmla="val 5000"/>
            </a:avLst>
          </a:prstGeom>
          <a:solidFill>
            <a:srgbClr val="F5F1FB"/>
          </a:solidFill>
          <a:ln w="12700">
            <a:solidFill>
              <a:srgbClr val="F5F1FB"/>
            </a:solidFill>
            <a:prstDash val="solid"/>
          </a:ln>
        </p:spPr>
      </p:sp>
      <p:sp>
        <p:nvSpPr>
          <p:cNvPr id="6" name="Icon circle"/>
          <p:cNvSpPr/>
          <p:nvPr/>
        </p:nvSpPr>
        <p:spPr>
          <a:xfrm>
            <a:off x="822960" y="1874520"/>
            <a:ext cx="731520" cy="731520"/>
          </a:xfrm>
          <a:prstGeom prst="ellipse">
            <a:avLst/>
          </a:prstGeom>
          <a:solidFill>
            <a:srgbClr val="6B4FA3"/>
          </a:solidFill>
          <a:ln w="12700">
            <a:solidFill>
              <a:srgbClr val="6B4FA3"/>
            </a:solidFill>
            <a:prstDash val="solid"/>
          </a:ln>
        </p:spPr>
      </p:sp>
      <p:pic>
        <p:nvPicPr>
          <p:cNvPr id="7" name="Icon" descr="preencoded.png">    </p:cNvPr>
          <p:cNvPicPr>
            <a:picLocks noChangeAspect="1"/>
          </p:cNvPicPr>
          <p:nvPr/>
        </p:nvPicPr>
        <p:blipFill>
          <a:blip r:embed="rId1"/>
          <a:stretch>
            <a:fillRect/>
          </a:stretch>
        </p:blipFill>
        <p:spPr>
          <a:xfrm>
            <a:off x="1005840" y="2057400"/>
            <a:ext cx="365760" cy="365760"/>
          </a:xfrm>
          <a:prstGeom prst="rect">
            <a:avLst/>
          </a:prstGeom>
        </p:spPr>
      </p:pic>
      <p:sp>
        <p:nvSpPr>
          <p:cNvPr id="8" name="Text 4"/>
          <p:cNvSpPr txBox="1"/>
          <p:nvPr/>
        </p:nvSpPr>
        <p:spPr>
          <a:xfrm>
            <a:off x="1828800" y="1828800"/>
            <a:ext cx="3931920" cy="457200"/>
          </a:xfrm>
          <a:prstGeom prst="rect">
            <a:avLst/>
          </a:prstGeom>
          <a:noFill/>
          <a:ln/>
        </p:spPr>
        <p:txBody>
          <a:bodyPr wrap="square" lIns="0" tIns="0" rIns="0" bIns="0" rtlCol="0" anchor="t"/>
          <a:lstStyle/>
          <a:p>
            <a:pPr indent="0" marL="0">
              <a:buNone/>
            </a:pPr>
            <a:r>
              <a:rPr lang="en-US" sz="2000" b="1" dirty="0">
                <a:solidFill>
                  <a:srgbClr val="1F1A33"/>
                </a:solidFill>
                <a:latin typeface="Calibri" pitchFamily="34" charset="0"/>
                <a:ea typeface="Calibri" pitchFamily="34" charset="-122"/>
                <a:cs typeface="Calibri" pitchFamily="34" charset="-120"/>
              </a:rPr>
              <a:t>One platform</a:t>
            </a:r>
            <a:endParaRPr lang="en-US" sz="2000" dirty="0"/>
          </a:p>
        </p:txBody>
      </p:sp>
      <p:sp>
        <p:nvSpPr>
          <p:cNvPr id="9" name="Text 5"/>
          <p:cNvSpPr txBox="1"/>
          <p:nvPr/>
        </p:nvSpPr>
        <p:spPr>
          <a:xfrm>
            <a:off x="1828800" y="2331720"/>
            <a:ext cx="3931920" cy="128016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A single hybrid CPU (i7-13650HX); results may differ on other CPUs.</a:t>
            </a:r>
            <a:endParaRPr lang="en-US" sz="1500" dirty="0"/>
          </a:p>
        </p:txBody>
      </p:sp>
      <p:sp>
        <p:nvSpPr>
          <p:cNvPr id="10" name="Limitation card"/>
          <p:cNvSpPr/>
          <p:nvPr/>
        </p:nvSpPr>
        <p:spPr>
          <a:xfrm>
            <a:off x="6172200" y="1554480"/>
            <a:ext cx="5440680" cy="2194560"/>
          </a:xfrm>
          <a:prstGeom prst="roundRect">
            <a:avLst>
              <a:gd name="adj" fmla="val 5000"/>
            </a:avLst>
          </a:prstGeom>
          <a:solidFill>
            <a:srgbClr val="F5F1FB"/>
          </a:solidFill>
          <a:ln w="12700">
            <a:solidFill>
              <a:srgbClr val="F5F1FB"/>
            </a:solidFill>
            <a:prstDash val="solid"/>
          </a:ln>
        </p:spPr>
      </p:sp>
      <p:sp>
        <p:nvSpPr>
          <p:cNvPr id="11" name="Icon circle"/>
          <p:cNvSpPr/>
          <p:nvPr/>
        </p:nvSpPr>
        <p:spPr>
          <a:xfrm>
            <a:off x="6446520" y="1874520"/>
            <a:ext cx="731520" cy="731520"/>
          </a:xfrm>
          <a:prstGeom prst="ellipse">
            <a:avLst/>
          </a:prstGeom>
          <a:solidFill>
            <a:srgbClr val="E0457B"/>
          </a:solidFill>
          <a:ln w="12700">
            <a:solidFill>
              <a:srgbClr val="E0457B"/>
            </a:solidFill>
            <a:prstDash val="solid"/>
          </a:ln>
        </p:spPr>
      </p:sp>
      <p:pic>
        <p:nvPicPr>
          <p:cNvPr id="12" name="Icon" descr="preencoded.png">    </p:cNvPr>
          <p:cNvPicPr>
            <a:picLocks noChangeAspect="1"/>
          </p:cNvPicPr>
          <p:nvPr/>
        </p:nvPicPr>
        <p:blipFill>
          <a:blip r:embed="rId2"/>
          <a:stretch>
            <a:fillRect/>
          </a:stretch>
        </p:blipFill>
        <p:spPr>
          <a:xfrm>
            <a:off x="6629400" y="2057400"/>
            <a:ext cx="365760" cy="365760"/>
          </a:xfrm>
          <a:prstGeom prst="rect">
            <a:avLst/>
          </a:prstGeom>
        </p:spPr>
      </p:pic>
      <p:sp>
        <p:nvSpPr>
          <p:cNvPr id="13" name="Text 8"/>
          <p:cNvSpPr txBox="1"/>
          <p:nvPr/>
        </p:nvSpPr>
        <p:spPr>
          <a:xfrm>
            <a:off x="7452360" y="1828800"/>
            <a:ext cx="3931920" cy="457200"/>
          </a:xfrm>
          <a:prstGeom prst="rect">
            <a:avLst/>
          </a:prstGeom>
          <a:noFill/>
          <a:ln/>
        </p:spPr>
        <p:txBody>
          <a:bodyPr wrap="square" lIns="0" tIns="0" rIns="0" bIns="0" rtlCol="0" anchor="t"/>
          <a:lstStyle/>
          <a:p>
            <a:pPr indent="0" marL="0">
              <a:buNone/>
            </a:pPr>
            <a:r>
              <a:rPr lang="en-US" sz="2000" b="1" dirty="0">
                <a:solidFill>
                  <a:srgbClr val="1F1A33"/>
                </a:solidFill>
                <a:latin typeface="Calibri" pitchFamily="34" charset="0"/>
                <a:ea typeface="Calibri" pitchFamily="34" charset="-122"/>
                <a:cs typeface="Calibri" pitchFamily="34" charset="-120"/>
              </a:rPr>
              <a:t>Small problem size</a:t>
            </a:r>
            <a:endParaRPr lang="en-US" sz="2000" dirty="0"/>
          </a:p>
        </p:txBody>
      </p:sp>
      <p:sp>
        <p:nvSpPr>
          <p:cNvPr id="14" name="Text 9"/>
          <p:cNvSpPr txBox="1"/>
          <p:nvPr/>
        </p:nvSpPr>
        <p:spPr>
          <a:xfrm>
            <a:off x="7452360" y="2331720"/>
            <a:ext cx="3931920" cy="128016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512×512 images limit scalability at high P (≈ 1.5–2 ms per sequential iteration).</a:t>
            </a:r>
            <a:endParaRPr lang="en-US" sz="1500" dirty="0"/>
          </a:p>
        </p:txBody>
      </p:sp>
      <p:sp>
        <p:nvSpPr>
          <p:cNvPr id="15" name="Limitation card"/>
          <p:cNvSpPr/>
          <p:nvPr/>
        </p:nvSpPr>
        <p:spPr>
          <a:xfrm>
            <a:off x="548640" y="3931920"/>
            <a:ext cx="5440680" cy="2194560"/>
          </a:xfrm>
          <a:prstGeom prst="roundRect">
            <a:avLst>
              <a:gd name="adj" fmla="val 5000"/>
            </a:avLst>
          </a:prstGeom>
          <a:solidFill>
            <a:srgbClr val="F5F1FB"/>
          </a:solidFill>
          <a:ln w="12700">
            <a:solidFill>
              <a:srgbClr val="F5F1FB"/>
            </a:solidFill>
            <a:prstDash val="solid"/>
          </a:ln>
        </p:spPr>
      </p:sp>
      <p:sp>
        <p:nvSpPr>
          <p:cNvPr id="16" name="Icon circle"/>
          <p:cNvSpPr/>
          <p:nvPr/>
        </p:nvSpPr>
        <p:spPr>
          <a:xfrm>
            <a:off x="822960" y="4251960"/>
            <a:ext cx="731520" cy="731520"/>
          </a:xfrm>
          <a:prstGeom prst="ellipse">
            <a:avLst/>
          </a:prstGeom>
          <a:solidFill>
            <a:srgbClr val="6B4FA3"/>
          </a:solidFill>
          <a:ln w="12700">
            <a:solidFill>
              <a:srgbClr val="6B4FA3"/>
            </a:solidFill>
            <a:prstDash val="solid"/>
          </a:ln>
        </p:spPr>
      </p:sp>
      <p:pic>
        <p:nvPicPr>
          <p:cNvPr id="17" name="Icon" descr="preencoded.png">    </p:cNvPr>
          <p:cNvPicPr>
            <a:picLocks noChangeAspect="1"/>
          </p:cNvPicPr>
          <p:nvPr/>
        </p:nvPicPr>
        <p:blipFill>
          <a:blip r:embed="rId3"/>
          <a:stretch>
            <a:fillRect/>
          </a:stretch>
        </p:blipFill>
        <p:spPr>
          <a:xfrm>
            <a:off x="1005840" y="4434840"/>
            <a:ext cx="365760" cy="365760"/>
          </a:xfrm>
          <a:prstGeom prst="rect">
            <a:avLst/>
          </a:prstGeom>
        </p:spPr>
      </p:pic>
      <p:sp>
        <p:nvSpPr>
          <p:cNvPr id="18" name="Text 12"/>
          <p:cNvSpPr txBox="1"/>
          <p:nvPr/>
        </p:nvSpPr>
        <p:spPr>
          <a:xfrm>
            <a:off x="1828800" y="4206240"/>
            <a:ext cx="3931920" cy="457200"/>
          </a:xfrm>
          <a:prstGeom prst="rect">
            <a:avLst/>
          </a:prstGeom>
          <a:noFill/>
          <a:ln/>
        </p:spPr>
        <p:txBody>
          <a:bodyPr wrap="square" lIns="0" tIns="0" rIns="0" bIns="0" rtlCol="0" anchor="t"/>
          <a:lstStyle/>
          <a:p>
            <a:pPr indent="0" marL="0">
              <a:buNone/>
            </a:pPr>
            <a:r>
              <a:rPr lang="en-US" sz="2000" b="1" dirty="0">
                <a:solidFill>
                  <a:srgbClr val="1F1A33"/>
                </a:solidFill>
                <a:latin typeface="Calibri" pitchFamily="34" charset="0"/>
                <a:ea typeface="Calibri" pitchFamily="34" charset="-122"/>
                <a:cs typeface="Calibri" pitchFamily="34" charset="-120"/>
              </a:rPr>
              <a:t>Non-parallel stages</a:t>
            </a:r>
            <a:endParaRPr lang="en-US" sz="2000" dirty="0"/>
          </a:p>
        </p:txBody>
      </p:sp>
      <p:sp>
        <p:nvSpPr>
          <p:cNvPr id="19" name="Text 13"/>
          <p:cNvSpPr txBox="1"/>
          <p:nvPr/>
        </p:nvSpPr>
        <p:spPr>
          <a:xfrm>
            <a:off x="1828800" y="4709160"/>
            <a:ext cx="3931920" cy="128016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I/O, delta, Huffman and reconstruction stay on rank 0: 58% of total time at P = 14 (gray).</a:t>
            </a:r>
            <a:endParaRPr lang="en-US" sz="1500" dirty="0"/>
          </a:p>
        </p:txBody>
      </p:sp>
      <p:sp>
        <p:nvSpPr>
          <p:cNvPr id="20" name="Limitation card"/>
          <p:cNvSpPr/>
          <p:nvPr/>
        </p:nvSpPr>
        <p:spPr>
          <a:xfrm>
            <a:off x="6172200" y="3931920"/>
            <a:ext cx="5440680" cy="2194560"/>
          </a:xfrm>
          <a:prstGeom prst="roundRect">
            <a:avLst>
              <a:gd name="adj" fmla="val 5000"/>
            </a:avLst>
          </a:prstGeom>
          <a:solidFill>
            <a:srgbClr val="F5F1FB"/>
          </a:solidFill>
          <a:ln w="12700">
            <a:solidFill>
              <a:srgbClr val="F5F1FB"/>
            </a:solidFill>
            <a:prstDash val="solid"/>
          </a:ln>
        </p:spPr>
      </p:sp>
      <p:sp>
        <p:nvSpPr>
          <p:cNvPr id="21" name="Icon circle"/>
          <p:cNvSpPr/>
          <p:nvPr/>
        </p:nvSpPr>
        <p:spPr>
          <a:xfrm>
            <a:off x="6446520" y="4251960"/>
            <a:ext cx="731520" cy="731520"/>
          </a:xfrm>
          <a:prstGeom prst="ellipse">
            <a:avLst/>
          </a:prstGeom>
          <a:solidFill>
            <a:srgbClr val="E0457B"/>
          </a:solidFill>
          <a:ln w="12700">
            <a:solidFill>
              <a:srgbClr val="E0457B"/>
            </a:solidFill>
            <a:prstDash val="solid"/>
          </a:ln>
        </p:spPr>
      </p:sp>
      <p:pic>
        <p:nvPicPr>
          <p:cNvPr id="22" name="Icon" descr="preencoded.png">    </p:cNvPr>
          <p:cNvPicPr>
            <a:picLocks noChangeAspect="1"/>
          </p:cNvPicPr>
          <p:nvPr/>
        </p:nvPicPr>
        <p:blipFill>
          <a:blip r:embed="rId4"/>
          <a:stretch>
            <a:fillRect/>
          </a:stretch>
        </p:blipFill>
        <p:spPr>
          <a:xfrm>
            <a:off x="6629400" y="4434840"/>
            <a:ext cx="365760" cy="365760"/>
          </a:xfrm>
          <a:prstGeom prst="rect">
            <a:avLst/>
          </a:prstGeom>
        </p:spPr>
      </p:pic>
      <p:sp>
        <p:nvSpPr>
          <p:cNvPr id="23" name="Text 16"/>
          <p:cNvSpPr txBox="1"/>
          <p:nvPr/>
        </p:nvSpPr>
        <p:spPr>
          <a:xfrm>
            <a:off x="7452360" y="4206240"/>
            <a:ext cx="3931920" cy="457200"/>
          </a:xfrm>
          <a:prstGeom prst="rect">
            <a:avLst/>
          </a:prstGeom>
          <a:noFill/>
          <a:ln/>
        </p:spPr>
        <p:txBody>
          <a:bodyPr wrap="square" lIns="0" tIns="0" rIns="0" bIns="0" rtlCol="0" anchor="t"/>
          <a:lstStyle/>
          <a:p>
            <a:pPr indent="0" marL="0">
              <a:buNone/>
            </a:pPr>
            <a:r>
              <a:rPr lang="en-US" sz="2000" b="1" dirty="0">
                <a:solidFill>
                  <a:srgbClr val="1F1A33"/>
                </a:solidFill>
                <a:latin typeface="Calibri" pitchFamily="34" charset="0"/>
                <a:ea typeface="Calibri" pitchFamily="34" charset="-122"/>
                <a:cs typeface="Calibri" pitchFamily="34" charset="-120"/>
              </a:rPr>
              <a:t>Quality vs standards</a:t>
            </a:r>
            <a:endParaRPr lang="en-US" sz="2000" dirty="0"/>
          </a:p>
        </p:txBody>
      </p:sp>
      <p:sp>
        <p:nvSpPr>
          <p:cNvPr id="24" name="Text 17"/>
          <p:cNvSpPr txBox="1"/>
          <p:nvPr/>
        </p:nvSpPr>
        <p:spPr>
          <a:xfrm>
            <a:off x="7452360" y="4709160"/>
            <a:ext cx="3931920" cy="128016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At matched CR, JPEG and JPEG 2000 reach higher PSNR than VQ with K = 64.</a:t>
            </a:r>
            <a:endParaRPr lang="en-US" sz="15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7 · CONCLUSION</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Conclusion</a:t>
            </a:r>
            <a:endParaRPr lang="en-US" sz="3000" dirty="0"/>
          </a:p>
        </p:txBody>
      </p:sp>
      <p:sp>
        <p:nvSpPr>
          <p:cNvPr id="5" name="Stat card"/>
          <p:cNvSpPr/>
          <p:nvPr/>
        </p:nvSpPr>
        <p:spPr>
          <a:xfrm>
            <a:off x="548640" y="1554480"/>
            <a:ext cx="2697480" cy="1371600"/>
          </a:xfrm>
          <a:prstGeom prst="roundRect">
            <a:avLst>
              <a:gd name="adj" fmla="val 8000"/>
            </a:avLst>
          </a:prstGeom>
          <a:solidFill>
            <a:srgbClr val="F5F1FB"/>
          </a:solidFill>
          <a:ln w="12700">
            <a:solidFill>
              <a:srgbClr val="F5F1FB"/>
            </a:solidFill>
            <a:prstDash val="solid"/>
          </a:ln>
        </p:spPr>
      </p:sp>
      <p:sp>
        <p:nvSpPr>
          <p:cNvPr id="6" name="Text 3"/>
          <p:cNvSpPr txBox="1"/>
          <p:nvPr/>
        </p:nvSpPr>
        <p:spPr>
          <a:xfrm>
            <a:off x="731520" y="1691640"/>
            <a:ext cx="2331720" cy="777240"/>
          </a:xfrm>
          <a:prstGeom prst="rect">
            <a:avLst/>
          </a:prstGeom>
          <a:noFill/>
          <a:ln/>
        </p:spPr>
        <p:txBody>
          <a:bodyPr wrap="square" lIns="0" tIns="0" rIns="0" bIns="0" rtlCol="0" anchor="ctr"/>
          <a:lstStyle/>
          <a:p>
            <a:pPr indent="0" marL="0">
              <a:buNone/>
            </a:pPr>
            <a:r>
              <a:rPr lang="en-US" sz="4000" b="1" dirty="0">
                <a:solidFill>
                  <a:srgbClr val="E0457B"/>
                </a:solidFill>
                <a:latin typeface="Cambria" pitchFamily="34" charset="0"/>
                <a:ea typeface="Cambria" pitchFamily="34" charset="-122"/>
                <a:cs typeface="Cambria" pitchFamily="34" charset="-120"/>
              </a:rPr>
              <a:t>25.92</a:t>
            </a:r>
            <a:endParaRPr lang="en-US" sz="4000" dirty="0"/>
          </a:p>
        </p:txBody>
      </p:sp>
      <p:sp>
        <p:nvSpPr>
          <p:cNvPr id="7" name="Text 4"/>
          <p:cNvSpPr txBox="1"/>
          <p:nvPr/>
        </p:nvSpPr>
        <p:spPr>
          <a:xfrm>
            <a:off x="731520" y="2423160"/>
            <a:ext cx="2331720"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mean CR (gray), PSNR 29.5 dB</a:t>
            </a:r>
            <a:endParaRPr lang="en-US" sz="1400" dirty="0"/>
          </a:p>
        </p:txBody>
      </p:sp>
      <p:sp>
        <p:nvSpPr>
          <p:cNvPr id="8" name="Stat card"/>
          <p:cNvSpPr/>
          <p:nvPr/>
        </p:nvSpPr>
        <p:spPr>
          <a:xfrm>
            <a:off x="3429000" y="1554480"/>
            <a:ext cx="2697480" cy="1371600"/>
          </a:xfrm>
          <a:prstGeom prst="roundRect">
            <a:avLst>
              <a:gd name="adj" fmla="val 8000"/>
            </a:avLst>
          </a:prstGeom>
          <a:solidFill>
            <a:srgbClr val="F5F1FB"/>
          </a:solidFill>
          <a:ln w="12700">
            <a:solidFill>
              <a:srgbClr val="F5F1FB"/>
            </a:solidFill>
            <a:prstDash val="solid"/>
          </a:ln>
        </p:spPr>
      </p:sp>
      <p:sp>
        <p:nvSpPr>
          <p:cNvPr id="9" name="Text 6"/>
          <p:cNvSpPr txBox="1"/>
          <p:nvPr/>
        </p:nvSpPr>
        <p:spPr>
          <a:xfrm>
            <a:off x="3611880" y="1691640"/>
            <a:ext cx="2331720" cy="777240"/>
          </a:xfrm>
          <a:prstGeom prst="rect">
            <a:avLst/>
          </a:prstGeom>
          <a:noFill/>
          <a:ln/>
        </p:spPr>
        <p:txBody>
          <a:bodyPr wrap="square" lIns="0" tIns="0" rIns="0" bIns="0" rtlCol="0" anchor="ctr"/>
          <a:lstStyle/>
          <a:p>
            <a:pPr indent="0" marL="0">
              <a:buNone/>
            </a:pPr>
            <a:r>
              <a:rPr lang="en-US" sz="4000" b="1" dirty="0">
                <a:solidFill>
                  <a:srgbClr val="6B4FA3"/>
                </a:solidFill>
                <a:latin typeface="Cambria" pitchFamily="34" charset="0"/>
                <a:ea typeface="Cambria" pitchFamily="34" charset="-122"/>
                <a:cs typeface="Cambria" pitchFamily="34" charset="-120"/>
              </a:rPr>
              <a:t>9.19×</a:t>
            </a:r>
            <a:endParaRPr lang="en-US" sz="4000" dirty="0"/>
          </a:p>
        </p:txBody>
      </p:sp>
      <p:sp>
        <p:nvSpPr>
          <p:cNvPr id="10" name="Text 7"/>
          <p:cNvSpPr txBox="1"/>
          <p:nvPr/>
        </p:nvSpPr>
        <p:spPr>
          <a:xfrm>
            <a:off x="3611880" y="2423160"/>
            <a:ext cx="2331720"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LBG speedup at P = 14</a:t>
            </a:r>
            <a:endParaRPr lang="en-US" sz="1400" dirty="0"/>
          </a:p>
        </p:txBody>
      </p:sp>
      <p:sp>
        <p:nvSpPr>
          <p:cNvPr id="11" name="Stat card"/>
          <p:cNvSpPr/>
          <p:nvPr/>
        </p:nvSpPr>
        <p:spPr>
          <a:xfrm>
            <a:off x="6309360" y="1554480"/>
            <a:ext cx="2697480" cy="1371600"/>
          </a:xfrm>
          <a:prstGeom prst="roundRect">
            <a:avLst>
              <a:gd name="adj" fmla="val 8000"/>
            </a:avLst>
          </a:prstGeom>
          <a:solidFill>
            <a:srgbClr val="F5F1FB"/>
          </a:solidFill>
          <a:ln w="12700">
            <a:solidFill>
              <a:srgbClr val="F5F1FB"/>
            </a:solidFill>
            <a:prstDash val="solid"/>
          </a:ln>
        </p:spPr>
      </p:sp>
      <p:sp>
        <p:nvSpPr>
          <p:cNvPr id="12" name="Text 9"/>
          <p:cNvSpPr txBox="1"/>
          <p:nvPr/>
        </p:nvSpPr>
        <p:spPr>
          <a:xfrm>
            <a:off x="6492240" y="1691640"/>
            <a:ext cx="2331720" cy="777240"/>
          </a:xfrm>
          <a:prstGeom prst="rect">
            <a:avLst/>
          </a:prstGeom>
          <a:noFill/>
          <a:ln/>
        </p:spPr>
        <p:txBody>
          <a:bodyPr wrap="square" lIns="0" tIns="0" rIns="0" bIns="0" rtlCol="0" anchor="ctr"/>
          <a:lstStyle/>
          <a:p>
            <a:pPr indent="0" marL="0">
              <a:buNone/>
            </a:pPr>
            <a:r>
              <a:rPr lang="en-US" sz="4000" b="1" dirty="0">
                <a:solidFill>
                  <a:srgbClr val="2A9D8F"/>
                </a:solidFill>
                <a:latin typeface="Cambria" pitchFamily="34" charset="0"/>
                <a:ea typeface="Cambria" pitchFamily="34" charset="-122"/>
                <a:cs typeface="Cambria" pitchFamily="34" charset="-120"/>
              </a:rPr>
              <a:t>5.0 / 6.8×</a:t>
            </a:r>
            <a:endParaRPr lang="en-US" sz="4000" dirty="0"/>
          </a:p>
        </p:txBody>
      </p:sp>
      <p:sp>
        <p:nvSpPr>
          <p:cNvPr id="13" name="Text 10"/>
          <p:cNvSpPr txBox="1"/>
          <p:nvPr/>
        </p:nvSpPr>
        <p:spPr>
          <a:xfrm>
            <a:off x="6492240" y="2423160"/>
            <a:ext cx="2331720"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total speedup gray / color</a:t>
            </a:r>
            <a:endParaRPr lang="en-US" sz="1400" dirty="0"/>
          </a:p>
        </p:txBody>
      </p:sp>
      <p:sp>
        <p:nvSpPr>
          <p:cNvPr id="14" name="Stat card"/>
          <p:cNvSpPr/>
          <p:nvPr/>
        </p:nvSpPr>
        <p:spPr>
          <a:xfrm>
            <a:off x="9189720" y="1554480"/>
            <a:ext cx="2450592" cy="1371600"/>
          </a:xfrm>
          <a:prstGeom prst="roundRect">
            <a:avLst>
              <a:gd name="adj" fmla="val 8000"/>
            </a:avLst>
          </a:prstGeom>
          <a:solidFill>
            <a:srgbClr val="F5F1FB"/>
          </a:solidFill>
          <a:ln w="12700">
            <a:solidFill>
              <a:srgbClr val="F5F1FB"/>
            </a:solidFill>
            <a:prstDash val="solid"/>
          </a:ln>
        </p:spPr>
      </p:sp>
      <p:sp>
        <p:nvSpPr>
          <p:cNvPr id="15" name="Text 12"/>
          <p:cNvSpPr txBox="1"/>
          <p:nvPr/>
        </p:nvSpPr>
        <p:spPr>
          <a:xfrm>
            <a:off x="9372600" y="1691640"/>
            <a:ext cx="2084832" cy="777240"/>
          </a:xfrm>
          <a:prstGeom prst="rect">
            <a:avLst/>
          </a:prstGeom>
          <a:noFill/>
          <a:ln/>
        </p:spPr>
        <p:txBody>
          <a:bodyPr wrap="square" lIns="0" tIns="0" rIns="0" bIns="0" rtlCol="0" anchor="ctr"/>
          <a:lstStyle/>
          <a:p>
            <a:pPr indent="0" marL="0">
              <a:buNone/>
            </a:pPr>
            <a:r>
              <a:rPr lang="en-US" sz="4000" b="1" dirty="0">
                <a:solidFill>
                  <a:srgbClr val="F2B134"/>
                </a:solidFill>
                <a:latin typeface="Cambria" pitchFamily="34" charset="0"/>
                <a:ea typeface="Cambria" pitchFamily="34" charset="-122"/>
                <a:cs typeface="Cambria" pitchFamily="34" charset="-120"/>
              </a:rPr>
              <a:t>17–28%</a:t>
            </a:r>
            <a:endParaRPr lang="en-US" sz="4000" dirty="0"/>
          </a:p>
        </p:txBody>
      </p:sp>
      <p:sp>
        <p:nvSpPr>
          <p:cNvPr id="16" name="Text 13"/>
          <p:cNvSpPr txBox="1"/>
          <p:nvPr/>
        </p:nvSpPr>
        <p:spPr>
          <a:xfrm>
            <a:off x="9372600" y="2423160"/>
            <a:ext cx="2084832" cy="457200"/>
          </a:xfrm>
          <a:prstGeom prst="rect">
            <a:avLst/>
          </a:prstGeom>
          <a:noFill/>
          <a:ln/>
        </p:spPr>
        <p:txBody>
          <a:bodyPr wrap="square" lIns="0" tIns="0" rIns="0" bIns="0" rtlCol="0" anchor="t"/>
          <a:lstStyle/>
          <a:p>
            <a:pPr indent="0" marL="0">
              <a:buNone/>
            </a:pPr>
            <a:r>
              <a:rPr lang="en-US" sz="1400" dirty="0">
                <a:solidFill>
                  <a:srgbClr val="5E5878"/>
                </a:solidFill>
                <a:latin typeface="Calibri" pitchFamily="34" charset="0"/>
                <a:ea typeface="Calibri" pitchFamily="34" charset="-122"/>
                <a:cs typeface="Calibri" pitchFamily="34" charset="-120"/>
              </a:rPr>
              <a:t>less LBG time with Adaptive (P = 8–14)</a:t>
            </a:r>
            <a:endParaRPr lang="en-US" sz="1400" dirty="0"/>
          </a:p>
        </p:txBody>
      </p:sp>
      <p:sp>
        <p:nvSpPr>
          <p:cNvPr id="17" name="Conclusions"/>
          <p:cNvSpPr/>
          <p:nvPr/>
        </p:nvSpPr>
        <p:spPr>
          <a:xfrm>
            <a:off x="548640" y="3200400"/>
            <a:ext cx="11091672" cy="2971800"/>
          </a:xfrm>
          <a:prstGeom prst="roundRect">
            <a:avLst>
              <a:gd name="adj" fmla="val 3692"/>
            </a:avLst>
          </a:prstGeom>
          <a:solidFill>
            <a:srgbClr val="F5F1FB"/>
          </a:solidFill>
          <a:ln w="12700">
            <a:solidFill>
              <a:srgbClr val="F5F1FB"/>
            </a:solidFill>
            <a:prstDash val="solid"/>
          </a:ln>
        </p:spPr>
      </p:sp>
      <p:sp>
        <p:nvSpPr>
          <p:cNvPr id="18" name="Text 15"/>
          <p:cNvSpPr txBox="1"/>
          <p:nvPr/>
        </p:nvSpPr>
        <p:spPr>
          <a:xfrm>
            <a:off x="822960" y="3383280"/>
            <a:ext cx="10515600" cy="269748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1F1A33"/>
                </a:solidFill>
                <a:latin typeface="Calibri" pitchFamily="34" charset="0"/>
                <a:ea typeface="Calibri" pitchFamily="34" charset="-122"/>
                <a:cs typeface="Calibri" pitchFamily="34" charset="-120"/>
              </a:rPr>
              <a:t>A parallel LBG vector-quantization compressor (4×4 blocks, K = 64, delta + Huffman) reaches CR ≈ 24–26 at PSNR ≈ 29 dB.</a:t>
            </a:r>
            <a:endParaRPr lang="en-US" sz="1700" dirty="0"/>
          </a:p>
          <a:p>
            <a:pPr marL="342900" indent="-342900">
              <a:spcAft>
                <a:spcPts val="800"/>
              </a:spcAft>
              <a:buSzPct val="100000"/>
              <a:buChar char="•"/>
            </a:pPr>
            <a:r>
              <a:rPr lang="en-US" sz="1700" dirty="0">
                <a:solidFill>
                  <a:srgbClr val="1F1A33"/>
                </a:solidFill>
                <a:latin typeface="Calibri" pitchFamily="34" charset="0"/>
                <a:ea typeface="Calibri" pitchFamily="34" charset="-122"/>
                <a:cs typeface="Calibri" pitchFamily="34" charset="-120"/>
              </a:rPr>
              <a:t>MPI parallelization preserves the results in all tested configurations and cuts LBG time 9.2× on 14 processes (65.7% efficiency).</a:t>
            </a:r>
            <a:endParaRPr lang="en-US" sz="1700" dirty="0"/>
          </a:p>
          <a:p>
            <a:pPr marL="342900" indent="-342900">
              <a:spcAft>
                <a:spcPts val="800"/>
              </a:spcAft>
              <a:buSzPct val="100000"/>
              <a:buChar char="•"/>
            </a:pPr>
            <a:r>
              <a:rPr lang="en-US" sz="1700" dirty="0">
                <a:solidFill>
                  <a:srgbClr val="1F1A33"/>
                </a:solidFill>
                <a:latin typeface="Calibri" pitchFamily="34" charset="0"/>
                <a:ea typeface="Calibri" pitchFamily="34" charset="-122"/>
                <a:cs typeface="Calibri" pitchFamily="34" charset="-120"/>
              </a:rPr>
              <a:t>Speed-aware (Adaptive) distribution reduces LBG time by 17–28% against Equal on the hybrid P/E-core CPU.</a:t>
            </a:r>
            <a:endParaRPr lang="en-US" sz="1700" dirty="0"/>
          </a:p>
          <a:p>
            <a:pPr marL="342900" indent="-342900">
              <a:spcAft>
                <a:spcPts val="800"/>
              </a:spcAft>
              <a:buSzPct val="100000"/>
              <a:buChar char="•"/>
            </a:pPr>
            <a:r>
              <a:rPr lang="en-US" sz="1700" dirty="0">
                <a:solidFill>
                  <a:srgbClr val="1F1A33"/>
                </a:solidFill>
                <a:latin typeface="Calibri" pitchFamily="34" charset="0"/>
                <a:ea typeface="Calibri" pitchFamily="34" charset="-122"/>
                <a:cs typeface="Calibri" pitchFamily="34" charset="-120"/>
              </a:rPr>
              <a:t>Total speedup (5.0× / 6.8×) is bounded by the non-parallel stages, as the Karp–Flatt analysis shows.</a:t>
            </a:r>
            <a:endParaRPr lang="en-US" sz="17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8 · FUTURE WORK</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Future work</a:t>
            </a:r>
            <a:endParaRPr lang="en-US" sz="3000" dirty="0"/>
          </a:p>
        </p:txBody>
      </p:sp>
      <p:sp>
        <p:nvSpPr>
          <p:cNvPr id="5" name="Future card"/>
          <p:cNvSpPr/>
          <p:nvPr/>
        </p:nvSpPr>
        <p:spPr>
          <a:xfrm>
            <a:off x="548640" y="1554480"/>
            <a:ext cx="5440680" cy="2194560"/>
          </a:xfrm>
          <a:prstGeom prst="roundRect">
            <a:avLst>
              <a:gd name="adj" fmla="val 5000"/>
            </a:avLst>
          </a:prstGeom>
          <a:solidFill>
            <a:srgbClr val="F5F1FB"/>
          </a:solidFill>
          <a:ln w="12700">
            <a:solidFill>
              <a:srgbClr val="F5F1FB"/>
            </a:solidFill>
            <a:prstDash val="solid"/>
          </a:ln>
        </p:spPr>
      </p:sp>
      <p:sp>
        <p:nvSpPr>
          <p:cNvPr id="6" name="Icon circle"/>
          <p:cNvSpPr/>
          <p:nvPr/>
        </p:nvSpPr>
        <p:spPr>
          <a:xfrm>
            <a:off x="822960" y="1874520"/>
            <a:ext cx="731520" cy="731520"/>
          </a:xfrm>
          <a:prstGeom prst="ellipse">
            <a:avLst/>
          </a:prstGeom>
          <a:solidFill>
            <a:srgbClr val="2A9D8F"/>
          </a:solidFill>
          <a:ln w="12700">
            <a:solidFill>
              <a:srgbClr val="2A9D8F"/>
            </a:solidFill>
            <a:prstDash val="solid"/>
          </a:ln>
        </p:spPr>
      </p:sp>
      <p:pic>
        <p:nvPicPr>
          <p:cNvPr id="7" name="Icon" descr="preencoded.png">    </p:cNvPr>
          <p:cNvPicPr>
            <a:picLocks noChangeAspect="1"/>
          </p:cNvPicPr>
          <p:nvPr/>
        </p:nvPicPr>
        <p:blipFill>
          <a:blip r:embed="rId1"/>
          <a:stretch>
            <a:fillRect/>
          </a:stretch>
        </p:blipFill>
        <p:spPr>
          <a:xfrm>
            <a:off x="1005840" y="2057400"/>
            <a:ext cx="365760" cy="365760"/>
          </a:xfrm>
          <a:prstGeom prst="rect">
            <a:avLst/>
          </a:prstGeom>
        </p:spPr>
      </p:pic>
      <p:sp>
        <p:nvSpPr>
          <p:cNvPr id="8" name="Text 4"/>
          <p:cNvSpPr txBox="1"/>
          <p:nvPr/>
        </p:nvSpPr>
        <p:spPr>
          <a:xfrm>
            <a:off x="1828800" y="1828800"/>
            <a:ext cx="3931920" cy="640080"/>
          </a:xfrm>
          <a:prstGeom prst="rect">
            <a:avLst/>
          </a:prstGeom>
          <a:noFill/>
          <a:ln/>
        </p:spPr>
        <p:txBody>
          <a:bodyPr wrap="square" lIns="0" tIns="0" rIns="0" bIns="0" rtlCol="0" anchor="t"/>
          <a:lstStyle/>
          <a:p>
            <a:pPr indent="0" marL="0">
              <a:buNone/>
            </a:pPr>
            <a:r>
              <a:rPr lang="en-US" sz="1900" b="1" dirty="0">
                <a:solidFill>
                  <a:srgbClr val="1F1A33"/>
                </a:solidFill>
                <a:latin typeface="Calibri" pitchFamily="34" charset="0"/>
                <a:ea typeface="Calibri" pitchFamily="34" charset="-122"/>
                <a:cs typeface="Calibri" pitchFamily="34" charset="-120"/>
              </a:rPr>
              <a:t>Parallelize the remaining stages</a:t>
            </a:r>
            <a:endParaRPr lang="en-US" sz="1900" dirty="0"/>
          </a:p>
        </p:txBody>
      </p:sp>
      <p:sp>
        <p:nvSpPr>
          <p:cNvPr id="9" name="Text 5"/>
          <p:cNvSpPr txBox="1"/>
          <p:nvPr/>
        </p:nvSpPr>
        <p:spPr>
          <a:xfrm>
            <a:off x="1828800" y="2468880"/>
            <a:ext cx="3931920" cy="118872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Delta, Huffman and reconstruction are 58% of total time at P = 14.</a:t>
            </a:r>
            <a:endParaRPr lang="en-US" sz="1500" dirty="0"/>
          </a:p>
        </p:txBody>
      </p:sp>
      <p:sp>
        <p:nvSpPr>
          <p:cNvPr id="10" name="Future card"/>
          <p:cNvSpPr/>
          <p:nvPr/>
        </p:nvSpPr>
        <p:spPr>
          <a:xfrm>
            <a:off x="6172200" y="1554480"/>
            <a:ext cx="5440680" cy="2194560"/>
          </a:xfrm>
          <a:prstGeom prst="roundRect">
            <a:avLst>
              <a:gd name="adj" fmla="val 5000"/>
            </a:avLst>
          </a:prstGeom>
          <a:solidFill>
            <a:srgbClr val="F5F1FB"/>
          </a:solidFill>
          <a:ln w="12700">
            <a:solidFill>
              <a:srgbClr val="F5F1FB"/>
            </a:solidFill>
            <a:prstDash val="solid"/>
          </a:ln>
        </p:spPr>
      </p:sp>
      <p:sp>
        <p:nvSpPr>
          <p:cNvPr id="11" name="Icon circle"/>
          <p:cNvSpPr/>
          <p:nvPr/>
        </p:nvSpPr>
        <p:spPr>
          <a:xfrm>
            <a:off x="6446520" y="1874520"/>
            <a:ext cx="731520" cy="731520"/>
          </a:xfrm>
          <a:prstGeom prst="ellipse">
            <a:avLst/>
          </a:prstGeom>
          <a:solidFill>
            <a:srgbClr val="E0457B"/>
          </a:solidFill>
          <a:ln w="12700">
            <a:solidFill>
              <a:srgbClr val="E0457B"/>
            </a:solidFill>
            <a:prstDash val="solid"/>
          </a:ln>
        </p:spPr>
      </p:sp>
      <p:pic>
        <p:nvPicPr>
          <p:cNvPr id="12" name="Icon" descr="preencoded.png">    </p:cNvPr>
          <p:cNvPicPr>
            <a:picLocks noChangeAspect="1"/>
          </p:cNvPicPr>
          <p:nvPr/>
        </p:nvPicPr>
        <p:blipFill>
          <a:blip r:embed="rId2"/>
          <a:stretch>
            <a:fillRect/>
          </a:stretch>
        </p:blipFill>
        <p:spPr>
          <a:xfrm>
            <a:off x="6629400" y="2057400"/>
            <a:ext cx="365760" cy="365760"/>
          </a:xfrm>
          <a:prstGeom prst="rect">
            <a:avLst/>
          </a:prstGeom>
        </p:spPr>
      </p:pic>
      <p:sp>
        <p:nvSpPr>
          <p:cNvPr id="13" name="Text 8"/>
          <p:cNvSpPr txBox="1"/>
          <p:nvPr/>
        </p:nvSpPr>
        <p:spPr>
          <a:xfrm>
            <a:off x="7452360" y="1828800"/>
            <a:ext cx="3931920" cy="640080"/>
          </a:xfrm>
          <a:prstGeom prst="rect">
            <a:avLst/>
          </a:prstGeom>
          <a:noFill/>
          <a:ln/>
        </p:spPr>
        <p:txBody>
          <a:bodyPr wrap="square" lIns="0" tIns="0" rIns="0" bIns="0" rtlCol="0" anchor="t"/>
          <a:lstStyle/>
          <a:p>
            <a:pPr indent="0" marL="0">
              <a:buNone/>
            </a:pPr>
            <a:r>
              <a:rPr lang="en-US" sz="1900" b="1" dirty="0">
                <a:solidFill>
                  <a:srgbClr val="1F1A33"/>
                </a:solidFill>
                <a:latin typeface="Calibri" pitchFamily="34" charset="0"/>
                <a:ea typeface="Calibri" pitchFamily="34" charset="-122"/>
                <a:cs typeface="Calibri" pitchFamily="34" charset="-120"/>
              </a:rPr>
              <a:t>Hybrid MPI + OpenMP</a:t>
            </a:r>
            <a:endParaRPr lang="en-US" sz="1900" dirty="0"/>
          </a:p>
        </p:txBody>
      </p:sp>
      <p:sp>
        <p:nvSpPr>
          <p:cNvPr id="14" name="Text 9"/>
          <p:cNvSpPr txBox="1"/>
          <p:nvPr/>
        </p:nvSpPr>
        <p:spPr>
          <a:xfrm>
            <a:off x="7452360" y="2468880"/>
            <a:ext cx="3931920" cy="118872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Combine process- and thread-level parallelism on the hybrid CPU.</a:t>
            </a:r>
            <a:endParaRPr lang="en-US" sz="1500" dirty="0"/>
          </a:p>
        </p:txBody>
      </p:sp>
      <p:sp>
        <p:nvSpPr>
          <p:cNvPr id="15" name="Future card"/>
          <p:cNvSpPr/>
          <p:nvPr/>
        </p:nvSpPr>
        <p:spPr>
          <a:xfrm>
            <a:off x="548640" y="3931920"/>
            <a:ext cx="5440680" cy="2194560"/>
          </a:xfrm>
          <a:prstGeom prst="roundRect">
            <a:avLst>
              <a:gd name="adj" fmla="val 5000"/>
            </a:avLst>
          </a:prstGeom>
          <a:solidFill>
            <a:srgbClr val="F5F1FB"/>
          </a:solidFill>
          <a:ln w="12700">
            <a:solidFill>
              <a:srgbClr val="F5F1FB"/>
            </a:solidFill>
            <a:prstDash val="solid"/>
          </a:ln>
        </p:spPr>
      </p:sp>
      <p:sp>
        <p:nvSpPr>
          <p:cNvPr id="16" name="Icon circle"/>
          <p:cNvSpPr/>
          <p:nvPr/>
        </p:nvSpPr>
        <p:spPr>
          <a:xfrm>
            <a:off x="822960" y="4251960"/>
            <a:ext cx="731520" cy="731520"/>
          </a:xfrm>
          <a:prstGeom prst="ellipse">
            <a:avLst/>
          </a:prstGeom>
          <a:solidFill>
            <a:srgbClr val="2A9D8F"/>
          </a:solidFill>
          <a:ln w="12700">
            <a:solidFill>
              <a:srgbClr val="2A9D8F"/>
            </a:solidFill>
            <a:prstDash val="solid"/>
          </a:ln>
        </p:spPr>
      </p:sp>
      <p:pic>
        <p:nvPicPr>
          <p:cNvPr id="17" name="Icon" descr="preencoded.png">    </p:cNvPr>
          <p:cNvPicPr>
            <a:picLocks noChangeAspect="1"/>
          </p:cNvPicPr>
          <p:nvPr/>
        </p:nvPicPr>
        <p:blipFill>
          <a:blip r:embed="rId3"/>
          <a:stretch>
            <a:fillRect/>
          </a:stretch>
        </p:blipFill>
        <p:spPr>
          <a:xfrm>
            <a:off x="1005840" y="4434840"/>
            <a:ext cx="365760" cy="365760"/>
          </a:xfrm>
          <a:prstGeom prst="rect">
            <a:avLst/>
          </a:prstGeom>
        </p:spPr>
      </p:pic>
      <p:sp>
        <p:nvSpPr>
          <p:cNvPr id="18" name="Text 12"/>
          <p:cNvSpPr txBox="1"/>
          <p:nvPr/>
        </p:nvSpPr>
        <p:spPr>
          <a:xfrm>
            <a:off x="1828800" y="4206240"/>
            <a:ext cx="3931920" cy="640080"/>
          </a:xfrm>
          <a:prstGeom prst="rect">
            <a:avLst/>
          </a:prstGeom>
          <a:noFill/>
          <a:ln/>
        </p:spPr>
        <p:txBody>
          <a:bodyPr wrap="square" lIns="0" tIns="0" rIns="0" bIns="0" rtlCol="0" anchor="t"/>
          <a:lstStyle/>
          <a:p>
            <a:pPr indent="0" marL="0">
              <a:buNone/>
            </a:pPr>
            <a:r>
              <a:rPr lang="en-US" sz="1900" b="1" dirty="0">
                <a:solidFill>
                  <a:srgbClr val="1F1A33"/>
                </a:solidFill>
                <a:latin typeface="Calibri" pitchFamily="34" charset="0"/>
                <a:ea typeface="Calibri" pitchFamily="34" charset="-122"/>
                <a:cs typeface="Calibri" pitchFamily="34" charset="-120"/>
              </a:rPr>
              <a:t>GPU acceleration</a:t>
            </a:r>
            <a:endParaRPr lang="en-US" sz="1900" dirty="0"/>
          </a:p>
        </p:txBody>
      </p:sp>
      <p:sp>
        <p:nvSpPr>
          <p:cNvPr id="19" name="Text 13"/>
          <p:cNvSpPr txBox="1"/>
          <p:nvPr/>
        </p:nvSpPr>
        <p:spPr>
          <a:xfrm>
            <a:off x="1828800" y="4846320"/>
            <a:ext cx="3931920" cy="118872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Offload the assignment step, the dominant kernel.</a:t>
            </a:r>
            <a:endParaRPr lang="en-US" sz="1500" dirty="0"/>
          </a:p>
        </p:txBody>
      </p:sp>
      <p:sp>
        <p:nvSpPr>
          <p:cNvPr id="20" name="Future card"/>
          <p:cNvSpPr/>
          <p:nvPr/>
        </p:nvSpPr>
        <p:spPr>
          <a:xfrm>
            <a:off x="6172200" y="3931920"/>
            <a:ext cx="5440680" cy="2194560"/>
          </a:xfrm>
          <a:prstGeom prst="roundRect">
            <a:avLst>
              <a:gd name="adj" fmla="val 5000"/>
            </a:avLst>
          </a:prstGeom>
          <a:solidFill>
            <a:srgbClr val="F5F1FB"/>
          </a:solidFill>
          <a:ln w="12700">
            <a:solidFill>
              <a:srgbClr val="F5F1FB"/>
            </a:solidFill>
            <a:prstDash val="solid"/>
          </a:ln>
        </p:spPr>
      </p:sp>
      <p:sp>
        <p:nvSpPr>
          <p:cNvPr id="21" name="Icon circle"/>
          <p:cNvSpPr/>
          <p:nvPr/>
        </p:nvSpPr>
        <p:spPr>
          <a:xfrm>
            <a:off x="6446520" y="4251960"/>
            <a:ext cx="731520" cy="731520"/>
          </a:xfrm>
          <a:prstGeom prst="ellipse">
            <a:avLst/>
          </a:prstGeom>
          <a:solidFill>
            <a:srgbClr val="E0457B"/>
          </a:solidFill>
          <a:ln w="12700">
            <a:solidFill>
              <a:srgbClr val="E0457B"/>
            </a:solidFill>
            <a:prstDash val="solid"/>
          </a:ln>
        </p:spPr>
      </p:sp>
      <p:pic>
        <p:nvPicPr>
          <p:cNvPr id="22" name="Icon" descr="preencoded.png">    </p:cNvPr>
          <p:cNvPicPr>
            <a:picLocks noChangeAspect="1"/>
          </p:cNvPicPr>
          <p:nvPr/>
        </p:nvPicPr>
        <p:blipFill>
          <a:blip r:embed="rId4"/>
          <a:stretch>
            <a:fillRect/>
          </a:stretch>
        </p:blipFill>
        <p:spPr>
          <a:xfrm>
            <a:off x="6629400" y="4434840"/>
            <a:ext cx="365760" cy="365760"/>
          </a:xfrm>
          <a:prstGeom prst="rect">
            <a:avLst/>
          </a:prstGeom>
        </p:spPr>
      </p:pic>
      <p:sp>
        <p:nvSpPr>
          <p:cNvPr id="23" name="Text 16"/>
          <p:cNvSpPr txBox="1"/>
          <p:nvPr/>
        </p:nvSpPr>
        <p:spPr>
          <a:xfrm>
            <a:off x="7452360" y="4206240"/>
            <a:ext cx="3931920" cy="640080"/>
          </a:xfrm>
          <a:prstGeom prst="rect">
            <a:avLst/>
          </a:prstGeom>
          <a:noFill/>
          <a:ln/>
        </p:spPr>
        <p:txBody>
          <a:bodyPr wrap="square" lIns="0" tIns="0" rIns="0" bIns="0" rtlCol="0" anchor="t"/>
          <a:lstStyle/>
          <a:p>
            <a:pPr indent="0" marL="0">
              <a:buNone/>
            </a:pPr>
            <a:r>
              <a:rPr lang="en-US" sz="1900" b="1" dirty="0">
                <a:solidFill>
                  <a:srgbClr val="1F1A33"/>
                </a:solidFill>
                <a:latin typeface="Calibri" pitchFamily="34" charset="0"/>
                <a:ea typeface="Calibri" pitchFamily="34" charset="-122"/>
                <a:cs typeface="Calibri" pitchFamily="34" charset="-120"/>
              </a:rPr>
              <a:t>Better entropy coding</a:t>
            </a:r>
            <a:endParaRPr lang="en-US" sz="1900" dirty="0"/>
          </a:p>
        </p:txBody>
      </p:sp>
      <p:sp>
        <p:nvSpPr>
          <p:cNvPr id="24" name="Text 17"/>
          <p:cNvSpPr txBox="1"/>
          <p:nvPr/>
        </p:nvSpPr>
        <p:spPr>
          <a:xfrm>
            <a:off x="7452360" y="4846320"/>
            <a:ext cx="3931920" cy="1188720"/>
          </a:xfrm>
          <a:prstGeom prst="rect">
            <a:avLst/>
          </a:prstGeom>
          <a:noFill/>
          <a:ln/>
        </p:spPr>
        <p:txBody>
          <a:bodyPr wrap="square" lIns="0" tIns="0" rIns="0" bIns="0" rtlCol="0" anchor="t"/>
          <a:lstStyle/>
          <a:p>
            <a:pPr indent="0" marL="0">
              <a:buNone/>
            </a:pPr>
            <a:r>
              <a:rPr lang="en-US" sz="1500" dirty="0">
                <a:solidFill>
                  <a:srgbClr val="5E5878"/>
                </a:solidFill>
                <a:latin typeface="Calibri" pitchFamily="34" charset="0"/>
                <a:ea typeface="Calibri" pitchFamily="34" charset="-122"/>
                <a:cs typeface="Calibri" pitchFamily="34" charset="-120"/>
              </a:rPr>
              <a:t>Canonical Huffman and a 5-byte-per-symbol table accounting; larger images.</a:t>
            </a:r>
            <a:endParaRPr lang="en-US" sz="15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ection tag"/>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E0457B"/>
                </a:solidFill>
                <a:latin typeface="Calibri" pitchFamily="34" charset="0"/>
                <a:ea typeface="Calibri" pitchFamily="34" charset="-122"/>
                <a:cs typeface="Calibri" pitchFamily="34" charset="-120"/>
              </a:rPr>
              <a:t>REFERENCES</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F1A33"/>
                </a:solidFill>
                <a:latin typeface="Cambria" pitchFamily="34" charset="0"/>
                <a:ea typeface="Cambria" pitchFamily="34" charset="-122"/>
                <a:cs typeface="Cambria" pitchFamily="34" charset="-120"/>
              </a:rPr>
              <a:t>References</a:t>
            </a:r>
            <a:endParaRPr lang="en-US" sz="3000" dirty="0"/>
          </a:p>
        </p:txBody>
      </p:sp>
      <p:sp>
        <p:nvSpPr>
          <p:cNvPr id="5" name="Text 2"/>
          <p:cNvSpPr txBox="1"/>
          <p:nvPr/>
        </p:nvSpPr>
        <p:spPr>
          <a:xfrm>
            <a:off x="548640" y="1463040"/>
            <a:ext cx="11091672" cy="4846320"/>
          </a:xfrm>
          <a:prstGeom prst="rect">
            <a:avLst/>
          </a:prstGeom>
          <a:noFill/>
          <a:ln/>
        </p:spPr>
        <p:txBody>
          <a:bodyPr wrap="square" lIns="0" tIns="0" rIns="0" bIns="0" rtlCol="0" anchor="t"/>
          <a:lstStyle/>
          <a:p>
            <a:pPr indent="0" marL="0">
              <a:spcAft>
                <a:spcPts val="600"/>
              </a:spcAft>
              <a:buNone/>
            </a:pPr>
            <a:r>
              <a:rPr lang="en-US" sz="1400" dirty="0">
                <a:solidFill>
                  <a:srgbClr val="1F1A33"/>
                </a:solidFill>
                <a:latin typeface="Calibri" pitchFamily="34" charset="0"/>
                <a:ea typeface="Calibri" pitchFamily="34" charset="-122"/>
                <a:cs typeface="Calibri" pitchFamily="34" charset="-120"/>
              </a:rPr>
              <a:t>[1] H. M. Zangana (2025). Design and implementation of a novel parallel algorithm for efficient image compression in high-performance computing. EAI Endorsed Trans. AI and Robotics, 4.</a:t>
            </a:r>
            <a:endParaRPr lang="en-US" sz="1400" dirty="0"/>
          </a:p>
          <a:p>
            <a:pPr indent="0" marL="0">
              <a:spcAft>
                <a:spcPts val="600"/>
              </a:spcAft>
              <a:buNone/>
            </a:pPr>
            <a:r>
              <a:rPr lang="en-US" sz="1400" dirty="0">
                <a:solidFill>
                  <a:srgbClr val="1F1A33"/>
                </a:solidFill>
                <a:latin typeface="Calibri" pitchFamily="34" charset="0"/>
                <a:ea typeface="Calibri" pitchFamily="34" charset="-122"/>
                <a:cs typeface="Calibri" pitchFamily="34" charset="-120"/>
              </a:rPr>
              <a:t>[2] S. Thomas, A. Krishna, S. Govind, A. K. Sahu (2025). A novel image compression method using wavelet coefficients and Huffman coding. J. Eng. Res., 13, 361–370.</a:t>
            </a:r>
            <a:endParaRPr lang="en-US" sz="1400" dirty="0"/>
          </a:p>
          <a:p>
            <a:pPr indent="0" marL="0">
              <a:spcAft>
                <a:spcPts val="600"/>
              </a:spcAft>
              <a:buNone/>
            </a:pPr>
            <a:r>
              <a:rPr lang="en-US" sz="1400" dirty="0">
                <a:solidFill>
                  <a:srgbClr val="1F1A33"/>
                </a:solidFill>
                <a:latin typeface="Calibri" pitchFamily="34" charset="0"/>
                <a:ea typeface="Calibri" pitchFamily="34" charset="-122"/>
                <a:cs typeface="Calibri" pitchFamily="34" charset="-120"/>
              </a:rPr>
              <a:t>[3] R. Ranjan, P. Kumar (2023). An improved image compression algorithm using 2D DWT and PCA with canonical Huffman encoding. Entropy, 25, 1382.</a:t>
            </a:r>
            <a:endParaRPr lang="en-US" sz="1400" dirty="0"/>
          </a:p>
          <a:p>
            <a:pPr indent="0" marL="0">
              <a:spcAft>
                <a:spcPts val="600"/>
              </a:spcAft>
              <a:buNone/>
            </a:pPr>
            <a:r>
              <a:rPr lang="en-US" sz="1400" dirty="0">
                <a:solidFill>
                  <a:srgbClr val="1F1A33"/>
                </a:solidFill>
                <a:latin typeface="Calibri" pitchFamily="34" charset="0"/>
                <a:ea typeface="Calibri" pitchFamily="34" charset="-122"/>
                <a:cs typeface="Calibri" pitchFamily="34" charset="-120"/>
              </a:rPr>
              <a:t>[4] M. Bilal, Z. Ullah, O. Mujahid, T. Fouzder (2024). Fast Linde–Buzo–Gray (FLBG) algorithm for image compression through rescaling using bilinear interpolation. J. Imaging, 10, 124.</a:t>
            </a:r>
            <a:endParaRPr lang="en-US" sz="1400" dirty="0"/>
          </a:p>
          <a:p>
            <a:pPr indent="0" marL="0">
              <a:spcAft>
                <a:spcPts val="600"/>
              </a:spcAft>
              <a:buNone/>
            </a:pPr>
            <a:r>
              <a:rPr lang="en-US" sz="1400" dirty="0">
                <a:solidFill>
                  <a:srgbClr val="1F1A33"/>
                </a:solidFill>
                <a:latin typeface="Calibri" pitchFamily="34" charset="0"/>
                <a:ea typeface="Calibri" pitchFamily="34" charset="-122"/>
                <a:cs typeface="Calibri" pitchFamily="34" charset="-120"/>
              </a:rPr>
              <a:t>[5] R. K. Paul et al. (2024). Image compression scheme based on optimized K-means clustering and higher-level decomposed DWT. Procedia Comput. Sci., 235, 642–655.</a:t>
            </a:r>
            <a:endParaRPr lang="en-US" sz="1400" dirty="0"/>
          </a:p>
          <a:p>
            <a:pPr indent="0" marL="0">
              <a:spcAft>
                <a:spcPts val="600"/>
              </a:spcAft>
              <a:buNone/>
            </a:pPr>
            <a:r>
              <a:rPr lang="en-US" sz="1400" dirty="0">
                <a:solidFill>
                  <a:srgbClr val="1F1A33"/>
                </a:solidFill>
                <a:latin typeface="Calibri" pitchFamily="34" charset="0"/>
                <a:ea typeface="Calibri" pitchFamily="34" charset="-122"/>
                <a:cs typeface="Calibri" pitchFamily="34" charset="-120"/>
              </a:rPr>
              <a:t>[6] A. Tanović et al. (2024). Implementation of parallel K-means algorithm for image classification using OpenMP and MPI libraries. ZINC 2024.</a:t>
            </a:r>
            <a:endParaRPr lang="en-US" sz="1400" dirty="0"/>
          </a:p>
          <a:p>
            <a:pPr indent="0" marL="0">
              <a:spcAft>
                <a:spcPts val="600"/>
              </a:spcAft>
              <a:buNone/>
            </a:pPr>
            <a:r>
              <a:rPr lang="en-US" sz="1400" dirty="0">
                <a:solidFill>
                  <a:srgbClr val="1F1A33"/>
                </a:solidFill>
                <a:latin typeface="Calibri" pitchFamily="34" charset="0"/>
                <a:ea typeface="Calibri" pitchFamily="34" charset="-122"/>
                <a:cs typeface="Calibri" pitchFamily="34" charset="-120"/>
              </a:rPr>
              <a:t>[7] D. Papakyriakou, I. S. Barbounakis (2025). Parallel k-means benchmarking on a CPU-bound Beowulf cluster of Raspberry Pi nodes. Int. J. Comput. Appl., 187(32), 43–55.</a:t>
            </a:r>
            <a:endParaRPr lang="en-US" sz="1400" dirty="0"/>
          </a:p>
          <a:p>
            <a:pPr indent="0" marL="0">
              <a:spcAft>
                <a:spcPts val="600"/>
              </a:spcAft>
              <a:buNone/>
            </a:pPr>
            <a:r>
              <a:rPr lang="en-US" sz="1400" dirty="0">
                <a:solidFill>
                  <a:srgbClr val="1F1A33"/>
                </a:solidFill>
                <a:latin typeface="Calibri" pitchFamily="34" charset="0"/>
                <a:ea typeface="Calibri" pitchFamily="34" charset="-122"/>
                <a:cs typeface="Calibri" pitchFamily="34" charset="-120"/>
              </a:rPr>
              <a:t>[8] O. Bystrov et al. (2023). Hybrid parallelization of discrete element software for heterogeneous resources. Proc. PARENG 2023.</a:t>
            </a:r>
            <a:endParaRPr lang="en-US" sz="1400" dirty="0"/>
          </a:p>
          <a:p>
            <a:pPr indent="0" marL="0">
              <a:spcAft>
                <a:spcPts val="600"/>
              </a:spcAft>
              <a:buNone/>
            </a:pPr>
            <a:r>
              <a:rPr lang="en-US" sz="1400" dirty="0">
                <a:solidFill>
                  <a:srgbClr val="1F1A33"/>
                </a:solidFill>
                <a:latin typeface="Calibri" pitchFamily="34" charset="0"/>
                <a:ea typeface="Calibri" pitchFamily="34" charset="-122"/>
                <a:cs typeface="Calibri" pitchFamily="34" charset="-120"/>
              </a:rPr>
              <a:t>[9] Y. Linde, A. Buzo, R. M. Gray (1980). An algorithm for vector quantizer design. IEEE Trans. Commun., 28(1), 84–95.</a:t>
            </a:r>
            <a:endParaRPr lang="en-US" sz="1400" dirty="0"/>
          </a:p>
          <a:p>
            <a:pPr indent="0" marL="0">
              <a:spcAft>
                <a:spcPts val="600"/>
              </a:spcAft>
              <a:buNone/>
            </a:pPr>
            <a:r>
              <a:rPr lang="en-US" sz="1400" dirty="0">
                <a:solidFill>
                  <a:srgbClr val="1F1A33"/>
                </a:solidFill>
                <a:latin typeface="Calibri" pitchFamily="34" charset="0"/>
                <a:ea typeface="Calibri" pitchFamily="34" charset="-122"/>
                <a:cs typeface="Calibri" pitchFamily="34" charset="-120"/>
              </a:rPr>
              <a:t>[10] A. H. Karp, H. P. Flatt (1990). Measuring parallel processor performance. Commun. ACM, 33(5), 539–543.</a:t>
            </a:r>
            <a:endParaRPr lang="en-US" sz="1400" dirty="0"/>
          </a:p>
          <a:p>
            <a:pPr indent="0" marL="0">
              <a:spcAft>
                <a:spcPts val="600"/>
              </a:spcAft>
              <a:buNone/>
            </a:pPr>
            <a:r>
              <a:rPr lang="en-US" sz="1400" dirty="0">
                <a:solidFill>
                  <a:srgbClr val="1F1A33"/>
                </a:solidFill>
                <a:latin typeface="Calibri" pitchFamily="34" charset="0"/>
                <a:ea typeface="Calibri" pitchFamily="34" charset="-122"/>
                <a:cs typeface="Calibri" pitchFamily="34" charset="-120"/>
              </a:rPr>
              <a:t>[11] Z. Wang, A. C. Bovik, H. R. Sheikh, E. P. Simoncelli (2004). Image quality assessment: from error visibility to structural similarity. IEEE Trans. Image Process., 13(4), 600–612.</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A8"/>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Decor circle 1"/>
          <p:cNvSpPr/>
          <p:nvPr/>
        </p:nvSpPr>
        <p:spPr>
          <a:xfrm>
            <a:off x="7589520" y="-1097280"/>
            <a:ext cx="5852160" cy="5852160"/>
          </a:xfrm>
          <a:prstGeom prst="ellipse">
            <a:avLst/>
          </a:prstGeom>
          <a:solidFill>
            <a:srgbClr val="6B4FA3">
              <a:alpha val="45000"/>
            </a:srgbClr>
          </a:solidFill>
          <a:ln w="12700">
            <a:solidFill>
              <a:srgbClr val="6B4FA3"/>
            </a:solidFill>
            <a:prstDash val="solid"/>
          </a:ln>
        </p:spPr>
      </p:sp>
      <p:sp>
        <p:nvSpPr>
          <p:cNvPr id="3" name="Decor circle 2"/>
          <p:cNvSpPr/>
          <p:nvPr/>
        </p:nvSpPr>
        <p:spPr>
          <a:xfrm>
            <a:off x="8778240" y="3657600"/>
            <a:ext cx="4572000" cy="4572000"/>
          </a:xfrm>
          <a:prstGeom prst="ellipse">
            <a:avLst/>
          </a:prstGeom>
          <a:solidFill>
            <a:srgbClr val="E0457B">
              <a:alpha val="30000"/>
            </a:srgbClr>
          </a:solidFill>
          <a:ln w="12700">
            <a:solidFill>
              <a:srgbClr val="E0457B"/>
            </a:solidFill>
            <a:prstDash val="solid"/>
          </a:ln>
        </p:spPr>
      </p:sp>
      <p:sp>
        <p:nvSpPr>
          <p:cNvPr id="4" name="Text 2"/>
          <p:cNvSpPr txBox="1"/>
          <p:nvPr/>
        </p:nvSpPr>
        <p:spPr>
          <a:xfrm>
            <a:off x="731520" y="2103120"/>
            <a:ext cx="8229600" cy="1280160"/>
          </a:xfrm>
          <a:prstGeom prst="rect">
            <a:avLst/>
          </a:prstGeom>
          <a:noFill/>
          <a:ln/>
        </p:spPr>
        <p:txBody>
          <a:bodyPr wrap="square" lIns="0" tIns="0" rIns="0" bIns="0" rtlCol="0" anchor="t"/>
          <a:lstStyle/>
          <a:p>
            <a:pPr indent="0" marL="0">
              <a:buNone/>
            </a:pPr>
            <a:r>
              <a:rPr lang="en-US" sz="6400" b="1" dirty="0">
                <a:solidFill>
                  <a:srgbClr val="FFFFFF"/>
                </a:solidFill>
                <a:latin typeface="Cambria" pitchFamily="34" charset="0"/>
                <a:ea typeface="Cambria" pitchFamily="34" charset="-122"/>
                <a:cs typeface="Cambria" pitchFamily="34" charset="-120"/>
              </a:rPr>
              <a:t>Thank you</a:t>
            </a:r>
            <a:endParaRPr lang="en-US" sz="6400" dirty="0"/>
          </a:p>
        </p:txBody>
      </p:sp>
      <p:sp>
        <p:nvSpPr>
          <p:cNvPr id="5" name="Text 3"/>
          <p:cNvSpPr txBox="1"/>
          <p:nvPr/>
        </p:nvSpPr>
        <p:spPr>
          <a:xfrm>
            <a:off x="731520" y="3474720"/>
            <a:ext cx="8229600" cy="548640"/>
          </a:xfrm>
          <a:prstGeom prst="rect">
            <a:avLst/>
          </a:prstGeom>
          <a:noFill/>
          <a:ln/>
        </p:spPr>
        <p:txBody>
          <a:bodyPr wrap="square" lIns="0" tIns="0" rIns="0" bIns="0" rtlCol="0" anchor="t"/>
          <a:lstStyle/>
          <a:p>
            <a:pPr indent="0" marL="0">
              <a:buNone/>
            </a:pPr>
            <a:r>
              <a:rPr lang="en-US" sz="2400" dirty="0">
                <a:solidFill>
                  <a:srgbClr val="D9D2EE"/>
                </a:solidFill>
                <a:latin typeface="Calibri" pitchFamily="34" charset="0"/>
                <a:ea typeface="Calibri" pitchFamily="34" charset="-122"/>
                <a:cs typeface="Calibri" pitchFamily="34" charset="-120"/>
              </a:rPr>
              <a:t>Questions and discussion</a:t>
            </a:r>
            <a:endParaRPr lang="en-US" sz="2400" dirty="0"/>
          </a:p>
        </p:txBody>
      </p:sp>
      <p:sp>
        <p:nvSpPr>
          <p:cNvPr id="6" name="Text 4"/>
          <p:cNvSpPr txBox="1"/>
          <p:nvPr/>
        </p:nvSpPr>
        <p:spPr>
          <a:xfrm>
            <a:off x="731520" y="5120640"/>
            <a:ext cx="9144000" cy="457200"/>
          </a:xfrm>
          <a:prstGeom prst="rect">
            <a:avLst/>
          </a:prstGeom>
          <a:noFill/>
          <a:ln/>
        </p:spPr>
        <p:txBody>
          <a:bodyPr wrap="square" lIns="0" tIns="0" rIns="0" bIns="0" rtlCol="0" anchor="t"/>
          <a:lstStyle/>
          <a:p>
            <a:pPr indent="0" marL="0">
              <a:buNone/>
            </a:pPr>
            <a:r>
              <a:rPr lang="en-US" sz="1500" dirty="0">
                <a:solidFill>
                  <a:srgbClr val="A794D6"/>
                </a:solidFill>
                <a:latin typeface="Calibri" pitchFamily="34" charset="0"/>
                <a:ea typeface="Calibri" pitchFamily="34" charset="-122"/>
                <a:cs typeface="Calibri" pitchFamily="34" charset="-120"/>
              </a:rPr>
              <a:t>Ibtihal Hussien  ·  Supervised by Dr. Ahmed Badri and Dr. Esraa Hadi  ·  University of Babylon</a:t>
            </a:r>
            <a:endParaRPr lang="en-US" sz="1500" dirty="0"/>
          </a:p>
        </p:txBody>
      </p:sp>
      <p:pic>
        <p:nvPicPr>
          <p:cNvPr id="7" name="University logo" descr="/home/user/mihk/results/seminar/assets/logo.png">    </p:cNvPr>
          <p:cNvPicPr>
            <a:picLocks noChangeAspect="1"/>
          </p:cNvPicPr>
          <p:nvPr/>
        </p:nvPicPr>
        <p:blipFill>
          <a:blip r:embed="rId1"/>
          <a:stretch>
            <a:fillRect/>
          </a:stretch>
        </p:blipFill>
        <p:spPr>
          <a:xfrm>
            <a:off x="731520" y="640080"/>
            <a:ext cx="960120" cy="1005840"/>
          </a:xfrm>
          <a:prstGeom prst="rect">
            <a:avLst/>
          </a:prstGeom>
        </p:spPr>
      </p:pic>
    </p:spTree>
  </p:cSld>
  <p:clrMapOvr>
    <a:masterClrMapping/>
  </p:clrMapOvr>
</p:sld>
</file>

<file path=ppt/theme/theme1.xml><?xml version="1.0" encoding="utf-8"?>
<a:theme xmlns:a="http://schemas.openxmlformats.org/drawingml/2006/main" name="Seminar Plum">
  <a:themeElements>
    <a:clrScheme name="Seminar Plum">
      <a:dk1>
        <a:srgbClr val="1F1A33"/>
      </a:dk1>
      <a:lt1>
        <a:srgbClr val="FFFFFF"/>
      </a:lt1>
      <a:dk2>
        <a:srgbClr val="2E2055"/>
      </a:dk2>
      <a:lt2>
        <a:srgbClr val="F5F1FB"/>
      </a:lt2>
      <a:accent1>
        <a:srgbClr val="6B4FA3"/>
      </a:accent1>
      <a:accent2>
        <a:srgbClr val="E0457B"/>
      </a:accent2>
      <a:accent3>
        <a:srgbClr val="2A9D8F"/>
      </a:accent3>
      <a:accent4>
        <a:srgbClr val="F2B134"/>
      </a:accent4>
      <a:accent5>
        <a:srgbClr val="A794D6"/>
      </a:accent5>
      <a:accent6>
        <a:srgbClr val="8A8FA8"/>
      </a:accent6>
      <a:hlink>
        <a:srgbClr val="6B4FA3"/>
      </a:hlink>
      <a:folHlink>
        <a:srgbClr val="8A8FA8"/>
      </a:folHlink>
    </a:clrScheme>
    <a:fontScheme name="Seminar Plum">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Parallel LBG vector-quantization image compression: MPI on a heterogeneous multicore CPU</dc:title>
  <dc:subject>PptxGenJS Presentation</dc:subject>
  <dc:creator>Ibtihal Hussien</dc:creator>
  <cp:lastModifiedBy>Ibtihal Hussien</cp:lastModifiedBy>
  <cp:revision>1</cp:revision>
  <dcterms:created xsi:type="dcterms:W3CDTF">2026-10-14T20:10:22Z</dcterms:created>
  <dcterms:modified xsi:type="dcterms:W3CDTF">2026-10-14T20:10:22Z</dcterms:modified>
</cp:coreProperties>
</file>