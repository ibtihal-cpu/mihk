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Entropy of indices</c:v>
                </c:pt>
              </c:strCache>
            </c:strRef>
          </c:tx>
          <c:spPr>
            <a:solidFill>
              <a:srgbClr val="A794D6"/>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5.393</c:v>
                </c:pt>
                <c:pt idx="1">
                  <c:v>5.237</c:v>
                </c:pt>
                <c:pt idx="2">
                  <c:v>5.165</c:v>
                </c:pt>
                <c:pt idx="3">
                  <c:v>5.396</c:v>
                </c:pt>
              </c:numCache>
            </c:numRef>
          </c:val>
        </c:ser>
        <c:ser>
          <c:idx val="1"/>
          <c:order val="1"/>
          <c:tx>
            <c:strRef>
              <c:f>Sheet1!$C$1</c:f>
              <c:strCache>
                <c:ptCount val="1"/>
                <c:pt idx="0">
                  <c:v>Entropy after delta</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4.665</c:v>
                </c:pt>
                <c:pt idx="1">
                  <c:v>4.061</c:v>
                </c:pt>
                <c:pt idx="2">
                  <c:v>3.682</c:v>
                </c:pt>
                <c:pt idx="3">
                  <c:v>4.365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bits per index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Mean over the four grayscale images</a:t>
            </a:r>
          </a:p>
        </c:rich>
      </c:tx>
      <c:layout/>
      <c:overlay val="0"/>
    </c:title>
    <c:autoTitleDeleted val="0"/>
    <c:plotArea>
      <c:layout/>
      <c:barChart>
        <c:barDir val="col"/>
        <c:grouping val="clustered"/>
        <c:varyColors val="0"/>
        <c:ser>
          <c:idx val="0"/>
          <c:order val="0"/>
          <c:tx>
            <c:strRef>
              <c:f>Sheet1!$B$1</c:f>
              <c:strCache>
                <c:ptCount val="1"/>
                <c:pt idx="0">
                  <c:v>System CR</c:v>
                </c:pt>
              </c:strCache>
            </c:strRef>
          </c:tx>
          <c:spPr>
            <a:solidFill>
              <a:srgbClr val="A794D6"/>
            </a:solidFill>
            <a:effectLst/>
          </c:spPr>
          <c:invertIfNegative val="0"/>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A794D6"/>
              </a:solidFill>
              <a:effectLst/>
            </c:spPr>
          </c:dPt>
          <c:dPt>
            <c:idx val="1"/>
            <c:invertIfNegative val="0"/>
            <c:bubble3D val="0"/>
            <c:spPr>
              <a:solidFill>
                <a:srgbClr val="6B4FA3"/>
              </a:solidFill>
              <a:effectLst/>
            </c:spPr>
          </c:dPt>
          <c:dPt>
            <c:idx val="2"/>
            <c:invertIfNegative val="0"/>
            <c:bubble3D val="0"/>
            <c:spPr>
              <a:solidFill>
                <a:srgbClr val="E0457B"/>
              </a:solidFill>
              <a:effectLst/>
            </c:spPr>
          </c:dPt>
          <c:cat>
            <c:multiLvlStrRef>
              <c:f>Sheet1!$A$2:$A$4</c:f>
              <c:multiLvlStrCache>
                <c:ptCount val="3"/>
                <c:lvl>
                  <c:pt idx="0">
                    <c:v>Fixed 8-bit indices</c:v>
                  </c:pt>
                  <c:pt idx="1">
                    <c:v>Fixed 6-bit indices</c:v>
                  </c:pt>
                  <c:pt idx="2">
                    <c:v>Delta + Huffman</c:v>
                  </c:pt>
                </c:lvl>
              </c:multiLvlStrCache>
            </c:multiLvlStrRef>
          </c:cat>
          <c:val>
            <c:numRef>
              <c:f>Sheet1!$B$2:$B$4</c:f>
              <c:numCache>
                <c:formatCode>General</c:formatCode>
                <c:ptCount val="3"/>
                <c:pt idx="0">
                  <c:v>15.06</c:v>
                </c:pt>
                <c:pt idx="1">
                  <c:v>19.69</c:v>
                </c:pt>
                <c:pt idx="2">
                  <c:v>25.92</c:v>
                </c:pt>
              </c:numCache>
            </c:numRef>
          </c:val>
        </c:ser>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CR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System compression ratio</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7.578</c:v>
                </c:pt>
                <c:pt idx="1">
                  <c:v>19.39</c:v>
                </c:pt>
                <c:pt idx="2">
                  <c:v>25.918</c:v>
                </c:pt>
                <c:pt idx="3">
                  <c:v>34.62</c:v>
                </c:pt>
                <c:pt idx="4">
                  <c:v>37.88</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33.825</c:v>
                </c:pt>
                <c:pt idx="1">
                  <c:v>30.675</c:v>
                </c:pt>
                <c:pt idx="2">
                  <c:v>29.485</c:v>
                </c:pt>
                <c:pt idx="3">
                  <c:v>28.273</c:v>
                </c:pt>
                <c:pt idx="4">
                  <c:v>26.322</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6"/>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23.5</c:v>
                </c:pt>
                <c:pt idx="1">
                  <c:v>26.54</c:v>
                </c:pt>
                <c:pt idx="2">
                  <c:v>28.88</c:v>
                </c:pt>
                <c:pt idx="3">
                  <c:v>24.75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0.819</c:v>
                </c:pt>
                <c:pt idx="1">
                  <c:v>0.8394</c:v>
                </c:pt>
                <c:pt idx="2">
                  <c:v>0.8855</c:v>
                </c:pt>
                <c:pt idx="3">
                  <c:v>0.7624</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24</c:v>
                </c:pt>
                <c:pt idx="1">
                  <c:v>23.89</c:v>
                </c:pt>
                <c:pt idx="2">
                  <c:v>26.44</c:v>
                </c:pt>
                <c:pt idx="3">
                  <c:v>23.54</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28.91</c:v>
                </c:pt>
                <c:pt idx="1">
                  <c:v>28.35</c:v>
                </c:pt>
                <c:pt idx="2">
                  <c:v>29.47</c:v>
                </c:pt>
                <c:pt idx="3">
                  <c:v>28.45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0.7594</c:v>
                </c:pt>
                <c:pt idx="1">
                  <c:v>0.6964</c:v>
                </c:pt>
                <c:pt idx="2">
                  <c:v>0.8539</c:v>
                </c:pt>
                <c:pt idx="3">
                  <c:v>0.752</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at approximately matched CR</a:t>
            </a:r>
          </a:p>
        </c:rich>
      </c:tx>
      <c:layout/>
      <c:overlay val="0"/>
    </c:title>
    <c:autoTitleDeleted val="0"/>
    <c:plotArea>
      <c:layout/>
      <c:barChart>
        <c:barDir val="col"/>
        <c:grouping val="clustered"/>
        <c:varyColors val="0"/>
        <c:ser>
          <c:idx val="0"/>
          <c:order val="0"/>
          <c:tx>
            <c:strRef>
              <c:f>Sheet1!$B$1</c:f>
              <c:strCache>
                <c:ptCount val="1"/>
                <c:pt idx="0">
                  <c:v>Proposed VQ</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ser>
          <c:idx val="1"/>
          <c:order val="1"/>
          <c:tx>
            <c:strRef>
              <c:f>Sheet1!$C$1</c:f>
              <c:strCache>
                <c:ptCount val="1"/>
                <c:pt idx="0">
                  <c:v>DWT + Huffman</c:v>
                </c:pt>
              </c:strCache>
            </c:strRef>
          </c:tx>
          <c:spPr>
            <a:solidFill>
              <a:srgbClr val="A794D6"/>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26.83</c:v>
                </c:pt>
                <c:pt idx="1">
                  <c:v>26.05</c:v>
                </c:pt>
                <c:pt idx="2">
                  <c:v>26.56</c:v>
                </c:pt>
                <c:pt idx="3">
                  <c:v>26.53</c:v>
                </c:pt>
              </c:numCache>
            </c:numRef>
          </c:val>
        </c:ser>
        <c:ser>
          <c:idx val="2"/>
          <c:order val="2"/>
          <c:tx>
            <c:strRef>
              <c:f>Sheet1!$D$1</c:f>
              <c:strCache>
                <c:ptCount val="1"/>
                <c:pt idx="0">
                  <c:v>JPEG</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Sheet1!$D$2:$D$5</c:f>
              <c:numCache>
                <c:formatCode>General</c:formatCode>
                <c:ptCount val="4"/>
                <c:pt idx="0">
                  <c:v>33.14</c:v>
                </c:pt>
                <c:pt idx="1">
                  <c:v>31.37</c:v>
                </c:pt>
                <c:pt idx="2">
                  <c:v>34.01</c:v>
                </c:pt>
                <c:pt idx="3">
                  <c:v>32.24</c:v>
                </c:pt>
              </c:numCache>
            </c:numRef>
          </c:val>
        </c:ser>
        <c:ser>
          <c:idx val="3"/>
          <c:order val="3"/>
          <c:tx>
            <c:strRef>
              <c:f>Sheet1!$E$1</c:f>
              <c:strCache>
                <c:ptCount val="1"/>
                <c:pt idx="0">
                  <c:v>JPEG 2000</c:v>
                </c:pt>
              </c:strCache>
            </c:strRef>
          </c:tx>
          <c:spPr>
            <a:solidFill>
              <a:srgbClr val="2A9D8F"/>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Sheet1!$E$2:$E$5</c:f>
              <c:numCache>
                <c:formatCode>General</c:formatCode>
                <c:ptCount val="4"/>
                <c:pt idx="0">
                  <c:v>35.48</c:v>
                </c:pt>
                <c:pt idx="1">
                  <c:v>33.64</c:v>
                </c:pt>
                <c:pt idx="2">
                  <c:v>37.17</c:v>
                </c:pt>
                <c:pt idx="3">
                  <c:v>33.42</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0"/>
          <c:min val="2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PSNR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(sequential)</a:t>
            </a:r>
          </a:p>
        </c:rich>
      </c:tx>
      <c:layout/>
      <c:overlay val="0"/>
    </c:title>
    <c:autoTitleDeleted val="0"/>
    <c:plotArea>
      <c:layout/>
      <c:doughnutChart>
        <c:varyColors val="1"/>
        <c:ser>
          <c:idx val="0"/>
          <c:order val="0"/>
          <c:tx>
            <c:strRef>
              <c:f>Sheet1!$B$1</c:f>
              <c:strCache>
                <c:ptCount val="1"/>
                <c:pt idx="0">
                  <c:v>Grayscale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0.2557</c:v>
                </c:pt>
                <c:pt idx="1">
                  <c:v>0.0761</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(sequential)</a:t>
            </a:r>
          </a:p>
        </c:rich>
      </c:tx>
      <c:layout/>
      <c:overlay val="0"/>
    </c:title>
    <c:autoTitleDeleted val="0"/>
    <c:plotArea>
      <c:layout/>
      <c:doughnutChart>
        <c:varyColors val="1"/>
        <c:ser>
          <c:idx val="0"/>
          <c:order val="0"/>
          <c:tx>
            <c:strRef>
              <c:f>Sheet1!$B$1</c:f>
              <c:strCache>
                <c:ptCount val="1"/>
                <c:pt idx="0">
                  <c:v>Color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0.7827</c:v>
                </c:pt>
                <c:pt idx="1">
                  <c:v>0.1817</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Ideal (S = P)</c:v>
                </c:pt>
              </c:strCache>
            </c:strRef>
          </c:tx>
          <c:spPr>
            <a:solidFill>
              <a:srgbClr val="B8AED3"/>
            </a:solidFill>
            <a:ln w="38100" cap="flat">
              <a:solidFill>
                <a:srgbClr val="B8AED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B8AED3"/>
              </a:solidFill>
              <a:ln w="9525" cap="flat">
                <a:solidFill>
                  <a:srgbClr val="B8AED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2</c:v>
                </c:pt>
                <c:pt idx="2">
                  <c:v>4</c:v>
                </c:pt>
                <c:pt idx="3">
                  <c:v>6</c:v>
                </c:pt>
                <c:pt idx="4">
                  <c:v>8</c:v>
                </c:pt>
                <c:pt idx="5">
                  <c:v>10</c:v>
                </c:pt>
                <c:pt idx="6">
                  <c:v>12</c:v>
                </c:pt>
                <c:pt idx="7">
                  <c:v>14</c:v>
                </c:pt>
              </c:numCache>
            </c:numRef>
          </c:val>
          <c:smooth val="0"/>
        </c:ser>
        <c:ser>
          <c:idx val="1"/>
          <c:order val="1"/>
          <c:tx>
            <c:strRef>
              <c:f>Sheet1!$C$1</c:f>
              <c:strCache>
                <c:ptCount val="1"/>
                <c:pt idx="0">
                  <c:v>Measured (mean of 8 images)</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 (LBG stage)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LBG parallel efficiency (%)</a:t>
            </a:r>
          </a:p>
        </c:rich>
      </c:tx>
      <c:layout/>
      <c:overlay val="0"/>
    </c:title>
    <c:autoTitleDeleted val="0"/>
    <c:plotArea>
      <c:layout/>
      <c:barChart>
        <c:barDir val="col"/>
        <c:grouping val="clustered"/>
        <c:varyColors val="0"/>
        <c:ser>
          <c:idx val="0"/>
          <c:order val="0"/>
          <c:tx>
            <c:strRef>
              <c:f>Sheet1!$B$1</c:f>
              <c:strCache>
                <c:ptCount val="1"/>
                <c:pt idx="0">
                  <c:v>Efficiency</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96.8</c:v>
                </c:pt>
                <c:pt idx="1">
                  <c:v>94.8</c:v>
                </c:pt>
                <c:pt idx="2">
                  <c:v>90.2</c:v>
                </c:pt>
                <c:pt idx="3">
                  <c:v>78.8</c:v>
                </c:pt>
                <c:pt idx="4">
                  <c:v>73.6</c:v>
                </c:pt>
                <c:pt idx="5">
                  <c:v>68.6</c:v>
                </c:pt>
                <c:pt idx="6">
                  <c:v>65.7</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Karp–Flatt serial fraction (LBG)</a:t>
            </a:r>
          </a:p>
        </c:rich>
      </c:tx>
      <c:layout/>
      <c:overlay val="0"/>
    </c:title>
    <c:autoTitleDeleted val="0"/>
    <c:plotArea>
      <c:layout/>
      <c:lineChart>
        <c:varyColors val="0"/>
        <c:ser>
          <c:idx val="0"/>
          <c:order val="0"/>
          <c:tx>
            <c:strRef>
              <c:f>Sheet1!$B$1</c:f>
              <c:strCache>
                <c:ptCount val="1"/>
                <c:pt idx="0">
                  <c:v>Karp–Flatt (LBG)</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0.033</c:v>
                </c:pt>
                <c:pt idx="1">
                  <c:v>0.018</c:v>
                </c:pt>
                <c:pt idx="2">
                  <c:v>0.022</c:v>
                </c:pt>
                <c:pt idx="3">
                  <c:v>0.038</c:v>
                </c:pt>
                <c:pt idx="4">
                  <c:v>0.04</c:v>
                </c:pt>
                <c:pt idx="5">
                  <c:v>0.042</c:v>
                </c:pt>
                <c:pt idx="6">
                  <c:v>0.04</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6E1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Grayscale</c:v>
                </c:pt>
              </c:strCache>
            </c:strRef>
          </c:tx>
          <c:spPr>
            <a:solidFill>
              <a:srgbClr val="6B4FA3"/>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9.7</c:v>
                </c:pt>
                <c:pt idx="1">
                  <c:v>18.7</c:v>
                </c:pt>
                <c:pt idx="2">
                  <c:v>36.6</c:v>
                </c:pt>
                <c:pt idx="3">
                  <c:v>52.2</c:v>
                </c:pt>
                <c:pt idx="4">
                  <c:v>60.6</c:v>
                </c:pt>
                <c:pt idx="5">
                  <c:v>71</c:v>
                </c:pt>
                <c:pt idx="6">
                  <c:v>79.3</c:v>
                </c:pt>
                <c:pt idx="7">
                  <c:v>88.7</c:v>
                </c:pt>
              </c:numCache>
            </c:numRef>
          </c:val>
        </c:ser>
        <c:ser>
          <c:idx val="1"/>
          <c:order val="1"/>
          <c:tx>
            <c:strRef>
              <c:f>Sheet1!$C$1</c:f>
              <c:strCache>
                <c:ptCount val="1"/>
                <c:pt idx="0">
                  <c:v>Color (per channel)</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9.8</c:v>
                </c:pt>
                <c:pt idx="1">
                  <c:v>19</c:v>
                </c:pt>
                <c:pt idx="2">
                  <c:v>37.3</c:v>
                </c:pt>
                <c:pt idx="3">
                  <c:v>53.2</c:v>
                </c:pt>
                <c:pt idx="4">
                  <c:v>62</c:v>
                </c:pt>
                <c:pt idx="5">
                  <c:v>72.3</c:v>
                </c:pt>
                <c:pt idx="6">
                  <c:v>80.8</c:v>
                </c:pt>
                <c:pt idx="7">
                  <c:v>90.3</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 (1 = sequential)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million vector-iterations /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LBG stage (mean)</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ser>
          <c:idx val="1"/>
          <c:order val="1"/>
          <c:tx>
            <c:strRef>
              <c:f>Sheet1!$C$1</c:f>
              <c:strCache>
                <c:ptCount val="1"/>
                <c:pt idx="0">
                  <c:v>Total, color</c:v>
                </c:pt>
              </c:strCache>
            </c:strRef>
          </c:tx>
          <c:spPr>
            <a:solidFill>
              <a:srgbClr val="2A9D8F"/>
            </a:solidFill>
            <a:ln w="38100" cap="flat">
              <a:solidFill>
                <a:srgbClr val="2A9D8F"/>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2A9D8F"/>
              </a:solidFill>
              <a:ln w="9525" cap="flat">
                <a:solidFill>
                  <a:srgbClr val="2A9D8F"/>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1.865</c:v>
                </c:pt>
                <c:pt idx="2">
                  <c:v>3.45</c:v>
                </c:pt>
                <c:pt idx="3">
                  <c:v>4.6525</c:v>
                </c:pt>
                <c:pt idx="4">
                  <c:v>5.0424999999999995</c:v>
                </c:pt>
                <c:pt idx="5">
                  <c:v>5.7225</c:v>
                </c:pt>
                <c:pt idx="6">
                  <c:v>6.2924999999999995</c:v>
                </c:pt>
                <c:pt idx="7">
                  <c:v>6.8425</c:v>
                </c:pt>
              </c:numCache>
            </c:numRef>
          </c:val>
          <c:smooth val="0"/>
        </c:ser>
        <c:ser>
          <c:idx val="2"/>
          <c:order val="2"/>
          <c:tx>
            <c:strRef>
              <c:f>Sheet1!$D$1</c:f>
              <c:strCache>
                <c:ptCount val="1"/>
                <c:pt idx="0">
                  <c:v>Total, grayscale</c:v>
                </c:pt>
              </c:strCache>
            </c:strRef>
          </c:tx>
          <c:spPr>
            <a:solidFill>
              <a:srgbClr val="6B4FA3"/>
            </a:solidFill>
            <a:ln w="38100" cap="flat">
              <a:solidFill>
                <a:srgbClr val="6B4FA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6B4FA3"/>
              </a:solidFill>
              <a:ln w="9525" cap="flat">
                <a:solidFill>
                  <a:srgbClr val="6B4FA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Sheet1!$D$2:$D$9</c:f>
              <c:numCache>
                <c:formatCode>General</c:formatCode>
                <c:ptCount val="8"/>
                <c:pt idx="0">
                  <c:v>1</c:v>
                </c:pt>
                <c:pt idx="1">
                  <c:v>1.7675</c:v>
                </c:pt>
                <c:pt idx="2">
                  <c:v>2.9925</c:v>
                </c:pt>
                <c:pt idx="3">
                  <c:v>3.79</c:v>
                </c:pt>
                <c:pt idx="4">
                  <c:v>4.005</c:v>
                </c:pt>
                <c:pt idx="5">
                  <c:v>4.390000000000001</c:v>
                </c:pt>
                <c:pt idx="6">
                  <c:v>4.720000000000001</c:v>
                </c:pt>
                <c:pt idx="7">
                  <c:v>5.0024999999999995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0.2557</c:v>
                </c:pt>
                <c:pt idx="1">
                  <c:v>0.0279</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0.0761</c:v>
                </c:pt>
                <c:pt idx="1">
                  <c:v>0.0384</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0.7827</c:v>
                </c:pt>
                <c:pt idx="1">
                  <c:v>0.085</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0.1817</c:v>
                </c:pt>
                <c:pt idx="1">
                  <c:v>0.0561</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0.1321</c:v>
                </c:pt>
                <c:pt idx="1">
                  <c:v>0.0675</c:v>
                </c:pt>
                <c:pt idx="2">
                  <c:v>0.0473</c:v>
                </c:pt>
                <c:pt idx="3">
                  <c:v>0.0565</c:v>
                </c:pt>
                <c:pt idx="4">
                  <c:v>0.0456</c:v>
                </c:pt>
                <c:pt idx="5">
                  <c:v>0.0389</c:v>
                </c:pt>
                <c:pt idx="6">
                  <c:v>0.0337</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0.1322</c:v>
                </c:pt>
                <c:pt idx="1">
                  <c:v>0.0675</c:v>
                </c:pt>
                <c:pt idx="2">
                  <c:v>0.0474</c:v>
                </c:pt>
                <c:pt idx="3">
                  <c:v>0.0406</c:v>
                </c:pt>
                <c:pt idx="4">
                  <c:v>0.0349</c:v>
                </c:pt>
                <c:pt idx="5">
                  <c:v>0.0313</c:v>
                </c:pt>
                <c:pt idx="6">
                  <c:v>0.0279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0.4042</c:v>
                </c:pt>
                <c:pt idx="1">
                  <c:v>0.2053</c:v>
                </c:pt>
                <c:pt idx="2">
                  <c:v>0.1442</c:v>
                </c:pt>
                <c:pt idx="3">
                  <c:v>0.1727</c:v>
                </c:pt>
                <c:pt idx="4">
                  <c:v>0.1391</c:v>
                </c:pt>
                <c:pt idx="5">
                  <c:v>0.1186</c:v>
                </c:pt>
                <c:pt idx="6">
                  <c:v>0.1025</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0.4044</c:v>
                </c:pt>
                <c:pt idx="1">
                  <c:v>0.2061</c:v>
                </c:pt>
                <c:pt idx="2">
                  <c:v>0.1442</c:v>
                </c:pt>
                <c:pt idx="3">
                  <c:v>0.1236</c:v>
                </c:pt>
                <c:pt idx="4">
                  <c:v>0.1062</c:v>
                </c:pt>
                <c:pt idx="5">
                  <c:v>0.0949</c:v>
                </c:pt>
                <c:pt idx="6">
                  <c:v>0.0849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LBG time reduction (%)</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c:v>
                </c:pt>
                <c:pt idx="1">
                  <c:v>-0.2</c:v>
                </c:pt>
                <c:pt idx="2">
                  <c:v>-0.1</c:v>
                </c:pt>
                <c:pt idx="3">
                  <c:v>28.3</c:v>
                </c:pt>
                <c:pt idx="4">
                  <c:v>23.6</c:v>
                </c:pt>
                <c:pt idx="5">
                  <c:v>19.8</c:v>
                </c:pt>
                <c:pt idx="6">
                  <c:v>17.2</c:v>
                </c:pt>
              </c:numCache>
            </c:numRef>
          </c:val>
        </c:ser>
        <c:ser>
          <c:idx val="1"/>
          <c:order val="1"/>
          <c:tx>
            <c:strRef>
              <c:f>Sheet1!$C$1</c:f>
              <c:strCache>
                <c:ptCount val="1"/>
                <c:pt idx="0">
                  <c:v>Total time reduction (%)</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-0.3</c:v>
                </c:pt>
                <c:pt idx="1">
                  <c:v>-0.6</c:v>
                </c:pt>
                <c:pt idx="2">
                  <c:v>-0.6</c:v>
                </c:pt>
                <c:pt idx="3">
                  <c:v>17.9</c:v>
                </c:pt>
                <c:pt idx="4">
                  <c:v>13.7</c:v>
                </c:pt>
                <c:pt idx="5">
                  <c:v>10.7</c:v>
                </c:pt>
                <c:pt idx="6">
                  <c:v>8.8</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5"/>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reduction vs Equal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parallel (MPI) LBG vector-quantization image compressor, evaluated on a hybrid CPU with 6 performance and 8 efficiency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parts, following the structure of the seminar: introduction, related work, problems, objectives, the proposed method, the parallel strategy, results, conclusion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reduces storage and bandwidth. VQ is lossy; in this work the compressed size includes the codebook and the Huffman table, so the reported ratio is the real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is iterative: every iteration compares every training vector with every codeword. This is the dominant cost of the sequential compressor (about 77% of the total time for grayscale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CR includes the codebook (1,024 bytes) and the Huffman table, so it is the true compression ratio. PSNR and SSIM measure fidelity. Speedup, efficiency, Karp–Flatt and throughput measure the parallel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studies work at very different operating points: from near-lossless (CR about 1.5) to high compression. Values are taken from the papers'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Speedups come from different applications and baselines, so they are context, not a ranking. Papakyriakou uses the two-process run as baseline. Zangana's 9.09x is derived from the 1-GPU and 16-GPU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motivate the work: delay in sending data, big data storage, the cost of obtaining a good compression ratio, and the need for acceptable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objectives: a good compression ratio with parallel speed, and preserved quality. The right-hand column shows how the work meets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the pipeline, the parallel implementation, the Adaptive distribution for hybrid CPUs, and the measurement and verification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split into 4x4 blocks, each block is a 16-dimensional vector. LBG builds a 64-vector codebook. Each block is replaced by an index, the index sequence is delta-coded and Huffman-coded.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on a Cameraman region: the image is a grid of 4x4 blocks; each block becomes one vector and later one codeword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global mean; split every codeword by a factor (1 plus or minus delta), then run Lloyd iterations until the relative distortion change is below epsilon. Repeat until K =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orders codewords so that neighbouring blocks tend to have close indices; coding the difference between consecutive indices lowers the entropy. Huffman coding then reaches within about 0.04 bit of the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CR divides the original bytes by codebook (1,024 bytes) + Huffman table + Huffman data. Delta + Huffman raises the ratio from 15.06 (8-bit indices) to 25.92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512x512 images: four grayscale (Lena, Boat, Cameraman, Peppers) and four color (Lena, Peppers, F-16, Gold Hill). Color images are processed per R, G, B channel. Thumbnails shown here are the images available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0 reads the image and builds the vectors, then broadcasts parameters and scatters the vectors. Every iteration: assign locally, Allreduce the partial sums and counts, update the codebook. Finally the labels are gathered on rank 0 for delta and Huffman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hybrid CPU, equal shares make P-cores wait for the slower E-cores at every Allreduce. Adaptive measures each rank's speed with a micro-benchmark and gives faster ranks more vectors, so all ranks finish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timings are medians of five runs under identical conditions. The sequential reference program is pinned to one core, so speedup is relative to a separate sequential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image the sequential program and three parallel runs (P=4, P=14 Adaptive, P=14 Equal) give identical CR, MSE, PSNR, SSIM and iteration count, and the md5sum of the reconstructed BMP files is identical. md5sum is an external tool, not part of the algorithm. The check covers the reconstructed image and metrics, not the codebook or bitstream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four grayscale images. Larger blocks and smaller codebooks give higher compression and lower quality. 4x4 with K=64 is the chosen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system CR and PSNR for the four grayscale images; mean CR 25.92, PSNR 29.49 dB, SSIM 0.8266.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values for the four color images; mean CR 24.47, PSNR 28.80 dB, SSIM 0.7654. CR and MSE are pooled over the three channels; SSIM is the mean of the three channel SSIMs.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Reconstruction by the sequential program: CR 28.88, MSE 68.84, PSNR 29.75 dB, SSIM 0.8855. The block structure of VQ is visible in the 4x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approximately the same CR, JPEG 2000 and JPEG reach higher PSNR than the proposed VQ codec, while the generic DWT+Huffman baseline developed in this work is lower. The proposed codec is not a quality leader; its contribution is the parallel framework. The DWT baseline is a generic, controlled implementation, not a published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sequential program LBG is 77% of the total time for grayscale and 81% for color. The remaining stages (I/O, delta, Huffman, reconstruction, metrics) are the part that does not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eight images. 9.19x at P=14, 65.7% efficiency. Speedup is almost linear up to P=6 (the P-cores) and then grows more slowly because E-cores are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 S/P. It falls after P=6 where E-cores join. The Karp-Flatt serial fraction of the LBG stage stays about 0.04 for P&gt;=8, so there is no growing parallel overhead; the Total stage has about 0.14 (gray) and 0.08 (color) because of the non-parallel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 N*I/T_LBG in millions of vector-iterations per second (per channel for color). It grows from about 9.7-9.8 M/s sequentially to about 89-90 M/s at P=14, an increase of 9.2x.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speedup includes I/O, delta, Huffman, reconstruction and metrics, which stay on rank 0. At P=14 the total speedup is 5.00x for grayscale and 6.84x for color, much lower than the 9.19x of the LBG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stage times in seconds. At P=14 the LBG stage shrinks by 9.2x, but the other stages shrink only 2.0x (gray) and 3.2x (color), so their share of the total grows from 23% to 58% (gray) and from 19% to 40%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LBG time in seconds. For P up to 6 the two strategies are equivalent (all ranks on P-cores). From P=8, when E-cores are used, Adaptive is clearly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Reduction of execution time with Adaptive relative to Equal, mean over the eight images (mean of per-image reductions). LBG: 28.3, 23.6, 19.8, 17.2 percent at P=8, 10, 12, 14. Total: 17.9, 13.7, 10.7, 8.8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contextual comparison only. The studies operate at different compression ratios and use different images and size accounting; values are indicative. The time ratio is computed within each study: LBG/FLBG time in Bilal et al.; sequential/MPI LBG time at P=14 in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 comparison. This work reports speedup against a separate sequential program. The 9.19x is the mean LBG-stage speedup over the eight images; the total speedup includes the non-parallel stages. The reported speedups are of the same order but are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limits: one CPU platform, a modest problem size, a non-parallel part, and quality below standard codecs at the same 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compressor, the exact parallelization, the speedup, the Adaptive gain, and the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extensions: parallelize the remaining stages, hybrid MPI+OpenMP, GPU, and entropy coding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references used in the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E205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Parallel LBG vector-quantization image compression  ·  MSc seminar  ·  University of Babylon</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indent="0" marL="0">
              <a:buNone/>
              <a:defRPr lang="en-US" sz="3000" b="1" dirty="0">
                <a:solidFill>
                  <a:srgbClr val="1F1A33"/>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3.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3.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8138160" y="-1463040"/>
            <a:ext cx="5669280" cy="566928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9692640" y="3108960"/>
            <a:ext cx="4023360" cy="4023360"/>
          </a:xfrm>
          <a:prstGeom prst="ellipse">
            <a:avLst/>
          </a:prstGeom>
          <a:solidFill>
            <a:srgbClr val="E0457B">
              <a:alpha val="30000"/>
            </a:srgbClr>
          </a:solidFill>
          <a:ln w="12700">
            <a:solidFill>
              <a:srgbClr val="E0457B"/>
            </a:solidFill>
            <a:prstDash val="solid"/>
          </a:ln>
        </p:spPr>
      </p:sp>
      <p:pic>
        <p:nvPicPr>
          <p:cNvPr id="4" name="University logo" descr="/home/user/mihk/results/seminar/assets/logo.png">    </p:cNvPr>
          <p:cNvPicPr>
            <a:picLocks noChangeAspect="1"/>
          </p:cNvPicPr>
          <p:nvPr/>
        </p:nvPicPr>
        <p:blipFill>
          <a:blip r:embed="rId1"/>
          <a:stretch>
            <a:fillRect/>
          </a:stretch>
        </p:blipFill>
        <p:spPr>
          <a:xfrm>
            <a:off x="640080" y="502920"/>
            <a:ext cx="960120" cy="1005840"/>
          </a:xfrm>
          <a:prstGeom prst="rect">
            <a:avLst/>
          </a:prstGeom>
        </p:spPr>
      </p:pic>
      <p:sp>
        <p:nvSpPr>
          <p:cNvPr id="5" name="Text 2"/>
          <p:cNvSpPr txBox="1"/>
          <p:nvPr/>
        </p:nvSpPr>
        <p:spPr>
          <a:xfrm>
            <a:off x="1828800" y="731520"/>
            <a:ext cx="5486400" cy="365760"/>
          </a:xfrm>
          <a:prstGeom prst="rect">
            <a:avLst/>
          </a:prstGeom>
          <a:noFill/>
          <a:ln/>
        </p:spPr>
        <p:txBody>
          <a:bodyPr wrap="square" lIns="0" tIns="0" rIns="0" bIns="0" rtlCol="0" anchor="t"/>
          <a:lstStyle/>
          <a:p>
            <a:pPr indent="0" marL="0">
              <a:buNone/>
            </a:pPr>
            <a:r>
              <a:rPr lang="en-US" sz="1400" b="1" spc="400" kern="0" dirty="0">
                <a:solidFill>
                  <a:srgbClr val="F2B134"/>
                </a:solidFill>
                <a:latin typeface="Calibri" pitchFamily="34" charset="0"/>
                <a:ea typeface="Calibri" pitchFamily="34" charset="-122"/>
                <a:cs typeface="Calibri" pitchFamily="34" charset="-120"/>
              </a:rPr>
              <a:t>MSc SEMINAR</a:t>
            </a:r>
            <a:endParaRPr lang="en-US" sz="1400" dirty="0"/>
          </a:p>
        </p:txBody>
      </p:sp>
      <p:sp>
        <p:nvSpPr>
          <p:cNvPr id="6" name="Text 3"/>
          <p:cNvSpPr txBox="1"/>
          <p:nvPr/>
        </p:nvSpPr>
        <p:spPr>
          <a:xfrm>
            <a:off x="1828800" y="1051560"/>
            <a:ext cx="5486400" cy="365760"/>
          </a:xfrm>
          <a:prstGeom prst="rect">
            <a:avLst/>
          </a:prstGeom>
          <a:noFill/>
          <a:ln/>
        </p:spPr>
        <p:txBody>
          <a:bodyPr wrap="square" lIns="0" tIns="0" rIns="0" bIns="0" rtlCol="0" anchor="t"/>
          <a:lstStyle/>
          <a:p>
            <a:pPr indent="0" marL="0">
              <a:buNone/>
            </a:pPr>
            <a:r>
              <a:rPr lang="en-US" sz="1600" dirty="0">
                <a:solidFill>
                  <a:srgbClr val="D9D2EE"/>
                </a:solidFill>
                <a:latin typeface="Calibri" pitchFamily="34" charset="0"/>
                <a:ea typeface="Calibri" pitchFamily="34" charset="-122"/>
                <a:cs typeface="Calibri" pitchFamily="34" charset="-120"/>
              </a:rPr>
              <a:t>University of Babylon</a:t>
            </a:r>
            <a:endParaRPr lang="en-US" sz="1600" dirty="0"/>
          </a:p>
        </p:txBody>
      </p:sp>
      <p:sp>
        <p:nvSpPr>
          <p:cNvPr id="7" name="Text 4"/>
          <p:cNvSpPr txBox="1"/>
          <p:nvPr/>
        </p:nvSpPr>
        <p:spPr>
          <a:xfrm>
            <a:off x="640080" y="2011680"/>
            <a:ext cx="8778240" cy="17830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Parallel image compression using high-performance computing strategies</a:t>
            </a:r>
            <a:endParaRPr lang="en-US" sz="3800" dirty="0"/>
          </a:p>
        </p:txBody>
      </p:sp>
      <p:sp>
        <p:nvSpPr>
          <p:cNvPr id="8" name="Text 5"/>
          <p:cNvSpPr txBox="1"/>
          <p:nvPr/>
        </p:nvSpPr>
        <p:spPr>
          <a:xfrm>
            <a:off x="640080" y="4023360"/>
            <a:ext cx="8778240" cy="731520"/>
          </a:xfrm>
          <a:prstGeom prst="rect">
            <a:avLst/>
          </a:prstGeom>
          <a:noFill/>
          <a:ln/>
        </p:spPr>
        <p:txBody>
          <a:bodyPr wrap="square" lIns="0" tIns="0" rIns="0" bIns="0" rtlCol="0" anchor="t"/>
          <a:lstStyle/>
          <a:p>
            <a:pPr indent="0" marL="0">
              <a:buNone/>
            </a:pPr>
            <a:r>
              <a:rPr lang="en-US" sz="1800" dirty="0">
                <a:solidFill>
                  <a:srgbClr val="D9D2EE"/>
                </a:solidFill>
                <a:latin typeface="Calibri" pitchFamily="34" charset="0"/>
                <a:ea typeface="Calibri" pitchFamily="34" charset="-122"/>
                <a:cs typeface="Calibri" pitchFamily="34" charset="-120"/>
              </a:rPr>
              <a:t>LBG vector quantization · delta coding · Huffman · speed-aware MPI on a hybrid P/E-core CPU</a:t>
            </a:r>
            <a:endParaRPr lang="en-US" sz="1800" dirty="0"/>
          </a:p>
        </p:txBody>
      </p:sp>
      <p:sp>
        <p:nvSpPr>
          <p:cNvPr id="9" name="Text 6"/>
          <p:cNvSpPr txBox="1"/>
          <p:nvPr/>
        </p:nvSpPr>
        <p:spPr>
          <a:xfrm>
            <a:off x="640080" y="5074920"/>
            <a:ext cx="8229600" cy="822960"/>
          </a:xfrm>
          <a:prstGeom prst="rect">
            <a:avLst/>
          </a:prstGeom>
          <a:noFill/>
          <a:ln/>
        </p:spPr>
        <p:txBody>
          <a:bodyPr wrap="square" lIns="0" tIns="0" rIns="0" bIns="0" rtlCol="0" anchor="t"/>
          <a:lstStyle/>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Presented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MSc. Student Ibtihal Hussien</a:t>
            </a:r>
            <a:endParaRPr lang="en-US" sz="1600" dirty="0"/>
          </a:p>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Supervised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Dr. Ahmed Badri  ·  Dr. Esraa Hadi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AGENDA</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Outline</a:t>
            </a:r>
            <a:endParaRPr lang="en-US" sz="3000" dirty="0"/>
          </a:p>
        </p:txBody>
      </p:sp>
      <p:sp>
        <p:nvSpPr>
          <p:cNvPr id="5" name="Agenda card"/>
          <p:cNvSpPr/>
          <p:nvPr/>
        </p:nvSpPr>
        <p:spPr>
          <a:xfrm>
            <a:off x="548640" y="1463040"/>
            <a:ext cx="5394960" cy="804672"/>
          </a:xfrm>
          <a:prstGeom prst="roundRect">
            <a:avLst>
              <a:gd name="adj" fmla="val 13636"/>
            </a:avLst>
          </a:prstGeom>
          <a:solidFill>
            <a:srgbClr val="F5F1FB"/>
          </a:solidFill>
          <a:ln w="12700">
            <a:solidFill>
              <a:srgbClr val="F5F1FB"/>
            </a:solidFill>
            <a:prstDash val="solid"/>
          </a:ln>
        </p:spPr>
      </p:sp>
      <p:sp>
        <p:nvSpPr>
          <p:cNvPr id="6" name="Number circle"/>
          <p:cNvSpPr/>
          <p:nvPr/>
        </p:nvSpPr>
        <p:spPr>
          <a:xfrm>
            <a:off x="731520" y="1591056"/>
            <a:ext cx="548640" cy="548640"/>
          </a:xfrm>
          <a:prstGeom prst="ellipse">
            <a:avLst/>
          </a:prstGeom>
          <a:solidFill>
            <a:srgbClr val="6B4FA3"/>
          </a:solidFill>
          <a:ln w="12700">
            <a:solidFill>
              <a:srgbClr val="FFFFFF"/>
            </a:solidFill>
            <a:prstDash val="solid"/>
          </a:ln>
        </p:spPr>
      </p:sp>
      <p:sp>
        <p:nvSpPr>
          <p:cNvPr id="7" name="Text 4"/>
          <p:cNvSpPr txBox="1"/>
          <p:nvPr/>
        </p:nvSpPr>
        <p:spPr>
          <a:xfrm>
            <a:off x="731520" y="15910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1508760" y="1499616"/>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Introduction</a:t>
            </a:r>
            <a:endParaRPr lang="en-US" sz="1900" dirty="0"/>
          </a:p>
        </p:txBody>
      </p:sp>
      <p:sp>
        <p:nvSpPr>
          <p:cNvPr id="9" name="Agenda card"/>
          <p:cNvSpPr/>
          <p:nvPr/>
        </p:nvSpPr>
        <p:spPr>
          <a:xfrm>
            <a:off x="548640" y="2395728"/>
            <a:ext cx="5394960" cy="804672"/>
          </a:xfrm>
          <a:prstGeom prst="roundRect">
            <a:avLst>
              <a:gd name="adj" fmla="val 13636"/>
            </a:avLst>
          </a:prstGeom>
          <a:solidFill>
            <a:srgbClr val="F5F1FB"/>
          </a:solidFill>
          <a:ln w="12700">
            <a:solidFill>
              <a:srgbClr val="F5F1FB"/>
            </a:solidFill>
            <a:prstDash val="solid"/>
          </a:ln>
        </p:spPr>
      </p:sp>
      <p:sp>
        <p:nvSpPr>
          <p:cNvPr id="10" name="Number circle"/>
          <p:cNvSpPr/>
          <p:nvPr/>
        </p:nvSpPr>
        <p:spPr>
          <a:xfrm>
            <a:off x="731520" y="2523744"/>
            <a:ext cx="548640" cy="548640"/>
          </a:xfrm>
          <a:prstGeom prst="ellipse">
            <a:avLst/>
          </a:prstGeom>
          <a:solidFill>
            <a:srgbClr val="E0457B"/>
          </a:solidFill>
          <a:ln w="12700">
            <a:solidFill>
              <a:srgbClr val="FFFFFF"/>
            </a:solidFill>
            <a:prstDash val="solid"/>
          </a:ln>
        </p:spPr>
      </p:sp>
      <p:sp>
        <p:nvSpPr>
          <p:cNvPr id="11" name="Text 8"/>
          <p:cNvSpPr txBox="1"/>
          <p:nvPr/>
        </p:nvSpPr>
        <p:spPr>
          <a:xfrm>
            <a:off x="731520" y="25237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9"/>
          <p:cNvSpPr txBox="1"/>
          <p:nvPr/>
        </p:nvSpPr>
        <p:spPr>
          <a:xfrm>
            <a:off x="1508760" y="2432304"/>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Related work</a:t>
            </a:r>
            <a:endParaRPr lang="en-US" sz="1900" dirty="0"/>
          </a:p>
        </p:txBody>
      </p:sp>
      <p:sp>
        <p:nvSpPr>
          <p:cNvPr id="13" name="Agenda card"/>
          <p:cNvSpPr/>
          <p:nvPr/>
        </p:nvSpPr>
        <p:spPr>
          <a:xfrm>
            <a:off x="548640" y="3328416"/>
            <a:ext cx="5394960" cy="804672"/>
          </a:xfrm>
          <a:prstGeom prst="roundRect">
            <a:avLst>
              <a:gd name="adj" fmla="val 13636"/>
            </a:avLst>
          </a:prstGeom>
          <a:solidFill>
            <a:srgbClr val="F5F1FB"/>
          </a:solidFill>
          <a:ln w="12700">
            <a:solidFill>
              <a:srgbClr val="F5F1FB"/>
            </a:solidFill>
            <a:prstDash val="solid"/>
          </a:ln>
        </p:spPr>
      </p:sp>
      <p:sp>
        <p:nvSpPr>
          <p:cNvPr id="14" name="Number circle"/>
          <p:cNvSpPr/>
          <p:nvPr/>
        </p:nvSpPr>
        <p:spPr>
          <a:xfrm>
            <a:off x="731520" y="3456432"/>
            <a:ext cx="548640" cy="548640"/>
          </a:xfrm>
          <a:prstGeom prst="ellipse">
            <a:avLst/>
          </a:prstGeom>
          <a:solidFill>
            <a:srgbClr val="6B4FA3"/>
          </a:solidFill>
          <a:ln w="12700">
            <a:solidFill>
              <a:srgbClr val="FFFFFF"/>
            </a:solidFill>
            <a:prstDash val="solid"/>
          </a:ln>
        </p:spPr>
      </p:sp>
      <p:sp>
        <p:nvSpPr>
          <p:cNvPr id="15" name="Text 12"/>
          <p:cNvSpPr txBox="1"/>
          <p:nvPr/>
        </p:nvSpPr>
        <p:spPr>
          <a:xfrm>
            <a:off x="731520" y="34564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3"/>
          <p:cNvSpPr txBox="1"/>
          <p:nvPr/>
        </p:nvSpPr>
        <p:spPr>
          <a:xfrm>
            <a:off x="1508760" y="3364992"/>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Research problems</a:t>
            </a:r>
            <a:endParaRPr lang="en-US" sz="1900" dirty="0"/>
          </a:p>
        </p:txBody>
      </p:sp>
      <p:sp>
        <p:nvSpPr>
          <p:cNvPr id="17" name="Agenda card"/>
          <p:cNvSpPr/>
          <p:nvPr/>
        </p:nvSpPr>
        <p:spPr>
          <a:xfrm>
            <a:off x="548640" y="4261104"/>
            <a:ext cx="5394960" cy="804672"/>
          </a:xfrm>
          <a:prstGeom prst="roundRect">
            <a:avLst>
              <a:gd name="adj" fmla="val 13636"/>
            </a:avLst>
          </a:prstGeom>
          <a:solidFill>
            <a:srgbClr val="F5F1FB"/>
          </a:solidFill>
          <a:ln w="12700">
            <a:solidFill>
              <a:srgbClr val="F5F1FB"/>
            </a:solidFill>
            <a:prstDash val="solid"/>
          </a:ln>
        </p:spPr>
      </p:sp>
      <p:sp>
        <p:nvSpPr>
          <p:cNvPr id="18" name="Number circle"/>
          <p:cNvSpPr/>
          <p:nvPr/>
        </p:nvSpPr>
        <p:spPr>
          <a:xfrm>
            <a:off x="731520" y="4389120"/>
            <a:ext cx="548640" cy="548640"/>
          </a:xfrm>
          <a:prstGeom prst="ellipse">
            <a:avLst/>
          </a:prstGeom>
          <a:solidFill>
            <a:srgbClr val="E0457B"/>
          </a:solidFill>
          <a:ln w="12700">
            <a:solidFill>
              <a:srgbClr val="FFFFFF"/>
            </a:solidFill>
            <a:prstDash val="solid"/>
          </a:ln>
        </p:spPr>
      </p:sp>
      <p:sp>
        <p:nvSpPr>
          <p:cNvPr id="19" name="Text 16"/>
          <p:cNvSpPr txBox="1"/>
          <p:nvPr/>
        </p:nvSpPr>
        <p:spPr>
          <a:xfrm>
            <a:off x="731520" y="4389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0" name="Text 17"/>
          <p:cNvSpPr txBox="1"/>
          <p:nvPr/>
        </p:nvSpPr>
        <p:spPr>
          <a:xfrm>
            <a:off x="1508760" y="4297680"/>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Research objective</a:t>
            </a:r>
            <a:endParaRPr lang="en-US" sz="1900" dirty="0"/>
          </a:p>
        </p:txBody>
      </p:sp>
      <p:sp>
        <p:nvSpPr>
          <p:cNvPr id="21" name="Agenda card"/>
          <p:cNvSpPr/>
          <p:nvPr/>
        </p:nvSpPr>
        <p:spPr>
          <a:xfrm>
            <a:off x="548640" y="5193792"/>
            <a:ext cx="5394960" cy="804672"/>
          </a:xfrm>
          <a:prstGeom prst="roundRect">
            <a:avLst>
              <a:gd name="adj" fmla="val 13636"/>
            </a:avLst>
          </a:prstGeom>
          <a:solidFill>
            <a:srgbClr val="F5F1FB"/>
          </a:solidFill>
          <a:ln w="12700">
            <a:solidFill>
              <a:srgbClr val="F5F1FB"/>
            </a:solidFill>
            <a:prstDash val="solid"/>
          </a:ln>
        </p:spPr>
      </p:sp>
      <p:sp>
        <p:nvSpPr>
          <p:cNvPr id="22" name="Number circle"/>
          <p:cNvSpPr/>
          <p:nvPr/>
        </p:nvSpPr>
        <p:spPr>
          <a:xfrm>
            <a:off x="731520" y="5321808"/>
            <a:ext cx="548640" cy="548640"/>
          </a:xfrm>
          <a:prstGeom prst="ellipse">
            <a:avLst/>
          </a:prstGeom>
          <a:solidFill>
            <a:srgbClr val="6B4FA3"/>
          </a:solidFill>
          <a:ln w="12700">
            <a:solidFill>
              <a:srgbClr val="FFFFFF"/>
            </a:solidFill>
            <a:prstDash val="solid"/>
          </a:ln>
        </p:spPr>
      </p:sp>
      <p:sp>
        <p:nvSpPr>
          <p:cNvPr id="23" name="Text 20"/>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4" name="Text 21"/>
          <p:cNvSpPr txBox="1"/>
          <p:nvPr/>
        </p:nvSpPr>
        <p:spPr>
          <a:xfrm>
            <a:off x="1508760" y="5230368"/>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Proposed method</a:t>
            </a:r>
            <a:endParaRPr lang="en-US" sz="1900" dirty="0"/>
          </a:p>
        </p:txBody>
      </p:sp>
      <p:sp>
        <p:nvSpPr>
          <p:cNvPr id="25" name="Agenda card"/>
          <p:cNvSpPr/>
          <p:nvPr/>
        </p:nvSpPr>
        <p:spPr>
          <a:xfrm>
            <a:off x="6217920" y="1463040"/>
            <a:ext cx="5394960" cy="804672"/>
          </a:xfrm>
          <a:prstGeom prst="roundRect">
            <a:avLst>
              <a:gd name="adj" fmla="val 13636"/>
            </a:avLst>
          </a:prstGeom>
          <a:solidFill>
            <a:srgbClr val="F5F1FB"/>
          </a:solidFill>
          <a:ln w="12700">
            <a:solidFill>
              <a:srgbClr val="F5F1FB"/>
            </a:solidFill>
            <a:prstDash val="solid"/>
          </a:ln>
        </p:spPr>
      </p:sp>
      <p:sp>
        <p:nvSpPr>
          <p:cNvPr id="26" name="Number circle"/>
          <p:cNvSpPr/>
          <p:nvPr/>
        </p:nvSpPr>
        <p:spPr>
          <a:xfrm>
            <a:off x="6400800" y="1591056"/>
            <a:ext cx="548640" cy="548640"/>
          </a:xfrm>
          <a:prstGeom prst="ellipse">
            <a:avLst/>
          </a:prstGeom>
          <a:solidFill>
            <a:srgbClr val="E0457B"/>
          </a:solidFill>
          <a:ln w="12700">
            <a:solidFill>
              <a:srgbClr val="FFFFFF"/>
            </a:solidFill>
            <a:prstDash val="solid"/>
          </a:ln>
        </p:spPr>
      </p:sp>
      <p:sp>
        <p:nvSpPr>
          <p:cNvPr id="27" name="Text 24"/>
          <p:cNvSpPr txBox="1"/>
          <p:nvPr/>
        </p:nvSpPr>
        <p:spPr>
          <a:xfrm>
            <a:off x="6400800" y="15910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8" name="Text 25"/>
          <p:cNvSpPr txBox="1"/>
          <p:nvPr/>
        </p:nvSpPr>
        <p:spPr>
          <a:xfrm>
            <a:off x="7178040" y="1499616"/>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Proposed parallel computing strategies</a:t>
            </a:r>
            <a:endParaRPr lang="en-US" sz="1900" dirty="0"/>
          </a:p>
        </p:txBody>
      </p:sp>
      <p:sp>
        <p:nvSpPr>
          <p:cNvPr id="29" name="Agenda card"/>
          <p:cNvSpPr/>
          <p:nvPr/>
        </p:nvSpPr>
        <p:spPr>
          <a:xfrm>
            <a:off x="6217920" y="2395728"/>
            <a:ext cx="5394960" cy="804672"/>
          </a:xfrm>
          <a:prstGeom prst="roundRect">
            <a:avLst>
              <a:gd name="adj" fmla="val 13636"/>
            </a:avLst>
          </a:prstGeom>
          <a:solidFill>
            <a:srgbClr val="F5F1FB"/>
          </a:solidFill>
          <a:ln w="12700">
            <a:solidFill>
              <a:srgbClr val="F5F1FB"/>
            </a:solidFill>
            <a:prstDash val="solid"/>
          </a:ln>
        </p:spPr>
      </p:sp>
      <p:sp>
        <p:nvSpPr>
          <p:cNvPr id="30" name="Number circle"/>
          <p:cNvSpPr/>
          <p:nvPr/>
        </p:nvSpPr>
        <p:spPr>
          <a:xfrm>
            <a:off x="6400800" y="2523744"/>
            <a:ext cx="548640" cy="548640"/>
          </a:xfrm>
          <a:prstGeom prst="ellipse">
            <a:avLst/>
          </a:prstGeom>
          <a:solidFill>
            <a:srgbClr val="6B4FA3"/>
          </a:solidFill>
          <a:ln w="12700">
            <a:solidFill>
              <a:srgbClr val="FFFFFF"/>
            </a:solidFill>
            <a:prstDash val="solid"/>
          </a:ln>
        </p:spPr>
      </p:sp>
      <p:sp>
        <p:nvSpPr>
          <p:cNvPr id="31" name="Text 28"/>
          <p:cNvSpPr txBox="1"/>
          <p:nvPr/>
        </p:nvSpPr>
        <p:spPr>
          <a:xfrm>
            <a:off x="6400800" y="25237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2" name="Text 29"/>
          <p:cNvSpPr txBox="1"/>
          <p:nvPr/>
        </p:nvSpPr>
        <p:spPr>
          <a:xfrm>
            <a:off x="7178040" y="2432304"/>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Results and discussion</a:t>
            </a:r>
            <a:endParaRPr lang="en-US" sz="1900" dirty="0"/>
          </a:p>
        </p:txBody>
      </p:sp>
      <p:sp>
        <p:nvSpPr>
          <p:cNvPr id="33" name="Agenda card"/>
          <p:cNvSpPr/>
          <p:nvPr/>
        </p:nvSpPr>
        <p:spPr>
          <a:xfrm>
            <a:off x="6217920" y="3328416"/>
            <a:ext cx="5394960" cy="804672"/>
          </a:xfrm>
          <a:prstGeom prst="roundRect">
            <a:avLst>
              <a:gd name="adj" fmla="val 13636"/>
            </a:avLst>
          </a:prstGeom>
          <a:solidFill>
            <a:srgbClr val="F5F1FB"/>
          </a:solidFill>
          <a:ln w="12700">
            <a:solidFill>
              <a:srgbClr val="F5F1FB"/>
            </a:solidFill>
            <a:prstDash val="solid"/>
          </a:ln>
        </p:spPr>
      </p:sp>
      <p:sp>
        <p:nvSpPr>
          <p:cNvPr id="34" name="Number circle"/>
          <p:cNvSpPr/>
          <p:nvPr/>
        </p:nvSpPr>
        <p:spPr>
          <a:xfrm>
            <a:off x="6400800" y="3456432"/>
            <a:ext cx="548640" cy="548640"/>
          </a:xfrm>
          <a:prstGeom prst="ellipse">
            <a:avLst/>
          </a:prstGeom>
          <a:solidFill>
            <a:srgbClr val="E0457B"/>
          </a:solidFill>
          <a:ln w="12700">
            <a:solidFill>
              <a:srgbClr val="FFFFFF"/>
            </a:solidFill>
            <a:prstDash val="solid"/>
          </a:ln>
        </p:spPr>
      </p:sp>
      <p:sp>
        <p:nvSpPr>
          <p:cNvPr id="35" name="Text 32"/>
          <p:cNvSpPr txBox="1"/>
          <p:nvPr/>
        </p:nvSpPr>
        <p:spPr>
          <a:xfrm>
            <a:off x="6400800" y="34564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36" name="Text 33"/>
          <p:cNvSpPr txBox="1"/>
          <p:nvPr/>
        </p:nvSpPr>
        <p:spPr>
          <a:xfrm>
            <a:off x="7178040" y="3364992"/>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Conclusion</a:t>
            </a:r>
            <a:endParaRPr lang="en-US" sz="1900" dirty="0"/>
          </a:p>
        </p:txBody>
      </p:sp>
      <p:sp>
        <p:nvSpPr>
          <p:cNvPr id="37" name="Agenda card"/>
          <p:cNvSpPr/>
          <p:nvPr/>
        </p:nvSpPr>
        <p:spPr>
          <a:xfrm>
            <a:off x="6217920" y="4261104"/>
            <a:ext cx="5394960" cy="804672"/>
          </a:xfrm>
          <a:prstGeom prst="roundRect">
            <a:avLst>
              <a:gd name="adj" fmla="val 13636"/>
            </a:avLst>
          </a:prstGeom>
          <a:solidFill>
            <a:srgbClr val="F5F1FB"/>
          </a:solidFill>
          <a:ln w="12700">
            <a:solidFill>
              <a:srgbClr val="F5F1FB"/>
            </a:solidFill>
            <a:prstDash val="solid"/>
          </a:ln>
        </p:spPr>
      </p:sp>
      <p:sp>
        <p:nvSpPr>
          <p:cNvPr id="38" name="Number circle"/>
          <p:cNvSpPr/>
          <p:nvPr/>
        </p:nvSpPr>
        <p:spPr>
          <a:xfrm>
            <a:off x="6400800" y="4389120"/>
            <a:ext cx="548640" cy="548640"/>
          </a:xfrm>
          <a:prstGeom prst="ellipse">
            <a:avLst/>
          </a:prstGeom>
          <a:solidFill>
            <a:srgbClr val="6B4FA3"/>
          </a:solidFill>
          <a:ln w="12700">
            <a:solidFill>
              <a:srgbClr val="FFFFFF"/>
            </a:solidFill>
            <a:prstDash val="solid"/>
          </a:ln>
        </p:spPr>
      </p:sp>
      <p:sp>
        <p:nvSpPr>
          <p:cNvPr id="39" name="Text 36"/>
          <p:cNvSpPr txBox="1"/>
          <p:nvPr/>
        </p:nvSpPr>
        <p:spPr>
          <a:xfrm>
            <a:off x="6400800" y="4389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40" name="Text 37"/>
          <p:cNvSpPr txBox="1"/>
          <p:nvPr/>
        </p:nvSpPr>
        <p:spPr>
          <a:xfrm>
            <a:off x="7178040" y="4297680"/>
            <a:ext cx="4297680" cy="731520"/>
          </a:xfrm>
          <a:prstGeom prst="rect">
            <a:avLst/>
          </a:prstGeom>
          <a:noFill/>
          <a:ln/>
        </p:spPr>
        <p:txBody>
          <a:bodyPr wrap="square" lIns="0" tIns="0" rIns="0" bIns="0" rtlCol="0" anchor="ctr"/>
          <a:lstStyle/>
          <a:p>
            <a:pPr indent="0" marL="0">
              <a:buNone/>
            </a:pPr>
            <a:r>
              <a:rPr lang="en-US" sz="1900" b="1" dirty="0">
                <a:solidFill>
                  <a:srgbClr val="1F1A33"/>
                </a:solidFill>
                <a:latin typeface="Calibri" pitchFamily="34" charset="0"/>
                <a:ea typeface="Calibri" pitchFamily="34" charset="-122"/>
                <a:cs typeface="Calibri" pitchFamily="34" charset="-120"/>
              </a:rPr>
              <a:t>References</a:t>
            </a:r>
            <a:endParaRPr lang="en-US" sz="19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compress images, and how?</a:t>
            </a:r>
            <a:endParaRPr lang="en-US" sz="3000" dirty="0"/>
          </a:p>
        </p:txBody>
      </p:sp>
      <p:sp>
        <p:nvSpPr>
          <p:cNvPr id="5" name="Benefit card"/>
          <p:cNvSpPr/>
          <p:nvPr/>
        </p:nvSpPr>
        <p:spPr>
          <a:xfrm>
            <a:off x="548640" y="1554480"/>
            <a:ext cx="3520440" cy="2103120"/>
          </a:xfrm>
          <a:prstGeom prst="roundRect">
            <a:avLst>
              <a:gd name="adj" fmla="val 5217"/>
            </a:avLst>
          </a:prstGeom>
          <a:solidFill>
            <a:srgbClr val="F5F1FB"/>
          </a:solidFill>
          <a:ln w="12700">
            <a:solidFill>
              <a:srgbClr val="F5F1FB"/>
            </a:solidFill>
            <a:prstDash val="solid"/>
          </a:ln>
        </p:spPr>
      </p:sp>
      <p:sp>
        <p:nvSpPr>
          <p:cNvPr id="6" name="Icon circle"/>
          <p:cNvSpPr/>
          <p:nvPr/>
        </p:nvSpPr>
        <p:spPr>
          <a:xfrm>
            <a:off x="822960" y="178308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8" name="Text 4"/>
          <p:cNvSpPr txBox="1"/>
          <p:nvPr/>
        </p:nvSpPr>
        <p:spPr>
          <a:xfrm>
            <a:off x="82296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Storage</a:t>
            </a:r>
            <a:endParaRPr lang="en-US" sz="2000" dirty="0"/>
          </a:p>
        </p:txBody>
      </p:sp>
      <p:sp>
        <p:nvSpPr>
          <p:cNvPr id="9" name="Text 5"/>
          <p:cNvSpPr txBox="1"/>
          <p:nvPr/>
        </p:nvSpPr>
        <p:spPr>
          <a:xfrm>
            <a:off x="82296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Large image collections need less space.</a:t>
            </a:r>
            <a:endParaRPr lang="en-US" sz="1400" dirty="0"/>
          </a:p>
        </p:txBody>
      </p:sp>
      <p:sp>
        <p:nvSpPr>
          <p:cNvPr id="10" name="Benefit card"/>
          <p:cNvSpPr/>
          <p:nvPr/>
        </p:nvSpPr>
        <p:spPr>
          <a:xfrm>
            <a:off x="4343400" y="1554480"/>
            <a:ext cx="3520440" cy="2103120"/>
          </a:xfrm>
          <a:prstGeom prst="roundRect">
            <a:avLst>
              <a:gd name="adj" fmla="val 5217"/>
            </a:avLst>
          </a:prstGeom>
          <a:solidFill>
            <a:srgbClr val="F5F1FB"/>
          </a:solidFill>
          <a:ln w="12700">
            <a:solidFill>
              <a:srgbClr val="F5F1FB"/>
            </a:solidFill>
            <a:prstDash val="solid"/>
          </a:ln>
        </p:spPr>
      </p:sp>
      <p:sp>
        <p:nvSpPr>
          <p:cNvPr id="11" name="Icon circle"/>
          <p:cNvSpPr/>
          <p:nvPr/>
        </p:nvSpPr>
        <p:spPr>
          <a:xfrm>
            <a:off x="4617720" y="178308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4800600" y="1965960"/>
            <a:ext cx="365760" cy="365760"/>
          </a:xfrm>
          <a:prstGeom prst="rect">
            <a:avLst/>
          </a:prstGeom>
        </p:spPr>
      </p:pic>
      <p:sp>
        <p:nvSpPr>
          <p:cNvPr id="13" name="Text 8"/>
          <p:cNvSpPr txBox="1"/>
          <p:nvPr/>
        </p:nvSpPr>
        <p:spPr>
          <a:xfrm>
            <a:off x="461772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Transmission</a:t>
            </a:r>
            <a:endParaRPr lang="en-US" sz="2000" dirty="0"/>
          </a:p>
        </p:txBody>
      </p:sp>
      <p:sp>
        <p:nvSpPr>
          <p:cNvPr id="14" name="Text 9"/>
          <p:cNvSpPr txBox="1"/>
          <p:nvPr/>
        </p:nvSpPr>
        <p:spPr>
          <a:xfrm>
            <a:off x="461772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Smaller files reach the receiver sooner.</a:t>
            </a:r>
            <a:endParaRPr lang="en-US" sz="1400" dirty="0"/>
          </a:p>
        </p:txBody>
      </p:sp>
      <p:sp>
        <p:nvSpPr>
          <p:cNvPr id="15" name="Benefit card"/>
          <p:cNvSpPr/>
          <p:nvPr/>
        </p:nvSpPr>
        <p:spPr>
          <a:xfrm>
            <a:off x="8138160" y="1554480"/>
            <a:ext cx="3520440" cy="2103120"/>
          </a:xfrm>
          <a:prstGeom prst="roundRect">
            <a:avLst>
              <a:gd name="adj" fmla="val 5217"/>
            </a:avLst>
          </a:prstGeom>
          <a:solidFill>
            <a:srgbClr val="F5F1FB"/>
          </a:solidFill>
          <a:ln w="12700">
            <a:solidFill>
              <a:srgbClr val="F5F1FB"/>
            </a:solidFill>
            <a:prstDash val="solid"/>
          </a:ln>
        </p:spPr>
      </p:sp>
      <p:sp>
        <p:nvSpPr>
          <p:cNvPr id="16" name="Icon circle"/>
          <p:cNvSpPr/>
          <p:nvPr/>
        </p:nvSpPr>
        <p:spPr>
          <a:xfrm>
            <a:off x="8412480" y="178308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8595360" y="1965960"/>
            <a:ext cx="365760" cy="365760"/>
          </a:xfrm>
          <a:prstGeom prst="rect">
            <a:avLst/>
          </a:prstGeom>
        </p:spPr>
      </p:pic>
      <p:sp>
        <p:nvSpPr>
          <p:cNvPr id="18" name="Text 12"/>
          <p:cNvSpPr txBox="1"/>
          <p:nvPr/>
        </p:nvSpPr>
        <p:spPr>
          <a:xfrm>
            <a:off x="841248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Computation</a:t>
            </a:r>
            <a:endParaRPr lang="en-US" sz="2000" dirty="0"/>
          </a:p>
        </p:txBody>
      </p:sp>
      <p:sp>
        <p:nvSpPr>
          <p:cNvPr id="19" name="Text 13"/>
          <p:cNvSpPr txBox="1"/>
          <p:nvPr/>
        </p:nvSpPr>
        <p:spPr>
          <a:xfrm>
            <a:off x="841248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Compression itself must be fast enough to use.</a:t>
            </a:r>
            <a:endParaRPr lang="en-US" sz="1400" dirty="0"/>
          </a:p>
        </p:txBody>
      </p:sp>
      <p:sp>
        <p:nvSpPr>
          <p:cNvPr id="20" name="Lossless card"/>
          <p:cNvSpPr/>
          <p:nvPr/>
        </p:nvSpPr>
        <p:spPr>
          <a:xfrm>
            <a:off x="548640" y="3886200"/>
            <a:ext cx="5486400" cy="2286000"/>
          </a:xfrm>
          <a:prstGeom prst="roundRect">
            <a:avLst>
              <a:gd name="adj" fmla="val 4800"/>
            </a:avLst>
          </a:prstGeom>
          <a:solidFill>
            <a:srgbClr val="FFFFFF"/>
          </a:solidFill>
          <a:ln w="12700">
            <a:solidFill>
              <a:srgbClr val="FFFFFF"/>
            </a:solidFill>
            <a:prstDash val="solid"/>
          </a:ln>
        </p:spPr>
      </p:sp>
      <p:sp>
        <p:nvSpPr>
          <p:cNvPr id="21" name="Lossless frame"/>
          <p:cNvSpPr/>
          <p:nvPr/>
        </p:nvSpPr>
        <p:spPr>
          <a:xfrm>
            <a:off x="548640" y="3886200"/>
            <a:ext cx="5486400" cy="2286000"/>
          </a:xfrm>
          <a:prstGeom prst="roundRect">
            <a:avLst>
              <a:gd name="adj" fmla="val 4800"/>
            </a:avLst>
          </a:prstGeom>
          <a:solidFill>
            <a:srgbClr val="FFFFFF"/>
          </a:solidFill>
          <a:ln w="15875">
            <a:solidFill>
              <a:srgbClr val="DDD5EE"/>
            </a:solidFill>
            <a:prstDash val="solid"/>
          </a:ln>
        </p:spPr>
      </p:sp>
      <p:sp>
        <p:nvSpPr>
          <p:cNvPr id="22" name="Text 16"/>
          <p:cNvSpPr txBox="1"/>
          <p:nvPr/>
        </p:nvSpPr>
        <p:spPr>
          <a:xfrm>
            <a:off x="822960" y="4023360"/>
            <a:ext cx="4937760" cy="365760"/>
          </a:xfrm>
          <a:prstGeom prst="rect">
            <a:avLst/>
          </a:prstGeom>
          <a:noFill/>
          <a:ln/>
        </p:spPr>
        <p:txBody>
          <a:bodyPr wrap="square" lIns="0" tIns="0" rIns="0" bIns="0" rtlCol="0" anchor="t"/>
          <a:lstStyle/>
          <a:p>
            <a:pPr indent="0" marL="0">
              <a:buNone/>
            </a:pPr>
            <a:r>
              <a:rPr lang="en-US" sz="2000" b="1" dirty="0">
                <a:solidFill>
                  <a:srgbClr val="6B4FA3"/>
                </a:solidFill>
                <a:latin typeface="Calibri" pitchFamily="34" charset="0"/>
                <a:ea typeface="Calibri" pitchFamily="34" charset="-122"/>
                <a:cs typeface="Calibri" pitchFamily="34" charset="-120"/>
              </a:rPr>
              <a:t>Lossless</a:t>
            </a:r>
            <a:endParaRPr lang="en-US" sz="2000" dirty="0"/>
          </a:p>
        </p:txBody>
      </p:sp>
      <p:sp>
        <p:nvSpPr>
          <p:cNvPr id="23" name="Text 17"/>
          <p:cNvSpPr txBox="1"/>
          <p:nvPr/>
        </p:nvSpPr>
        <p:spPr>
          <a:xfrm>
            <a:off x="822960" y="4480560"/>
            <a:ext cx="4937760" cy="146304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Perfect reconstruction. Used for documents and archives: RLE, Huffman, LZW, BWT.</a:t>
            </a:r>
            <a:endParaRPr lang="en-US" sz="1800" dirty="0"/>
          </a:p>
        </p:txBody>
      </p:sp>
      <p:sp>
        <p:nvSpPr>
          <p:cNvPr id="24" name="Lossy frame"/>
          <p:cNvSpPr/>
          <p:nvPr/>
        </p:nvSpPr>
        <p:spPr>
          <a:xfrm>
            <a:off x="6217920" y="3886200"/>
            <a:ext cx="5422392" cy="2286000"/>
          </a:xfrm>
          <a:prstGeom prst="roundRect">
            <a:avLst>
              <a:gd name="adj" fmla="val 4800"/>
            </a:avLst>
          </a:prstGeom>
          <a:solidFill>
            <a:srgbClr val="FFFFFF"/>
          </a:solidFill>
          <a:ln w="22225">
            <a:solidFill>
              <a:srgbClr val="E0457B"/>
            </a:solidFill>
            <a:prstDash val="solid"/>
          </a:ln>
        </p:spPr>
      </p:sp>
      <p:sp>
        <p:nvSpPr>
          <p:cNvPr id="25" name="Text 19"/>
          <p:cNvSpPr txBox="1"/>
          <p:nvPr/>
        </p:nvSpPr>
        <p:spPr>
          <a:xfrm>
            <a:off x="6492240" y="4023360"/>
            <a:ext cx="484632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Lossy  (this work)</a:t>
            </a:r>
            <a:endParaRPr lang="en-US" sz="2000" dirty="0"/>
          </a:p>
        </p:txBody>
      </p:sp>
      <p:sp>
        <p:nvSpPr>
          <p:cNvPr id="26" name="Text 20"/>
          <p:cNvSpPr txBox="1"/>
          <p:nvPr/>
        </p:nvSpPr>
        <p:spPr>
          <a:xfrm>
            <a:off x="6492240" y="4480560"/>
            <a:ext cx="4846320" cy="155448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Some data is discarded for a much smaller file: VQ, DCT, DWT, DPCM. Here: vector quantization + delta + Huffman.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parallelize LBG codebook training?</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16,384</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training vectors per 512×512 image (4×4 blocks)</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64</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codewords, 16 dimensions each</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 150</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Lloyd iterations (132–186 per gray image)</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1.05 M</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distance evaluations per iteration at K = 64</a:t>
            </a:r>
            <a:endParaRPr lang="en-US" sz="1400" dirty="0"/>
          </a:p>
        </p:txBody>
      </p:sp>
      <p:sp>
        <p:nvSpPr>
          <p:cNvPr id="17" name="Message"/>
          <p:cNvSpPr/>
          <p:nvPr/>
        </p:nvSpPr>
        <p:spPr>
          <a:xfrm>
            <a:off x="548640" y="3200400"/>
            <a:ext cx="11091672" cy="2971800"/>
          </a:xfrm>
          <a:prstGeom prst="roundRect">
            <a:avLst>
              <a:gd name="adj" fmla="val 3692"/>
            </a:avLst>
          </a:prstGeom>
          <a:solidFill>
            <a:srgbClr val="FFFFFF"/>
          </a:solidFill>
          <a:ln w="12700">
            <a:solidFill>
              <a:srgbClr val="FFFFFF"/>
            </a:solidFill>
            <a:prstDash val="solid"/>
          </a:ln>
        </p:spPr>
      </p:sp>
      <p:sp>
        <p:nvSpPr>
          <p:cNvPr id="18" name="Message frame"/>
          <p:cNvSpPr/>
          <p:nvPr/>
        </p:nvSpPr>
        <p:spPr>
          <a:xfrm>
            <a:off x="548640" y="3200400"/>
            <a:ext cx="11091672" cy="2971800"/>
          </a:xfrm>
          <a:prstGeom prst="roundRect">
            <a:avLst>
              <a:gd name="adj" fmla="val 3692"/>
            </a:avLst>
          </a:prstGeom>
          <a:solidFill>
            <a:srgbClr val="FFFFFF"/>
          </a:solidFill>
          <a:ln w="15875">
            <a:solidFill>
              <a:srgbClr val="DDD5EE"/>
            </a:solidFill>
            <a:prstDash val="solid"/>
          </a:ln>
        </p:spPr>
      </p:sp>
      <p:sp>
        <p:nvSpPr>
          <p:cNvPr id="19" name="Text 16"/>
          <p:cNvSpPr txBox="1"/>
          <p:nvPr/>
        </p:nvSpPr>
        <p:spPr>
          <a:xfrm>
            <a:off x="868680" y="3429000"/>
            <a:ext cx="10424160" cy="2560320"/>
          </a:xfrm>
          <a:prstGeom prst="rect">
            <a:avLst/>
          </a:prstGeom>
          <a:noFill/>
          <a:ln/>
        </p:spPr>
        <p:txBody>
          <a:bodyPr wrap="square" lIns="0" tIns="0" rIns="0" bIns="0" rtlCol="0" anchor="t"/>
          <a:lstStyle/>
          <a:p>
            <a:pPr indent="0" marL="0">
              <a:spcAft>
                <a:spcPts val="600"/>
              </a:spcAft>
              <a:buNone/>
            </a:pPr>
            <a:r>
              <a:rPr lang="en-US" sz="2000" b="1" dirty="0">
                <a:solidFill>
                  <a:srgbClr val="6B4FA3"/>
                </a:solidFill>
                <a:latin typeface="Calibri" pitchFamily="34" charset="0"/>
                <a:ea typeface="Calibri" pitchFamily="34" charset="-122"/>
                <a:cs typeface="Calibri" pitchFamily="34" charset="-120"/>
              </a:rPr>
              <a:t>The assignment step is data-parallel</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Each training vector is assigned independently; only the per-cluster sums and counts must be combined (one MPI_Allreduce per iteration).</a:t>
            </a:r>
            <a:endParaRPr lang="en-US" sz="1800" dirty="0"/>
          </a:p>
          <a:p>
            <a:pPr indent="0" marL="0">
              <a:spcAft>
                <a:spcPts val="600"/>
              </a:spcAft>
              <a:buNone/>
            </a:pPr>
            <a:r>
              <a:rPr lang="en-US" sz="800" dirty="0">
                <a:solidFill>
                  <a:srgbClr val="1F1A33"/>
                </a:solidFill>
                <a:latin typeface="Calibri" pitchFamily="34" charset="0"/>
                <a:ea typeface="Calibri" pitchFamily="34" charset="-122"/>
                <a:cs typeface="Calibri" pitchFamily="34" charset="-120"/>
              </a:rPr>
              <a:t> </a:t>
            </a:r>
            <a:endParaRPr lang="en-US" sz="1800" dirty="0"/>
          </a:p>
          <a:p>
            <a:pPr indent="0" marL="0">
              <a:spcAft>
                <a:spcPts val="600"/>
              </a:spcAft>
              <a:buNone/>
            </a:pPr>
            <a:r>
              <a:rPr lang="en-US" sz="1800" b="1" dirty="0">
                <a:solidFill>
                  <a:srgbClr val="E0457B"/>
                </a:solidFill>
                <a:latin typeface="Calibri" pitchFamily="34" charset="0"/>
                <a:ea typeface="Calibri" pitchFamily="34" charset="-122"/>
                <a:cs typeface="Calibri" pitchFamily="34" charset="-120"/>
              </a:rPr>
              <a:t>Sequential LBG ≈ 77% (gray) and 81% (color) of the total time</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So accelerating LBG is the highest-value target, and the remaining stages (I/O, delta, Huffman, reconstruction) set the limit on total speedup.</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Evaluation metrics</a:t>
            </a:r>
            <a:endParaRPr lang="en-US" sz="3000" dirty="0"/>
          </a:p>
        </p:txBody>
      </p:sp>
      <p:sp>
        <p:nvSpPr>
          <p:cNvPr id="5" name="Metric row"/>
          <p:cNvSpPr/>
          <p:nvPr/>
        </p:nvSpPr>
        <p:spPr>
          <a:xfrm>
            <a:off x="548640" y="1508760"/>
            <a:ext cx="11091672" cy="566928"/>
          </a:xfrm>
          <a:prstGeom prst="roundRect">
            <a:avLst>
              <a:gd name="adj" fmla="val 19355"/>
            </a:avLst>
          </a:prstGeom>
          <a:solidFill>
            <a:srgbClr val="F5F1FB"/>
          </a:solidFill>
          <a:ln w="12700">
            <a:solidFill>
              <a:srgbClr val="F5F1FB"/>
            </a:solidFill>
            <a:prstDash val="solid"/>
          </a:ln>
        </p:spPr>
      </p:sp>
      <p:sp>
        <p:nvSpPr>
          <p:cNvPr id="6" name="Dot"/>
          <p:cNvSpPr/>
          <p:nvPr/>
        </p:nvSpPr>
        <p:spPr>
          <a:xfrm>
            <a:off x="713232" y="1673352"/>
            <a:ext cx="237744" cy="237744"/>
          </a:xfrm>
          <a:prstGeom prst="ellipse">
            <a:avLst/>
          </a:prstGeom>
          <a:solidFill>
            <a:srgbClr val="6B4FA3"/>
          </a:solidFill>
          <a:ln w="12700">
            <a:solidFill>
              <a:srgbClr val="6B4FA3"/>
            </a:solidFill>
            <a:prstDash val="solid"/>
          </a:ln>
        </p:spPr>
      </p:sp>
      <p:sp>
        <p:nvSpPr>
          <p:cNvPr id="7" name="Text 4"/>
          <p:cNvSpPr txBox="1"/>
          <p:nvPr/>
        </p:nvSpPr>
        <p:spPr>
          <a:xfrm>
            <a:off x="1143000" y="150876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Compression ratio</a:t>
            </a:r>
            <a:endParaRPr lang="en-US" sz="1600" dirty="0"/>
          </a:p>
        </p:txBody>
      </p:sp>
      <p:sp>
        <p:nvSpPr>
          <p:cNvPr id="8" name="Text 5"/>
          <p:cNvSpPr txBox="1"/>
          <p:nvPr/>
        </p:nvSpPr>
        <p:spPr>
          <a:xfrm>
            <a:off x="3840480" y="150876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CR = original bytes / (codebook + Huffman table + Huffman data)</a:t>
            </a:r>
            <a:endParaRPr lang="en-US" sz="1600" dirty="0"/>
          </a:p>
        </p:txBody>
      </p:sp>
      <p:sp>
        <p:nvSpPr>
          <p:cNvPr id="9" name="Metric row"/>
          <p:cNvSpPr/>
          <p:nvPr/>
        </p:nvSpPr>
        <p:spPr>
          <a:xfrm>
            <a:off x="548640" y="2185416"/>
            <a:ext cx="11091672" cy="566928"/>
          </a:xfrm>
          <a:prstGeom prst="roundRect">
            <a:avLst>
              <a:gd name="adj" fmla="val 19355"/>
            </a:avLst>
          </a:prstGeom>
          <a:solidFill>
            <a:srgbClr val="F5F1FB"/>
          </a:solidFill>
          <a:ln w="12700">
            <a:solidFill>
              <a:srgbClr val="F5F1FB"/>
            </a:solidFill>
            <a:prstDash val="solid"/>
          </a:ln>
        </p:spPr>
      </p:sp>
      <p:sp>
        <p:nvSpPr>
          <p:cNvPr id="10" name="Dot"/>
          <p:cNvSpPr/>
          <p:nvPr/>
        </p:nvSpPr>
        <p:spPr>
          <a:xfrm>
            <a:off x="713232" y="2350008"/>
            <a:ext cx="237744" cy="237744"/>
          </a:xfrm>
          <a:prstGeom prst="ellipse">
            <a:avLst/>
          </a:prstGeom>
          <a:solidFill>
            <a:srgbClr val="6B4FA3"/>
          </a:solidFill>
          <a:ln w="12700">
            <a:solidFill>
              <a:srgbClr val="6B4FA3"/>
            </a:solidFill>
            <a:prstDash val="solid"/>
          </a:ln>
        </p:spPr>
      </p:sp>
      <p:sp>
        <p:nvSpPr>
          <p:cNvPr id="11" name="Text 8"/>
          <p:cNvSpPr txBox="1"/>
          <p:nvPr/>
        </p:nvSpPr>
        <p:spPr>
          <a:xfrm>
            <a:off x="1143000" y="218541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PSNR</a:t>
            </a:r>
            <a:endParaRPr lang="en-US" sz="1600" dirty="0"/>
          </a:p>
        </p:txBody>
      </p:sp>
      <p:sp>
        <p:nvSpPr>
          <p:cNvPr id="12" name="Text 9"/>
          <p:cNvSpPr txBox="1"/>
          <p:nvPr/>
        </p:nvSpPr>
        <p:spPr>
          <a:xfrm>
            <a:off x="3840480" y="218541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10·log10(255² / MSE),  in dB</a:t>
            </a:r>
            <a:endParaRPr lang="en-US" sz="1600" dirty="0"/>
          </a:p>
        </p:txBody>
      </p:sp>
      <p:sp>
        <p:nvSpPr>
          <p:cNvPr id="13" name="Metric row"/>
          <p:cNvSpPr/>
          <p:nvPr/>
        </p:nvSpPr>
        <p:spPr>
          <a:xfrm>
            <a:off x="548640" y="2862072"/>
            <a:ext cx="11091672" cy="566928"/>
          </a:xfrm>
          <a:prstGeom prst="roundRect">
            <a:avLst>
              <a:gd name="adj" fmla="val 19355"/>
            </a:avLst>
          </a:prstGeom>
          <a:solidFill>
            <a:srgbClr val="F5F1FB"/>
          </a:solidFill>
          <a:ln w="12700">
            <a:solidFill>
              <a:srgbClr val="F5F1FB"/>
            </a:solidFill>
            <a:prstDash val="solid"/>
          </a:ln>
        </p:spPr>
      </p:sp>
      <p:sp>
        <p:nvSpPr>
          <p:cNvPr id="14" name="Dot"/>
          <p:cNvSpPr/>
          <p:nvPr/>
        </p:nvSpPr>
        <p:spPr>
          <a:xfrm>
            <a:off x="713232" y="3026664"/>
            <a:ext cx="237744" cy="237744"/>
          </a:xfrm>
          <a:prstGeom prst="ellipse">
            <a:avLst/>
          </a:prstGeom>
          <a:solidFill>
            <a:srgbClr val="6B4FA3"/>
          </a:solidFill>
          <a:ln w="12700">
            <a:solidFill>
              <a:srgbClr val="6B4FA3"/>
            </a:solidFill>
            <a:prstDash val="solid"/>
          </a:ln>
        </p:spPr>
      </p:sp>
      <p:sp>
        <p:nvSpPr>
          <p:cNvPr id="15" name="Text 12"/>
          <p:cNvSpPr txBox="1"/>
          <p:nvPr/>
        </p:nvSpPr>
        <p:spPr>
          <a:xfrm>
            <a:off x="1143000" y="2862072"/>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SSIM</a:t>
            </a:r>
            <a:endParaRPr lang="en-US" sz="1600" dirty="0"/>
          </a:p>
        </p:txBody>
      </p:sp>
      <p:sp>
        <p:nvSpPr>
          <p:cNvPr id="16" name="Text 13"/>
          <p:cNvSpPr txBox="1"/>
          <p:nvPr/>
        </p:nvSpPr>
        <p:spPr>
          <a:xfrm>
            <a:off x="3840480" y="2862072"/>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11×11 Gaussian window, σ = 1.5;  color = mean of 3 channels</a:t>
            </a:r>
            <a:endParaRPr lang="en-US" sz="1600" dirty="0"/>
          </a:p>
        </p:txBody>
      </p:sp>
      <p:sp>
        <p:nvSpPr>
          <p:cNvPr id="17" name="Metric row"/>
          <p:cNvSpPr/>
          <p:nvPr/>
        </p:nvSpPr>
        <p:spPr>
          <a:xfrm>
            <a:off x="548640" y="3538728"/>
            <a:ext cx="11091672" cy="566928"/>
          </a:xfrm>
          <a:prstGeom prst="roundRect">
            <a:avLst>
              <a:gd name="adj" fmla="val 19355"/>
            </a:avLst>
          </a:prstGeom>
          <a:solidFill>
            <a:srgbClr val="F5F1FB"/>
          </a:solidFill>
          <a:ln w="12700">
            <a:solidFill>
              <a:srgbClr val="F5F1FB"/>
            </a:solidFill>
            <a:prstDash val="solid"/>
          </a:ln>
        </p:spPr>
      </p:sp>
      <p:sp>
        <p:nvSpPr>
          <p:cNvPr id="18" name="Dot"/>
          <p:cNvSpPr/>
          <p:nvPr/>
        </p:nvSpPr>
        <p:spPr>
          <a:xfrm>
            <a:off x="713232" y="3703320"/>
            <a:ext cx="237744" cy="237744"/>
          </a:xfrm>
          <a:prstGeom prst="ellipse">
            <a:avLst/>
          </a:prstGeom>
          <a:solidFill>
            <a:srgbClr val="E0457B"/>
          </a:solidFill>
          <a:ln w="12700">
            <a:solidFill>
              <a:srgbClr val="E0457B"/>
            </a:solidFill>
            <a:prstDash val="solid"/>
          </a:ln>
        </p:spPr>
      </p:sp>
      <p:sp>
        <p:nvSpPr>
          <p:cNvPr id="19" name="Text 16"/>
          <p:cNvSpPr txBox="1"/>
          <p:nvPr/>
        </p:nvSpPr>
        <p:spPr>
          <a:xfrm>
            <a:off x="1143000" y="3538728"/>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Speedup  S</a:t>
            </a:r>
            <a:endParaRPr lang="en-US" sz="1600" dirty="0"/>
          </a:p>
        </p:txBody>
      </p:sp>
      <p:sp>
        <p:nvSpPr>
          <p:cNvPr id="20" name="Text 17"/>
          <p:cNvSpPr txBox="1"/>
          <p:nvPr/>
        </p:nvSpPr>
        <p:spPr>
          <a:xfrm>
            <a:off x="3840480" y="3538728"/>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S = T_seq / T_P</a:t>
            </a:r>
            <a:endParaRPr lang="en-US" sz="1600" dirty="0"/>
          </a:p>
        </p:txBody>
      </p:sp>
      <p:sp>
        <p:nvSpPr>
          <p:cNvPr id="21" name="Metric row"/>
          <p:cNvSpPr/>
          <p:nvPr/>
        </p:nvSpPr>
        <p:spPr>
          <a:xfrm>
            <a:off x="548640" y="4215384"/>
            <a:ext cx="11091672" cy="566928"/>
          </a:xfrm>
          <a:prstGeom prst="roundRect">
            <a:avLst>
              <a:gd name="adj" fmla="val 19355"/>
            </a:avLst>
          </a:prstGeom>
          <a:solidFill>
            <a:srgbClr val="F5F1FB"/>
          </a:solidFill>
          <a:ln w="12700">
            <a:solidFill>
              <a:srgbClr val="F5F1FB"/>
            </a:solidFill>
            <a:prstDash val="solid"/>
          </a:ln>
        </p:spPr>
      </p:sp>
      <p:sp>
        <p:nvSpPr>
          <p:cNvPr id="22" name="Dot"/>
          <p:cNvSpPr/>
          <p:nvPr/>
        </p:nvSpPr>
        <p:spPr>
          <a:xfrm>
            <a:off x="713232" y="4379976"/>
            <a:ext cx="237744" cy="237744"/>
          </a:xfrm>
          <a:prstGeom prst="ellipse">
            <a:avLst/>
          </a:prstGeom>
          <a:solidFill>
            <a:srgbClr val="E0457B"/>
          </a:solidFill>
          <a:ln w="12700">
            <a:solidFill>
              <a:srgbClr val="E0457B"/>
            </a:solidFill>
            <a:prstDash val="solid"/>
          </a:ln>
        </p:spPr>
      </p:sp>
      <p:sp>
        <p:nvSpPr>
          <p:cNvPr id="23" name="Text 20"/>
          <p:cNvSpPr txBox="1"/>
          <p:nvPr/>
        </p:nvSpPr>
        <p:spPr>
          <a:xfrm>
            <a:off x="1143000" y="4215384"/>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Efficiency  E</a:t>
            </a:r>
            <a:endParaRPr lang="en-US" sz="1600" dirty="0"/>
          </a:p>
        </p:txBody>
      </p:sp>
      <p:sp>
        <p:nvSpPr>
          <p:cNvPr id="24" name="Text 21"/>
          <p:cNvSpPr txBox="1"/>
          <p:nvPr/>
        </p:nvSpPr>
        <p:spPr>
          <a:xfrm>
            <a:off x="3840480" y="4215384"/>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S / P</a:t>
            </a:r>
            <a:endParaRPr lang="en-US" sz="1600" dirty="0"/>
          </a:p>
        </p:txBody>
      </p:sp>
      <p:sp>
        <p:nvSpPr>
          <p:cNvPr id="25" name="Metric row"/>
          <p:cNvSpPr/>
          <p:nvPr/>
        </p:nvSpPr>
        <p:spPr>
          <a:xfrm>
            <a:off x="548640" y="4892040"/>
            <a:ext cx="11091672" cy="566928"/>
          </a:xfrm>
          <a:prstGeom prst="roundRect">
            <a:avLst>
              <a:gd name="adj" fmla="val 19355"/>
            </a:avLst>
          </a:prstGeom>
          <a:solidFill>
            <a:srgbClr val="F5F1FB"/>
          </a:solidFill>
          <a:ln w="12700">
            <a:solidFill>
              <a:srgbClr val="F5F1FB"/>
            </a:solidFill>
            <a:prstDash val="solid"/>
          </a:ln>
        </p:spPr>
      </p:sp>
      <p:sp>
        <p:nvSpPr>
          <p:cNvPr id="26" name="Dot"/>
          <p:cNvSpPr/>
          <p:nvPr/>
        </p:nvSpPr>
        <p:spPr>
          <a:xfrm>
            <a:off x="713232" y="5056632"/>
            <a:ext cx="237744" cy="237744"/>
          </a:xfrm>
          <a:prstGeom prst="ellipse">
            <a:avLst/>
          </a:prstGeom>
          <a:solidFill>
            <a:srgbClr val="E0457B"/>
          </a:solidFill>
          <a:ln w="12700">
            <a:solidFill>
              <a:srgbClr val="E0457B"/>
            </a:solidFill>
            <a:prstDash val="solid"/>
          </a:ln>
        </p:spPr>
      </p:sp>
      <p:sp>
        <p:nvSpPr>
          <p:cNvPr id="27" name="Text 24"/>
          <p:cNvSpPr txBox="1"/>
          <p:nvPr/>
        </p:nvSpPr>
        <p:spPr>
          <a:xfrm>
            <a:off x="1143000" y="489204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Karp–Flatt  e</a:t>
            </a:r>
            <a:endParaRPr lang="en-US" sz="1600" dirty="0"/>
          </a:p>
        </p:txBody>
      </p:sp>
      <p:sp>
        <p:nvSpPr>
          <p:cNvPr id="28" name="Text 25"/>
          <p:cNvSpPr txBox="1"/>
          <p:nvPr/>
        </p:nvSpPr>
        <p:spPr>
          <a:xfrm>
            <a:off x="3840480" y="489204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(1/S − 1/P) / (1 − 1/P):  serial fraction</a:t>
            </a:r>
            <a:endParaRPr lang="en-US" sz="1600" dirty="0"/>
          </a:p>
        </p:txBody>
      </p:sp>
      <p:sp>
        <p:nvSpPr>
          <p:cNvPr id="29" name="Metric row"/>
          <p:cNvSpPr/>
          <p:nvPr/>
        </p:nvSpPr>
        <p:spPr>
          <a:xfrm>
            <a:off x="548640" y="5568696"/>
            <a:ext cx="11091672" cy="566928"/>
          </a:xfrm>
          <a:prstGeom prst="roundRect">
            <a:avLst>
              <a:gd name="adj" fmla="val 19355"/>
            </a:avLst>
          </a:prstGeom>
          <a:solidFill>
            <a:srgbClr val="F5F1FB"/>
          </a:solidFill>
          <a:ln w="12700">
            <a:solidFill>
              <a:srgbClr val="F5F1FB"/>
            </a:solidFill>
            <a:prstDash val="solid"/>
          </a:ln>
        </p:spPr>
      </p:sp>
      <p:sp>
        <p:nvSpPr>
          <p:cNvPr id="30" name="Dot"/>
          <p:cNvSpPr/>
          <p:nvPr/>
        </p:nvSpPr>
        <p:spPr>
          <a:xfrm>
            <a:off x="713232" y="5733288"/>
            <a:ext cx="237744" cy="237744"/>
          </a:xfrm>
          <a:prstGeom prst="ellipse">
            <a:avLst/>
          </a:prstGeom>
          <a:solidFill>
            <a:srgbClr val="E0457B"/>
          </a:solidFill>
          <a:ln w="12700">
            <a:solidFill>
              <a:srgbClr val="E0457B"/>
            </a:solidFill>
            <a:prstDash val="solid"/>
          </a:ln>
        </p:spPr>
      </p:sp>
      <p:sp>
        <p:nvSpPr>
          <p:cNvPr id="31" name="Text 28"/>
          <p:cNvSpPr txBox="1"/>
          <p:nvPr/>
        </p:nvSpPr>
        <p:spPr>
          <a:xfrm>
            <a:off x="1143000" y="556869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Throughput  Θ</a:t>
            </a:r>
            <a:endParaRPr lang="en-US" sz="1600" dirty="0"/>
          </a:p>
        </p:txBody>
      </p:sp>
      <p:sp>
        <p:nvSpPr>
          <p:cNvPr id="32" name="Text 29"/>
          <p:cNvSpPr txBox="1"/>
          <p:nvPr/>
        </p:nvSpPr>
        <p:spPr>
          <a:xfrm>
            <a:off x="3840480" y="556869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Θ = N · I / T_LBG  (vector-iterations per second)</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2 · RELATED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Related work: image-compression studies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017520"/>
                <a:gridCol w="3200400"/>
                <a:gridCol w="26791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Observation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Thomas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Integer DWT + reduction +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CR 1.52, PSNR 54.28 dB, SSIM 0.9985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Near-lossless; low CR;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Ranjan &amp; Kumar,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2D DWT + PCA + canonical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512: CR 4.41, PSNR 34.78 dB</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Moderate CR; no parallelism</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Bilal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Fast LBG (FLBG), rescaling</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50.2% less complexity, 20% less memory</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Algorithmic speedup;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Paul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K-means + DWT (K-DWT)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Kodak: CR 15.39, PSNR 30.51 dB, SSIM 0.8978</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No timing values reported</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published compression studies are sequential and span very different rate–distortion regimes (CR from 1.4 to 15).</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2 · RELATED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Related work: parallel studies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468880"/>
                <a:gridCol w="3383280"/>
                <a:gridCol w="2743200"/>
                <a:gridCol w="24963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Resources</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Speedup (baseline)</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Tanović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Parallel k-means, image classification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12 cores, OpenMP + MPI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10.2× (not stated in abstract)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Papakyriakou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MPI k-means, 75 M synthetic points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2–48 MPI processes, Raspberry 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≈10.05× (vs 2 processes)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Bystrov et al.,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Discrete-element simulation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8 heterogeneous containers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6.0× (vs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Zangana,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Hybrid image compression (bitplane + DWT + predictive)</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1–16 GPUs, CUDA / OpenCL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9.09× at 16 GPUs (vs 1 GPU)</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reported speedups are 6–10×, but none parallelizes LBG codebook training for image compression with speed-aware distribution.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3 · RESEARCH PROBLEMS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Research problems</a:t>
            </a:r>
            <a:endParaRPr lang="en-US" sz="3000" dirty="0"/>
          </a:p>
        </p:txBody>
      </p:sp>
      <p:sp>
        <p:nvSpPr>
          <p:cNvPr id="5" name="Problem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77240" cy="77724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14984" y="2066544"/>
            <a:ext cx="393192" cy="393192"/>
          </a:xfrm>
          <a:prstGeom prst="rect">
            <a:avLst/>
          </a:prstGeom>
        </p:spPr>
      </p:pic>
      <p:sp>
        <p:nvSpPr>
          <p:cNvPr id="8" name="Text 4"/>
          <p:cNvSpPr txBox="1"/>
          <p:nvPr/>
        </p:nvSpPr>
        <p:spPr>
          <a:xfrm>
            <a:off x="1828800" y="182880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1  Delay in sending data</a:t>
            </a:r>
            <a:endParaRPr lang="en-US" sz="2000" dirty="0"/>
          </a:p>
        </p:txBody>
      </p:sp>
      <p:sp>
        <p:nvSpPr>
          <p:cNvPr id="9" name="Text 5"/>
          <p:cNvSpPr txBox="1"/>
          <p:nvPr/>
        </p:nvSpPr>
        <p:spPr>
          <a:xfrm>
            <a:off x="1828800" y="242316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Large images take a long time to transmit over a network.</a:t>
            </a:r>
            <a:endParaRPr lang="en-US" sz="1600" dirty="0"/>
          </a:p>
        </p:txBody>
      </p:sp>
      <p:sp>
        <p:nvSpPr>
          <p:cNvPr id="10" name="Problem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77240" cy="77724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38544" y="2066544"/>
            <a:ext cx="393192" cy="393192"/>
          </a:xfrm>
          <a:prstGeom prst="rect">
            <a:avLst/>
          </a:prstGeom>
        </p:spPr>
      </p:pic>
      <p:sp>
        <p:nvSpPr>
          <p:cNvPr id="13" name="Text 8"/>
          <p:cNvSpPr txBox="1"/>
          <p:nvPr/>
        </p:nvSpPr>
        <p:spPr>
          <a:xfrm>
            <a:off x="7452360" y="182880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2  Big data storage</a:t>
            </a:r>
            <a:endParaRPr lang="en-US" sz="2000" dirty="0"/>
          </a:p>
        </p:txBody>
      </p:sp>
      <p:sp>
        <p:nvSpPr>
          <p:cNvPr id="14" name="Text 9"/>
          <p:cNvSpPr txBox="1"/>
          <p:nvPr/>
        </p:nvSpPr>
        <p:spPr>
          <a:xfrm>
            <a:off x="7452360" y="242316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Image collections need a large amount of storage.</a:t>
            </a:r>
            <a:endParaRPr lang="en-US" sz="1600" dirty="0"/>
          </a:p>
        </p:txBody>
      </p:sp>
      <p:sp>
        <p:nvSpPr>
          <p:cNvPr id="15" name="Problem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77240" cy="77724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14984" y="4443984"/>
            <a:ext cx="393192" cy="393192"/>
          </a:xfrm>
          <a:prstGeom prst="rect">
            <a:avLst/>
          </a:prstGeom>
        </p:spPr>
      </p:pic>
      <p:sp>
        <p:nvSpPr>
          <p:cNvPr id="18" name="Text 12"/>
          <p:cNvSpPr txBox="1"/>
          <p:nvPr/>
        </p:nvSpPr>
        <p:spPr>
          <a:xfrm>
            <a:off x="1828800" y="420624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3  Complexity versus time</a:t>
            </a:r>
            <a:endParaRPr lang="en-US" sz="2000" dirty="0"/>
          </a:p>
        </p:txBody>
      </p:sp>
      <p:sp>
        <p:nvSpPr>
          <p:cNvPr id="19" name="Text 13"/>
          <p:cNvSpPr txBox="1"/>
          <p:nvPr/>
        </p:nvSpPr>
        <p:spPr>
          <a:xfrm>
            <a:off x="1828800" y="480060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A good compression ratio needs complex methods (here: iterative LBG training), so execution time becomes high.</a:t>
            </a:r>
            <a:endParaRPr lang="en-US" sz="1600" dirty="0"/>
          </a:p>
        </p:txBody>
      </p:sp>
      <p:sp>
        <p:nvSpPr>
          <p:cNvPr id="20" name="Problem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77240" cy="777240"/>
          </a:xfrm>
          <a:prstGeom prst="ellipse">
            <a:avLst/>
          </a:prstGeom>
          <a:solidFill>
            <a:srgbClr val="F2B134"/>
          </a:solidFill>
          <a:ln w="12700">
            <a:solidFill>
              <a:srgbClr val="F2B134"/>
            </a:solidFill>
            <a:prstDash val="solid"/>
          </a:ln>
        </p:spPr>
      </p:sp>
      <p:pic>
        <p:nvPicPr>
          <p:cNvPr id="22" name="Icon" descr="preencoded.png">    </p:cNvPr>
          <p:cNvPicPr>
            <a:picLocks noChangeAspect="1"/>
          </p:cNvPicPr>
          <p:nvPr/>
        </p:nvPicPr>
        <p:blipFill>
          <a:blip r:embed="rId4"/>
          <a:stretch>
            <a:fillRect/>
          </a:stretch>
        </p:blipFill>
        <p:spPr>
          <a:xfrm>
            <a:off x="6638544" y="4443984"/>
            <a:ext cx="393192" cy="393192"/>
          </a:xfrm>
          <a:prstGeom prst="rect">
            <a:avLst/>
          </a:prstGeom>
        </p:spPr>
      </p:pic>
      <p:sp>
        <p:nvSpPr>
          <p:cNvPr id="23" name="Text 16"/>
          <p:cNvSpPr txBox="1"/>
          <p:nvPr/>
        </p:nvSpPr>
        <p:spPr>
          <a:xfrm>
            <a:off x="7452360" y="420624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4  Acceptable quality</a:t>
            </a:r>
            <a:endParaRPr lang="en-US" sz="2000" dirty="0"/>
          </a:p>
        </p:txBody>
      </p:sp>
      <p:sp>
        <p:nvSpPr>
          <p:cNvPr id="24" name="Text 17"/>
          <p:cNvSpPr txBox="1"/>
          <p:nvPr/>
        </p:nvSpPr>
        <p:spPr>
          <a:xfrm>
            <a:off x="7452360" y="480060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The reconstructed image must remain of acceptable quality (PSNR, SSIM).</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4 · RESEARCH OBJECTIVE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Research objective</a:t>
            </a:r>
            <a:endParaRPr lang="en-US" sz="3000" dirty="0"/>
          </a:p>
        </p:txBody>
      </p:sp>
      <p:sp>
        <p:nvSpPr>
          <p:cNvPr id="5" name="Objective card"/>
          <p:cNvSpPr/>
          <p:nvPr/>
        </p:nvSpPr>
        <p:spPr>
          <a:xfrm>
            <a:off x="548640" y="1554480"/>
            <a:ext cx="6035040" cy="2194560"/>
          </a:xfrm>
          <a:prstGeom prst="roundRect">
            <a:avLst>
              <a:gd name="adj" fmla="val 5000"/>
            </a:avLst>
          </a:prstGeom>
          <a:solidFill>
            <a:srgbClr val="F5F1FB"/>
          </a:solidFill>
          <a:ln w="12700">
            <a:solidFill>
              <a:srgbClr val="F5F1FB"/>
            </a:solidFill>
            <a:prstDash val="solid"/>
          </a:ln>
        </p:spPr>
      </p:sp>
      <p:sp>
        <p:nvSpPr>
          <p:cNvPr id="6" name="Objective number"/>
          <p:cNvSpPr/>
          <p:nvPr/>
        </p:nvSpPr>
        <p:spPr>
          <a:xfrm>
            <a:off x="777240" y="1874520"/>
            <a:ext cx="640080" cy="640080"/>
          </a:xfrm>
          <a:prstGeom prst="ellipse">
            <a:avLst/>
          </a:prstGeom>
          <a:solidFill>
            <a:srgbClr val="6B4FA3"/>
          </a:solidFill>
          <a:ln w="12700">
            <a:solidFill>
              <a:srgbClr val="FFFFFF"/>
            </a:solidFill>
            <a:prstDash val="solid"/>
          </a:ln>
        </p:spPr>
      </p:sp>
      <p:sp>
        <p:nvSpPr>
          <p:cNvPr id="7" name="Text 4"/>
          <p:cNvSpPr txBox="1"/>
          <p:nvPr/>
        </p:nvSpPr>
        <p:spPr>
          <a:xfrm>
            <a:off x="777240" y="18745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1645920" y="1828800"/>
            <a:ext cx="4754880" cy="365760"/>
          </a:xfrm>
          <a:prstGeom prst="rect">
            <a:avLst/>
          </a:prstGeom>
          <a:noFill/>
          <a:ln/>
        </p:spPr>
        <p:txBody>
          <a:bodyPr wrap="square" lIns="0" tIns="0" rIns="0" bIns="0" rtlCol="0" anchor="t"/>
          <a:lstStyle/>
          <a:p>
            <a:pPr indent="0" marL="0">
              <a:buNone/>
            </a:pPr>
            <a:r>
              <a:rPr lang="en-US" sz="1400" b="1" spc="200" kern="0" dirty="0">
                <a:solidFill>
                  <a:srgbClr val="6B4FA3"/>
                </a:solidFill>
                <a:latin typeface="Calibri" pitchFamily="34" charset="0"/>
                <a:ea typeface="Calibri" pitchFamily="34" charset="-122"/>
                <a:cs typeface="Calibri" pitchFamily="34" charset="-120"/>
              </a:rPr>
              <a:t>Objective</a:t>
            </a:r>
            <a:endParaRPr lang="en-US" sz="1400" dirty="0"/>
          </a:p>
        </p:txBody>
      </p:sp>
      <p:sp>
        <p:nvSpPr>
          <p:cNvPr id="9" name="Text 6"/>
          <p:cNvSpPr txBox="1"/>
          <p:nvPr/>
        </p:nvSpPr>
        <p:spPr>
          <a:xfrm>
            <a:off x="1645920" y="2240280"/>
            <a:ext cx="4754880" cy="1371600"/>
          </a:xfrm>
          <a:prstGeom prst="rect">
            <a:avLst/>
          </a:prstGeom>
          <a:noFill/>
          <a:ln/>
        </p:spPr>
        <p:txBody>
          <a:bodyPr wrap="square" lIns="0" tIns="0" rIns="0" bIns="0" rtlCol="0" anchor="t"/>
          <a:lstStyle/>
          <a:p>
            <a:pPr indent="0" marL="0">
              <a:buNone/>
            </a:pPr>
            <a:r>
              <a:rPr lang="en-US" sz="1700" dirty="0">
                <a:solidFill>
                  <a:srgbClr val="1F1A33"/>
                </a:solidFill>
                <a:latin typeface="Calibri" pitchFamily="34" charset="0"/>
                <a:ea typeface="Calibri" pitchFamily="34" charset="-122"/>
                <a:cs typeface="Calibri" pitchFamily="34" charset="-120"/>
              </a:rPr>
              <a:t>Develop an image-compression method with a good compression ratio, using parallel processing to reduce its execution time.</a:t>
            </a:r>
            <a:endParaRPr lang="en-US" sz="1700" dirty="0"/>
          </a:p>
        </p:txBody>
      </p:sp>
      <p:sp>
        <p:nvSpPr>
          <p:cNvPr id="10" name="Arrow"/>
          <p:cNvSpPr/>
          <p:nvPr/>
        </p:nvSpPr>
        <p:spPr>
          <a:xfrm>
            <a:off x="6720840" y="2423160"/>
            <a:ext cx="457200" cy="457200"/>
          </a:xfrm>
          <a:prstGeom prst="rightArrow">
            <a:avLst/>
          </a:prstGeom>
          <a:solidFill>
            <a:srgbClr val="A794D6"/>
          </a:solidFill>
          <a:ln w="12700">
            <a:solidFill>
              <a:srgbClr val="A794D6"/>
            </a:solidFill>
            <a:prstDash val="solid"/>
          </a:ln>
        </p:spPr>
      </p:sp>
      <p:sp>
        <p:nvSpPr>
          <p:cNvPr id="11" name="How card"/>
          <p:cNvSpPr/>
          <p:nvPr/>
        </p:nvSpPr>
        <p:spPr>
          <a:xfrm>
            <a:off x="7315200" y="1554480"/>
            <a:ext cx="4325112" cy="2194560"/>
          </a:xfrm>
          <a:prstGeom prst="roundRect">
            <a:avLst>
              <a:gd name="adj" fmla="val 5000"/>
            </a:avLst>
          </a:prstGeom>
          <a:solidFill>
            <a:srgbClr val="FFFFFF"/>
          </a:solidFill>
          <a:ln w="12700">
            <a:solidFill>
              <a:srgbClr val="FFFFFF"/>
            </a:solidFill>
            <a:prstDash val="solid"/>
          </a:ln>
        </p:spPr>
      </p:sp>
      <p:sp>
        <p:nvSpPr>
          <p:cNvPr id="12" name="How frame"/>
          <p:cNvSpPr/>
          <p:nvPr/>
        </p:nvSpPr>
        <p:spPr>
          <a:xfrm>
            <a:off x="7315200" y="1554480"/>
            <a:ext cx="4325112" cy="2194560"/>
          </a:xfrm>
          <a:prstGeom prst="roundRect">
            <a:avLst>
              <a:gd name="adj" fmla="val 5000"/>
            </a:avLst>
          </a:prstGeom>
          <a:solidFill>
            <a:srgbClr val="FFFFFF"/>
          </a:solidFill>
          <a:ln w="19050">
            <a:solidFill>
              <a:srgbClr val="6B4FA3"/>
            </a:solidFill>
            <a:prstDash val="solid"/>
          </a:ln>
        </p:spPr>
      </p:sp>
      <p:sp>
        <p:nvSpPr>
          <p:cNvPr id="13" name="Text 10"/>
          <p:cNvSpPr txBox="1"/>
          <p:nvPr/>
        </p:nvSpPr>
        <p:spPr>
          <a:xfrm>
            <a:off x="7543800" y="1737360"/>
            <a:ext cx="3931920" cy="365760"/>
          </a:xfrm>
          <a:prstGeom prst="rect">
            <a:avLst/>
          </a:prstGeom>
          <a:noFill/>
          <a:ln/>
        </p:spPr>
        <p:txBody>
          <a:bodyPr wrap="square" lIns="0" tIns="0" rIns="0" bIns="0" rtlCol="0" anchor="t"/>
          <a:lstStyle/>
          <a:p>
            <a:pPr indent="0" marL="0">
              <a:buNone/>
            </a:pPr>
            <a:r>
              <a:rPr lang="en-US" sz="1400" b="1" dirty="0">
                <a:solidFill>
                  <a:srgbClr val="6B4FA3"/>
                </a:solidFill>
                <a:latin typeface="Calibri" pitchFamily="34" charset="0"/>
                <a:ea typeface="Calibri" pitchFamily="34" charset="-122"/>
                <a:cs typeface="Calibri" pitchFamily="34" charset="-120"/>
              </a:rPr>
              <a:t>How this work meets it</a:t>
            </a:r>
            <a:endParaRPr lang="en-US" sz="1400" dirty="0"/>
          </a:p>
        </p:txBody>
      </p:sp>
      <p:sp>
        <p:nvSpPr>
          <p:cNvPr id="14" name="Text 11"/>
          <p:cNvSpPr txBox="1"/>
          <p:nvPr/>
        </p:nvSpPr>
        <p:spPr>
          <a:xfrm>
            <a:off x="7543800" y="2194560"/>
            <a:ext cx="3931920" cy="1463040"/>
          </a:xfrm>
          <a:prstGeom prst="rect">
            <a:avLst/>
          </a:prstGeom>
          <a:noFill/>
          <a:ln/>
        </p:spPr>
        <p:txBody>
          <a:bodyPr wrap="square" lIns="0" tIns="0" rIns="0" bIns="0" rtlCol="0" anchor="t"/>
          <a:lstStyle/>
          <a:p>
            <a:pPr indent="0" marL="0">
              <a:buNone/>
            </a:pPr>
            <a:r>
              <a:rPr lang="en-US" sz="1500" dirty="0">
                <a:solidFill>
                  <a:srgbClr val="1F1A33"/>
                </a:solidFill>
                <a:latin typeface="Calibri" pitchFamily="34" charset="0"/>
                <a:ea typeface="Calibri" pitchFamily="34" charset="-122"/>
                <a:cs typeface="Calibri" pitchFamily="34" charset="-120"/>
              </a:rPr>
              <a:t>LBG vector quantization + delta + Huffman coding, parallelized with MPI (Equal and speed-aware Adaptive distribution).</a:t>
            </a:r>
            <a:endParaRPr lang="en-US" sz="1500" dirty="0"/>
          </a:p>
        </p:txBody>
      </p:sp>
      <p:sp>
        <p:nvSpPr>
          <p:cNvPr id="15" name="Objective card"/>
          <p:cNvSpPr/>
          <p:nvPr/>
        </p:nvSpPr>
        <p:spPr>
          <a:xfrm>
            <a:off x="548640" y="3931920"/>
            <a:ext cx="6035040" cy="2194560"/>
          </a:xfrm>
          <a:prstGeom prst="roundRect">
            <a:avLst>
              <a:gd name="adj" fmla="val 5000"/>
            </a:avLst>
          </a:prstGeom>
          <a:solidFill>
            <a:srgbClr val="F5F1FB"/>
          </a:solidFill>
          <a:ln w="12700">
            <a:solidFill>
              <a:srgbClr val="F5F1FB"/>
            </a:solidFill>
            <a:prstDash val="solid"/>
          </a:ln>
        </p:spPr>
      </p:sp>
      <p:sp>
        <p:nvSpPr>
          <p:cNvPr id="16" name="Objective number"/>
          <p:cNvSpPr/>
          <p:nvPr/>
        </p:nvSpPr>
        <p:spPr>
          <a:xfrm>
            <a:off x="777240" y="4251960"/>
            <a:ext cx="640080" cy="640080"/>
          </a:xfrm>
          <a:prstGeom prst="ellipse">
            <a:avLst/>
          </a:prstGeom>
          <a:solidFill>
            <a:srgbClr val="E0457B"/>
          </a:solidFill>
          <a:ln w="12700">
            <a:solidFill>
              <a:srgbClr val="FFFFFF"/>
            </a:solidFill>
            <a:prstDash val="solid"/>
          </a:ln>
        </p:spPr>
      </p:sp>
      <p:sp>
        <p:nvSpPr>
          <p:cNvPr id="17" name="Text 14"/>
          <p:cNvSpPr txBox="1"/>
          <p:nvPr/>
        </p:nvSpPr>
        <p:spPr>
          <a:xfrm>
            <a:off x="777240" y="42519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Text 15"/>
          <p:cNvSpPr txBox="1"/>
          <p:nvPr/>
        </p:nvSpPr>
        <p:spPr>
          <a:xfrm>
            <a:off x="1645920" y="4206240"/>
            <a:ext cx="4754880" cy="365760"/>
          </a:xfrm>
          <a:prstGeom prst="rect">
            <a:avLst/>
          </a:prstGeom>
          <a:noFill/>
          <a:ln/>
        </p:spPr>
        <p:txBody>
          <a:bodyPr wrap="square" lIns="0" tIns="0" rIns="0" bIns="0" rtlCol="0" anchor="t"/>
          <a:lstStyle/>
          <a:p>
            <a:pPr indent="0" marL="0">
              <a:buNone/>
            </a:pPr>
            <a:r>
              <a:rPr lang="en-US" sz="1400" b="1" spc="200" kern="0" dirty="0">
                <a:solidFill>
                  <a:srgbClr val="E0457B"/>
                </a:solidFill>
                <a:latin typeface="Calibri" pitchFamily="34" charset="0"/>
                <a:ea typeface="Calibri" pitchFamily="34" charset="-122"/>
                <a:cs typeface="Calibri" pitchFamily="34" charset="-120"/>
              </a:rPr>
              <a:t>Objective</a:t>
            </a:r>
            <a:endParaRPr lang="en-US" sz="1400" dirty="0"/>
          </a:p>
        </p:txBody>
      </p:sp>
      <p:sp>
        <p:nvSpPr>
          <p:cNvPr id="19" name="Text 16"/>
          <p:cNvSpPr txBox="1"/>
          <p:nvPr/>
        </p:nvSpPr>
        <p:spPr>
          <a:xfrm>
            <a:off x="1645920" y="4617720"/>
            <a:ext cx="4754880" cy="1371600"/>
          </a:xfrm>
          <a:prstGeom prst="rect">
            <a:avLst/>
          </a:prstGeom>
          <a:noFill/>
          <a:ln/>
        </p:spPr>
        <p:txBody>
          <a:bodyPr wrap="square" lIns="0" tIns="0" rIns="0" bIns="0" rtlCol="0" anchor="t"/>
          <a:lstStyle/>
          <a:p>
            <a:pPr indent="0" marL="0">
              <a:buNone/>
            </a:pPr>
            <a:r>
              <a:rPr lang="en-US" sz="1700" dirty="0">
                <a:solidFill>
                  <a:srgbClr val="1F1A33"/>
                </a:solidFill>
                <a:latin typeface="Calibri" pitchFamily="34" charset="0"/>
                <a:ea typeface="Calibri" pitchFamily="34" charset="-122"/>
                <a:cs typeface="Calibri" pitchFamily="34" charset="-120"/>
              </a:rPr>
              <a:t>Maintain the quality of the reconstructed image as much as possible.</a:t>
            </a:r>
            <a:endParaRPr lang="en-US" sz="1700" dirty="0"/>
          </a:p>
        </p:txBody>
      </p:sp>
      <p:sp>
        <p:nvSpPr>
          <p:cNvPr id="20" name="Arrow"/>
          <p:cNvSpPr/>
          <p:nvPr/>
        </p:nvSpPr>
        <p:spPr>
          <a:xfrm>
            <a:off x="6720840" y="4800600"/>
            <a:ext cx="457200" cy="457200"/>
          </a:xfrm>
          <a:prstGeom prst="rightArrow">
            <a:avLst/>
          </a:prstGeom>
          <a:solidFill>
            <a:srgbClr val="A794D6"/>
          </a:solidFill>
          <a:ln w="12700">
            <a:solidFill>
              <a:srgbClr val="A794D6"/>
            </a:solidFill>
            <a:prstDash val="solid"/>
          </a:ln>
        </p:spPr>
      </p:sp>
      <p:sp>
        <p:nvSpPr>
          <p:cNvPr id="21" name="How card"/>
          <p:cNvSpPr/>
          <p:nvPr/>
        </p:nvSpPr>
        <p:spPr>
          <a:xfrm>
            <a:off x="7315200" y="3931920"/>
            <a:ext cx="4325112" cy="2194560"/>
          </a:xfrm>
          <a:prstGeom prst="roundRect">
            <a:avLst>
              <a:gd name="adj" fmla="val 5000"/>
            </a:avLst>
          </a:prstGeom>
          <a:solidFill>
            <a:srgbClr val="FFFFFF"/>
          </a:solidFill>
          <a:ln w="12700">
            <a:solidFill>
              <a:srgbClr val="FFFFFF"/>
            </a:solidFill>
            <a:prstDash val="solid"/>
          </a:ln>
        </p:spPr>
      </p:sp>
      <p:sp>
        <p:nvSpPr>
          <p:cNvPr id="22" name="How frame"/>
          <p:cNvSpPr/>
          <p:nvPr/>
        </p:nvSpPr>
        <p:spPr>
          <a:xfrm>
            <a:off x="7315200" y="3931920"/>
            <a:ext cx="4325112" cy="2194560"/>
          </a:xfrm>
          <a:prstGeom prst="roundRect">
            <a:avLst>
              <a:gd name="adj" fmla="val 5000"/>
            </a:avLst>
          </a:prstGeom>
          <a:solidFill>
            <a:srgbClr val="FFFFFF"/>
          </a:solidFill>
          <a:ln w="19050">
            <a:solidFill>
              <a:srgbClr val="E0457B"/>
            </a:solidFill>
            <a:prstDash val="solid"/>
          </a:ln>
        </p:spPr>
      </p:sp>
      <p:sp>
        <p:nvSpPr>
          <p:cNvPr id="23" name="Text 20"/>
          <p:cNvSpPr txBox="1"/>
          <p:nvPr/>
        </p:nvSpPr>
        <p:spPr>
          <a:xfrm>
            <a:off x="7543800" y="4114800"/>
            <a:ext cx="3931920" cy="365760"/>
          </a:xfrm>
          <a:prstGeom prst="rect">
            <a:avLst/>
          </a:prstGeom>
          <a:noFill/>
          <a:ln/>
        </p:spPr>
        <p:txBody>
          <a:bodyPr wrap="square" lIns="0" tIns="0" rIns="0" bIns="0" rtlCol="0" anchor="t"/>
          <a:lstStyle/>
          <a:p>
            <a:pPr indent="0" marL="0">
              <a:buNone/>
            </a:pPr>
            <a:r>
              <a:rPr lang="en-US" sz="1400" b="1" dirty="0">
                <a:solidFill>
                  <a:srgbClr val="E0457B"/>
                </a:solidFill>
                <a:latin typeface="Calibri" pitchFamily="34" charset="0"/>
                <a:ea typeface="Calibri" pitchFamily="34" charset="-122"/>
                <a:cs typeface="Calibri" pitchFamily="34" charset="-120"/>
              </a:rPr>
              <a:t>How this work meets it</a:t>
            </a:r>
            <a:endParaRPr lang="en-US" sz="1400" dirty="0"/>
          </a:p>
        </p:txBody>
      </p:sp>
      <p:sp>
        <p:nvSpPr>
          <p:cNvPr id="24" name="Text 21"/>
          <p:cNvSpPr txBox="1"/>
          <p:nvPr/>
        </p:nvSpPr>
        <p:spPr>
          <a:xfrm>
            <a:off x="7543800" y="4572000"/>
            <a:ext cx="3931920" cy="1463040"/>
          </a:xfrm>
          <a:prstGeom prst="rect">
            <a:avLst/>
          </a:prstGeom>
          <a:noFill/>
          <a:ln/>
        </p:spPr>
        <p:txBody>
          <a:bodyPr wrap="square" lIns="0" tIns="0" rIns="0" bIns="0" rtlCol="0" anchor="t"/>
          <a:lstStyle/>
          <a:p>
            <a:pPr indent="0" marL="0">
              <a:buNone/>
            </a:pPr>
            <a:r>
              <a:rPr lang="en-US" sz="1500" dirty="0">
                <a:solidFill>
                  <a:srgbClr val="1F1A33"/>
                </a:solidFill>
                <a:latin typeface="Calibri" pitchFamily="34" charset="0"/>
                <a:ea typeface="Calibri" pitchFamily="34" charset="-122"/>
                <a:cs typeface="Calibri" pitchFamily="34" charset="-120"/>
              </a:rPr>
              <a:t>Quality measured by PSNR and SSIM; the parallel result is verified to be identical to the sequential one (MD5).</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4 · RESEARCH OBJECTIVE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What this work contributes</a:t>
            </a:r>
            <a:endParaRPr lang="en-US" sz="3000" dirty="0"/>
          </a:p>
        </p:txBody>
      </p:sp>
      <p:sp>
        <p:nvSpPr>
          <p:cNvPr id="5" name="Contribu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77240" cy="77724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17270" y="2068830"/>
            <a:ext cx="388620" cy="38862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Compression pipeline</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4×4 blocks → LBG (K = 64) → delta → Huffman; system CR counts every byte.</a:t>
            </a:r>
            <a:endParaRPr lang="en-US" sz="1500" dirty="0"/>
          </a:p>
        </p:txBody>
      </p:sp>
      <p:sp>
        <p:nvSpPr>
          <p:cNvPr id="10" name="Contribu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77240" cy="77724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40830" y="2068830"/>
            <a:ext cx="388620" cy="38862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MPI parallel LBG</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Scatterv + Allreduce SPMD design, exact and independent of process count.</a:t>
            </a:r>
            <a:endParaRPr lang="en-US" sz="1500" dirty="0"/>
          </a:p>
        </p:txBody>
      </p:sp>
      <p:sp>
        <p:nvSpPr>
          <p:cNvPr id="15" name="Contribu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77240" cy="77724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17270" y="4446270"/>
            <a:ext cx="388620" cy="38862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Speed-aware distribution</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Adaptive vector allocation for P-cores and E-cores; 17–28% faster LBG than Equal at P = 8–14.</a:t>
            </a:r>
            <a:endParaRPr lang="en-US" sz="1500" dirty="0"/>
          </a:p>
        </p:txBody>
      </p:sp>
      <p:sp>
        <p:nvSpPr>
          <p:cNvPr id="20" name="Contribu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77240" cy="777240"/>
          </a:xfrm>
          <a:prstGeom prst="ellipse">
            <a:avLst/>
          </a:prstGeom>
          <a:solidFill>
            <a:srgbClr val="F2B134"/>
          </a:solidFill>
          <a:ln w="12700">
            <a:solidFill>
              <a:srgbClr val="F2B134"/>
            </a:solidFill>
            <a:prstDash val="solid"/>
          </a:ln>
        </p:spPr>
      </p:sp>
      <p:pic>
        <p:nvPicPr>
          <p:cNvPr id="22" name="Icon" descr="preencoded.png">    </p:cNvPr>
          <p:cNvPicPr>
            <a:picLocks noChangeAspect="1"/>
          </p:cNvPicPr>
          <p:nvPr/>
        </p:nvPicPr>
        <p:blipFill>
          <a:blip r:embed="rId4"/>
          <a:stretch>
            <a:fillRect/>
          </a:stretch>
        </p:blipFill>
        <p:spPr>
          <a:xfrm>
            <a:off x="6640830" y="4446270"/>
            <a:ext cx="388620" cy="38862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Rigorous evaluation</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Median of 5, CPU binding, Karp–Flatt, throughput, and MD5-verified equivalence.</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Compression pipeline</a:t>
            </a:r>
            <a:endParaRPr lang="en-US" sz="3000" dirty="0"/>
          </a:p>
        </p:txBody>
      </p:sp>
      <p:sp>
        <p:nvSpPr>
          <p:cNvPr id="5" name="Pipeline step 1"/>
          <p:cNvSpPr/>
          <p:nvPr/>
        </p:nvSpPr>
        <p:spPr>
          <a:xfrm>
            <a:off x="548640" y="2103120"/>
            <a:ext cx="1481328" cy="1737360"/>
          </a:xfrm>
          <a:prstGeom prst="roundRect">
            <a:avLst>
              <a:gd name="adj" fmla="val 7407"/>
            </a:avLst>
          </a:prstGeom>
          <a:solidFill>
            <a:srgbClr val="2E2055"/>
          </a:solidFill>
          <a:ln w="12700">
            <a:solidFill>
              <a:srgbClr val="2E2055"/>
            </a:solidFill>
            <a:prstDash val="solid"/>
          </a:ln>
        </p:spPr>
      </p:sp>
      <p:sp>
        <p:nvSpPr>
          <p:cNvPr id="6" name="Text 3"/>
          <p:cNvSpPr txBox="1"/>
          <p:nvPr/>
        </p:nvSpPr>
        <p:spPr>
          <a:xfrm>
            <a:off x="621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Image</a:t>
            </a:r>
            <a:endParaRPr lang="en-US" sz="1600" dirty="0"/>
          </a:p>
        </p:txBody>
      </p:sp>
      <p:sp>
        <p:nvSpPr>
          <p:cNvPr id="7" name="Text 4"/>
          <p:cNvSpPr txBox="1"/>
          <p:nvPr/>
        </p:nvSpPr>
        <p:spPr>
          <a:xfrm>
            <a:off x="621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512×512</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8-bit</a:t>
            </a:r>
            <a:endParaRPr lang="en-US" sz="1300" dirty="0"/>
          </a:p>
        </p:txBody>
      </p:sp>
      <p:sp>
        <p:nvSpPr>
          <p:cNvPr id="8" name="Pipeline step 2"/>
          <p:cNvSpPr/>
          <p:nvPr/>
        </p:nvSpPr>
        <p:spPr>
          <a:xfrm>
            <a:off x="2148840" y="2103120"/>
            <a:ext cx="1481328" cy="1737360"/>
          </a:xfrm>
          <a:prstGeom prst="roundRect">
            <a:avLst>
              <a:gd name="adj" fmla="val 7407"/>
            </a:avLst>
          </a:prstGeom>
          <a:solidFill>
            <a:srgbClr val="6B4FA3"/>
          </a:solidFill>
          <a:ln w="12700">
            <a:solidFill>
              <a:srgbClr val="6B4FA3"/>
            </a:solidFill>
            <a:prstDash val="solid"/>
          </a:ln>
        </p:spPr>
      </p:sp>
      <p:sp>
        <p:nvSpPr>
          <p:cNvPr id="9" name="Text 6"/>
          <p:cNvSpPr txBox="1"/>
          <p:nvPr/>
        </p:nvSpPr>
        <p:spPr>
          <a:xfrm>
            <a:off x="2221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4×4 blocks</a:t>
            </a:r>
            <a:endParaRPr lang="en-US" sz="1600" dirty="0"/>
          </a:p>
        </p:txBody>
      </p:sp>
      <p:sp>
        <p:nvSpPr>
          <p:cNvPr id="10" name="Text 7"/>
          <p:cNvSpPr txBox="1"/>
          <p:nvPr/>
        </p:nvSpPr>
        <p:spPr>
          <a:xfrm>
            <a:off x="2221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16,384 vectors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16-D</a:t>
            </a:r>
            <a:endParaRPr lang="en-US" sz="1300" dirty="0"/>
          </a:p>
        </p:txBody>
      </p:sp>
      <p:sp>
        <p:nvSpPr>
          <p:cNvPr id="11" name="Pipeline step 3"/>
          <p:cNvSpPr/>
          <p:nvPr/>
        </p:nvSpPr>
        <p:spPr>
          <a:xfrm>
            <a:off x="3749040" y="2103120"/>
            <a:ext cx="1481328" cy="1737360"/>
          </a:xfrm>
          <a:prstGeom prst="roundRect">
            <a:avLst>
              <a:gd name="adj" fmla="val 7407"/>
            </a:avLst>
          </a:prstGeom>
          <a:solidFill>
            <a:srgbClr val="E0457B"/>
          </a:solidFill>
          <a:ln w="12700">
            <a:solidFill>
              <a:srgbClr val="E0457B"/>
            </a:solidFill>
            <a:prstDash val="solid"/>
          </a:ln>
        </p:spPr>
      </p:sp>
      <p:sp>
        <p:nvSpPr>
          <p:cNvPr id="12" name="Text 9"/>
          <p:cNvSpPr txBox="1"/>
          <p:nvPr/>
        </p:nvSpPr>
        <p:spPr>
          <a:xfrm>
            <a:off x="38221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LBG-VQ</a:t>
            </a:r>
            <a:endParaRPr lang="en-US" sz="1600" dirty="0"/>
          </a:p>
        </p:txBody>
      </p:sp>
      <p:sp>
        <p:nvSpPr>
          <p:cNvPr id="13" name="Text 10"/>
          <p:cNvSpPr txBox="1"/>
          <p:nvPr/>
        </p:nvSpPr>
        <p:spPr>
          <a:xfrm>
            <a:off x="38221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codebook K = 64</a:t>
            </a:r>
            <a:endParaRPr lang="en-US" sz="1300" dirty="0"/>
          </a:p>
        </p:txBody>
      </p:sp>
      <p:sp>
        <p:nvSpPr>
          <p:cNvPr id="14" name="Pipeline step 4"/>
          <p:cNvSpPr/>
          <p:nvPr/>
        </p:nvSpPr>
        <p:spPr>
          <a:xfrm>
            <a:off x="5349240" y="2103120"/>
            <a:ext cx="1481328" cy="1737360"/>
          </a:xfrm>
          <a:prstGeom prst="roundRect">
            <a:avLst>
              <a:gd name="adj" fmla="val 7407"/>
            </a:avLst>
          </a:prstGeom>
          <a:solidFill>
            <a:srgbClr val="6B4FA3"/>
          </a:solidFill>
          <a:ln w="12700">
            <a:solidFill>
              <a:srgbClr val="6B4FA3"/>
            </a:solidFill>
            <a:prstDash val="solid"/>
          </a:ln>
        </p:spPr>
      </p:sp>
      <p:sp>
        <p:nvSpPr>
          <p:cNvPr id="15" name="Text 12"/>
          <p:cNvSpPr txBox="1"/>
          <p:nvPr/>
        </p:nvSpPr>
        <p:spPr>
          <a:xfrm>
            <a:off x="54223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Index map</a:t>
            </a:r>
            <a:endParaRPr lang="en-US" sz="1600" dirty="0"/>
          </a:p>
        </p:txBody>
      </p:sp>
      <p:sp>
        <p:nvSpPr>
          <p:cNvPr id="16" name="Text 13"/>
          <p:cNvSpPr txBox="1"/>
          <p:nvPr/>
        </p:nvSpPr>
        <p:spPr>
          <a:xfrm>
            <a:off x="54223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one label</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per block</a:t>
            </a:r>
            <a:endParaRPr lang="en-US" sz="1300" dirty="0"/>
          </a:p>
        </p:txBody>
      </p:sp>
      <p:sp>
        <p:nvSpPr>
          <p:cNvPr id="17" name="Pipeline step 5"/>
          <p:cNvSpPr/>
          <p:nvPr/>
        </p:nvSpPr>
        <p:spPr>
          <a:xfrm>
            <a:off x="6949440" y="2103120"/>
            <a:ext cx="1481328" cy="1737360"/>
          </a:xfrm>
          <a:prstGeom prst="roundRect">
            <a:avLst>
              <a:gd name="adj" fmla="val 7407"/>
            </a:avLst>
          </a:prstGeom>
          <a:solidFill>
            <a:srgbClr val="2E2055"/>
          </a:solidFill>
          <a:ln w="12700">
            <a:solidFill>
              <a:srgbClr val="2E2055"/>
            </a:solidFill>
            <a:prstDash val="solid"/>
          </a:ln>
        </p:spPr>
      </p:sp>
      <p:sp>
        <p:nvSpPr>
          <p:cNvPr id="18" name="Text 15"/>
          <p:cNvSpPr txBox="1"/>
          <p:nvPr/>
        </p:nvSpPr>
        <p:spPr>
          <a:xfrm>
            <a:off x="70225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Delta coding</a:t>
            </a:r>
            <a:endParaRPr lang="en-US" sz="1600" dirty="0"/>
          </a:p>
        </p:txBody>
      </p:sp>
      <p:sp>
        <p:nvSpPr>
          <p:cNvPr id="19" name="Text 16"/>
          <p:cNvSpPr txBox="1"/>
          <p:nvPr/>
        </p:nvSpPr>
        <p:spPr>
          <a:xfrm>
            <a:off x="70225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offset 128</a:t>
            </a:r>
            <a:endParaRPr lang="en-US" sz="1300" dirty="0"/>
          </a:p>
        </p:txBody>
      </p:sp>
      <p:sp>
        <p:nvSpPr>
          <p:cNvPr id="20" name="Pipeline step 6"/>
          <p:cNvSpPr/>
          <p:nvPr/>
        </p:nvSpPr>
        <p:spPr>
          <a:xfrm>
            <a:off x="8549640" y="2103120"/>
            <a:ext cx="1481328" cy="1737360"/>
          </a:xfrm>
          <a:prstGeom prst="roundRect">
            <a:avLst>
              <a:gd name="adj" fmla="val 7407"/>
            </a:avLst>
          </a:prstGeom>
          <a:solidFill>
            <a:srgbClr val="6B4FA3"/>
          </a:solidFill>
          <a:ln w="12700">
            <a:solidFill>
              <a:srgbClr val="6B4FA3"/>
            </a:solidFill>
            <a:prstDash val="solid"/>
          </a:ln>
        </p:spPr>
      </p:sp>
      <p:sp>
        <p:nvSpPr>
          <p:cNvPr id="21" name="Text 18"/>
          <p:cNvSpPr txBox="1"/>
          <p:nvPr/>
        </p:nvSpPr>
        <p:spPr>
          <a:xfrm>
            <a:off x="8622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Huffman</a:t>
            </a:r>
            <a:endParaRPr lang="en-US" sz="1600" dirty="0"/>
          </a:p>
        </p:txBody>
      </p:sp>
      <p:sp>
        <p:nvSpPr>
          <p:cNvPr id="22" name="Text 19"/>
          <p:cNvSpPr txBox="1"/>
          <p:nvPr/>
        </p:nvSpPr>
        <p:spPr>
          <a:xfrm>
            <a:off x="8622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entropy code</a:t>
            </a:r>
            <a:endParaRPr lang="en-US" sz="1300" dirty="0"/>
          </a:p>
        </p:txBody>
      </p:sp>
      <p:sp>
        <p:nvSpPr>
          <p:cNvPr id="23" name="Pipeline step 7"/>
          <p:cNvSpPr/>
          <p:nvPr/>
        </p:nvSpPr>
        <p:spPr>
          <a:xfrm>
            <a:off x="10149840" y="2103120"/>
            <a:ext cx="1481328" cy="1737360"/>
          </a:xfrm>
          <a:prstGeom prst="roundRect">
            <a:avLst>
              <a:gd name="adj" fmla="val 7407"/>
            </a:avLst>
          </a:prstGeom>
          <a:solidFill>
            <a:srgbClr val="2E2055"/>
          </a:solidFill>
          <a:ln w="12700">
            <a:solidFill>
              <a:srgbClr val="2E2055"/>
            </a:solidFill>
            <a:prstDash val="solid"/>
          </a:ln>
        </p:spPr>
      </p:sp>
      <p:sp>
        <p:nvSpPr>
          <p:cNvPr id="24" name="Text 21"/>
          <p:cNvSpPr txBox="1"/>
          <p:nvPr/>
        </p:nvSpPr>
        <p:spPr>
          <a:xfrm>
            <a:off x="10222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Bitstream</a:t>
            </a:r>
            <a:endParaRPr lang="en-US" sz="1600" dirty="0"/>
          </a:p>
        </p:txBody>
      </p:sp>
      <p:sp>
        <p:nvSpPr>
          <p:cNvPr id="25" name="Text 22"/>
          <p:cNvSpPr txBox="1"/>
          <p:nvPr/>
        </p:nvSpPr>
        <p:spPr>
          <a:xfrm>
            <a:off x="10222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data + table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 codebook</a:t>
            </a:r>
            <a:endParaRPr lang="en-US" sz="1300" dirty="0"/>
          </a:p>
        </p:txBody>
      </p:sp>
      <p:sp>
        <p:nvSpPr>
          <p:cNvPr id="26" name="Encoder card"/>
          <p:cNvSpPr/>
          <p:nvPr/>
        </p:nvSpPr>
        <p:spPr>
          <a:xfrm>
            <a:off x="548640" y="4297680"/>
            <a:ext cx="5394960" cy="1874520"/>
          </a:xfrm>
          <a:prstGeom prst="roundRect">
            <a:avLst>
              <a:gd name="adj" fmla="val 5854"/>
            </a:avLst>
          </a:prstGeom>
          <a:solidFill>
            <a:srgbClr val="F5F1FB"/>
          </a:solidFill>
          <a:ln w="12700">
            <a:solidFill>
              <a:srgbClr val="F5F1FB"/>
            </a:solidFill>
            <a:prstDash val="solid"/>
          </a:ln>
        </p:spPr>
      </p:sp>
      <p:sp>
        <p:nvSpPr>
          <p:cNvPr id="27" name="Text 24"/>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Encoder</a:t>
            </a:r>
            <a:endParaRPr lang="en-US" sz="1800" dirty="0"/>
          </a:p>
        </p:txBody>
      </p:sp>
      <p:sp>
        <p:nvSpPr>
          <p:cNvPr id="28" name="Text 25"/>
          <p:cNvSpPr txBox="1"/>
          <p:nvPr/>
        </p:nvSpPr>
        <p:spPr>
          <a:xfrm>
            <a:off x="822960"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The expensive step is LBG training: that is the stage parallelized with MPI. Delta and Huffman run on rank 0.</a:t>
            </a:r>
            <a:endParaRPr lang="en-US" sz="1500" dirty="0"/>
          </a:p>
        </p:txBody>
      </p:sp>
      <p:sp>
        <p:nvSpPr>
          <p:cNvPr id="29" name="Decoder card"/>
          <p:cNvSpPr/>
          <p:nvPr/>
        </p:nvSpPr>
        <p:spPr>
          <a:xfrm>
            <a:off x="6245352" y="4297680"/>
            <a:ext cx="5394960" cy="1874520"/>
          </a:xfrm>
          <a:prstGeom prst="roundRect">
            <a:avLst>
              <a:gd name="adj" fmla="val 5854"/>
            </a:avLst>
          </a:prstGeom>
          <a:solidFill>
            <a:srgbClr val="F5F1FB"/>
          </a:solidFill>
          <a:ln w="12700">
            <a:solidFill>
              <a:srgbClr val="F5F1FB"/>
            </a:solidFill>
            <a:prstDash val="solid"/>
          </a:ln>
        </p:spPr>
      </p:sp>
      <p:sp>
        <p:nvSpPr>
          <p:cNvPr id="30" name="Text 27"/>
          <p:cNvSpPr txBox="1"/>
          <p:nvPr/>
        </p:nvSpPr>
        <p:spPr>
          <a:xfrm>
            <a:off x="6519672" y="4434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Decoder</a:t>
            </a:r>
            <a:endParaRPr lang="en-US" sz="1800" dirty="0"/>
          </a:p>
        </p:txBody>
      </p:sp>
      <p:sp>
        <p:nvSpPr>
          <p:cNvPr id="31" name="Text 28"/>
          <p:cNvSpPr txBox="1"/>
          <p:nvPr/>
        </p:nvSpPr>
        <p:spPr>
          <a:xfrm>
            <a:off x="6519672"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decode → undo delta → look up each index in the codebook → rebuild the 4×4 blocks.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From pixels to 16-dimensional vectors</a:t>
            </a:r>
            <a:endParaRPr lang="en-US" sz="3000" dirty="0"/>
          </a:p>
        </p:txBody>
      </p:sp>
      <p:pic>
        <p:nvPicPr>
          <p:cNvPr id="5" name="Cameraman zoom" descr="/home/user/mihk/results/seminar/assets/cam_orig_zoom.png">    </p:cNvPr>
          <p:cNvPicPr>
            <a:picLocks noChangeAspect="1"/>
          </p:cNvPicPr>
          <p:nvPr/>
        </p:nvPicPr>
        <p:blipFill>
          <a:blip r:embed="rId1"/>
          <a:stretch>
            <a:fillRect/>
          </a:stretch>
        </p:blipFill>
        <p:spPr>
          <a:xfrm>
            <a:off x="548640" y="1508760"/>
            <a:ext cx="4206240" cy="4206240"/>
          </a:xfrm>
          <a:prstGeom prst="rect">
            <a:avLst/>
          </a:prstGeom>
        </p:spPr>
      </p:pic>
      <p:sp>
        <p:nvSpPr>
          <p:cNvPr id="6" name="Grid v"/>
          <p:cNvSpPr/>
          <p:nvPr/>
        </p:nvSpPr>
        <p:spPr>
          <a:xfrm>
            <a:off x="548640" y="1508760"/>
            <a:ext cx="0" cy="4206240"/>
          </a:xfrm>
          <a:prstGeom prst="line">
            <a:avLst/>
          </a:prstGeom>
          <a:noFill/>
          <a:ln w="6350">
            <a:solidFill>
              <a:srgbClr val="FFFFFF">
                <a:alpha val="60000"/>
              </a:srgbClr>
            </a:solidFill>
            <a:prstDash val="solid"/>
          </a:ln>
        </p:spPr>
      </p:sp>
      <p:sp>
        <p:nvSpPr>
          <p:cNvPr id="7" name="Grid h"/>
          <p:cNvSpPr/>
          <p:nvPr/>
        </p:nvSpPr>
        <p:spPr>
          <a:xfrm>
            <a:off x="548640" y="1508760"/>
            <a:ext cx="4206240" cy="0"/>
          </a:xfrm>
          <a:prstGeom prst="line">
            <a:avLst/>
          </a:prstGeom>
          <a:noFill/>
          <a:ln w="6350">
            <a:solidFill>
              <a:srgbClr val="FFFFFF">
                <a:alpha val="60000"/>
              </a:srgbClr>
            </a:solidFill>
            <a:prstDash val="solid"/>
          </a:ln>
        </p:spPr>
      </p:sp>
      <p:sp>
        <p:nvSpPr>
          <p:cNvPr id="8" name="Grid v"/>
          <p:cNvSpPr/>
          <p:nvPr/>
        </p:nvSpPr>
        <p:spPr>
          <a:xfrm>
            <a:off x="1249680" y="1508760"/>
            <a:ext cx="0" cy="4206240"/>
          </a:xfrm>
          <a:prstGeom prst="line">
            <a:avLst/>
          </a:prstGeom>
          <a:noFill/>
          <a:ln w="6350">
            <a:solidFill>
              <a:srgbClr val="FFFFFF">
                <a:alpha val="60000"/>
              </a:srgbClr>
            </a:solidFill>
            <a:prstDash val="solid"/>
          </a:ln>
        </p:spPr>
      </p:sp>
      <p:sp>
        <p:nvSpPr>
          <p:cNvPr id="9" name="Grid h"/>
          <p:cNvSpPr/>
          <p:nvPr/>
        </p:nvSpPr>
        <p:spPr>
          <a:xfrm>
            <a:off x="548640" y="2209800"/>
            <a:ext cx="4206240" cy="0"/>
          </a:xfrm>
          <a:prstGeom prst="line">
            <a:avLst/>
          </a:prstGeom>
          <a:noFill/>
          <a:ln w="6350">
            <a:solidFill>
              <a:srgbClr val="FFFFFF">
                <a:alpha val="60000"/>
              </a:srgbClr>
            </a:solidFill>
            <a:prstDash val="solid"/>
          </a:ln>
        </p:spPr>
      </p:sp>
      <p:sp>
        <p:nvSpPr>
          <p:cNvPr id="10" name="Grid v"/>
          <p:cNvSpPr/>
          <p:nvPr/>
        </p:nvSpPr>
        <p:spPr>
          <a:xfrm>
            <a:off x="1950720" y="1508760"/>
            <a:ext cx="0" cy="4206240"/>
          </a:xfrm>
          <a:prstGeom prst="line">
            <a:avLst/>
          </a:prstGeom>
          <a:noFill/>
          <a:ln w="6350">
            <a:solidFill>
              <a:srgbClr val="FFFFFF">
                <a:alpha val="60000"/>
              </a:srgbClr>
            </a:solidFill>
            <a:prstDash val="solid"/>
          </a:ln>
        </p:spPr>
      </p:sp>
      <p:sp>
        <p:nvSpPr>
          <p:cNvPr id="11" name="Grid h"/>
          <p:cNvSpPr/>
          <p:nvPr/>
        </p:nvSpPr>
        <p:spPr>
          <a:xfrm>
            <a:off x="548640" y="2910840"/>
            <a:ext cx="4206240" cy="0"/>
          </a:xfrm>
          <a:prstGeom prst="line">
            <a:avLst/>
          </a:prstGeom>
          <a:noFill/>
          <a:ln w="6350">
            <a:solidFill>
              <a:srgbClr val="FFFFFF">
                <a:alpha val="60000"/>
              </a:srgbClr>
            </a:solidFill>
            <a:prstDash val="solid"/>
          </a:ln>
        </p:spPr>
      </p:sp>
      <p:sp>
        <p:nvSpPr>
          <p:cNvPr id="12" name="Grid v"/>
          <p:cNvSpPr/>
          <p:nvPr/>
        </p:nvSpPr>
        <p:spPr>
          <a:xfrm>
            <a:off x="2651760" y="1508760"/>
            <a:ext cx="0" cy="4206240"/>
          </a:xfrm>
          <a:prstGeom prst="line">
            <a:avLst/>
          </a:prstGeom>
          <a:noFill/>
          <a:ln w="6350">
            <a:solidFill>
              <a:srgbClr val="FFFFFF">
                <a:alpha val="60000"/>
              </a:srgbClr>
            </a:solidFill>
            <a:prstDash val="solid"/>
          </a:ln>
        </p:spPr>
      </p:sp>
      <p:sp>
        <p:nvSpPr>
          <p:cNvPr id="13" name="Grid h"/>
          <p:cNvSpPr/>
          <p:nvPr/>
        </p:nvSpPr>
        <p:spPr>
          <a:xfrm>
            <a:off x="548640" y="3611880"/>
            <a:ext cx="4206240" cy="0"/>
          </a:xfrm>
          <a:prstGeom prst="line">
            <a:avLst/>
          </a:prstGeom>
          <a:noFill/>
          <a:ln w="6350">
            <a:solidFill>
              <a:srgbClr val="FFFFFF">
                <a:alpha val="60000"/>
              </a:srgbClr>
            </a:solidFill>
            <a:prstDash val="solid"/>
          </a:ln>
        </p:spPr>
      </p:sp>
      <p:sp>
        <p:nvSpPr>
          <p:cNvPr id="14" name="Grid v"/>
          <p:cNvSpPr/>
          <p:nvPr/>
        </p:nvSpPr>
        <p:spPr>
          <a:xfrm>
            <a:off x="3352800" y="1508760"/>
            <a:ext cx="0" cy="4206240"/>
          </a:xfrm>
          <a:prstGeom prst="line">
            <a:avLst/>
          </a:prstGeom>
          <a:noFill/>
          <a:ln w="6350">
            <a:solidFill>
              <a:srgbClr val="FFFFFF">
                <a:alpha val="60000"/>
              </a:srgbClr>
            </a:solidFill>
            <a:prstDash val="solid"/>
          </a:ln>
        </p:spPr>
      </p:sp>
      <p:sp>
        <p:nvSpPr>
          <p:cNvPr id="15" name="Grid h"/>
          <p:cNvSpPr/>
          <p:nvPr/>
        </p:nvSpPr>
        <p:spPr>
          <a:xfrm>
            <a:off x="548640" y="4312920"/>
            <a:ext cx="4206240" cy="0"/>
          </a:xfrm>
          <a:prstGeom prst="line">
            <a:avLst/>
          </a:prstGeom>
          <a:noFill/>
          <a:ln w="6350">
            <a:solidFill>
              <a:srgbClr val="FFFFFF">
                <a:alpha val="60000"/>
              </a:srgbClr>
            </a:solidFill>
            <a:prstDash val="solid"/>
          </a:ln>
        </p:spPr>
      </p:sp>
      <p:sp>
        <p:nvSpPr>
          <p:cNvPr id="16" name="Grid v"/>
          <p:cNvSpPr/>
          <p:nvPr/>
        </p:nvSpPr>
        <p:spPr>
          <a:xfrm>
            <a:off x="4053840" y="1508760"/>
            <a:ext cx="0" cy="4206240"/>
          </a:xfrm>
          <a:prstGeom prst="line">
            <a:avLst/>
          </a:prstGeom>
          <a:noFill/>
          <a:ln w="6350">
            <a:solidFill>
              <a:srgbClr val="FFFFFF">
                <a:alpha val="60000"/>
              </a:srgbClr>
            </a:solidFill>
            <a:prstDash val="solid"/>
          </a:ln>
        </p:spPr>
      </p:sp>
      <p:sp>
        <p:nvSpPr>
          <p:cNvPr id="17" name="Grid h"/>
          <p:cNvSpPr/>
          <p:nvPr/>
        </p:nvSpPr>
        <p:spPr>
          <a:xfrm>
            <a:off x="548640" y="5013960"/>
            <a:ext cx="4206240" cy="0"/>
          </a:xfrm>
          <a:prstGeom prst="line">
            <a:avLst/>
          </a:prstGeom>
          <a:noFill/>
          <a:ln w="6350">
            <a:solidFill>
              <a:srgbClr val="FFFFFF">
                <a:alpha val="60000"/>
              </a:srgbClr>
            </a:solidFill>
            <a:prstDash val="solid"/>
          </a:ln>
        </p:spPr>
      </p:sp>
      <p:sp>
        <p:nvSpPr>
          <p:cNvPr id="18" name="Grid v"/>
          <p:cNvSpPr/>
          <p:nvPr/>
        </p:nvSpPr>
        <p:spPr>
          <a:xfrm>
            <a:off x="4754880" y="1508760"/>
            <a:ext cx="0" cy="4206240"/>
          </a:xfrm>
          <a:prstGeom prst="line">
            <a:avLst/>
          </a:prstGeom>
          <a:noFill/>
          <a:ln w="6350">
            <a:solidFill>
              <a:srgbClr val="FFFFFF">
                <a:alpha val="60000"/>
              </a:srgbClr>
            </a:solidFill>
            <a:prstDash val="solid"/>
          </a:ln>
        </p:spPr>
      </p:sp>
      <p:sp>
        <p:nvSpPr>
          <p:cNvPr id="19" name="Grid h"/>
          <p:cNvSpPr/>
          <p:nvPr/>
        </p:nvSpPr>
        <p:spPr>
          <a:xfrm>
            <a:off x="548640" y="5715000"/>
            <a:ext cx="4206240" cy="0"/>
          </a:xfrm>
          <a:prstGeom prst="line">
            <a:avLst/>
          </a:prstGeom>
          <a:noFill/>
          <a:ln w="6350">
            <a:solidFill>
              <a:srgbClr val="FFFFFF">
                <a:alpha val="60000"/>
              </a:srgbClr>
            </a:solidFill>
            <a:prstDash val="solid"/>
          </a:ln>
        </p:spPr>
      </p:sp>
      <p:sp>
        <p:nvSpPr>
          <p:cNvPr id="20" name="Highlighted block"/>
          <p:cNvSpPr/>
          <p:nvPr/>
        </p:nvSpPr>
        <p:spPr>
          <a:xfrm>
            <a:off x="1950720" y="2910840"/>
            <a:ext cx="701040" cy="701040"/>
          </a:xfrm>
          <a:prstGeom prst="rect">
            <a:avLst/>
          </a:prstGeom>
          <a:solidFill>
            <a:srgbClr val="E0457B">
              <a:alpha val="0"/>
            </a:srgbClr>
          </a:solidFill>
          <a:ln w="31750">
            <a:solidFill>
              <a:srgbClr val="E0457B"/>
            </a:solidFill>
            <a:prstDash val="solid"/>
          </a:ln>
        </p:spPr>
      </p:sp>
      <p:sp>
        <p:nvSpPr>
          <p:cNvPr id="21" name="Text 17"/>
          <p:cNvSpPr txBox="1"/>
          <p:nvPr/>
        </p:nvSpPr>
        <p:spPr>
          <a:xfrm>
            <a:off x="548640" y="5779008"/>
            <a:ext cx="4206240" cy="45720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96×96 region of Cameraman, with the 4×4 block grid</a:t>
            </a:r>
            <a:endParaRPr lang="en-US" sz="1200" dirty="0"/>
          </a:p>
        </p:txBody>
      </p:sp>
      <p:sp>
        <p:nvSpPr>
          <p:cNvPr id="22" name="Arrow"/>
          <p:cNvSpPr/>
          <p:nvPr/>
        </p:nvSpPr>
        <p:spPr>
          <a:xfrm>
            <a:off x="4983480" y="3291840"/>
            <a:ext cx="822960" cy="502920"/>
          </a:xfrm>
          <a:prstGeom prst="rightArrow">
            <a:avLst/>
          </a:prstGeom>
          <a:solidFill>
            <a:srgbClr val="A794D6"/>
          </a:solidFill>
          <a:ln w="12700">
            <a:solidFill>
              <a:srgbClr val="A794D6"/>
            </a:solidFill>
            <a:prstDash val="solid"/>
          </a:ln>
        </p:spPr>
      </p:sp>
      <p:sp>
        <p:nvSpPr>
          <p:cNvPr id="23" name="Vector card"/>
          <p:cNvSpPr/>
          <p:nvPr/>
        </p:nvSpPr>
        <p:spPr>
          <a:xfrm>
            <a:off x="6035040" y="1508760"/>
            <a:ext cx="5605272" cy="2148840"/>
          </a:xfrm>
          <a:prstGeom prst="roundRect">
            <a:avLst>
              <a:gd name="adj" fmla="val 5106"/>
            </a:avLst>
          </a:prstGeom>
          <a:solidFill>
            <a:srgbClr val="F5F1FB"/>
          </a:solidFill>
          <a:ln w="12700">
            <a:solidFill>
              <a:srgbClr val="F5F1FB"/>
            </a:solidFill>
            <a:prstDash val="solid"/>
          </a:ln>
        </p:spPr>
      </p:sp>
      <p:sp>
        <p:nvSpPr>
          <p:cNvPr id="24" name="Text 20"/>
          <p:cNvSpPr txBox="1"/>
          <p:nvPr/>
        </p:nvSpPr>
        <p:spPr>
          <a:xfrm>
            <a:off x="6309360" y="1645920"/>
            <a:ext cx="502920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One block = one vector</a:t>
            </a:r>
            <a:endParaRPr lang="en-US" sz="1800" dirty="0"/>
          </a:p>
        </p:txBody>
      </p:sp>
      <p:sp>
        <p:nvSpPr>
          <p:cNvPr id="25" name="Text 21"/>
          <p:cNvSpPr txBox="1"/>
          <p:nvPr/>
        </p:nvSpPr>
        <p:spPr>
          <a:xfrm>
            <a:off x="6309360" y="2103120"/>
            <a:ext cx="5029200" cy="457200"/>
          </a:xfrm>
          <a:prstGeom prst="rect">
            <a:avLst/>
          </a:prstGeom>
          <a:noFill/>
          <a:ln/>
        </p:spPr>
        <p:txBody>
          <a:bodyPr wrap="square" lIns="0" tIns="0" rIns="0" bIns="0" rtlCol="0" anchor="t"/>
          <a:lstStyle/>
          <a:p>
            <a:pPr indent="0" marL="0">
              <a:buNone/>
            </a:pPr>
            <a:r>
              <a:rPr lang="en-US" sz="1600" dirty="0">
                <a:solidFill>
                  <a:srgbClr val="1F1A33"/>
                </a:solidFill>
                <a:latin typeface="Calibri" pitchFamily="34" charset="0"/>
                <a:ea typeface="Calibri" pitchFamily="34" charset="-122"/>
                <a:cs typeface="Calibri" pitchFamily="34" charset="-120"/>
              </a:rPr>
              <a:t>x = (p₁, p₂, …, p₁₆)  with 16 pixel values 0…255</a:t>
            </a:r>
            <a:endParaRPr lang="en-US" sz="1600" dirty="0"/>
          </a:p>
        </p:txBody>
      </p:sp>
      <p:sp>
        <p:nvSpPr>
          <p:cNvPr id="26" name="Text 22"/>
          <p:cNvSpPr txBox="1"/>
          <p:nvPr/>
        </p:nvSpPr>
        <p:spPr>
          <a:xfrm>
            <a:off x="6309360" y="2651760"/>
            <a:ext cx="5029200" cy="8229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512×512 image gives 16,384 training vectors.</a:t>
            </a:r>
            <a:endParaRPr lang="en-US" sz="1500" dirty="0"/>
          </a:p>
        </p:txBody>
      </p:sp>
      <p:sp>
        <p:nvSpPr>
          <p:cNvPr id="27" name="Codebook card"/>
          <p:cNvSpPr/>
          <p:nvPr/>
        </p:nvSpPr>
        <p:spPr>
          <a:xfrm>
            <a:off x="6035040" y="3886200"/>
            <a:ext cx="5605272" cy="2286000"/>
          </a:xfrm>
          <a:prstGeom prst="roundRect">
            <a:avLst>
              <a:gd name="adj" fmla="val 4800"/>
            </a:avLst>
          </a:prstGeom>
          <a:solidFill>
            <a:srgbClr val="F5F1FB"/>
          </a:solidFill>
          <a:ln w="12700">
            <a:solidFill>
              <a:srgbClr val="F5F1FB"/>
            </a:solidFill>
            <a:prstDash val="solid"/>
          </a:ln>
        </p:spPr>
      </p:sp>
      <p:sp>
        <p:nvSpPr>
          <p:cNvPr id="28" name="Text 24"/>
          <p:cNvSpPr txBox="1"/>
          <p:nvPr/>
        </p:nvSpPr>
        <p:spPr>
          <a:xfrm>
            <a:off x="6309360" y="4023360"/>
            <a:ext cx="502920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Vector quantization</a:t>
            </a:r>
            <a:endParaRPr lang="en-US" sz="1800" dirty="0"/>
          </a:p>
        </p:txBody>
      </p:sp>
      <p:sp>
        <p:nvSpPr>
          <p:cNvPr id="29" name="Text 25"/>
          <p:cNvSpPr txBox="1"/>
          <p:nvPr/>
        </p:nvSpPr>
        <p:spPr>
          <a:xfrm>
            <a:off x="6309360" y="4480560"/>
            <a:ext cx="5029200" cy="15544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vector is replaced by the index of its nearest codeword. With K = 64 the codebook costs only 64 × 16 = 1,024 bytes, and each index needs at most 6 bits before entropy coding.</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splitting + Lloyd iterations</a:t>
            </a:r>
            <a:endParaRPr lang="en-US" sz="3000" dirty="0"/>
          </a:p>
        </p:txBody>
      </p:sp>
      <p:sp>
        <p:nvSpPr>
          <p:cNvPr id="5" name="Codebook size 1"/>
          <p:cNvSpPr/>
          <p:nvPr/>
        </p:nvSpPr>
        <p:spPr>
          <a:xfrm>
            <a:off x="548640" y="1600200"/>
            <a:ext cx="1371600" cy="914400"/>
          </a:xfrm>
          <a:prstGeom prst="roundRect">
            <a:avLst>
              <a:gd name="adj" fmla="val 10000"/>
            </a:avLst>
          </a:prstGeom>
          <a:solidFill>
            <a:srgbClr val="6B4FA3"/>
          </a:solidFill>
          <a:ln w="12700">
            <a:solidFill>
              <a:srgbClr val="FFFFFF"/>
            </a:solidFill>
            <a:prstDash val="solid"/>
          </a:ln>
        </p:spPr>
      </p:sp>
      <p:sp>
        <p:nvSpPr>
          <p:cNvPr id="6" name="Text 3"/>
          <p:cNvSpPr txBox="1"/>
          <p:nvPr/>
        </p:nvSpPr>
        <p:spPr>
          <a:xfrm>
            <a:off x="54864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a:t>
            </a:r>
            <a:endParaRPr lang="en-US" sz="2000" dirty="0"/>
          </a:p>
        </p:txBody>
      </p:sp>
      <p:sp>
        <p:nvSpPr>
          <p:cNvPr id="7" name="Split arrow"/>
          <p:cNvSpPr/>
          <p:nvPr/>
        </p:nvSpPr>
        <p:spPr>
          <a:xfrm>
            <a:off x="1938528" y="1892808"/>
            <a:ext cx="219456" cy="329184"/>
          </a:xfrm>
          <a:prstGeom prst="rightArrow">
            <a:avLst/>
          </a:prstGeom>
          <a:solidFill>
            <a:srgbClr val="A794D6"/>
          </a:solidFill>
          <a:ln w="12700">
            <a:solidFill>
              <a:srgbClr val="A794D6"/>
            </a:solidFill>
            <a:prstDash val="solid"/>
          </a:ln>
        </p:spPr>
      </p:sp>
      <p:sp>
        <p:nvSpPr>
          <p:cNvPr id="8" name="Codebook size 2"/>
          <p:cNvSpPr/>
          <p:nvPr/>
        </p:nvSpPr>
        <p:spPr>
          <a:xfrm>
            <a:off x="2157984" y="1600200"/>
            <a:ext cx="1371600" cy="914400"/>
          </a:xfrm>
          <a:prstGeom prst="roundRect">
            <a:avLst>
              <a:gd name="adj" fmla="val 10000"/>
            </a:avLst>
          </a:prstGeom>
          <a:solidFill>
            <a:srgbClr val="6B4FA3"/>
          </a:solidFill>
          <a:ln w="12700">
            <a:solidFill>
              <a:srgbClr val="FFFFFF"/>
            </a:solidFill>
            <a:prstDash val="solid"/>
          </a:ln>
        </p:spPr>
      </p:sp>
      <p:sp>
        <p:nvSpPr>
          <p:cNvPr id="9" name="Text 6"/>
          <p:cNvSpPr txBox="1"/>
          <p:nvPr/>
        </p:nvSpPr>
        <p:spPr>
          <a:xfrm>
            <a:off x="215798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2</a:t>
            </a:r>
            <a:endParaRPr lang="en-US" sz="2000" dirty="0"/>
          </a:p>
        </p:txBody>
      </p:sp>
      <p:sp>
        <p:nvSpPr>
          <p:cNvPr id="10" name="Split arrow"/>
          <p:cNvSpPr/>
          <p:nvPr/>
        </p:nvSpPr>
        <p:spPr>
          <a:xfrm>
            <a:off x="3547872" y="1892808"/>
            <a:ext cx="219456" cy="329184"/>
          </a:xfrm>
          <a:prstGeom prst="rightArrow">
            <a:avLst/>
          </a:prstGeom>
          <a:solidFill>
            <a:srgbClr val="A794D6"/>
          </a:solidFill>
          <a:ln w="12700">
            <a:solidFill>
              <a:srgbClr val="A794D6"/>
            </a:solidFill>
            <a:prstDash val="solid"/>
          </a:ln>
        </p:spPr>
      </p:sp>
      <p:sp>
        <p:nvSpPr>
          <p:cNvPr id="11" name="Codebook size 4"/>
          <p:cNvSpPr/>
          <p:nvPr/>
        </p:nvSpPr>
        <p:spPr>
          <a:xfrm>
            <a:off x="3767328" y="1600200"/>
            <a:ext cx="1371600" cy="914400"/>
          </a:xfrm>
          <a:prstGeom prst="roundRect">
            <a:avLst>
              <a:gd name="adj" fmla="val 10000"/>
            </a:avLst>
          </a:prstGeom>
          <a:solidFill>
            <a:srgbClr val="6B4FA3"/>
          </a:solidFill>
          <a:ln w="12700">
            <a:solidFill>
              <a:srgbClr val="FFFFFF"/>
            </a:solidFill>
            <a:prstDash val="solid"/>
          </a:ln>
        </p:spPr>
      </p:sp>
      <p:sp>
        <p:nvSpPr>
          <p:cNvPr id="12" name="Text 9"/>
          <p:cNvSpPr txBox="1"/>
          <p:nvPr/>
        </p:nvSpPr>
        <p:spPr>
          <a:xfrm>
            <a:off x="3767328"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4</a:t>
            </a:r>
            <a:endParaRPr lang="en-US" sz="2000" dirty="0"/>
          </a:p>
        </p:txBody>
      </p:sp>
      <p:sp>
        <p:nvSpPr>
          <p:cNvPr id="13" name="Split arrow"/>
          <p:cNvSpPr/>
          <p:nvPr/>
        </p:nvSpPr>
        <p:spPr>
          <a:xfrm>
            <a:off x="5157216" y="1892808"/>
            <a:ext cx="219456" cy="329184"/>
          </a:xfrm>
          <a:prstGeom prst="rightArrow">
            <a:avLst/>
          </a:prstGeom>
          <a:solidFill>
            <a:srgbClr val="A794D6"/>
          </a:solidFill>
          <a:ln w="12700">
            <a:solidFill>
              <a:srgbClr val="A794D6"/>
            </a:solidFill>
            <a:prstDash val="solid"/>
          </a:ln>
        </p:spPr>
      </p:sp>
      <p:sp>
        <p:nvSpPr>
          <p:cNvPr id="14" name="Codebook size 8"/>
          <p:cNvSpPr/>
          <p:nvPr/>
        </p:nvSpPr>
        <p:spPr>
          <a:xfrm>
            <a:off x="5376672" y="1600200"/>
            <a:ext cx="1371600" cy="914400"/>
          </a:xfrm>
          <a:prstGeom prst="roundRect">
            <a:avLst>
              <a:gd name="adj" fmla="val 10000"/>
            </a:avLst>
          </a:prstGeom>
          <a:solidFill>
            <a:srgbClr val="6B4FA3"/>
          </a:solidFill>
          <a:ln w="12700">
            <a:solidFill>
              <a:srgbClr val="FFFFFF"/>
            </a:solidFill>
            <a:prstDash val="solid"/>
          </a:ln>
        </p:spPr>
      </p:sp>
      <p:sp>
        <p:nvSpPr>
          <p:cNvPr id="15" name="Text 12"/>
          <p:cNvSpPr txBox="1"/>
          <p:nvPr/>
        </p:nvSpPr>
        <p:spPr>
          <a:xfrm>
            <a:off x="5376672"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8</a:t>
            </a:r>
            <a:endParaRPr lang="en-US" sz="2000" dirty="0"/>
          </a:p>
        </p:txBody>
      </p:sp>
      <p:sp>
        <p:nvSpPr>
          <p:cNvPr id="16" name="Split arrow"/>
          <p:cNvSpPr/>
          <p:nvPr/>
        </p:nvSpPr>
        <p:spPr>
          <a:xfrm>
            <a:off x="6766560" y="1892808"/>
            <a:ext cx="219456" cy="329184"/>
          </a:xfrm>
          <a:prstGeom prst="rightArrow">
            <a:avLst/>
          </a:prstGeom>
          <a:solidFill>
            <a:srgbClr val="A794D6"/>
          </a:solidFill>
          <a:ln w="12700">
            <a:solidFill>
              <a:srgbClr val="A794D6"/>
            </a:solidFill>
            <a:prstDash val="solid"/>
          </a:ln>
        </p:spPr>
      </p:sp>
      <p:sp>
        <p:nvSpPr>
          <p:cNvPr id="17" name="Codebook size 16"/>
          <p:cNvSpPr/>
          <p:nvPr/>
        </p:nvSpPr>
        <p:spPr>
          <a:xfrm>
            <a:off x="6986016" y="1600200"/>
            <a:ext cx="1371600" cy="914400"/>
          </a:xfrm>
          <a:prstGeom prst="roundRect">
            <a:avLst>
              <a:gd name="adj" fmla="val 10000"/>
            </a:avLst>
          </a:prstGeom>
          <a:solidFill>
            <a:srgbClr val="6B4FA3"/>
          </a:solidFill>
          <a:ln w="12700">
            <a:solidFill>
              <a:srgbClr val="FFFFFF"/>
            </a:solidFill>
            <a:prstDash val="solid"/>
          </a:ln>
        </p:spPr>
      </p:sp>
      <p:sp>
        <p:nvSpPr>
          <p:cNvPr id="18" name="Text 15"/>
          <p:cNvSpPr txBox="1"/>
          <p:nvPr/>
        </p:nvSpPr>
        <p:spPr>
          <a:xfrm>
            <a:off x="6986016"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16</a:t>
            </a:r>
            <a:endParaRPr lang="en-US" sz="2000" dirty="0"/>
          </a:p>
        </p:txBody>
      </p:sp>
      <p:sp>
        <p:nvSpPr>
          <p:cNvPr id="19" name="Split arrow"/>
          <p:cNvSpPr/>
          <p:nvPr/>
        </p:nvSpPr>
        <p:spPr>
          <a:xfrm>
            <a:off x="8375904" y="1892808"/>
            <a:ext cx="219456" cy="329184"/>
          </a:xfrm>
          <a:prstGeom prst="rightArrow">
            <a:avLst/>
          </a:prstGeom>
          <a:solidFill>
            <a:srgbClr val="A794D6"/>
          </a:solidFill>
          <a:ln w="12700">
            <a:solidFill>
              <a:srgbClr val="A794D6"/>
            </a:solidFill>
            <a:prstDash val="solid"/>
          </a:ln>
        </p:spPr>
      </p:sp>
      <p:sp>
        <p:nvSpPr>
          <p:cNvPr id="20" name="Codebook size 32"/>
          <p:cNvSpPr/>
          <p:nvPr/>
        </p:nvSpPr>
        <p:spPr>
          <a:xfrm>
            <a:off x="8595360" y="1600200"/>
            <a:ext cx="1371600" cy="914400"/>
          </a:xfrm>
          <a:prstGeom prst="roundRect">
            <a:avLst>
              <a:gd name="adj" fmla="val 10000"/>
            </a:avLst>
          </a:prstGeom>
          <a:solidFill>
            <a:srgbClr val="6B4FA3"/>
          </a:solidFill>
          <a:ln w="12700">
            <a:solidFill>
              <a:srgbClr val="FFFFFF"/>
            </a:solidFill>
            <a:prstDash val="solid"/>
          </a:ln>
        </p:spPr>
      </p:sp>
      <p:sp>
        <p:nvSpPr>
          <p:cNvPr id="21" name="Text 18"/>
          <p:cNvSpPr txBox="1"/>
          <p:nvPr/>
        </p:nvSpPr>
        <p:spPr>
          <a:xfrm>
            <a:off x="859536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32</a:t>
            </a:r>
            <a:endParaRPr lang="en-US" sz="2000" dirty="0"/>
          </a:p>
        </p:txBody>
      </p:sp>
      <p:sp>
        <p:nvSpPr>
          <p:cNvPr id="22" name="Split arrow"/>
          <p:cNvSpPr/>
          <p:nvPr/>
        </p:nvSpPr>
        <p:spPr>
          <a:xfrm>
            <a:off x="9985248" y="1892808"/>
            <a:ext cx="219456" cy="329184"/>
          </a:xfrm>
          <a:prstGeom prst="rightArrow">
            <a:avLst/>
          </a:prstGeom>
          <a:solidFill>
            <a:srgbClr val="A794D6"/>
          </a:solidFill>
          <a:ln w="12700">
            <a:solidFill>
              <a:srgbClr val="A794D6"/>
            </a:solidFill>
            <a:prstDash val="solid"/>
          </a:ln>
        </p:spPr>
      </p:sp>
      <p:sp>
        <p:nvSpPr>
          <p:cNvPr id="23" name="Codebook size 64"/>
          <p:cNvSpPr/>
          <p:nvPr/>
        </p:nvSpPr>
        <p:spPr>
          <a:xfrm>
            <a:off x="10204704" y="1600200"/>
            <a:ext cx="1371600" cy="914400"/>
          </a:xfrm>
          <a:prstGeom prst="roundRect">
            <a:avLst>
              <a:gd name="adj" fmla="val 10000"/>
            </a:avLst>
          </a:prstGeom>
          <a:solidFill>
            <a:srgbClr val="E0457B"/>
          </a:solidFill>
          <a:ln w="12700">
            <a:solidFill>
              <a:srgbClr val="FFFFFF"/>
            </a:solidFill>
            <a:prstDash val="solid"/>
          </a:ln>
        </p:spPr>
      </p:sp>
      <p:sp>
        <p:nvSpPr>
          <p:cNvPr id="24" name="Text 21"/>
          <p:cNvSpPr txBox="1"/>
          <p:nvPr/>
        </p:nvSpPr>
        <p:spPr>
          <a:xfrm>
            <a:off x="1020470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64</a:t>
            </a:r>
            <a:endParaRPr lang="en-US" sz="2000" dirty="0"/>
          </a:p>
        </p:txBody>
      </p:sp>
      <p:sp>
        <p:nvSpPr>
          <p:cNvPr id="25" name="Text 22"/>
          <p:cNvSpPr txBox="1"/>
          <p:nvPr/>
        </p:nvSpPr>
        <p:spPr>
          <a:xfrm>
            <a:off x="548640" y="2606040"/>
            <a:ext cx="10972800" cy="320040"/>
          </a:xfrm>
          <a:prstGeom prst="rect">
            <a:avLst/>
          </a:prstGeom>
          <a:noFill/>
          <a:ln/>
        </p:spPr>
        <p:txBody>
          <a:bodyPr wrap="square" lIns="0" tIns="0" rIns="0" bIns="0" rtlCol="0" anchor="t"/>
          <a:lstStyle/>
          <a:p>
            <a:pPr indent="0" marL="0">
              <a:buNone/>
            </a:pPr>
            <a:r>
              <a:rPr lang="en-US" sz="1400" i="1" dirty="0">
                <a:solidFill>
                  <a:srgbClr val="5E5878"/>
                </a:solidFill>
                <a:latin typeface="Calibri" pitchFamily="34" charset="0"/>
                <a:ea typeface="Calibri" pitchFamily="34" charset="-122"/>
                <a:cs typeface="Calibri" pitchFamily="34" charset="-120"/>
              </a:rPr>
              <a:t>split  ×2  →  Lloyd until convergence  →  split again</a:t>
            </a:r>
            <a:endParaRPr lang="en-US" sz="1400" dirty="0"/>
          </a:p>
        </p:txBody>
      </p:sp>
      <p:sp>
        <p:nvSpPr>
          <p:cNvPr id="26" name="Step card"/>
          <p:cNvSpPr/>
          <p:nvPr/>
        </p:nvSpPr>
        <p:spPr>
          <a:xfrm>
            <a:off x="548640" y="3154680"/>
            <a:ext cx="5440680" cy="1325880"/>
          </a:xfrm>
          <a:prstGeom prst="roundRect">
            <a:avLst>
              <a:gd name="adj" fmla="val 8276"/>
            </a:avLst>
          </a:prstGeom>
          <a:solidFill>
            <a:srgbClr val="F5F1FB"/>
          </a:solidFill>
          <a:ln w="12700">
            <a:solidFill>
              <a:srgbClr val="F5F1FB"/>
            </a:solidFill>
            <a:prstDash val="solid"/>
          </a:ln>
        </p:spPr>
      </p:sp>
      <p:sp>
        <p:nvSpPr>
          <p:cNvPr id="27" name="Text 24"/>
          <p:cNvSpPr txBox="1"/>
          <p:nvPr/>
        </p:nvSpPr>
        <p:spPr>
          <a:xfrm>
            <a:off x="822960" y="3291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1  Split</a:t>
            </a:r>
            <a:endParaRPr lang="en-US" sz="1800" dirty="0"/>
          </a:p>
        </p:txBody>
      </p:sp>
      <p:sp>
        <p:nvSpPr>
          <p:cNvPr id="28" name="Text 25"/>
          <p:cNvSpPr txBox="1"/>
          <p:nvPr/>
        </p:nvSpPr>
        <p:spPr>
          <a:xfrm>
            <a:off x="82296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c → c(1+δ) and c(1−δ),  δ = 0.01</a:t>
            </a:r>
            <a:endParaRPr lang="en-US" sz="1500" dirty="0"/>
          </a:p>
        </p:txBody>
      </p:sp>
      <p:sp>
        <p:nvSpPr>
          <p:cNvPr id="29" name="Step card"/>
          <p:cNvSpPr/>
          <p:nvPr/>
        </p:nvSpPr>
        <p:spPr>
          <a:xfrm>
            <a:off x="6172200" y="3154680"/>
            <a:ext cx="5440680" cy="1325880"/>
          </a:xfrm>
          <a:prstGeom prst="roundRect">
            <a:avLst>
              <a:gd name="adj" fmla="val 8276"/>
            </a:avLst>
          </a:prstGeom>
          <a:solidFill>
            <a:srgbClr val="F5F1FB"/>
          </a:solidFill>
          <a:ln w="12700">
            <a:solidFill>
              <a:srgbClr val="F5F1FB"/>
            </a:solidFill>
            <a:prstDash val="solid"/>
          </a:ln>
        </p:spPr>
      </p:sp>
      <p:sp>
        <p:nvSpPr>
          <p:cNvPr id="30" name="Text 27"/>
          <p:cNvSpPr txBox="1"/>
          <p:nvPr/>
        </p:nvSpPr>
        <p:spPr>
          <a:xfrm>
            <a:off x="6446520" y="3291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2  Assign</a:t>
            </a:r>
            <a:endParaRPr lang="en-US" sz="1800" dirty="0"/>
          </a:p>
        </p:txBody>
      </p:sp>
      <p:sp>
        <p:nvSpPr>
          <p:cNvPr id="31" name="Text 28"/>
          <p:cNvSpPr txBox="1"/>
          <p:nvPr/>
        </p:nvSpPr>
        <p:spPr>
          <a:xfrm>
            <a:off x="644652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Every vector goes to its nearest codeword (squared Euclidean distance)</a:t>
            </a:r>
            <a:endParaRPr lang="en-US" sz="1500" dirty="0"/>
          </a:p>
        </p:txBody>
      </p:sp>
      <p:sp>
        <p:nvSpPr>
          <p:cNvPr id="32" name="Step card"/>
          <p:cNvSpPr/>
          <p:nvPr/>
        </p:nvSpPr>
        <p:spPr>
          <a:xfrm>
            <a:off x="548640" y="4663440"/>
            <a:ext cx="5440680" cy="1325880"/>
          </a:xfrm>
          <a:prstGeom prst="roundRect">
            <a:avLst>
              <a:gd name="adj" fmla="val 8276"/>
            </a:avLst>
          </a:prstGeom>
          <a:solidFill>
            <a:srgbClr val="F5F1FB"/>
          </a:solidFill>
          <a:ln w="12700">
            <a:solidFill>
              <a:srgbClr val="F5F1FB"/>
            </a:solidFill>
            <a:prstDash val="solid"/>
          </a:ln>
        </p:spPr>
      </p:sp>
      <p:sp>
        <p:nvSpPr>
          <p:cNvPr id="33" name="Text 30"/>
          <p:cNvSpPr txBox="1"/>
          <p:nvPr/>
        </p:nvSpPr>
        <p:spPr>
          <a:xfrm>
            <a:off x="82296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3  Update</a:t>
            </a:r>
            <a:endParaRPr lang="en-US" sz="1800" dirty="0"/>
          </a:p>
        </p:txBody>
      </p:sp>
      <p:sp>
        <p:nvSpPr>
          <p:cNvPr id="34" name="Text 31"/>
          <p:cNvSpPr txBox="1"/>
          <p:nvPr/>
        </p:nvSpPr>
        <p:spPr>
          <a:xfrm>
            <a:off x="82296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becomes the mean of its assigned vectors</a:t>
            </a:r>
            <a:endParaRPr lang="en-US" sz="1500" dirty="0"/>
          </a:p>
        </p:txBody>
      </p:sp>
      <p:sp>
        <p:nvSpPr>
          <p:cNvPr id="35" name="Step card"/>
          <p:cNvSpPr/>
          <p:nvPr/>
        </p:nvSpPr>
        <p:spPr>
          <a:xfrm>
            <a:off x="6172200" y="4663440"/>
            <a:ext cx="5440680" cy="1325880"/>
          </a:xfrm>
          <a:prstGeom prst="roundRect">
            <a:avLst>
              <a:gd name="adj" fmla="val 8276"/>
            </a:avLst>
          </a:prstGeom>
          <a:solidFill>
            <a:srgbClr val="F5F1FB"/>
          </a:solidFill>
          <a:ln w="12700">
            <a:solidFill>
              <a:srgbClr val="F5F1FB"/>
            </a:solidFill>
            <a:prstDash val="solid"/>
          </a:ln>
        </p:spPr>
      </p:sp>
      <p:sp>
        <p:nvSpPr>
          <p:cNvPr id="36" name="Text 33"/>
          <p:cNvSpPr txBox="1"/>
          <p:nvPr/>
        </p:nvSpPr>
        <p:spPr>
          <a:xfrm>
            <a:off x="644652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4  Test</a:t>
            </a:r>
            <a:endParaRPr lang="en-US" sz="1800" dirty="0"/>
          </a:p>
        </p:txBody>
      </p:sp>
      <p:sp>
        <p:nvSpPr>
          <p:cNvPr id="37" name="Text 34"/>
          <p:cNvSpPr txBox="1"/>
          <p:nvPr/>
        </p:nvSpPr>
        <p:spPr>
          <a:xfrm>
            <a:off x="644652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Stop when |ΔD| / D ≤ ε = 10⁻⁴ or after 100 iterations</a:t>
            </a:r>
            <a:endParaRPr lang="en-US" sz="1500" dirty="0"/>
          </a:p>
        </p:txBody>
      </p:sp>
      <p:sp>
        <p:nvSpPr>
          <p:cNvPr id="38" name="Text 35"/>
          <p:cNvSpPr txBox="1"/>
          <p:nvPr/>
        </p:nvSpPr>
        <p:spPr>
          <a:xfrm>
            <a:off x="548640" y="6144768"/>
            <a:ext cx="9144000" cy="27432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Typical run: about 150 Lloyd iterations in total over the six stages.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Delta coding lowers the entropy of the indices</a:t>
            </a:r>
            <a:endParaRPr lang="en-US" sz="3000" dirty="0"/>
          </a:p>
        </p:txBody>
      </p:sp>
      <p:graphicFrame>
        <p:nvGraphicFramePr>
          <p:cNvPr id="5" name="Chart 0" descr=""/>
          <p:cNvGraphicFramePr/>
          <p:nvPr/>
        </p:nvGraphicFramePr>
        <p:xfrm>
          <a:off x="54864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Mean card"/>
          <p:cNvSpPr/>
          <p:nvPr/>
        </p:nvSpPr>
        <p:spPr>
          <a:xfrm>
            <a:off x="7772400" y="1508760"/>
            <a:ext cx="3867912" cy="2103120"/>
          </a:xfrm>
          <a:prstGeom prst="roundRect">
            <a:avLst>
              <a:gd name="adj" fmla="val 5217"/>
            </a:avLst>
          </a:prstGeom>
          <a:solidFill>
            <a:srgbClr val="F5F1FB"/>
          </a:solidFill>
          <a:ln w="12700">
            <a:solidFill>
              <a:srgbClr val="F5F1FB"/>
            </a:solidFill>
            <a:prstDash val="solid"/>
          </a:ln>
        </p:spPr>
      </p:sp>
      <p:sp>
        <p:nvSpPr>
          <p:cNvPr id="7" name="Text 3"/>
          <p:cNvSpPr txBox="1"/>
          <p:nvPr/>
        </p:nvSpPr>
        <p:spPr>
          <a:xfrm>
            <a:off x="8001000" y="1645920"/>
            <a:ext cx="3474720" cy="822960"/>
          </a:xfrm>
          <a:prstGeom prst="rect">
            <a:avLst/>
          </a:prstGeom>
          <a:noFill/>
          <a:ln/>
        </p:spPr>
        <p:txBody>
          <a:bodyPr wrap="square" lIns="0" tIns="0" rIns="0" bIns="0" rtlCol="0" anchor="t"/>
          <a:lstStyle/>
          <a:p>
            <a:pPr indent="0" marL="0">
              <a:buNone/>
            </a:pPr>
            <a:r>
              <a:rPr lang="en-US" sz="3600" b="1" dirty="0">
                <a:solidFill>
                  <a:srgbClr val="E0457B"/>
                </a:solidFill>
                <a:latin typeface="Cambria" pitchFamily="34" charset="0"/>
                <a:ea typeface="Cambria" pitchFamily="34" charset="-122"/>
                <a:cs typeface="Cambria" pitchFamily="34" charset="-120"/>
              </a:rPr>
              <a:t>5.30 → 4.19</a:t>
            </a:r>
            <a:endParaRPr lang="en-US" sz="3600" dirty="0"/>
          </a:p>
        </p:txBody>
      </p:sp>
      <p:sp>
        <p:nvSpPr>
          <p:cNvPr id="8" name="Text 4"/>
          <p:cNvSpPr txBox="1"/>
          <p:nvPr/>
        </p:nvSpPr>
        <p:spPr>
          <a:xfrm>
            <a:off x="8001000" y="2514600"/>
            <a:ext cx="3474720" cy="10058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mean entropy in bits per index (grayscale), a 1.1-bit reduction.</a:t>
            </a:r>
            <a:endParaRPr lang="en-US" sz="1500" dirty="0"/>
          </a:p>
        </p:txBody>
      </p:sp>
      <p:sp>
        <p:nvSpPr>
          <p:cNvPr id="9" name="Huffman card"/>
          <p:cNvSpPr/>
          <p:nvPr/>
        </p:nvSpPr>
        <p:spPr>
          <a:xfrm>
            <a:off x="7772400" y="3840480"/>
            <a:ext cx="3867912" cy="2148840"/>
          </a:xfrm>
          <a:prstGeom prst="roundRect">
            <a:avLst>
              <a:gd name="adj" fmla="val 5106"/>
            </a:avLst>
          </a:prstGeom>
          <a:solidFill>
            <a:srgbClr val="F5F1FB"/>
          </a:solidFill>
          <a:ln w="12700">
            <a:solidFill>
              <a:srgbClr val="F5F1FB"/>
            </a:solidFill>
            <a:prstDash val="solid"/>
          </a:ln>
        </p:spPr>
      </p:sp>
      <p:sp>
        <p:nvSpPr>
          <p:cNvPr id="10" name="Text 6"/>
          <p:cNvSpPr txBox="1"/>
          <p:nvPr/>
        </p:nvSpPr>
        <p:spPr>
          <a:xfrm>
            <a:off x="8001000" y="3977640"/>
            <a:ext cx="3474720" cy="548640"/>
          </a:xfrm>
          <a:prstGeom prst="rect">
            <a:avLst/>
          </a:prstGeom>
          <a:noFill/>
          <a:ln/>
        </p:spPr>
        <p:txBody>
          <a:bodyPr wrap="square" lIns="0" tIns="0" rIns="0" bIns="0" rtlCol="0" anchor="t"/>
          <a:lstStyle/>
          <a:p>
            <a:pPr indent="0" marL="0">
              <a:buNone/>
            </a:pPr>
            <a:r>
              <a:rPr lang="en-US" sz="2600" b="1" dirty="0">
                <a:solidFill>
                  <a:srgbClr val="6B4FA3"/>
                </a:solidFill>
                <a:latin typeface="Cambria" pitchFamily="34" charset="0"/>
                <a:ea typeface="Cambria" pitchFamily="34" charset="-122"/>
                <a:cs typeface="Cambria" pitchFamily="34" charset="-120"/>
              </a:rPr>
              <a:t>4.23 bits/index</a:t>
            </a:r>
            <a:endParaRPr lang="en-US" sz="2600" dirty="0"/>
          </a:p>
        </p:txBody>
      </p:sp>
      <p:sp>
        <p:nvSpPr>
          <p:cNvPr id="11" name="Text 7"/>
          <p:cNvSpPr txBox="1"/>
          <p:nvPr/>
        </p:nvSpPr>
        <p:spPr>
          <a:xfrm>
            <a:off x="8001000" y="4572000"/>
            <a:ext cx="3474720" cy="13258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rate, only 0.039 bit above the entropy: 29.5% less than fixed 6-bit indices.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System compression ratio: every byte counted</a:t>
            </a:r>
            <a:endParaRPr lang="en-US" sz="3000" dirty="0"/>
          </a:p>
        </p:txBody>
      </p:sp>
      <p:graphicFrame>
        <p:nvGraphicFramePr>
          <p:cNvPr id="5" name="Chart 0" descr=""/>
          <p:cNvGraphicFramePr/>
          <p:nvPr/>
        </p:nvGraphicFramePr>
        <p:xfrm>
          <a:off x="548640" y="150876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178040" y="1508760"/>
            <a:ext cx="4462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360920" y="1645920"/>
            <a:ext cx="4096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+31.6%</a:t>
            </a:r>
            <a:endParaRPr lang="en-US" sz="4000" dirty="0"/>
          </a:p>
        </p:txBody>
      </p:sp>
      <p:sp>
        <p:nvSpPr>
          <p:cNvPr id="8" name="Text 4"/>
          <p:cNvSpPr txBox="1"/>
          <p:nvPr/>
        </p:nvSpPr>
        <p:spPr>
          <a:xfrm>
            <a:off x="7360920" y="2377440"/>
            <a:ext cx="4096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gain of delta + Huffman over 6-bit indices</a:t>
            </a:r>
            <a:endParaRPr lang="en-US" sz="1400" dirty="0"/>
          </a:p>
        </p:txBody>
      </p:sp>
      <p:sp>
        <p:nvSpPr>
          <p:cNvPr id="9" name="Accounting"/>
          <p:cNvSpPr/>
          <p:nvPr/>
        </p:nvSpPr>
        <p:spPr>
          <a:xfrm>
            <a:off x="7178040" y="3108960"/>
            <a:ext cx="4462272" cy="2880360"/>
          </a:xfrm>
          <a:prstGeom prst="roundRect">
            <a:avLst>
              <a:gd name="adj" fmla="val 3810"/>
            </a:avLst>
          </a:prstGeom>
          <a:solidFill>
            <a:srgbClr val="F5F1FB"/>
          </a:solidFill>
          <a:ln w="12700">
            <a:solidFill>
              <a:srgbClr val="F5F1FB"/>
            </a:solidFill>
            <a:prstDash val="solid"/>
          </a:ln>
        </p:spPr>
      </p:sp>
      <p:sp>
        <p:nvSpPr>
          <p:cNvPr id="10" name="Text 6"/>
          <p:cNvSpPr txBox="1"/>
          <p:nvPr/>
        </p:nvSpPr>
        <p:spPr>
          <a:xfrm>
            <a:off x="7406640" y="3246120"/>
            <a:ext cx="4023360" cy="1828800"/>
          </a:xfrm>
          <a:prstGeom prst="rect">
            <a:avLst/>
          </a:prstGeom>
          <a:noFill/>
          <a:ln/>
        </p:spPr>
        <p:txBody>
          <a:bodyPr wrap="square" lIns="0" tIns="0" rIns="0" bIns="0" rtlCol="0" anchor="t"/>
          <a:lstStyle/>
          <a:p>
            <a:pPr indent="0" marL="0">
              <a:spcAft>
                <a:spcPts val="600"/>
              </a:spcAft>
              <a:buNone/>
            </a:pPr>
            <a:r>
              <a:rPr lang="en-US" sz="1500" b="1" dirty="0">
                <a:solidFill>
                  <a:srgbClr val="6B4FA3"/>
                </a:solidFill>
                <a:latin typeface="Calibri" pitchFamily="34" charset="0"/>
                <a:ea typeface="Calibri" pitchFamily="34" charset="-122"/>
                <a:cs typeface="Calibri" pitchFamily="34" charset="-120"/>
              </a:rPr>
              <a:t>Compressed size counts: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codebook: 64 × 16 = 1,024 bytes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 table: 4 bytes per used symbol</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Huffman-coded index data</a:t>
            </a:r>
            <a:endParaRPr lang="en-US" sz="1500" dirty="0"/>
          </a:p>
        </p:txBody>
      </p:sp>
      <p:sp>
        <p:nvSpPr>
          <p:cNvPr id="11" name="Text 7"/>
          <p:cNvSpPr txBox="1"/>
          <p:nvPr/>
        </p:nvSpPr>
        <p:spPr>
          <a:xfrm>
            <a:off x="7406640" y="5029200"/>
            <a:ext cx="4023360" cy="868680"/>
          </a:xfrm>
          <a:prstGeom prst="rect">
            <a:avLst/>
          </a:prstGeom>
          <a:noFill/>
          <a:ln/>
        </p:spPr>
        <p:txBody>
          <a:bodyPr wrap="square" lIns="0" tIns="0" rIns="0" bIns="0" rtlCol="0" anchor="t"/>
          <a:lstStyle/>
          <a:p>
            <a:pPr indent="0" marL="0">
              <a:buNone/>
            </a:pPr>
            <a:r>
              <a:rPr lang="en-US" sz="1200" i="1" dirty="0">
                <a:solidFill>
                  <a:srgbClr val="5E5878"/>
                </a:solidFill>
                <a:latin typeface="Calibri" pitchFamily="34" charset="0"/>
                <a:ea typeface="Calibri" pitchFamily="34" charset="-122"/>
                <a:cs typeface="Calibri" pitchFamily="34" charset="-120"/>
              </a:rPr>
              <a:t>CR is computed from these sizes; the program does not write a stored file. A 5-byte table entry would lower CR by about 1%.</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METHOD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Test images</a:t>
            </a:r>
            <a:endParaRPr lang="en-US" sz="3000" dirty="0"/>
          </a:p>
        </p:txBody>
      </p:sp>
      <p:pic>
        <p:nvPicPr>
          <p:cNvPr id="5" name="Thumbnail Lena" descr="/home/user/mihk/results/seminar/assets/t_lena.png">    </p:cNvPr>
          <p:cNvPicPr>
            <a:picLocks noChangeAspect="1"/>
          </p:cNvPicPr>
          <p:nvPr/>
        </p:nvPicPr>
        <p:blipFill>
          <a:blip r:embed="rId1"/>
          <a:stretch>
            <a:fillRect/>
          </a:stretch>
        </p:blipFill>
        <p:spPr>
          <a:xfrm>
            <a:off x="548640" y="1554480"/>
            <a:ext cx="2057400" cy="2057400"/>
          </a:xfrm>
          <a:prstGeom prst="rect">
            <a:avLst/>
          </a:prstGeom>
        </p:spPr>
      </p:pic>
      <p:sp>
        <p:nvSpPr>
          <p:cNvPr id="6" name="Text 2"/>
          <p:cNvSpPr txBox="1"/>
          <p:nvPr/>
        </p:nvSpPr>
        <p:spPr>
          <a:xfrm>
            <a:off x="54864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p>
        </p:txBody>
      </p:sp>
      <p:pic>
        <p:nvPicPr>
          <p:cNvPr id="7" name="Thumbnail Cameraman" descr="/home/user/mihk/results/seminar/assets/t_cam.png">    </p:cNvPr>
          <p:cNvPicPr>
            <a:picLocks noChangeAspect="1"/>
          </p:cNvPicPr>
          <p:nvPr/>
        </p:nvPicPr>
        <p:blipFill>
          <a:blip r:embed="rId2"/>
          <a:stretch>
            <a:fillRect/>
          </a:stretch>
        </p:blipFill>
        <p:spPr>
          <a:xfrm>
            <a:off x="2788920" y="1554480"/>
            <a:ext cx="2057400" cy="2057400"/>
          </a:xfrm>
          <a:prstGeom prst="rect">
            <a:avLst/>
          </a:prstGeom>
        </p:spPr>
      </p:pic>
      <p:sp>
        <p:nvSpPr>
          <p:cNvPr id="8" name="Text 3"/>
          <p:cNvSpPr txBox="1"/>
          <p:nvPr/>
        </p:nvSpPr>
        <p:spPr>
          <a:xfrm>
            <a:off x="278892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Cameraman</a:t>
            </a:r>
            <a:endParaRPr lang="en-US" sz="1400" dirty="0"/>
          </a:p>
        </p:txBody>
      </p:sp>
      <p:pic>
        <p:nvPicPr>
          <p:cNvPr id="9" name="Thumbnail Peppers" descr="/home/user/mihk/results/seminar/assets/t_pep.png">    </p:cNvPr>
          <p:cNvPicPr>
            <a:picLocks noChangeAspect="1"/>
          </p:cNvPicPr>
          <p:nvPr/>
        </p:nvPicPr>
        <p:blipFill>
          <a:blip r:embed="rId3"/>
          <a:stretch>
            <a:fillRect/>
          </a:stretch>
        </p:blipFill>
        <p:spPr>
          <a:xfrm>
            <a:off x="5029200" y="1554480"/>
            <a:ext cx="2057400" cy="2057400"/>
          </a:xfrm>
          <a:prstGeom prst="rect">
            <a:avLst/>
          </a:prstGeom>
        </p:spPr>
      </p:pic>
      <p:sp>
        <p:nvSpPr>
          <p:cNvPr id="10" name="Text 4"/>
          <p:cNvSpPr txBox="1"/>
          <p:nvPr/>
        </p:nvSpPr>
        <p:spPr>
          <a:xfrm>
            <a:off x="502920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p>
        </p:txBody>
      </p:sp>
      <p:pic>
        <p:nvPicPr>
          <p:cNvPr id="11" name="Thumbnail F-16" descr="/home/user/mihk/results/seminar/assets/t_f16.png">    </p:cNvPr>
          <p:cNvPicPr>
            <a:picLocks noChangeAspect="1"/>
          </p:cNvPicPr>
          <p:nvPr/>
        </p:nvPicPr>
        <p:blipFill>
          <a:blip r:embed="rId4"/>
          <a:stretch>
            <a:fillRect/>
          </a:stretch>
        </p:blipFill>
        <p:spPr>
          <a:xfrm>
            <a:off x="7269480" y="1554480"/>
            <a:ext cx="2057400" cy="2057400"/>
          </a:xfrm>
          <a:prstGeom prst="rect">
            <a:avLst/>
          </a:prstGeom>
        </p:spPr>
      </p:pic>
      <p:sp>
        <p:nvSpPr>
          <p:cNvPr id="12" name="Text 5"/>
          <p:cNvSpPr txBox="1"/>
          <p:nvPr/>
        </p:nvSpPr>
        <p:spPr>
          <a:xfrm>
            <a:off x="726948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F-16</a:t>
            </a:r>
            <a:endParaRPr lang="en-US" sz="1400" dirty="0"/>
          </a:p>
        </p:txBody>
      </p:sp>
      <p:pic>
        <p:nvPicPr>
          <p:cNvPr id="13" name="Thumbnail Gold Hill" descr="/home/user/mihk/results/seminar/assets/t_gold.png">    </p:cNvPr>
          <p:cNvPicPr>
            <a:picLocks noChangeAspect="1"/>
          </p:cNvPicPr>
          <p:nvPr/>
        </p:nvPicPr>
        <p:blipFill>
          <a:blip r:embed="rId5"/>
          <a:stretch>
            <a:fillRect/>
          </a:stretch>
        </p:blipFill>
        <p:spPr>
          <a:xfrm>
            <a:off x="9509760" y="1554480"/>
            <a:ext cx="2057400" cy="2057400"/>
          </a:xfrm>
          <a:prstGeom prst="rect">
            <a:avLst/>
          </a:prstGeom>
        </p:spPr>
      </p:pic>
      <p:sp>
        <p:nvSpPr>
          <p:cNvPr id="14" name="Text 6"/>
          <p:cNvSpPr txBox="1"/>
          <p:nvPr/>
        </p:nvSpPr>
        <p:spPr>
          <a:xfrm>
            <a:off x="950976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Gold Hill</a:t>
            </a:r>
            <a:endParaRPr lang="en-US" sz="1400" dirty="0"/>
          </a:p>
        </p:txBody>
      </p:sp>
      <p:sp>
        <p:nvSpPr>
          <p:cNvPr id="15" name="Gray card"/>
          <p:cNvSpPr/>
          <p:nvPr/>
        </p:nvSpPr>
        <p:spPr>
          <a:xfrm>
            <a:off x="548640" y="4297680"/>
            <a:ext cx="5440680" cy="1874520"/>
          </a:xfrm>
          <a:prstGeom prst="roundRect">
            <a:avLst>
              <a:gd name="adj" fmla="val 5854"/>
            </a:avLst>
          </a:prstGeom>
          <a:solidFill>
            <a:srgbClr val="F5F1FB"/>
          </a:solidFill>
          <a:ln w="12700">
            <a:solidFill>
              <a:srgbClr val="F5F1FB"/>
            </a:solidFill>
            <a:prstDash val="solid"/>
          </a:ln>
        </p:spPr>
      </p:sp>
      <p:sp>
        <p:nvSpPr>
          <p:cNvPr id="16" name="Text 8"/>
          <p:cNvSpPr txBox="1"/>
          <p:nvPr/>
        </p:nvSpPr>
        <p:spPr>
          <a:xfrm>
            <a:off x="822960" y="443484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Grayscale (4)</a:t>
            </a:r>
            <a:endParaRPr lang="en-US" sz="1800" dirty="0"/>
          </a:p>
        </p:txBody>
      </p:sp>
      <p:sp>
        <p:nvSpPr>
          <p:cNvPr id="17" name="Text 9"/>
          <p:cNvSpPr txBox="1"/>
          <p:nvPr/>
        </p:nvSpPr>
        <p:spPr>
          <a:xfrm>
            <a:off x="822960"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Boat, Cameraman, Peppers: 1 byte per pixel, 16,384 vectors.</a:t>
            </a:r>
            <a:endParaRPr lang="en-US" sz="1500" dirty="0"/>
          </a:p>
        </p:txBody>
      </p:sp>
      <p:sp>
        <p:nvSpPr>
          <p:cNvPr id="18" name="Color card"/>
          <p:cNvSpPr/>
          <p:nvPr/>
        </p:nvSpPr>
        <p:spPr>
          <a:xfrm>
            <a:off x="6199632" y="4297680"/>
            <a:ext cx="5440680" cy="1874520"/>
          </a:xfrm>
          <a:prstGeom prst="roundRect">
            <a:avLst>
              <a:gd name="adj" fmla="val 5854"/>
            </a:avLst>
          </a:prstGeom>
          <a:solidFill>
            <a:srgbClr val="F5F1FB"/>
          </a:solidFill>
          <a:ln w="12700">
            <a:solidFill>
              <a:srgbClr val="F5F1FB"/>
            </a:solidFill>
            <a:prstDash val="solid"/>
          </a:ln>
        </p:spPr>
      </p:sp>
      <p:sp>
        <p:nvSpPr>
          <p:cNvPr id="19" name="Text 11"/>
          <p:cNvSpPr txBox="1"/>
          <p:nvPr/>
        </p:nvSpPr>
        <p:spPr>
          <a:xfrm>
            <a:off x="6473952" y="443484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Color (4)</a:t>
            </a:r>
            <a:endParaRPr lang="en-US" sz="1800" dirty="0"/>
          </a:p>
        </p:txBody>
      </p:sp>
      <p:sp>
        <p:nvSpPr>
          <p:cNvPr id="20" name="Text 12"/>
          <p:cNvSpPr txBox="1"/>
          <p:nvPr/>
        </p:nvSpPr>
        <p:spPr>
          <a:xfrm>
            <a:off x="6473952"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Peppers, F-16, Gold Hill: R, G, B coded as three independent channels, CR and MSE pooled.</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PROPOSED PARALLEL COMPUTING STRATEGIES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MPI design: SPMD with one Allreduce per iteration</a:t>
            </a:r>
            <a:endParaRPr lang="en-US" sz="3000" dirty="0"/>
          </a:p>
        </p:txBody>
      </p:sp>
      <p:sp>
        <p:nvSpPr>
          <p:cNvPr id="5" name="MPI step 1"/>
          <p:cNvSpPr/>
          <p:nvPr/>
        </p:nvSpPr>
        <p:spPr>
          <a:xfrm>
            <a:off x="548640" y="1691640"/>
            <a:ext cx="1691640" cy="1600200"/>
          </a:xfrm>
          <a:prstGeom prst="roundRect">
            <a:avLst>
              <a:gd name="adj" fmla="val 6857"/>
            </a:avLst>
          </a:prstGeom>
          <a:solidFill>
            <a:srgbClr val="2E2055"/>
          </a:solidFill>
          <a:ln w="12700">
            <a:solidFill>
              <a:srgbClr val="2E2055"/>
            </a:solidFill>
            <a:prstDash val="solid"/>
          </a:ln>
        </p:spPr>
      </p:sp>
      <p:sp>
        <p:nvSpPr>
          <p:cNvPr id="6" name="Text 3"/>
          <p:cNvSpPr txBox="1"/>
          <p:nvPr/>
        </p:nvSpPr>
        <p:spPr>
          <a:xfrm>
            <a:off x="5943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Rank 0</a:t>
            </a:r>
            <a:endParaRPr lang="en-US" sz="1500" dirty="0"/>
          </a:p>
        </p:txBody>
      </p:sp>
      <p:sp>
        <p:nvSpPr>
          <p:cNvPr id="7" name="Text 4"/>
          <p:cNvSpPr txBox="1"/>
          <p:nvPr/>
        </p:nvSpPr>
        <p:spPr>
          <a:xfrm>
            <a:off x="5943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read image,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build vectors</a:t>
            </a:r>
            <a:endParaRPr lang="en-US" sz="1300" dirty="0"/>
          </a:p>
        </p:txBody>
      </p:sp>
      <p:sp>
        <p:nvSpPr>
          <p:cNvPr id="8" name="Arrow"/>
          <p:cNvSpPr/>
          <p:nvPr/>
        </p:nvSpPr>
        <p:spPr>
          <a:xfrm>
            <a:off x="2258568" y="2331720"/>
            <a:ext cx="146304" cy="274320"/>
          </a:xfrm>
          <a:prstGeom prst="rightArrow">
            <a:avLst/>
          </a:prstGeom>
          <a:solidFill>
            <a:srgbClr val="A794D6"/>
          </a:solidFill>
          <a:ln w="12700">
            <a:solidFill>
              <a:srgbClr val="A794D6"/>
            </a:solidFill>
            <a:prstDash val="solid"/>
          </a:ln>
        </p:spPr>
      </p:sp>
      <p:sp>
        <p:nvSpPr>
          <p:cNvPr id="9" name="MPI step 2"/>
          <p:cNvSpPr/>
          <p:nvPr/>
        </p:nvSpPr>
        <p:spPr>
          <a:xfrm>
            <a:off x="2423160" y="1691640"/>
            <a:ext cx="1691640" cy="1600200"/>
          </a:xfrm>
          <a:prstGeom prst="roundRect">
            <a:avLst>
              <a:gd name="adj" fmla="val 6857"/>
            </a:avLst>
          </a:prstGeom>
          <a:solidFill>
            <a:srgbClr val="6B4FA3"/>
          </a:solidFill>
          <a:ln w="12700">
            <a:solidFill>
              <a:srgbClr val="6B4FA3"/>
            </a:solidFill>
            <a:prstDash val="solid"/>
          </a:ln>
        </p:spPr>
      </p:sp>
      <p:sp>
        <p:nvSpPr>
          <p:cNvPr id="10" name="Text 7"/>
          <p:cNvSpPr txBox="1"/>
          <p:nvPr/>
        </p:nvSpPr>
        <p:spPr>
          <a:xfrm>
            <a:off x="246888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Bcast + Scatterv</a:t>
            </a:r>
            <a:endParaRPr lang="en-US" sz="1500" dirty="0"/>
          </a:p>
        </p:txBody>
      </p:sp>
      <p:sp>
        <p:nvSpPr>
          <p:cNvPr id="11" name="Text 8"/>
          <p:cNvSpPr txBox="1"/>
          <p:nvPr/>
        </p:nvSpPr>
        <p:spPr>
          <a:xfrm>
            <a:off x="246888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parameters,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vector blocks</a:t>
            </a:r>
            <a:endParaRPr lang="en-US" sz="1300" dirty="0"/>
          </a:p>
        </p:txBody>
      </p:sp>
      <p:sp>
        <p:nvSpPr>
          <p:cNvPr id="12" name="Arrow"/>
          <p:cNvSpPr/>
          <p:nvPr/>
        </p:nvSpPr>
        <p:spPr>
          <a:xfrm>
            <a:off x="4133088" y="2331720"/>
            <a:ext cx="146304" cy="274320"/>
          </a:xfrm>
          <a:prstGeom prst="rightArrow">
            <a:avLst/>
          </a:prstGeom>
          <a:solidFill>
            <a:srgbClr val="A794D6"/>
          </a:solidFill>
          <a:ln w="12700">
            <a:solidFill>
              <a:srgbClr val="A794D6"/>
            </a:solidFill>
            <a:prstDash val="solid"/>
          </a:ln>
        </p:spPr>
      </p:sp>
      <p:sp>
        <p:nvSpPr>
          <p:cNvPr id="13" name="MPI step 3"/>
          <p:cNvSpPr/>
          <p:nvPr/>
        </p:nvSpPr>
        <p:spPr>
          <a:xfrm>
            <a:off x="4297680" y="1691640"/>
            <a:ext cx="1691640" cy="1600200"/>
          </a:xfrm>
          <a:prstGeom prst="roundRect">
            <a:avLst>
              <a:gd name="adj" fmla="val 6857"/>
            </a:avLst>
          </a:prstGeom>
          <a:solidFill>
            <a:srgbClr val="E0457B"/>
          </a:solidFill>
          <a:ln w="12700">
            <a:solidFill>
              <a:srgbClr val="E0457B"/>
            </a:solidFill>
            <a:prstDash val="solid"/>
          </a:ln>
        </p:spPr>
      </p:sp>
      <p:sp>
        <p:nvSpPr>
          <p:cNvPr id="14" name="Text 11"/>
          <p:cNvSpPr txBox="1"/>
          <p:nvPr/>
        </p:nvSpPr>
        <p:spPr>
          <a:xfrm>
            <a:off x="434340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Local assign</a:t>
            </a:r>
            <a:endParaRPr lang="en-US" sz="1500" dirty="0"/>
          </a:p>
        </p:txBody>
      </p:sp>
      <p:sp>
        <p:nvSpPr>
          <p:cNvPr id="15" name="Text 12"/>
          <p:cNvSpPr txBox="1"/>
          <p:nvPr/>
        </p:nvSpPr>
        <p:spPr>
          <a:xfrm>
            <a:off x="434340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nearest codeword,</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partial sums</a:t>
            </a:r>
            <a:endParaRPr lang="en-US" sz="1300" dirty="0"/>
          </a:p>
        </p:txBody>
      </p:sp>
      <p:sp>
        <p:nvSpPr>
          <p:cNvPr id="16" name="Arrow"/>
          <p:cNvSpPr/>
          <p:nvPr/>
        </p:nvSpPr>
        <p:spPr>
          <a:xfrm>
            <a:off x="6007608" y="2331720"/>
            <a:ext cx="146304" cy="274320"/>
          </a:xfrm>
          <a:prstGeom prst="rightArrow">
            <a:avLst/>
          </a:prstGeom>
          <a:solidFill>
            <a:srgbClr val="A794D6"/>
          </a:solidFill>
          <a:ln w="12700">
            <a:solidFill>
              <a:srgbClr val="A794D6"/>
            </a:solidFill>
            <a:prstDash val="solid"/>
          </a:ln>
        </p:spPr>
      </p:sp>
      <p:sp>
        <p:nvSpPr>
          <p:cNvPr id="17" name="MPI step 4"/>
          <p:cNvSpPr/>
          <p:nvPr/>
        </p:nvSpPr>
        <p:spPr>
          <a:xfrm>
            <a:off x="6172200" y="1691640"/>
            <a:ext cx="1691640" cy="1600200"/>
          </a:xfrm>
          <a:prstGeom prst="roundRect">
            <a:avLst>
              <a:gd name="adj" fmla="val 6857"/>
            </a:avLst>
          </a:prstGeom>
          <a:solidFill>
            <a:srgbClr val="2A9D8F"/>
          </a:solidFill>
          <a:ln w="12700">
            <a:solidFill>
              <a:srgbClr val="2A9D8F"/>
            </a:solidFill>
            <a:prstDash val="solid"/>
          </a:ln>
        </p:spPr>
      </p:sp>
      <p:sp>
        <p:nvSpPr>
          <p:cNvPr id="18" name="Text 15"/>
          <p:cNvSpPr txBox="1"/>
          <p:nvPr/>
        </p:nvSpPr>
        <p:spPr>
          <a:xfrm>
            <a:off x="621792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Allreduce</a:t>
            </a:r>
            <a:endParaRPr lang="en-US" sz="1500" dirty="0"/>
          </a:p>
        </p:txBody>
      </p:sp>
      <p:sp>
        <p:nvSpPr>
          <p:cNvPr id="19" name="Text 16"/>
          <p:cNvSpPr txBox="1"/>
          <p:nvPr/>
        </p:nvSpPr>
        <p:spPr>
          <a:xfrm>
            <a:off x="621792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sums + counts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(double)</a:t>
            </a:r>
            <a:endParaRPr lang="en-US" sz="1300" dirty="0"/>
          </a:p>
        </p:txBody>
      </p:sp>
      <p:sp>
        <p:nvSpPr>
          <p:cNvPr id="20" name="Arrow"/>
          <p:cNvSpPr/>
          <p:nvPr/>
        </p:nvSpPr>
        <p:spPr>
          <a:xfrm>
            <a:off x="7882128" y="2331720"/>
            <a:ext cx="146304" cy="274320"/>
          </a:xfrm>
          <a:prstGeom prst="rightArrow">
            <a:avLst/>
          </a:prstGeom>
          <a:solidFill>
            <a:srgbClr val="A794D6"/>
          </a:solidFill>
          <a:ln w="12700">
            <a:solidFill>
              <a:srgbClr val="A794D6"/>
            </a:solidFill>
            <a:prstDash val="solid"/>
          </a:ln>
        </p:spPr>
      </p:sp>
      <p:sp>
        <p:nvSpPr>
          <p:cNvPr id="21" name="MPI step 5"/>
          <p:cNvSpPr/>
          <p:nvPr/>
        </p:nvSpPr>
        <p:spPr>
          <a:xfrm>
            <a:off x="8046720" y="1691640"/>
            <a:ext cx="1691640" cy="1600200"/>
          </a:xfrm>
          <a:prstGeom prst="roundRect">
            <a:avLst>
              <a:gd name="adj" fmla="val 6857"/>
            </a:avLst>
          </a:prstGeom>
          <a:solidFill>
            <a:srgbClr val="6B4FA3"/>
          </a:solidFill>
          <a:ln w="12700">
            <a:solidFill>
              <a:srgbClr val="6B4FA3"/>
            </a:solidFill>
            <a:prstDash val="solid"/>
          </a:ln>
        </p:spPr>
      </p:sp>
      <p:sp>
        <p:nvSpPr>
          <p:cNvPr id="22" name="Text 19"/>
          <p:cNvSpPr txBox="1"/>
          <p:nvPr/>
        </p:nvSpPr>
        <p:spPr>
          <a:xfrm>
            <a:off x="809244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Update</a:t>
            </a:r>
            <a:endParaRPr lang="en-US" sz="1500" dirty="0"/>
          </a:p>
        </p:txBody>
      </p:sp>
      <p:sp>
        <p:nvSpPr>
          <p:cNvPr id="23" name="Text 20"/>
          <p:cNvSpPr txBox="1"/>
          <p:nvPr/>
        </p:nvSpPr>
        <p:spPr>
          <a:xfrm>
            <a:off x="809244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new codebook</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on every rank</a:t>
            </a:r>
            <a:endParaRPr lang="en-US" sz="1300" dirty="0"/>
          </a:p>
        </p:txBody>
      </p:sp>
      <p:sp>
        <p:nvSpPr>
          <p:cNvPr id="24" name="Arrow"/>
          <p:cNvSpPr/>
          <p:nvPr/>
        </p:nvSpPr>
        <p:spPr>
          <a:xfrm>
            <a:off x="9756648" y="2331720"/>
            <a:ext cx="146304" cy="274320"/>
          </a:xfrm>
          <a:prstGeom prst="rightArrow">
            <a:avLst/>
          </a:prstGeom>
          <a:solidFill>
            <a:srgbClr val="A794D6"/>
          </a:solidFill>
          <a:ln w="12700">
            <a:solidFill>
              <a:srgbClr val="A794D6"/>
            </a:solidFill>
            <a:prstDash val="solid"/>
          </a:ln>
        </p:spPr>
      </p:sp>
      <p:sp>
        <p:nvSpPr>
          <p:cNvPr id="25" name="MPI step 6"/>
          <p:cNvSpPr/>
          <p:nvPr/>
        </p:nvSpPr>
        <p:spPr>
          <a:xfrm>
            <a:off x="9921240" y="1691640"/>
            <a:ext cx="1691640" cy="1600200"/>
          </a:xfrm>
          <a:prstGeom prst="roundRect">
            <a:avLst>
              <a:gd name="adj" fmla="val 6857"/>
            </a:avLst>
          </a:prstGeom>
          <a:solidFill>
            <a:srgbClr val="2E2055"/>
          </a:solidFill>
          <a:ln w="12700">
            <a:solidFill>
              <a:srgbClr val="2E2055"/>
            </a:solidFill>
            <a:prstDash val="solid"/>
          </a:ln>
        </p:spPr>
      </p:sp>
      <p:sp>
        <p:nvSpPr>
          <p:cNvPr id="26" name="Text 23"/>
          <p:cNvSpPr txBox="1"/>
          <p:nvPr/>
        </p:nvSpPr>
        <p:spPr>
          <a:xfrm>
            <a:off x="99669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Gatherv</a:t>
            </a:r>
            <a:endParaRPr lang="en-US" sz="1500" dirty="0"/>
          </a:p>
        </p:txBody>
      </p:sp>
      <p:sp>
        <p:nvSpPr>
          <p:cNvPr id="27" name="Text 24"/>
          <p:cNvSpPr txBox="1"/>
          <p:nvPr/>
        </p:nvSpPr>
        <p:spPr>
          <a:xfrm>
            <a:off x="99669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labels to rank 0</a:t>
            </a:r>
            <a:endParaRPr lang="en-US" sz="1300" dirty="0"/>
          </a:p>
        </p:txBody>
      </p:sp>
      <p:sp>
        <p:nvSpPr>
          <p:cNvPr id="28" name="Loop line"/>
          <p:cNvSpPr/>
          <p:nvPr/>
        </p:nvSpPr>
        <p:spPr>
          <a:xfrm>
            <a:off x="5394960" y="3429000"/>
            <a:ext cx="3611880" cy="0"/>
          </a:xfrm>
          <a:prstGeom prst="rect">
            <a:avLst/>
          </a:prstGeom>
          <a:noFill/>
          <a:ln w="19050">
            <a:solidFill>
              <a:srgbClr val="E0457B"/>
            </a:solidFill>
            <a:prstDash val="dash"/>
          </a:ln>
        </p:spPr>
      </p:sp>
      <p:sp>
        <p:nvSpPr>
          <p:cNvPr id="29" name="Text 26"/>
          <p:cNvSpPr txBox="1"/>
          <p:nvPr/>
        </p:nvSpPr>
        <p:spPr>
          <a:xfrm>
            <a:off x="5394960" y="3474720"/>
            <a:ext cx="3611880" cy="320040"/>
          </a:xfrm>
          <a:prstGeom prst="rect">
            <a:avLst/>
          </a:prstGeom>
          <a:noFill/>
          <a:ln/>
        </p:spPr>
        <p:txBody>
          <a:bodyPr wrap="square" lIns="0" tIns="0" rIns="0" bIns="0" rtlCol="0" anchor="t"/>
          <a:lstStyle/>
          <a:p>
            <a:pPr algn="ctr" indent="0" marL="0">
              <a:buNone/>
            </a:pPr>
            <a:r>
              <a:rPr lang="en-US" sz="1300" b="1" dirty="0">
                <a:solidFill>
                  <a:srgbClr val="E0457B"/>
                </a:solidFill>
                <a:latin typeface="Calibri" pitchFamily="34" charset="0"/>
                <a:ea typeface="Calibri" pitchFamily="34" charset="-122"/>
                <a:cs typeface="Calibri" pitchFamily="34" charset="-120"/>
              </a:rPr>
              <a:t>loop: repeat until converged</a:t>
            </a:r>
            <a:endParaRPr lang="en-US" sz="1300" dirty="0"/>
          </a:p>
        </p:txBody>
      </p:sp>
      <p:sp>
        <p:nvSpPr>
          <p:cNvPr id="30" name="Why exact"/>
          <p:cNvSpPr/>
          <p:nvPr/>
        </p:nvSpPr>
        <p:spPr>
          <a:xfrm>
            <a:off x="548640" y="4023360"/>
            <a:ext cx="5440680" cy="2148840"/>
          </a:xfrm>
          <a:prstGeom prst="roundRect">
            <a:avLst>
              <a:gd name="adj" fmla="val 5106"/>
            </a:avLst>
          </a:prstGeom>
          <a:solidFill>
            <a:srgbClr val="F5F1FB"/>
          </a:solidFill>
          <a:ln w="12700">
            <a:solidFill>
              <a:srgbClr val="F5F1FB"/>
            </a:solidFill>
            <a:prstDash val="solid"/>
          </a:ln>
        </p:spPr>
      </p:sp>
      <p:sp>
        <p:nvSpPr>
          <p:cNvPr id="31" name="Text 28"/>
          <p:cNvSpPr txBox="1"/>
          <p:nvPr/>
        </p:nvSpPr>
        <p:spPr>
          <a:xfrm>
            <a:off x="822960" y="416052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Why the result does not depend on P</a:t>
            </a:r>
            <a:endParaRPr lang="en-US" sz="1800" dirty="0"/>
          </a:p>
        </p:txBody>
      </p:sp>
      <p:sp>
        <p:nvSpPr>
          <p:cNvPr id="32" name="Text 29"/>
          <p:cNvSpPr txBox="1"/>
          <p:nvPr/>
        </p:nvSpPr>
        <p:spPr>
          <a:xfrm>
            <a:off x="822960"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Training vectors are integers 0…255, so sums and counts are exact in double precision and independent of summation order. The iteration count was the same for every P.</a:t>
            </a:r>
            <a:endParaRPr lang="en-US" sz="1500" dirty="0"/>
          </a:p>
        </p:txBody>
      </p:sp>
      <p:sp>
        <p:nvSpPr>
          <p:cNvPr id="33" name="Non-parallel"/>
          <p:cNvSpPr/>
          <p:nvPr/>
        </p:nvSpPr>
        <p:spPr>
          <a:xfrm>
            <a:off x="6199632" y="4023360"/>
            <a:ext cx="5440680" cy="2148840"/>
          </a:xfrm>
          <a:prstGeom prst="roundRect">
            <a:avLst>
              <a:gd name="adj" fmla="val 5106"/>
            </a:avLst>
          </a:prstGeom>
          <a:solidFill>
            <a:srgbClr val="F5F1FB"/>
          </a:solidFill>
          <a:ln w="12700">
            <a:solidFill>
              <a:srgbClr val="F5F1FB"/>
            </a:solidFill>
            <a:prstDash val="solid"/>
          </a:ln>
        </p:spPr>
      </p:sp>
      <p:sp>
        <p:nvSpPr>
          <p:cNvPr id="34" name="Text 31"/>
          <p:cNvSpPr txBox="1"/>
          <p:nvPr/>
        </p:nvSpPr>
        <p:spPr>
          <a:xfrm>
            <a:off x="6473952" y="416052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What stays on rank 0</a:t>
            </a:r>
            <a:endParaRPr lang="en-US" sz="1800" dirty="0"/>
          </a:p>
        </p:txBody>
      </p:sp>
      <p:sp>
        <p:nvSpPr>
          <p:cNvPr id="35" name="Text 32"/>
          <p:cNvSpPr txBox="1"/>
          <p:nvPr/>
        </p:nvSpPr>
        <p:spPr>
          <a:xfrm>
            <a:off x="6473952"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Image I/O, delta coding, Huffman, reconstruction and metrics. These stages limit the total speedup (Amdahl).</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PROPOSED PARALLEL COMPUTING STRATEGIES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workload distribution</a:t>
            </a:r>
            <a:endParaRPr lang="en-US" sz="3000" dirty="0"/>
          </a:p>
        </p:txBody>
      </p:sp>
      <p:sp>
        <p:nvSpPr>
          <p:cNvPr id="5" name="Text 2"/>
          <p:cNvSpPr txBox="1"/>
          <p:nvPr/>
        </p:nvSpPr>
        <p:spPr>
          <a:xfrm>
            <a:off x="548640" y="1554480"/>
            <a:ext cx="5394960" cy="365760"/>
          </a:xfrm>
          <a:prstGeom prst="rect">
            <a:avLst/>
          </a:prstGeom>
          <a:noFill/>
          <a:ln/>
        </p:spPr>
        <p:txBody>
          <a:bodyPr wrap="square" lIns="0" tIns="0" rIns="0" bIns="0" rtlCol="0" anchor="t"/>
          <a:lstStyle/>
          <a:p>
            <a:pPr indent="0" marL="0">
              <a:buNone/>
            </a:pPr>
            <a:r>
              <a:rPr lang="en-US" sz="2000" b="1" dirty="0">
                <a:solidFill>
                  <a:srgbClr val="5E5878"/>
                </a:solidFill>
                <a:latin typeface="Calibri" pitchFamily="34" charset="0"/>
                <a:ea typeface="Calibri" pitchFamily="34" charset="-122"/>
                <a:cs typeface="Calibri" pitchFamily="34" charset="-120"/>
              </a:rPr>
              <a:t>Equal</a:t>
            </a:r>
            <a:endParaRPr lang="en-US" sz="2000" dirty="0"/>
          </a:p>
        </p:txBody>
      </p:sp>
      <p:sp>
        <p:nvSpPr>
          <p:cNvPr id="6" name="Share bar"/>
          <p:cNvSpPr/>
          <p:nvPr/>
        </p:nvSpPr>
        <p:spPr>
          <a:xfrm>
            <a:off x="1645920" y="2103120"/>
            <a:ext cx="3291840" cy="402336"/>
          </a:xfrm>
          <a:prstGeom prst="roundRect">
            <a:avLst>
              <a:gd name="adj" fmla="val 13636"/>
            </a:avLst>
          </a:prstGeom>
          <a:solidFill>
            <a:srgbClr val="6B4FA3"/>
          </a:solidFill>
          <a:ln w="12700">
            <a:solidFill>
              <a:srgbClr val="FFFFFF"/>
            </a:solidFill>
            <a:prstDash val="solid"/>
          </a:ln>
        </p:spPr>
      </p:sp>
      <p:sp>
        <p:nvSpPr>
          <p:cNvPr id="7" name="Text 4"/>
          <p:cNvSpPr txBox="1"/>
          <p:nvPr/>
        </p:nvSpPr>
        <p:spPr>
          <a:xfrm>
            <a:off x="548640"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8" name="Share bar"/>
          <p:cNvSpPr/>
          <p:nvPr/>
        </p:nvSpPr>
        <p:spPr>
          <a:xfrm>
            <a:off x="1645920" y="2670048"/>
            <a:ext cx="3291840" cy="402336"/>
          </a:xfrm>
          <a:prstGeom prst="roundRect">
            <a:avLst>
              <a:gd name="adj" fmla="val 13636"/>
            </a:avLst>
          </a:prstGeom>
          <a:solidFill>
            <a:srgbClr val="6B4FA3"/>
          </a:solidFill>
          <a:ln w="12700">
            <a:solidFill>
              <a:srgbClr val="FFFFFF"/>
            </a:solidFill>
            <a:prstDash val="solid"/>
          </a:ln>
        </p:spPr>
      </p:sp>
      <p:sp>
        <p:nvSpPr>
          <p:cNvPr id="9" name="Text 6"/>
          <p:cNvSpPr txBox="1"/>
          <p:nvPr/>
        </p:nvSpPr>
        <p:spPr>
          <a:xfrm>
            <a:off x="548640"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0" name="Share bar"/>
          <p:cNvSpPr/>
          <p:nvPr/>
        </p:nvSpPr>
        <p:spPr>
          <a:xfrm>
            <a:off x="1645920" y="3236976"/>
            <a:ext cx="3291840" cy="402336"/>
          </a:xfrm>
          <a:prstGeom prst="roundRect">
            <a:avLst>
              <a:gd name="adj" fmla="val 13636"/>
            </a:avLst>
          </a:prstGeom>
          <a:solidFill>
            <a:srgbClr val="A794D6"/>
          </a:solidFill>
          <a:ln w="12700">
            <a:solidFill>
              <a:srgbClr val="FFFFFF"/>
            </a:solidFill>
            <a:prstDash val="solid"/>
          </a:ln>
        </p:spPr>
      </p:sp>
      <p:sp>
        <p:nvSpPr>
          <p:cNvPr id="11" name="Text 8"/>
          <p:cNvSpPr txBox="1"/>
          <p:nvPr/>
        </p:nvSpPr>
        <p:spPr>
          <a:xfrm>
            <a:off x="548640"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2" name="Share bar"/>
          <p:cNvSpPr/>
          <p:nvPr/>
        </p:nvSpPr>
        <p:spPr>
          <a:xfrm>
            <a:off x="1645920" y="3803904"/>
            <a:ext cx="3291840" cy="402336"/>
          </a:xfrm>
          <a:prstGeom prst="roundRect">
            <a:avLst>
              <a:gd name="adj" fmla="val 13636"/>
            </a:avLst>
          </a:prstGeom>
          <a:solidFill>
            <a:srgbClr val="A794D6"/>
          </a:solidFill>
          <a:ln w="12700">
            <a:solidFill>
              <a:srgbClr val="FFFFFF"/>
            </a:solidFill>
            <a:prstDash val="solid"/>
          </a:ln>
        </p:spPr>
      </p:sp>
      <p:sp>
        <p:nvSpPr>
          <p:cNvPr id="13" name="Text 10"/>
          <p:cNvSpPr txBox="1"/>
          <p:nvPr/>
        </p:nvSpPr>
        <p:spPr>
          <a:xfrm>
            <a:off x="548640"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4" name="Text 11"/>
          <p:cNvSpPr txBox="1"/>
          <p:nvPr/>
        </p:nvSpPr>
        <p:spPr>
          <a:xfrm>
            <a:off x="6245352" y="1554480"/>
            <a:ext cx="539496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Adaptive (speed-weighted)</a:t>
            </a:r>
            <a:endParaRPr lang="en-US" sz="2000" dirty="0"/>
          </a:p>
        </p:txBody>
      </p:sp>
      <p:sp>
        <p:nvSpPr>
          <p:cNvPr id="15" name="Share bar"/>
          <p:cNvSpPr/>
          <p:nvPr/>
        </p:nvSpPr>
        <p:spPr>
          <a:xfrm>
            <a:off x="7342632" y="2103120"/>
            <a:ext cx="3840480" cy="402336"/>
          </a:xfrm>
          <a:prstGeom prst="roundRect">
            <a:avLst>
              <a:gd name="adj" fmla="val 13636"/>
            </a:avLst>
          </a:prstGeom>
          <a:solidFill>
            <a:srgbClr val="6B4FA3"/>
          </a:solidFill>
          <a:ln w="12700">
            <a:solidFill>
              <a:srgbClr val="FFFFFF"/>
            </a:solidFill>
            <a:prstDash val="solid"/>
          </a:ln>
        </p:spPr>
      </p:sp>
      <p:sp>
        <p:nvSpPr>
          <p:cNvPr id="16" name="Text 13"/>
          <p:cNvSpPr txBox="1"/>
          <p:nvPr/>
        </p:nvSpPr>
        <p:spPr>
          <a:xfrm>
            <a:off x="6245352"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7" name="Share bar"/>
          <p:cNvSpPr/>
          <p:nvPr/>
        </p:nvSpPr>
        <p:spPr>
          <a:xfrm>
            <a:off x="7342632" y="2670048"/>
            <a:ext cx="3840480" cy="402336"/>
          </a:xfrm>
          <a:prstGeom prst="roundRect">
            <a:avLst>
              <a:gd name="adj" fmla="val 13636"/>
            </a:avLst>
          </a:prstGeom>
          <a:solidFill>
            <a:srgbClr val="6B4FA3"/>
          </a:solidFill>
          <a:ln w="12700">
            <a:solidFill>
              <a:srgbClr val="FFFFFF"/>
            </a:solidFill>
            <a:prstDash val="solid"/>
          </a:ln>
        </p:spPr>
      </p:sp>
      <p:sp>
        <p:nvSpPr>
          <p:cNvPr id="18" name="Text 15"/>
          <p:cNvSpPr txBox="1"/>
          <p:nvPr/>
        </p:nvSpPr>
        <p:spPr>
          <a:xfrm>
            <a:off x="6245352"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9" name="Share bar"/>
          <p:cNvSpPr/>
          <p:nvPr/>
        </p:nvSpPr>
        <p:spPr>
          <a:xfrm>
            <a:off x="7342632" y="3236976"/>
            <a:ext cx="2743200" cy="402336"/>
          </a:xfrm>
          <a:prstGeom prst="roundRect">
            <a:avLst>
              <a:gd name="adj" fmla="val 13636"/>
            </a:avLst>
          </a:prstGeom>
          <a:solidFill>
            <a:srgbClr val="A794D6"/>
          </a:solidFill>
          <a:ln w="12700">
            <a:solidFill>
              <a:srgbClr val="FFFFFF"/>
            </a:solidFill>
            <a:prstDash val="solid"/>
          </a:ln>
        </p:spPr>
      </p:sp>
      <p:sp>
        <p:nvSpPr>
          <p:cNvPr id="20" name="Text 17"/>
          <p:cNvSpPr txBox="1"/>
          <p:nvPr/>
        </p:nvSpPr>
        <p:spPr>
          <a:xfrm>
            <a:off x="6245352"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1" name="Share bar"/>
          <p:cNvSpPr/>
          <p:nvPr/>
        </p:nvSpPr>
        <p:spPr>
          <a:xfrm>
            <a:off x="7342632" y="3803904"/>
            <a:ext cx="2743200" cy="402336"/>
          </a:xfrm>
          <a:prstGeom prst="roundRect">
            <a:avLst>
              <a:gd name="adj" fmla="val 13636"/>
            </a:avLst>
          </a:prstGeom>
          <a:solidFill>
            <a:srgbClr val="A794D6"/>
          </a:solidFill>
          <a:ln w="12700">
            <a:solidFill>
              <a:srgbClr val="FFFFFF"/>
            </a:solidFill>
            <a:prstDash val="solid"/>
          </a:ln>
        </p:spPr>
      </p:sp>
      <p:sp>
        <p:nvSpPr>
          <p:cNvPr id="22" name="Text 19"/>
          <p:cNvSpPr txBox="1"/>
          <p:nvPr/>
        </p:nvSpPr>
        <p:spPr>
          <a:xfrm>
            <a:off x="6245352"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3" name="Text 20"/>
          <p:cNvSpPr txBox="1"/>
          <p:nvPr/>
        </p:nvSpPr>
        <p:spPr>
          <a:xfrm>
            <a:off x="548640" y="4434840"/>
            <a:ext cx="5486400" cy="27432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schematic: share of training vectors per rank</a:t>
            </a:r>
            <a:endParaRPr lang="en-US" sz="1100" dirty="0"/>
          </a:p>
        </p:txBody>
      </p:sp>
      <p:sp>
        <p:nvSpPr>
          <p:cNvPr id="24" name="Equal card"/>
          <p:cNvSpPr/>
          <p:nvPr/>
        </p:nvSpPr>
        <p:spPr>
          <a:xfrm>
            <a:off x="548640" y="4754880"/>
            <a:ext cx="5440680" cy="1417320"/>
          </a:xfrm>
          <a:prstGeom prst="roundRect">
            <a:avLst>
              <a:gd name="adj" fmla="val 7742"/>
            </a:avLst>
          </a:prstGeom>
          <a:solidFill>
            <a:srgbClr val="F5F1FB"/>
          </a:solidFill>
          <a:ln w="12700">
            <a:solidFill>
              <a:srgbClr val="F5F1FB"/>
            </a:solidFill>
            <a:prstDash val="solid"/>
          </a:ln>
        </p:spPr>
      </p:sp>
      <p:sp>
        <p:nvSpPr>
          <p:cNvPr id="25" name="Text 22"/>
          <p:cNvSpPr txBox="1"/>
          <p:nvPr/>
        </p:nvSpPr>
        <p:spPr>
          <a:xfrm>
            <a:off x="822960" y="4846320"/>
            <a:ext cx="4937760" cy="365760"/>
          </a:xfrm>
          <a:prstGeom prst="rect">
            <a:avLst/>
          </a:prstGeom>
          <a:noFill/>
          <a:ln/>
        </p:spPr>
        <p:txBody>
          <a:bodyPr wrap="square" lIns="0" tIns="0" rIns="0" bIns="0" rtlCol="0" anchor="t"/>
          <a:lstStyle/>
          <a:p>
            <a:pPr indent="0" marL="0">
              <a:buNone/>
            </a:pPr>
            <a:r>
              <a:rPr lang="en-US" sz="1700" b="1" dirty="0">
                <a:solidFill>
                  <a:srgbClr val="5E5878"/>
                </a:solidFill>
                <a:latin typeface="Calibri" pitchFamily="34" charset="0"/>
                <a:ea typeface="Calibri" pitchFamily="34" charset="-122"/>
                <a:cs typeface="Calibri" pitchFamily="34" charset="-120"/>
              </a:rPr>
              <a:t>Equal  (default for P ≤ 4)</a:t>
            </a:r>
            <a:endParaRPr lang="en-US" sz="1700" dirty="0"/>
          </a:p>
        </p:txBody>
      </p:sp>
      <p:sp>
        <p:nvSpPr>
          <p:cNvPr id="26" name="Text 23"/>
          <p:cNvSpPr txBox="1"/>
          <p:nvPr/>
        </p:nvSpPr>
        <p:spPr>
          <a:xfrm>
            <a:off x="822960"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Each rank gets N/P vectors. Simple, but the slowest rank sets the pace.</a:t>
            </a:r>
            <a:endParaRPr lang="en-US" sz="1400" dirty="0"/>
          </a:p>
        </p:txBody>
      </p:sp>
      <p:sp>
        <p:nvSpPr>
          <p:cNvPr id="27" name="Adaptive card"/>
          <p:cNvSpPr/>
          <p:nvPr/>
        </p:nvSpPr>
        <p:spPr>
          <a:xfrm>
            <a:off x="6245352" y="4754880"/>
            <a:ext cx="5394960" cy="1417320"/>
          </a:xfrm>
          <a:prstGeom prst="roundRect">
            <a:avLst>
              <a:gd name="adj" fmla="val 7742"/>
            </a:avLst>
          </a:prstGeom>
          <a:solidFill>
            <a:srgbClr val="F5F1FB"/>
          </a:solidFill>
          <a:ln w="12700">
            <a:solidFill>
              <a:srgbClr val="F5F1FB"/>
            </a:solidFill>
            <a:prstDash val="solid"/>
          </a:ln>
        </p:spPr>
      </p:sp>
      <p:sp>
        <p:nvSpPr>
          <p:cNvPr id="28" name="Text 25"/>
          <p:cNvSpPr txBox="1"/>
          <p:nvPr/>
        </p:nvSpPr>
        <p:spPr>
          <a:xfrm>
            <a:off x="6519672" y="4846320"/>
            <a:ext cx="4937760" cy="365760"/>
          </a:xfrm>
          <a:prstGeom prst="rect">
            <a:avLst/>
          </a:prstGeom>
          <a:noFill/>
          <a:ln/>
        </p:spPr>
        <p:txBody>
          <a:bodyPr wrap="square" lIns="0" tIns="0" rIns="0" bIns="0" rtlCol="0" anchor="t"/>
          <a:lstStyle/>
          <a:p>
            <a:pPr indent="0" marL="0">
              <a:buNone/>
            </a:pPr>
            <a:r>
              <a:rPr lang="en-US" sz="1700" b="1" dirty="0">
                <a:solidFill>
                  <a:srgbClr val="E0457B"/>
                </a:solidFill>
                <a:latin typeface="Calibri" pitchFamily="34" charset="0"/>
                <a:ea typeface="Calibri" pitchFamily="34" charset="-122"/>
                <a:cs typeface="Calibri" pitchFamily="34" charset="-120"/>
              </a:rPr>
              <a:t>Adaptive  (default for P &gt; 4)</a:t>
            </a:r>
            <a:endParaRPr lang="en-US" sz="1700" dirty="0"/>
          </a:p>
        </p:txBody>
      </p:sp>
      <p:sp>
        <p:nvSpPr>
          <p:cNvPr id="29" name="Text 26"/>
          <p:cNvSpPr txBox="1"/>
          <p:nvPr/>
        </p:nvSpPr>
        <p:spPr>
          <a:xfrm>
            <a:off x="6519672"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calibrate_speed() times a short kernel on each rank; shares are proportional to measured speed.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PROPOSED PARALLEL COMPUTING STRATEGIES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Platform and measurement protocol</a:t>
            </a:r>
            <a:endParaRPr lang="en-US" sz="3000" dirty="0"/>
          </a:p>
        </p:txBody>
      </p:sp>
      <p:sp>
        <p:nvSpPr>
          <p:cNvPr id="5" name="Stat card"/>
          <p:cNvSpPr/>
          <p:nvPr/>
        </p:nvSpPr>
        <p:spPr>
          <a:xfrm>
            <a:off x="548640" y="1554480"/>
            <a:ext cx="356616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 P + 8 E</a:t>
            </a:r>
            <a:endParaRPr lang="en-US" sz="4000" dirty="0"/>
          </a:p>
        </p:txBody>
      </p:sp>
      <p:sp>
        <p:nvSpPr>
          <p:cNvPr id="7" name="Text 4"/>
          <p:cNvSpPr txBox="1"/>
          <p:nvPr/>
        </p:nvSpPr>
        <p:spPr>
          <a:xfrm>
            <a:off x="73152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Intel Core i7-13650HX: 14 cores, hybrid</a:t>
            </a:r>
            <a:endParaRPr lang="en-US" sz="1400" dirty="0"/>
          </a:p>
        </p:txBody>
      </p:sp>
      <p:sp>
        <p:nvSpPr>
          <p:cNvPr id="8" name="Stat card"/>
          <p:cNvSpPr/>
          <p:nvPr/>
        </p:nvSpPr>
        <p:spPr>
          <a:xfrm>
            <a:off x="4297680" y="1554480"/>
            <a:ext cx="356616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4480560" y="169164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P = 2 … 14</a:t>
            </a:r>
            <a:endParaRPr lang="en-US" sz="4000" dirty="0"/>
          </a:p>
        </p:txBody>
      </p:sp>
      <p:sp>
        <p:nvSpPr>
          <p:cNvPr id="10" name="Text 7"/>
          <p:cNvSpPr txBox="1"/>
          <p:nvPr/>
        </p:nvSpPr>
        <p:spPr>
          <a:xfrm>
            <a:off x="448056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MPI processes, Open MPI, one per core</a:t>
            </a:r>
            <a:endParaRPr lang="en-US" sz="1400" dirty="0"/>
          </a:p>
        </p:txBody>
      </p:sp>
      <p:sp>
        <p:nvSpPr>
          <p:cNvPr id="11" name="Stat card"/>
          <p:cNvSpPr/>
          <p:nvPr/>
        </p:nvSpPr>
        <p:spPr>
          <a:xfrm>
            <a:off x="8046720" y="1554480"/>
            <a:ext cx="3593592"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8229600" y="169164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Median of 5</a:t>
            </a:r>
            <a:endParaRPr lang="en-US" sz="4000" dirty="0"/>
          </a:p>
        </p:txBody>
      </p:sp>
      <p:sp>
        <p:nvSpPr>
          <p:cNvPr id="13" name="Text 10"/>
          <p:cNvSpPr txBox="1"/>
          <p:nvPr/>
        </p:nvSpPr>
        <p:spPr>
          <a:xfrm>
            <a:off x="8229600" y="242316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runs per configuration and image</a:t>
            </a:r>
            <a:endParaRPr lang="en-US" sz="1400" dirty="0"/>
          </a:p>
        </p:txBody>
      </p:sp>
      <p:sp>
        <p:nvSpPr>
          <p:cNvPr id="14" name="Protocol card"/>
          <p:cNvSpPr/>
          <p:nvPr/>
        </p:nvSpPr>
        <p:spPr>
          <a:xfrm>
            <a:off x="548640" y="3291840"/>
            <a:ext cx="5440680" cy="1280160"/>
          </a:xfrm>
          <a:prstGeom prst="roundRect">
            <a:avLst>
              <a:gd name="adj" fmla="val 8571"/>
            </a:avLst>
          </a:prstGeom>
          <a:solidFill>
            <a:srgbClr val="F5F1FB"/>
          </a:solidFill>
          <a:ln w="12700">
            <a:solidFill>
              <a:srgbClr val="F5F1FB"/>
            </a:solidFill>
            <a:prstDash val="solid"/>
          </a:ln>
        </p:spPr>
      </p:sp>
      <p:sp>
        <p:nvSpPr>
          <p:cNvPr id="15" name="Icon circle"/>
          <p:cNvSpPr/>
          <p:nvPr/>
        </p:nvSpPr>
        <p:spPr>
          <a:xfrm>
            <a:off x="777240" y="3566160"/>
            <a:ext cx="731520" cy="731520"/>
          </a:xfrm>
          <a:prstGeom prst="ellipse">
            <a:avLst/>
          </a:prstGeom>
          <a:solidFill>
            <a:srgbClr val="6B4FA3"/>
          </a:solidFill>
          <a:ln w="12700">
            <a:solidFill>
              <a:srgbClr val="6B4FA3"/>
            </a:solidFill>
            <a:prstDash val="solid"/>
          </a:ln>
        </p:spPr>
      </p:sp>
      <p:pic>
        <p:nvPicPr>
          <p:cNvPr id="16" name="Icon" descr="preencoded.png">    </p:cNvPr>
          <p:cNvPicPr>
            <a:picLocks noChangeAspect="1"/>
          </p:cNvPicPr>
          <p:nvPr/>
        </p:nvPicPr>
        <p:blipFill>
          <a:blip r:embed="rId1"/>
          <a:stretch>
            <a:fillRect/>
          </a:stretch>
        </p:blipFill>
        <p:spPr>
          <a:xfrm>
            <a:off x="960120" y="3749040"/>
            <a:ext cx="365760" cy="365760"/>
          </a:xfrm>
          <a:prstGeom prst="rect">
            <a:avLst/>
          </a:prstGeom>
        </p:spPr>
      </p:pic>
      <p:sp>
        <p:nvSpPr>
          <p:cNvPr id="17" name="Text 13"/>
          <p:cNvSpPr txBox="1"/>
          <p:nvPr/>
        </p:nvSpPr>
        <p:spPr>
          <a:xfrm>
            <a:off x="173736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CPU governor: performance, AC power</a:t>
            </a:r>
            <a:endParaRPr lang="en-US" sz="1600" dirty="0"/>
          </a:p>
        </p:txBody>
      </p:sp>
      <p:sp>
        <p:nvSpPr>
          <p:cNvPr id="18" name="Protocol card"/>
          <p:cNvSpPr/>
          <p:nvPr/>
        </p:nvSpPr>
        <p:spPr>
          <a:xfrm>
            <a:off x="6172200" y="3291840"/>
            <a:ext cx="5440680" cy="1280160"/>
          </a:xfrm>
          <a:prstGeom prst="roundRect">
            <a:avLst>
              <a:gd name="adj" fmla="val 8571"/>
            </a:avLst>
          </a:prstGeom>
          <a:solidFill>
            <a:srgbClr val="F5F1FB"/>
          </a:solidFill>
          <a:ln w="12700">
            <a:solidFill>
              <a:srgbClr val="F5F1FB"/>
            </a:solidFill>
            <a:prstDash val="solid"/>
          </a:ln>
        </p:spPr>
      </p:sp>
      <p:sp>
        <p:nvSpPr>
          <p:cNvPr id="19" name="Icon circle"/>
          <p:cNvSpPr/>
          <p:nvPr/>
        </p:nvSpPr>
        <p:spPr>
          <a:xfrm>
            <a:off x="6400800" y="3566160"/>
            <a:ext cx="731520" cy="731520"/>
          </a:xfrm>
          <a:prstGeom prst="ellipse">
            <a:avLst/>
          </a:prstGeom>
          <a:solidFill>
            <a:srgbClr val="E0457B"/>
          </a:solidFill>
          <a:ln w="12700">
            <a:solidFill>
              <a:srgbClr val="E0457B"/>
            </a:solidFill>
            <a:prstDash val="solid"/>
          </a:ln>
        </p:spPr>
      </p:sp>
      <p:pic>
        <p:nvPicPr>
          <p:cNvPr id="20" name="Icon" descr="preencoded.png">    </p:cNvPr>
          <p:cNvPicPr>
            <a:picLocks noChangeAspect="1"/>
          </p:cNvPicPr>
          <p:nvPr/>
        </p:nvPicPr>
        <p:blipFill>
          <a:blip r:embed="rId2"/>
          <a:stretch>
            <a:fillRect/>
          </a:stretch>
        </p:blipFill>
        <p:spPr>
          <a:xfrm>
            <a:off x="6583680" y="3749040"/>
            <a:ext cx="365760" cy="365760"/>
          </a:xfrm>
          <a:prstGeom prst="rect">
            <a:avLst/>
          </a:prstGeom>
        </p:spPr>
      </p:pic>
      <p:sp>
        <p:nvSpPr>
          <p:cNvPr id="21" name="Text 16"/>
          <p:cNvSpPr txBox="1"/>
          <p:nvPr/>
        </p:nvSpPr>
        <p:spPr>
          <a:xfrm>
            <a:off x="736092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mpirun --bind-to core: one rank per core</a:t>
            </a:r>
            <a:endParaRPr lang="en-US" sz="1600" dirty="0"/>
          </a:p>
        </p:txBody>
      </p:sp>
      <p:sp>
        <p:nvSpPr>
          <p:cNvPr id="22" name="Protocol card"/>
          <p:cNvSpPr/>
          <p:nvPr/>
        </p:nvSpPr>
        <p:spPr>
          <a:xfrm>
            <a:off x="548640" y="4754880"/>
            <a:ext cx="5440680" cy="1280160"/>
          </a:xfrm>
          <a:prstGeom prst="roundRect">
            <a:avLst>
              <a:gd name="adj" fmla="val 8571"/>
            </a:avLst>
          </a:prstGeom>
          <a:solidFill>
            <a:srgbClr val="F5F1FB"/>
          </a:solidFill>
          <a:ln w="12700">
            <a:solidFill>
              <a:srgbClr val="F5F1FB"/>
            </a:solidFill>
            <a:prstDash val="solid"/>
          </a:ln>
        </p:spPr>
      </p:sp>
      <p:sp>
        <p:nvSpPr>
          <p:cNvPr id="23" name="Icon circle"/>
          <p:cNvSpPr/>
          <p:nvPr/>
        </p:nvSpPr>
        <p:spPr>
          <a:xfrm>
            <a:off x="777240" y="5029200"/>
            <a:ext cx="731520" cy="731520"/>
          </a:xfrm>
          <a:prstGeom prst="ellipse">
            <a:avLst/>
          </a:prstGeom>
          <a:solidFill>
            <a:srgbClr val="2A9D8F"/>
          </a:solidFill>
          <a:ln w="12700">
            <a:solidFill>
              <a:srgbClr val="2A9D8F"/>
            </a:solidFill>
            <a:prstDash val="solid"/>
          </a:ln>
        </p:spPr>
      </p:sp>
      <p:pic>
        <p:nvPicPr>
          <p:cNvPr id="24" name="Icon" descr="preencoded.png">    </p:cNvPr>
          <p:cNvPicPr>
            <a:picLocks noChangeAspect="1"/>
          </p:cNvPicPr>
          <p:nvPr/>
        </p:nvPicPr>
        <p:blipFill>
          <a:blip r:embed="rId3"/>
          <a:stretch>
            <a:fillRect/>
          </a:stretch>
        </p:blipFill>
        <p:spPr>
          <a:xfrm>
            <a:off x="960120" y="5212080"/>
            <a:ext cx="365760" cy="365760"/>
          </a:xfrm>
          <a:prstGeom prst="rect">
            <a:avLst/>
          </a:prstGeom>
        </p:spPr>
      </p:pic>
      <p:sp>
        <p:nvSpPr>
          <p:cNvPr id="25" name="Text 19"/>
          <p:cNvSpPr txBox="1"/>
          <p:nvPr/>
        </p:nvSpPr>
        <p:spPr>
          <a:xfrm>
            <a:off x="173736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Sequential program pinned to CPU 6</a:t>
            </a:r>
            <a:endParaRPr lang="en-US" sz="1600" dirty="0"/>
          </a:p>
        </p:txBody>
      </p:sp>
      <p:sp>
        <p:nvSpPr>
          <p:cNvPr id="26" name="Protocol card"/>
          <p:cNvSpPr/>
          <p:nvPr/>
        </p:nvSpPr>
        <p:spPr>
          <a:xfrm>
            <a:off x="6172200" y="4754880"/>
            <a:ext cx="5440680" cy="1280160"/>
          </a:xfrm>
          <a:prstGeom prst="roundRect">
            <a:avLst>
              <a:gd name="adj" fmla="val 8571"/>
            </a:avLst>
          </a:prstGeom>
          <a:solidFill>
            <a:srgbClr val="F5F1FB"/>
          </a:solidFill>
          <a:ln w="12700">
            <a:solidFill>
              <a:srgbClr val="F5F1FB"/>
            </a:solidFill>
            <a:prstDash val="solid"/>
          </a:ln>
        </p:spPr>
      </p:sp>
      <p:sp>
        <p:nvSpPr>
          <p:cNvPr id="27" name="Icon circle"/>
          <p:cNvSpPr/>
          <p:nvPr/>
        </p:nvSpPr>
        <p:spPr>
          <a:xfrm>
            <a:off x="6400800" y="5029200"/>
            <a:ext cx="731520" cy="731520"/>
          </a:xfrm>
          <a:prstGeom prst="ellipse">
            <a:avLst/>
          </a:prstGeom>
          <a:solidFill>
            <a:srgbClr val="F2B134"/>
          </a:solidFill>
          <a:ln w="12700">
            <a:solidFill>
              <a:srgbClr val="F2B134"/>
            </a:solidFill>
            <a:prstDash val="solid"/>
          </a:ln>
        </p:spPr>
      </p:sp>
      <p:pic>
        <p:nvPicPr>
          <p:cNvPr id="28" name="Icon" descr="preencoded.png">    </p:cNvPr>
          <p:cNvPicPr>
            <a:picLocks noChangeAspect="1"/>
          </p:cNvPicPr>
          <p:nvPr/>
        </p:nvPicPr>
        <p:blipFill>
          <a:blip r:embed="rId4"/>
          <a:stretch>
            <a:fillRect/>
          </a:stretch>
        </p:blipFill>
        <p:spPr>
          <a:xfrm>
            <a:off x="6583680" y="5212080"/>
            <a:ext cx="365760" cy="365760"/>
          </a:xfrm>
          <a:prstGeom prst="rect">
            <a:avLst/>
          </a:prstGeom>
        </p:spPr>
      </p:pic>
      <p:sp>
        <p:nvSpPr>
          <p:cNvPr id="29" name="Text 22"/>
          <p:cNvSpPr txBox="1"/>
          <p:nvPr/>
        </p:nvSpPr>
        <p:spPr>
          <a:xfrm>
            <a:off x="736092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gcc / mpicc -O2; LBG time excludes calibration, Total includes it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PROPOSED PARALLEL COMPUTING STRATEGIES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Verification: parallel = sequential</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943600" cy="914400"/>
        </p:xfrm>
        <a:graphic>
          <a:graphicData uri="http://schemas.openxmlformats.org/drawingml/2006/table">
            <a:tbl>
              <a:tblPr/>
              <a:tblGrid>
                <a:gridCol w="3017520"/>
                <a:gridCol w="1280160"/>
                <a:gridCol w="1645920"/>
              </a:tblGrid>
              <a:tr h="457200">
                <a:tc>
                  <a:txBody>
                    <a:bodyPr/>
                    <a:lstStyle/>
                    <a:p>
                      <a:pPr algn="ctr" indent="0" marL="0">
                        <a:buNone/>
                      </a:pPr>
                      <a:r>
                        <a:rPr lang="en-US" sz="1300" b="1" dirty="0">
                          <a:solidFill>
                            <a:srgbClr val="FFFFFF"/>
                          </a:solidFill>
                        </a:rPr>
                        <a:t>Run</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Processes</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Strategy</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548640">
                <a:tc>
                  <a:txBody>
                    <a:bodyPr/>
                    <a:lstStyle/>
                    <a:p>
                      <a:pPr algn="l" indent="0" marL="0">
                        <a:buNone/>
                      </a:pPr>
                      <a:r>
                        <a:rPr lang="en-US" sz="1400" dirty="0">
                          <a:solidFill>
                            <a:srgbClr val="1F1A33"/>
                          </a:solidFill>
                        </a:rPr>
                        <a:t>1  Sequential reference</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2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3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Adaptive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4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(forced)</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Stat card"/>
          <p:cNvSpPr/>
          <p:nvPr/>
        </p:nvSpPr>
        <p:spPr>
          <a:xfrm>
            <a:off x="6858000" y="1600200"/>
            <a:ext cx="47823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040880" y="1737360"/>
            <a:ext cx="44165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8 / 8</a:t>
            </a:r>
            <a:endParaRPr lang="en-US" sz="4000" dirty="0"/>
          </a:p>
        </p:txBody>
      </p:sp>
      <p:sp>
        <p:nvSpPr>
          <p:cNvPr id="8" name="Text 4"/>
          <p:cNvSpPr txBox="1"/>
          <p:nvPr/>
        </p:nvSpPr>
        <p:spPr>
          <a:xfrm>
            <a:off x="7040880" y="246888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images with identical metrics and identical MD5</a:t>
            </a:r>
            <a:endParaRPr lang="en-US" sz="1400" dirty="0"/>
          </a:p>
        </p:txBody>
      </p:sp>
      <p:sp>
        <p:nvSpPr>
          <p:cNvPr id="9" name="Stat card"/>
          <p:cNvSpPr/>
          <p:nvPr/>
        </p:nvSpPr>
        <p:spPr>
          <a:xfrm>
            <a:off x="6858000" y="3154680"/>
            <a:ext cx="47823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7040880" y="3291840"/>
            <a:ext cx="441655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same iterations</a:t>
            </a:r>
            <a:endParaRPr lang="en-US" sz="4000" dirty="0"/>
          </a:p>
        </p:txBody>
      </p:sp>
      <p:sp>
        <p:nvSpPr>
          <p:cNvPr id="11" name="Text 7"/>
          <p:cNvSpPr txBox="1"/>
          <p:nvPr/>
        </p:nvSpPr>
        <p:spPr>
          <a:xfrm>
            <a:off x="7040880" y="402336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iteration count constant for every P</a:t>
            </a:r>
            <a:endParaRPr lang="en-US" sz="1400" dirty="0"/>
          </a:p>
        </p:txBody>
      </p:sp>
      <p:sp>
        <p:nvSpPr>
          <p:cNvPr id="12" name="Claim"/>
          <p:cNvSpPr/>
          <p:nvPr/>
        </p:nvSpPr>
        <p:spPr>
          <a:xfrm>
            <a:off x="548640" y="4572000"/>
            <a:ext cx="11091672" cy="1600200"/>
          </a:xfrm>
          <a:prstGeom prst="roundRect">
            <a:avLst>
              <a:gd name="adj" fmla="val 6857"/>
            </a:avLst>
          </a:prstGeom>
          <a:solidFill>
            <a:srgbClr val="F5F1FB"/>
          </a:solidFill>
          <a:ln w="12700">
            <a:solidFill>
              <a:srgbClr val="F5F1FB"/>
            </a:solidFill>
            <a:prstDash val="solid"/>
          </a:ln>
        </p:spPr>
      </p:sp>
      <p:sp>
        <p:nvSpPr>
          <p:cNvPr id="13" name="Text 9"/>
          <p:cNvSpPr txBox="1"/>
          <p:nvPr/>
        </p:nvSpPr>
        <p:spPr>
          <a:xfrm>
            <a:off x="822960" y="4663440"/>
            <a:ext cx="10515600" cy="1417320"/>
          </a:xfrm>
          <a:prstGeom prst="rect">
            <a:avLst/>
          </a:prstGeom>
          <a:noFill/>
          <a:ln/>
        </p:spPr>
        <p:txBody>
          <a:bodyPr wrap="square" lIns="0" tIns="0" rIns="0" bIns="0" rtlCol="0" anchor="t"/>
          <a:lstStyle/>
          <a:p>
            <a:pPr indent="0" marL="0">
              <a:spcAft>
                <a:spcPts val="400"/>
              </a:spcAft>
              <a:buNone/>
            </a:pPr>
            <a:r>
              <a:rPr lang="en-US" sz="1700" b="1" dirty="0">
                <a:solidFill>
                  <a:srgbClr val="6B4FA3"/>
                </a:solidFill>
                <a:latin typeface="Calibri" pitchFamily="34" charset="0"/>
                <a:ea typeface="Calibri" pitchFamily="34" charset="-122"/>
                <a:cs typeface="Calibri" pitchFamily="34" charset="-120"/>
              </a:rPr>
              <a:t>Scope of the claim</a:t>
            </a:r>
            <a:endParaRPr lang="en-US" sz="1500" dirty="0"/>
          </a:p>
          <a:p>
            <a:pPr indent="0" marL="0">
              <a:spcAft>
                <a:spcPts val="400"/>
              </a:spcAft>
              <a:buNone/>
            </a:pPr>
            <a:r>
              <a:rPr lang="en-US" sz="1500" dirty="0">
                <a:solidFill>
                  <a:srgbClr val="5E5878"/>
                </a:solidFill>
                <a:latin typeface="Calibri" pitchFamily="34" charset="0"/>
                <a:ea typeface="Calibri" pitchFamily="34" charset="-122"/>
                <a:cs typeface="Calibri" pitchFamily="34" charset="-120"/>
              </a:rPr>
              <a:t>Compared: CR, MSE, PSNR, SSIM, iterations and the MD5 of the reconstructed BMP (external md5sum tool). The codebooks and bitstreams were not compared directly, so equivalence is stated for the tested configurations.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Parameter study: block size and codebook size</a:t>
            </a:r>
            <a:endParaRPr lang="en-US" sz="3000" dirty="0"/>
          </a:p>
        </p:txBody>
      </p:sp>
      <p:graphicFrame>
        <p:nvGraphicFramePr>
          <p:cNvPr id="5" name="Chart 0" descr=""/>
          <p:cNvGraphicFramePr/>
          <p:nvPr/>
        </p:nvGraphicFramePr>
        <p:xfrm>
          <a:off x="548640" y="150876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8" name="Text 3"/>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4×4 / K = 64: CR 25.9, PSNR 29.5 dB. The trade-off is monotonic: more compression, less fidelity.</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Grayscale results (4×4 blocks, K = 64)</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29.49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0.8266</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Color results (R, G, B coded independently)</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24.47</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28.80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0.7654</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Visual result: Cameraman</a:t>
            </a:r>
            <a:endParaRPr lang="en-US" sz="3000" dirty="0"/>
          </a:p>
        </p:txBody>
      </p:sp>
      <p:pic>
        <p:nvPicPr>
          <p:cNvPr id="5" name="Original" descr="/home/user/mihk/results/seminar/assets/cam_orig.png">    </p:cNvPr>
          <p:cNvPicPr>
            <a:picLocks noChangeAspect="1"/>
          </p:cNvPicPr>
          <p:nvPr/>
        </p:nvPicPr>
        <p:blipFill>
          <a:blip r:embed="rId1"/>
          <a:stretch>
            <a:fillRect/>
          </a:stretch>
        </p:blipFill>
        <p:spPr>
          <a:xfrm>
            <a:off x="548640" y="1508760"/>
            <a:ext cx="3566160" cy="3566160"/>
          </a:xfrm>
          <a:prstGeom prst="rect">
            <a:avLst/>
          </a:prstGeom>
        </p:spPr>
      </p:pic>
      <p:sp>
        <p:nvSpPr>
          <p:cNvPr id="6" name="Text 2"/>
          <p:cNvSpPr txBox="1"/>
          <p:nvPr/>
        </p:nvSpPr>
        <p:spPr>
          <a:xfrm>
            <a:off x="548640"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Original</a:t>
            </a:r>
            <a:endParaRPr lang="en-US" sz="1400" dirty="0"/>
          </a:p>
        </p:txBody>
      </p:sp>
      <p:pic>
        <p:nvPicPr>
          <p:cNvPr id="7" name="Reconstructed (K = 64)" descr="/home/user/mihk/results/seminar/assets/cam_rec.png">    </p:cNvPr>
          <p:cNvPicPr>
            <a:picLocks noChangeAspect="1"/>
          </p:cNvPicPr>
          <p:nvPr/>
        </p:nvPicPr>
        <p:blipFill>
          <a:blip r:embed="rId2"/>
          <a:stretch>
            <a:fillRect/>
          </a:stretch>
        </p:blipFill>
        <p:spPr>
          <a:xfrm>
            <a:off x="4416552" y="1508760"/>
            <a:ext cx="3566160" cy="3566160"/>
          </a:xfrm>
          <a:prstGeom prst="rect">
            <a:avLst/>
          </a:prstGeom>
        </p:spPr>
      </p:pic>
      <p:sp>
        <p:nvSpPr>
          <p:cNvPr id="8" name="Text 3"/>
          <p:cNvSpPr txBox="1"/>
          <p:nvPr/>
        </p:nvSpPr>
        <p:spPr>
          <a:xfrm>
            <a:off x="4416552"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Reconstructed (K = 64)</a:t>
            </a:r>
            <a:endParaRPr lang="en-US" sz="1400" dirty="0"/>
          </a:p>
        </p:txBody>
      </p:sp>
      <p:pic>
        <p:nvPicPr>
          <p:cNvPr id="9" name="Zoom original" descr="/home/user/mihk/results/seminar/assets/cam_orig_zoom.png">    </p:cNvPr>
          <p:cNvPicPr>
            <a:picLocks noChangeAspect="1"/>
          </p:cNvPicPr>
          <p:nvPr/>
        </p:nvPicPr>
        <p:blipFill>
          <a:blip r:embed="rId3"/>
          <a:stretch>
            <a:fillRect/>
          </a:stretch>
        </p:blipFill>
        <p:spPr>
          <a:xfrm>
            <a:off x="8284464" y="1508760"/>
            <a:ext cx="1645920" cy="1645920"/>
          </a:xfrm>
          <a:prstGeom prst="rect">
            <a:avLst/>
          </a:prstGeom>
        </p:spPr>
      </p:pic>
      <p:pic>
        <p:nvPicPr>
          <p:cNvPr id="10" name="Zoom reconstructed" descr="/home/user/mihk/results/seminar/assets/cam_rec_zoom.png">    </p:cNvPr>
          <p:cNvPicPr>
            <a:picLocks noChangeAspect="1"/>
          </p:cNvPicPr>
          <p:nvPr/>
        </p:nvPicPr>
        <p:blipFill>
          <a:blip r:embed="rId4"/>
          <a:stretch>
            <a:fillRect/>
          </a:stretch>
        </p:blipFill>
        <p:spPr>
          <a:xfrm>
            <a:off x="9994392" y="1508760"/>
            <a:ext cx="1645920" cy="1645920"/>
          </a:xfrm>
          <a:prstGeom prst="rect">
            <a:avLst/>
          </a:prstGeom>
        </p:spPr>
      </p:pic>
      <p:sp>
        <p:nvSpPr>
          <p:cNvPr id="11" name="Text 4"/>
          <p:cNvSpPr txBox="1"/>
          <p:nvPr/>
        </p:nvSpPr>
        <p:spPr>
          <a:xfrm>
            <a:off x="8284464"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original</a:t>
            </a:r>
            <a:endParaRPr lang="en-US" sz="1200" dirty="0"/>
          </a:p>
        </p:txBody>
      </p:sp>
      <p:sp>
        <p:nvSpPr>
          <p:cNvPr id="12" name="Text 5"/>
          <p:cNvSpPr txBox="1"/>
          <p:nvPr/>
        </p:nvSpPr>
        <p:spPr>
          <a:xfrm>
            <a:off x="9994392"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reconstructed</a:t>
            </a:r>
            <a:endParaRPr lang="en-US" sz="1200" dirty="0"/>
          </a:p>
        </p:txBody>
      </p:sp>
      <p:sp>
        <p:nvSpPr>
          <p:cNvPr id="13" name="Text 6"/>
          <p:cNvSpPr txBox="1"/>
          <p:nvPr/>
        </p:nvSpPr>
        <p:spPr>
          <a:xfrm>
            <a:off x="8284464" y="3474720"/>
            <a:ext cx="3355848" cy="274320"/>
          </a:xfrm>
          <a:prstGeom prst="rect">
            <a:avLst/>
          </a:prstGeom>
          <a:noFill/>
          <a:ln/>
        </p:spPr>
        <p:txBody>
          <a:bodyPr wrap="square" lIns="0" tIns="0" rIns="0" bIns="0" rtlCol="0" anchor="t"/>
          <a:lstStyle/>
          <a:p>
            <a:pPr algn="ctr" indent="0" marL="0">
              <a:buNone/>
            </a:pPr>
            <a:r>
              <a:rPr lang="en-US" sz="1200" i="1" dirty="0">
                <a:solidFill>
                  <a:srgbClr val="5E5878"/>
                </a:solidFill>
                <a:latin typeface="Calibri" pitchFamily="34" charset="0"/>
                <a:ea typeface="Calibri" pitchFamily="34" charset="-122"/>
                <a:cs typeface="Calibri" pitchFamily="34" charset="-120"/>
              </a:rPr>
              <a:t>4× zoom of the same 96×96 region</a:t>
            </a:r>
            <a:endParaRPr lang="en-US" sz="1200" dirty="0"/>
          </a:p>
        </p:txBody>
      </p:sp>
      <p:sp>
        <p:nvSpPr>
          <p:cNvPr id="14" name="Stat card"/>
          <p:cNvSpPr/>
          <p:nvPr/>
        </p:nvSpPr>
        <p:spPr>
          <a:xfrm>
            <a:off x="8284464" y="3840480"/>
            <a:ext cx="1645920" cy="1371600"/>
          </a:xfrm>
          <a:prstGeom prst="roundRect">
            <a:avLst>
              <a:gd name="adj" fmla="val 8000"/>
            </a:avLst>
          </a:prstGeom>
          <a:solidFill>
            <a:srgbClr val="F5F1FB"/>
          </a:solidFill>
          <a:ln w="12700">
            <a:solidFill>
              <a:srgbClr val="F5F1FB"/>
            </a:solidFill>
            <a:prstDash val="solid"/>
          </a:ln>
        </p:spPr>
      </p:sp>
      <p:sp>
        <p:nvSpPr>
          <p:cNvPr id="15" name="Text 8"/>
          <p:cNvSpPr txBox="1"/>
          <p:nvPr/>
        </p:nvSpPr>
        <p:spPr>
          <a:xfrm>
            <a:off x="8467344" y="3977640"/>
            <a:ext cx="128016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28.88</a:t>
            </a:r>
            <a:endParaRPr lang="en-US" sz="4000" dirty="0"/>
          </a:p>
        </p:txBody>
      </p:sp>
      <p:sp>
        <p:nvSpPr>
          <p:cNvPr id="16" name="Text 9"/>
          <p:cNvSpPr txBox="1"/>
          <p:nvPr/>
        </p:nvSpPr>
        <p:spPr>
          <a:xfrm>
            <a:off x="8467344"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CR</a:t>
            </a:r>
            <a:endParaRPr lang="en-US" sz="1400" dirty="0"/>
          </a:p>
        </p:txBody>
      </p:sp>
      <p:sp>
        <p:nvSpPr>
          <p:cNvPr id="17" name="Stat card"/>
          <p:cNvSpPr/>
          <p:nvPr/>
        </p:nvSpPr>
        <p:spPr>
          <a:xfrm>
            <a:off x="9994392" y="3840480"/>
            <a:ext cx="1645920" cy="1371600"/>
          </a:xfrm>
          <a:prstGeom prst="roundRect">
            <a:avLst>
              <a:gd name="adj" fmla="val 8000"/>
            </a:avLst>
          </a:prstGeom>
          <a:solidFill>
            <a:srgbClr val="F5F1FB"/>
          </a:solidFill>
          <a:ln w="12700">
            <a:solidFill>
              <a:srgbClr val="F5F1FB"/>
            </a:solidFill>
            <a:prstDash val="solid"/>
          </a:ln>
        </p:spPr>
      </p:sp>
      <p:sp>
        <p:nvSpPr>
          <p:cNvPr id="18" name="Text 11"/>
          <p:cNvSpPr txBox="1"/>
          <p:nvPr/>
        </p:nvSpPr>
        <p:spPr>
          <a:xfrm>
            <a:off x="10177272" y="3977640"/>
            <a:ext cx="128016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29.75</a:t>
            </a:r>
            <a:endParaRPr lang="en-US" sz="4000" dirty="0"/>
          </a:p>
        </p:txBody>
      </p:sp>
      <p:sp>
        <p:nvSpPr>
          <p:cNvPr id="19" name="Text 12"/>
          <p:cNvSpPr txBox="1"/>
          <p:nvPr/>
        </p:nvSpPr>
        <p:spPr>
          <a:xfrm>
            <a:off x="10177272"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PSNR dB</a:t>
            </a:r>
            <a:endParaRPr lang="en-US" sz="1400" dirty="0"/>
          </a:p>
        </p:txBody>
      </p:sp>
      <p:sp>
        <p:nvSpPr>
          <p:cNvPr id="20" name="Text 13"/>
          <p:cNvSpPr txBox="1"/>
          <p:nvPr/>
        </p:nvSpPr>
        <p:spPr>
          <a:xfrm>
            <a:off x="8284464" y="5303520"/>
            <a:ext cx="3355848"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SSIM 0.8855  ·  MSE 68.84</a:t>
            </a:r>
            <a:endParaRPr lang="en-US" sz="1400" dirty="0"/>
          </a:p>
        </p:txBody>
      </p:sp>
      <p:sp>
        <p:nvSpPr>
          <p:cNvPr id="21" name="Note"/>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22" name="Text 15"/>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At CR ≈ 29 the image remains recognisable; fine textures show the 4×4 block structure of VQ.</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Quality at matched compression ratio</a:t>
            </a:r>
            <a:endParaRPr lang="en-US" sz="3000" dirty="0"/>
          </a:p>
        </p:txBody>
      </p:sp>
      <p:graphicFrame>
        <p:nvGraphicFramePr>
          <p:cNvPr id="5" name="Chart 0" descr=""/>
          <p:cNvGraphicFramePr/>
          <p:nvPr/>
        </p:nvGraphicFramePr>
        <p:xfrm>
          <a:off x="548640" y="150876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6" name="Reading"/>
          <p:cNvSpPr/>
          <p:nvPr/>
        </p:nvSpPr>
        <p:spPr>
          <a:xfrm>
            <a:off x="8183880" y="1508760"/>
            <a:ext cx="3456432" cy="4480560"/>
          </a:xfrm>
          <a:prstGeom prst="roundRect">
            <a:avLst>
              <a:gd name="adj" fmla="val 3175"/>
            </a:avLst>
          </a:prstGeom>
          <a:solidFill>
            <a:srgbClr val="F5F1FB"/>
          </a:solidFill>
          <a:ln w="12700">
            <a:solidFill>
              <a:srgbClr val="F5F1FB"/>
            </a:solidFill>
            <a:prstDash val="solid"/>
          </a:ln>
        </p:spPr>
      </p:sp>
      <p:sp>
        <p:nvSpPr>
          <p:cNvPr id="7" name="Text 3"/>
          <p:cNvSpPr txBox="1"/>
          <p:nvPr/>
        </p:nvSpPr>
        <p:spPr>
          <a:xfrm>
            <a:off x="8412480" y="1645920"/>
            <a:ext cx="3017520" cy="4206240"/>
          </a:xfrm>
          <a:prstGeom prst="rect">
            <a:avLst/>
          </a:prstGeom>
          <a:noFill/>
          <a:ln/>
        </p:spPr>
        <p:txBody>
          <a:bodyPr wrap="square" lIns="0" tIns="0" rIns="0" bIns="0" rtlCol="0" anchor="t"/>
          <a:lstStyle/>
          <a:p>
            <a:pPr indent="0" marL="0">
              <a:spcAft>
                <a:spcPts val="800"/>
              </a:spcAft>
              <a:buNone/>
            </a:pPr>
            <a:r>
              <a:rPr lang="en-US" sz="1800" b="1" dirty="0">
                <a:solidFill>
                  <a:srgbClr val="6B4FA3"/>
                </a:solidFill>
                <a:latin typeface="Calibri" pitchFamily="34" charset="0"/>
                <a:ea typeface="Calibri" pitchFamily="34" charset="-122"/>
                <a:cs typeface="Calibri" pitchFamily="34" charset="-120"/>
              </a:rPr>
              <a:t>How to read it</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Each image: CR matched within ≈ 2%.</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JPEG 2000 &gt; JPEG &gt; proposed VQ &gt; generic DWT+Huffman in PSNR.</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VQ gives a simple, parallelizable codec with a fast decoder.</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Where the sequential time goes</a:t>
            </a:r>
            <a:endParaRPr lang="en-US" sz="3000" dirty="0"/>
          </a:p>
        </p:txBody>
      </p:sp>
      <p:graphicFrame>
        <p:nvGraphicFramePr>
          <p:cNvPr id="5" name="Chart 0" descr=""/>
          <p:cNvGraphicFramePr/>
          <p:nvPr/>
        </p:nvGraphicFramePr>
        <p:xfrm>
          <a:off x="548640" y="1508760"/>
          <a:ext cx="47548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1508760"/>
          <a:ext cx="4754880" cy="3840480"/>
        </p:xfrm>
        <a:graphic xmlns:a="http://schemas.openxmlformats.org/drawingml/2006/main">
          <a:graphicData uri="http://schemas.openxmlformats.org/drawingml/2006/chart">
            <c:chart xmlns:c="http://schemas.openxmlformats.org/drawingml/2006/chart" r:id="rId2"/>
          </a:graphicData>
        </a:graphic>
      </p:graphicFrame>
      <p:sp>
        <p:nvSpPr>
          <p:cNvPr id="7" name="Stat card"/>
          <p:cNvSpPr/>
          <p:nvPr/>
        </p:nvSpPr>
        <p:spPr>
          <a:xfrm>
            <a:off x="10195560" y="1508760"/>
            <a:ext cx="1444752" cy="1371600"/>
          </a:xfrm>
          <a:prstGeom prst="roundRect">
            <a:avLst>
              <a:gd name="adj" fmla="val 8000"/>
            </a:avLst>
          </a:prstGeom>
          <a:solidFill>
            <a:srgbClr val="F5F1FB"/>
          </a:solidFill>
          <a:ln w="12700">
            <a:solidFill>
              <a:srgbClr val="F5F1FB"/>
            </a:solidFill>
            <a:prstDash val="solid"/>
          </a:ln>
        </p:spPr>
      </p:sp>
      <p:sp>
        <p:nvSpPr>
          <p:cNvPr id="8" name="Text 3"/>
          <p:cNvSpPr txBox="1"/>
          <p:nvPr/>
        </p:nvSpPr>
        <p:spPr>
          <a:xfrm>
            <a:off x="10378440" y="1645920"/>
            <a:ext cx="107899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77%</a:t>
            </a:r>
            <a:endParaRPr lang="en-US" sz="4000" dirty="0"/>
          </a:p>
        </p:txBody>
      </p:sp>
      <p:sp>
        <p:nvSpPr>
          <p:cNvPr id="9" name="Text 4"/>
          <p:cNvSpPr txBox="1"/>
          <p:nvPr/>
        </p:nvSpPr>
        <p:spPr>
          <a:xfrm>
            <a:off x="10378440" y="23774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gray</a:t>
            </a:r>
            <a:endParaRPr lang="en-US" sz="1400" dirty="0"/>
          </a:p>
        </p:txBody>
      </p:sp>
      <p:sp>
        <p:nvSpPr>
          <p:cNvPr id="10" name="Stat card"/>
          <p:cNvSpPr/>
          <p:nvPr/>
        </p:nvSpPr>
        <p:spPr>
          <a:xfrm>
            <a:off x="10195560" y="3108960"/>
            <a:ext cx="1444752" cy="1371600"/>
          </a:xfrm>
          <a:prstGeom prst="roundRect">
            <a:avLst>
              <a:gd name="adj" fmla="val 8000"/>
            </a:avLst>
          </a:prstGeom>
          <a:solidFill>
            <a:srgbClr val="F5F1FB"/>
          </a:solidFill>
          <a:ln w="12700">
            <a:solidFill>
              <a:srgbClr val="F5F1FB"/>
            </a:solidFill>
            <a:prstDash val="solid"/>
          </a:ln>
        </p:spPr>
      </p:sp>
      <p:sp>
        <p:nvSpPr>
          <p:cNvPr id="11" name="Text 6"/>
          <p:cNvSpPr txBox="1"/>
          <p:nvPr/>
        </p:nvSpPr>
        <p:spPr>
          <a:xfrm>
            <a:off x="10378440" y="3246120"/>
            <a:ext cx="107899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81%</a:t>
            </a:r>
            <a:endParaRPr lang="en-US" sz="4000" dirty="0"/>
          </a:p>
        </p:txBody>
      </p:sp>
      <p:sp>
        <p:nvSpPr>
          <p:cNvPr id="12" name="Text 7"/>
          <p:cNvSpPr txBox="1"/>
          <p:nvPr/>
        </p:nvSpPr>
        <p:spPr>
          <a:xfrm>
            <a:off x="10378440" y="39776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color</a:t>
            </a:r>
            <a:endParaRPr lang="en-US" sz="1400" dirty="0"/>
          </a:p>
        </p:txBody>
      </p:sp>
      <p:sp>
        <p:nvSpPr>
          <p:cNvPr id="13"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14" name="Text 9"/>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Mean sequential times: gray LBG 0.256 s of 0.332 s total; color LBG 0.783 s of 0.964 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speedup versus number of processes</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9.19×</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 (range 9.10–9.24)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65.7%</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parallel efficiency at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Efficiency is high through the 6 P-cores, then limited by slower E-cores.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Efficiency and the Karp–Flatt metric</a:t>
            </a:r>
            <a:endParaRPr lang="en-US" sz="3000" dirty="0"/>
          </a:p>
        </p:txBody>
      </p:sp>
      <p:graphicFrame>
        <p:nvGraphicFramePr>
          <p:cNvPr id="5" name="Chart 0" descr=""/>
          <p:cNvGraphicFramePr/>
          <p:nvPr/>
        </p:nvGraphicFramePr>
        <p:xfrm>
          <a:off x="548640" y="1508760"/>
          <a:ext cx="67665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498080" y="1508760"/>
          <a:ext cx="4142232"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LBG serial fraction ≈ 0.04 for P ≥ 8: the loss is the E-core speed gap, not communication.</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Throughput of the LBG stage</a:t>
            </a:r>
            <a:endParaRPr lang="en-US" sz="3000" dirty="0"/>
          </a:p>
        </p:txBody>
      </p:sp>
      <p:graphicFrame>
        <p:nvGraphicFramePr>
          <p:cNvPr id="5" name="Chart 0" descr=""/>
          <p:cNvGraphicFramePr/>
          <p:nvPr/>
        </p:nvGraphicFramePr>
        <p:xfrm>
          <a:off x="548640" y="15087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686800" y="1508760"/>
            <a:ext cx="29535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869680" y="1645920"/>
            <a:ext cx="258775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9.7 → 88.7</a:t>
            </a:r>
            <a:endParaRPr lang="en-US" sz="4000" dirty="0"/>
          </a:p>
        </p:txBody>
      </p:sp>
      <p:sp>
        <p:nvSpPr>
          <p:cNvPr id="8" name="Text 4"/>
          <p:cNvSpPr txBox="1"/>
          <p:nvPr/>
        </p:nvSpPr>
        <p:spPr>
          <a:xfrm>
            <a:off x="8869680" y="237744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gray (P = 1 → 14)</a:t>
            </a:r>
            <a:endParaRPr lang="en-US" sz="1400" dirty="0"/>
          </a:p>
        </p:txBody>
      </p:sp>
      <p:sp>
        <p:nvSpPr>
          <p:cNvPr id="9" name="Stat card"/>
          <p:cNvSpPr/>
          <p:nvPr/>
        </p:nvSpPr>
        <p:spPr>
          <a:xfrm>
            <a:off x="8686800" y="3063240"/>
            <a:ext cx="29535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869680" y="3200400"/>
            <a:ext cx="25877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9.8 → 90.3</a:t>
            </a:r>
            <a:endParaRPr lang="en-US" sz="4000" dirty="0"/>
          </a:p>
        </p:txBody>
      </p:sp>
      <p:sp>
        <p:nvSpPr>
          <p:cNvPr id="11" name="Text 7"/>
          <p:cNvSpPr txBox="1"/>
          <p:nvPr/>
        </p:nvSpPr>
        <p:spPr>
          <a:xfrm>
            <a:off x="8869680" y="393192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color per channel</a:t>
            </a:r>
            <a:endParaRPr lang="en-US" sz="1400" dirty="0"/>
          </a:p>
        </p:txBody>
      </p:sp>
      <p:sp>
        <p:nvSpPr>
          <p:cNvPr id="12" name="Note"/>
          <p:cNvSpPr/>
          <p:nvPr/>
        </p:nvSpPr>
        <p:spPr>
          <a:xfrm>
            <a:off x="8686800" y="4617720"/>
            <a:ext cx="295351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869680" y="4709160"/>
            <a:ext cx="260604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Throughput scales with P for both modes, as expected for a data-parallel kernel.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Total speedup: Amdahl in action</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5.00×</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(P = 14)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6.84×</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color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Karp–Flatt of Total ≈ 0.14 (gray) and 0.08 (color): the non-parallel stages.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Time breakdown: sequential vs P = 14</a:t>
            </a:r>
            <a:endParaRPr lang="en-US" sz="3000" dirty="0"/>
          </a:p>
        </p:txBody>
      </p:sp>
      <p:graphicFrame>
        <p:nvGraphicFramePr>
          <p:cNvPr id="5" name="Chart 0" descr=""/>
          <p:cNvGraphicFramePr/>
          <p:nvPr/>
        </p:nvGraphicFramePr>
        <p:xfrm>
          <a:off x="548640" y="150876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Share of non-LBG stages in the total: 23% → 58% (gray) and 19% → 40% (color).</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LBG execution time</a:t>
            </a:r>
            <a:endParaRPr lang="en-US" sz="3000" dirty="0"/>
          </a:p>
        </p:txBody>
      </p:sp>
      <p:graphicFrame>
        <p:nvGraphicFramePr>
          <p:cNvPr id="5" name="Chart 0" descr=""/>
          <p:cNvGraphicFramePr/>
          <p:nvPr/>
        </p:nvGraphicFramePr>
        <p:xfrm>
          <a:off x="548640" y="150876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806440"/>
            <a:ext cx="11091672" cy="457200"/>
          </a:xfrm>
          <a:prstGeom prst="roundRect">
            <a:avLst>
              <a:gd name="adj" fmla="val 24000"/>
            </a:avLst>
          </a:prstGeom>
          <a:solidFill>
            <a:srgbClr val="F5F1FB"/>
          </a:solidFill>
          <a:ln w="12700">
            <a:solidFill>
              <a:srgbClr val="F5F1FB"/>
            </a:solidFill>
            <a:prstDash val="solid"/>
          </a:ln>
        </p:spPr>
      </p:sp>
      <p:sp>
        <p:nvSpPr>
          <p:cNvPr id="8" name="Text 3"/>
          <p:cNvSpPr txBox="1"/>
          <p:nvPr/>
        </p:nvSpPr>
        <p:spPr>
          <a:xfrm>
            <a:off x="822960" y="5806440"/>
            <a:ext cx="10515600" cy="45720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Equal and Adaptive coincide for P ≤ 6; for P ≥ 8 Adaptive is faster on all 8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Adaptive gain over Equal distribution</a:t>
            </a:r>
            <a:endParaRPr lang="en-US" sz="3000" dirty="0"/>
          </a:p>
        </p:txBody>
      </p:sp>
      <p:graphicFrame>
        <p:nvGraphicFramePr>
          <p:cNvPr id="5" name="Chart 0" descr=""/>
          <p:cNvGraphicFramePr/>
          <p:nvPr/>
        </p:nvGraphicFramePr>
        <p:xfrm>
          <a:off x="548640" y="150876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503920" y="1508760"/>
            <a:ext cx="313639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686800" y="1645920"/>
            <a:ext cx="277063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28.3%</a:t>
            </a:r>
            <a:endParaRPr lang="en-US" sz="4000" dirty="0"/>
          </a:p>
        </p:txBody>
      </p:sp>
      <p:sp>
        <p:nvSpPr>
          <p:cNvPr id="8" name="Text 4"/>
          <p:cNvSpPr txBox="1"/>
          <p:nvPr/>
        </p:nvSpPr>
        <p:spPr>
          <a:xfrm>
            <a:off x="8686800" y="237744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8</a:t>
            </a:r>
            <a:endParaRPr lang="en-US" sz="1400" dirty="0"/>
          </a:p>
        </p:txBody>
      </p:sp>
      <p:sp>
        <p:nvSpPr>
          <p:cNvPr id="9" name="Stat card"/>
          <p:cNvSpPr/>
          <p:nvPr/>
        </p:nvSpPr>
        <p:spPr>
          <a:xfrm>
            <a:off x="8503920" y="3063240"/>
            <a:ext cx="313639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686800" y="3200400"/>
            <a:ext cx="277063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17.2%</a:t>
            </a:r>
            <a:endParaRPr lang="en-US" sz="4000" dirty="0"/>
          </a:p>
        </p:txBody>
      </p:sp>
      <p:sp>
        <p:nvSpPr>
          <p:cNvPr id="11" name="Text 7"/>
          <p:cNvSpPr txBox="1"/>
          <p:nvPr/>
        </p:nvSpPr>
        <p:spPr>
          <a:xfrm>
            <a:off x="8686800" y="393192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14</a:t>
            </a:r>
            <a:endParaRPr lang="en-US" sz="1400" dirty="0"/>
          </a:p>
        </p:txBody>
      </p:sp>
      <p:sp>
        <p:nvSpPr>
          <p:cNvPr id="12" name="Note"/>
          <p:cNvSpPr/>
          <p:nvPr/>
        </p:nvSpPr>
        <p:spPr>
          <a:xfrm>
            <a:off x="8503920" y="4617720"/>
            <a:ext cx="313639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686800" y="4709160"/>
            <a:ext cx="278892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No difference for P ≤ 6 (±1%): only P-cores are used.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compression</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011680"/>
                <a:gridCol w="3383280"/>
                <a:gridCol w="1645920"/>
                <a:gridCol w="2194560"/>
                <a:gridCol w="1856232"/>
              </a:tblGrid>
              <a:tr h="457200">
                <a:tc>
                  <a:txBody>
                    <a:bodyPr/>
                    <a:lstStyle/>
                    <a:p>
                      <a:pPr algn="ctr" indent="0" marL="0">
                        <a:buNone/>
                      </a:pPr>
                      <a:r>
                        <a:rPr lang="en-US" sz="1300" b="1" dirty="0">
                          <a:solidFill>
                            <a:srgbClr val="FFFFFF"/>
                          </a:solidFill>
                        </a:rPr>
                        <a:t>Image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Reference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CR</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PSNR (dB)</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Time ratio</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457200">
                <a:tc>
                  <a:txBody>
                    <a:bodyPr/>
                    <a:lstStyle/>
                    <a:p>
                      <a:pPr algn="ctr" indent="0" marL="0">
                        <a:buNone/>
                      </a:pPr>
                      <a:r>
                        <a:rPr lang="en-US" sz="1400" b="1" dirty="0">
                          <a:solidFill>
                            <a:srgbClr val="1F1A33"/>
                          </a:solidFill>
                        </a:rPr>
                        <a:t>Lena</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1.52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54.28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Ranjan &amp; Kumar [16]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34.78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23.50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29.67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Boat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54.07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26.54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29.11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Cameraman</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Bilal et al. [17]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25.3–26.8*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2.61×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28.88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29.75</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9.10×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5303520"/>
            <a:ext cx="11091672" cy="45720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 at ≤ 0.625 bpp. “–” = not reported. Time ratio is computed within each study (LBG/FLBG time vs sequential/MPI time at P = 14); the mechanisms and hardware differ.  Indicative only: images, implementations and size accounting differ.</a:t>
            </a:r>
            <a:endParaRPr lang="en-US" sz="1100" dirty="0"/>
          </a:p>
        </p:txBody>
      </p:sp>
      <p:sp>
        <p:nvSpPr>
          <p:cNvPr id="7" name="Takeaway"/>
          <p:cNvSpPr/>
          <p:nvPr/>
        </p:nvSpPr>
        <p:spPr>
          <a:xfrm>
            <a:off x="548640" y="5760720"/>
            <a:ext cx="11091672" cy="548640"/>
          </a:xfrm>
          <a:prstGeom prst="roundRect">
            <a:avLst>
              <a:gd name="adj" fmla="val 20000"/>
            </a:avLst>
          </a:prstGeom>
          <a:solidFill>
            <a:srgbClr val="F5F1FB"/>
          </a:solidFill>
          <a:ln w="12700">
            <a:solidFill>
              <a:srgbClr val="F5F1FB"/>
            </a:solidFill>
            <a:prstDash val="solid"/>
          </a:ln>
        </p:spPr>
      </p:sp>
      <p:sp>
        <p:nvSpPr>
          <p:cNvPr id="8" name="Text 4"/>
          <p:cNvSpPr txBox="1"/>
          <p:nvPr/>
        </p:nvSpPr>
        <p:spPr>
          <a:xfrm>
            <a:off x="822960" y="5760720"/>
            <a:ext cx="10515600" cy="54864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Different operating points: near-lossless wavelet methods vs a high-compression VQ codec (CR 23–29).</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RESULTS AND DISCUSSION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parallel speedup</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20240"/>
                <a:gridCol w="2651760"/>
                <a:gridCol w="2560320"/>
                <a:gridCol w="1463040"/>
                <a:gridCol w="2496312"/>
              </a:tblGrid>
              <a:tr h="457200">
                <a:tc>
                  <a:txBody>
                    <a:bodyPr/>
                    <a:lstStyle/>
                    <a:p>
                      <a:pPr indent="0" marL="0">
                        <a:buNone/>
                      </a:pPr>
                      <a:r>
                        <a:rPr lang="en-US" sz="1300" b="1" dirty="0">
                          <a:solidFill>
                            <a:srgbClr val="FFFFFF"/>
                          </a:solidFill>
                        </a:rPr>
                        <a:t>Study</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Application</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Resources</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Baseline</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Speedup</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640080">
                <a:tc>
                  <a:txBody>
                    <a:bodyPr/>
                    <a:lstStyle/>
                    <a:p>
                      <a:pPr indent="0" marL="0">
                        <a:buNone/>
                      </a:pPr>
                      <a:r>
                        <a:rPr lang="en-US" sz="1400" b="1" dirty="0">
                          <a:solidFill>
                            <a:srgbClr val="1F1A33"/>
                          </a:solidFill>
                        </a:rPr>
                        <a:t>Tanović 2024</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image classification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12 cores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not stated</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10.2×</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Papakyriakou 2025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75 M points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2–48 MPI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≈10.05×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Bystrov 2023</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DEM simulation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8 heterogeneous containers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6.0×</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E0457B"/>
                          </a:solidFill>
                        </a:rPr>
                        <a:t>This work</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LBG image compression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14 MPI processes (6 P + 8 E)</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9.19× LBG; 5.00× / 6.84× total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4681728"/>
            <a:ext cx="11091672" cy="59436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Papakyriakou: 181.83 s → 18.09 s, efficiency 41.89% at 48 processes, relative to the two-process baseline. The studies differ in application, workload, hardware, process count and speedup baseline: contextual comparison, not a ranking.</a:t>
            </a:r>
            <a:endParaRPr lang="en-US" sz="1100" dirty="0"/>
          </a:p>
        </p:txBody>
      </p:sp>
      <p:sp>
        <p:nvSpPr>
          <p:cNvPr id="7"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8" name="Text 4"/>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The speedup is of the same order as the reported 6–10×. The contribution is the speed-aware distribution on a hybrid CPU (17–28% faster LBG than Equal), not a higher absolute speedup.</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8 · 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Limitations</a:t>
            </a:r>
            <a:endParaRPr lang="en-US" sz="3000" dirty="0"/>
          </a:p>
        </p:txBody>
      </p:sp>
      <p:sp>
        <p:nvSpPr>
          <p:cNvPr id="5" name="Limita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One platform</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single hybrid CPU (i7-13650HX); results may differ on other CPUs.</a:t>
            </a:r>
            <a:endParaRPr lang="en-US" sz="1500" dirty="0"/>
          </a:p>
        </p:txBody>
      </p:sp>
      <p:sp>
        <p:nvSpPr>
          <p:cNvPr id="10" name="Limita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Small problem size</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512×512 images limit scalability at high P (≈ 1.5–2 ms per sequential iteration).</a:t>
            </a:r>
            <a:endParaRPr lang="en-US" sz="1500" dirty="0"/>
          </a:p>
        </p:txBody>
      </p:sp>
      <p:sp>
        <p:nvSpPr>
          <p:cNvPr id="15" name="Limita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6B4FA3"/>
          </a:solidFill>
          <a:ln w="12700">
            <a:solidFill>
              <a:srgbClr val="6B4FA3"/>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Non-parallel stages</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I/O, delta, Huffman and reconstruction stay on rank 0: 58% of total time at P = 14 (gray).</a:t>
            </a:r>
            <a:endParaRPr lang="en-US" sz="1500" dirty="0"/>
          </a:p>
        </p:txBody>
      </p:sp>
      <p:sp>
        <p:nvSpPr>
          <p:cNvPr id="20" name="Limita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Quality vs standards</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At matched CR, JPEG and JPEG 2000 reach higher PSNR than VQ with K = 64.</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8 · 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Conclusion</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CR (gray), PSNR 29.5 dB</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9.19×</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5.0 / 6.8×</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 color</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17–28%</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less LBG time with Adaptive (P = 8–14)</a:t>
            </a:r>
            <a:endParaRPr lang="en-US" sz="1400" dirty="0"/>
          </a:p>
        </p:txBody>
      </p:sp>
      <p:sp>
        <p:nvSpPr>
          <p:cNvPr id="17" name="Conclusions"/>
          <p:cNvSpPr/>
          <p:nvPr/>
        </p:nvSpPr>
        <p:spPr>
          <a:xfrm>
            <a:off x="548640" y="3200400"/>
            <a:ext cx="11091672" cy="2971800"/>
          </a:xfrm>
          <a:prstGeom prst="roundRect">
            <a:avLst>
              <a:gd name="adj" fmla="val 3692"/>
            </a:avLst>
          </a:prstGeom>
          <a:solidFill>
            <a:srgbClr val="F5F1FB"/>
          </a:solidFill>
          <a:ln w="12700">
            <a:solidFill>
              <a:srgbClr val="F5F1FB"/>
            </a:solidFill>
            <a:prstDash val="solid"/>
          </a:ln>
        </p:spPr>
      </p:sp>
      <p:sp>
        <p:nvSpPr>
          <p:cNvPr id="18" name="Text 15"/>
          <p:cNvSpPr txBox="1"/>
          <p:nvPr/>
        </p:nvSpPr>
        <p:spPr>
          <a:xfrm>
            <a:off x="822960" y="3383280"/>
            <a:ext cx="10515600" cy="2697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A parallel LBG vector-quantization compressor (4×4 blocks, K = 64, delta + Huffman) reaches CR ≈ 24–26 at PSNR ≈ 29 dB.</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MPI parallelization preserves the results in all tested configurations and cuts LBG time 9.2× on 14 processes (65.7% efficiency).</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Speed-aware (Adaptive) distribution reduces LBG time by 17–28% against Equal on the hybrid P/E-core CPU.</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Total speedup (5.0× / 6.8×) is bounded by the non-parallel stages, as the Karp–Flatt analysis shows.</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8 · 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Future work</a:t>
            </a:r>
            <a:endParaRPr lang="en-US" sz="3000" dirty="0"/>
          </a:p>
        </p:txBody>
      </p:sp>
      <p:sp>
        <p:nvSpPr>
          <p:cNvPr id="5" name="Future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2A9D8F"/>
          </a:solidFill>
          <a:ln w="12700">
            <a:solidFill>
              <a:srgbClr val="2A9D8F"/>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Parallelize the remaining stages</a:t>
            </a:r>
            <a:endParaRPr lang="en-US" sz="1900" dirty="0"/>
          </a:p>
        </p:txBody>
      </p:sp>
      <p:sp>
        <p:nvSpPr>
          <p:cNvPr id="9" name="Text 5"/>
          <p:cNvSpPr txBox="1"/>
          <p:nvPr/>
        </p:nvSpPr>
        <p:spPr>
          <a:xfrm>
            <a:off x="182880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Delta, Huffman and reconstruction are 58% of total time at P = 14.</a:t>
            </a:r>
            <a:endParaRPr lang="en-US" sz="1500" dirty="0"/>
          </a:p>
        </p:txBody>
      </p:sp>
      <p:sp>
        <p:nvSpPr>
          <p:cNvPr id="10" name="Future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Hybrid MPI + OpenMP</a:t>
            </a:r>
            <a:endParaRPr lang="en-US" sz="1900" dirty="0"/>
          </a:p>
        </p:txBody>
      </p:sp>
      <p:sp>
        <p:nvSpPr>
          <p:cNvPr id="14" name="Text 9"/>
          <p:cNvSpPr txBox="1"/>
          <p:nvPr/>
        </p:nvSpPr>
        <p:spPr>
          <a:xfrm>
            <a:off x="745236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Combine process- and thread-level parallelism on the hybrid CPU.</a:t>
            </a:r>
            <a:endParaRPr lang="en-US" sz="1500" dirty="0"/>
          </a:p>
        </p:txBody>
      </p:sp>
      <p:sp>
        <p:nvSpPr>
          <p:cNvPr id="15" name="Future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GPU acceleration</a:t>
            </a:r>
            <a:endParaRPr lang="en-US" sz="1900" dirty="0"/>
          </a:p>
        </p:txBody>
      </p:sp>
      <p:sp>
        <p:nvSpPr>
          <p:cNvPr id="19" name="Text 13"/>
          <p:cNvSpPr txBox="1"/>
          <p:nvPr/>
        </p:nvSpPr>
        <p:spPr>
          <a:xfrm>
            <a:off x="182880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Offload the assignment step, the dominant kernel.</a:t>
            </a:r>
            <a:endParaRPr lang="en-US" sz="1500" dirty="0"/>
          </a:p>
        </p:txBody>
      </p:sp>
      <p:sp>
        <p:nvSpPr>
          <p:cNvPr id="20" name="Future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Better entropy coding</a:t>
            </a:r>
            <a:endParaRPr lang="en-US" sz="1900" dirty="0"/>
          </a:p>
        </p:txBody>
      </p:sp>
      <p:sp>
        <p:nvSpPr>
          <p:cNvPr id="24" name="Text 17"/>
          <p:cNvSpPr txBox="1"/>
          <p:nvPr/>
        </p:nvSpPr>
        <p:spPr>
          <a:xfrm>
            <a:off x="745236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Canonical Huffman and a 5-byte-per-symbol table accounting; larger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9 · REFERENCES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References</a:t>
            </a:r>
            <a:endParaRPr lang="en-US" sz="3000" dirty="0"/>
          </a:p>
        </p:txBody>
      </p:sp>
      <p:sp>
        <p:nvSpPr>
          <p:cNvPr id="5" name="Text 2"/>
          <p:cNvSpPr txBox="1"/>
          <p:nvPr/>
        </p:nvSpPr>
        <p:spPr>
          <a:xfrm>
            <a:off x="548640" y="1463040"/>
            <a:ext cx="11091672" cy="4846320"/>
          </a:xfrm>
          <a:prstGeom prst="rect">
            <a:avLst/>
          </a:prstGeom>
          <a:noFill/>
          <a:ln/>
        </p:spPr>
        <p:txBody>
          <a:bodyPr wrap="square" lIns="0" tIns="0" rIns="0" bIns="0" rtlCol="0" anchor="t"/>
          <a:lstStyle/>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 H. M. Zangana (2025). Design and implementation of a novel parallel algorithm for efficient image compression in high-performance computing. EAI Endorsed Trans. AI and Robotics, 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[2] S. Thomas, A. Krishna, S. Govind, A. K. Sahu (2025). A novel image compression method using wavelet coefficients and Huffman coding. J. Eng. Res., 13, 361–370.</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[3] R. Ranjan, P. Kumar (2023). An improved image compression algorithm using 2D DWT and PCA with canonical Huffman encoding. Entropy, 25, 1382.</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[4] M. Bilal, Z. Ullah, O. Mujahid, T. Fouzder (2024). Fast Linde–Buzo–Gray (FLBG) algorithm for image compression through rescaling using bilinear interpolation. J. Imaging, 10, 124.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[5] R. K. Paul et al. (2024). Image compression scheme based on optimized K-means clustering and higher-level decomposed DWT. Procedia Comput. Sci., 235, 642–655.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[6] A. Tanović et al. (2024). Implementation of parallel K-means algorithm for image classification using OpenMP and MPI libraries. ZINC 2024.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[7] D. Papakyriakou, I. S. Barbounakis (2025). Parallel k-means benchmarking on a CPU-bound Beowulf cluster of Raspberry Pi nodes. Int. J. Comput. Appl., 187(32), 43–55.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[8] O. Bystrov et al. (2023). Hybrid parallelization of discrete element software for heterogeneous resources. Proc. PARENG 2023.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[9] Y. Linde, A. Buzo, R. M. Gray (1980). An algorithm for vector quantizer design. IEEE Trans. Commun., 28(1), 84–95.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[10] A. H. Karp, H. P. Flatt (1990). Measuring parallel processor performance. Commun. ACM, 33(5), 539–543.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[11] Z. Wang, A. C. Bovik, H. R. Sheikh, E. P. Simoncelli (2004). Image quality assessment: from error visibility to structural similarity. IEEE Trans. Image Process., 13(4), 600–612.</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ecor circle 1"/>
          <p:cNvSpPr/>
          <p:nvPr/>
        </p:nvSpPr>
        <p:spPr>
          <a:xfrm>
            <a:off x="7589520" y="-1097280"/>
            <a:ext cx="5852160" cy="585216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8778240" y="3657600"/>
            <a:ext cx="4572000" cy="4572000"/>
          </a:xfrm>
          <a:prstGeom prst="ellipse">
            <a:avLst/>
          </a:prstGeom>
          <a:solidFill>
            <a:srgbClr val="E0457B">
              <a:alpha val="30000"/>
            </a:srgbClr>
          </a:solidFill>
          <a:ln w="12700">
            <a:solidFill>
              <a:srgbClr val="E0457B"/>
            </a:solidFill>
            <a:prstDash val="solid"/>
          </a:ln>
        </p:spPr>
      </p:sp>
      <p:sp>
        <p:nvSpPr>
          <p:cNvPr id="4" name="Text 2"/>
          <p:cNvSpPr txBox="1"/>
          <p:nvPr/>
        </p:nvSpPr>
        <p:spPr>
          <a:xfrm>
            <a:off x="731520" y="2103120"/>
            <a:ext cx="8229600" cy="1280160"/>
          </a:xfrm>
          <a:prstGeom prst="rect">
            <a:avLst/>
          </a:prstGeom>
          <a:noFill/>
          <a:ln/>
        </p:spPr>
        <p:txBody>
          <a:bodyPr wrap="square" lIns="0" tIns="0" rIns="0" bIns="0" rtlCol="0" anchor="t"/>
          <a:lstStyle/>
          <a:p>
            <a:pP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txBox="1"/>
          <p:nvPr/>
        </p:nvSpPr>
        <p:spPr>
          <a:xfrm>
            <a:off x="731520" y="3474720"/>
            <a:ext cx="8229600" cy="548640"/>
          </a:xfrm>
          <a:prstGeom prst="rect">
            <a:avLst/>
          </a:prstGeom>
          <a:noFill/>
          <a:ln/>
        </p:spPr>
        <p:txBody>
          <a:bodyPr wrap="square" lIns="0" tIns="0" rIns="0" bIns="0" rtlCol="0" anchor="t"/>
          <a:lstStyle/>
          <a:p>
            <a:pPr indent="0" marL="0">
              <a:buNone/>
            </a:pPr>
            <a:r>
              <a:rPr lang="en-US" sz="2400" dirty="0">
                <a:solidFill>
                  <a:srgbClr val="D9D2EE"/>
                </a:solidFill>
                <a:latin typeface="Calibri" pitchFamily="34" charset="0"/>
                <a:ea typeface="Calibri" pitchFamily="34" charset="-122"/>
                <a:cs typeface="Calibri" pitchFamily="34" charset="-120"/>
              </a:rPr>
              <a:t>Questions and discussion</a:t>
            </a:r>
            <a:endParaRPr lang="en-US" sz="2400" dirty="0"/>
          </a:p>
        </p:txBody>
      </p:sp>
      <p:sp>
        <p:nvSpPr>
          <p:cNvPr id="6" name="Text 4"/>
          <p:cNvSpPr txBox="1"/>
          <p:nvPr/>
        </p:nvSpPr>
        <p:spPr>
          <a:xfrm>
            <a:off x="731520" y="5120640"/>
            <a:ext cx="9144000" cy="457200"/>
          </a:xfrm>
          <a:prstGeom prst="rect">
            <a:avLst/>
          </a:prstGeom>
          <a:noFill/>
          <a:ln/>
        </p:spPr>
        <p:txBody>
          <a:bodyPr wrap="square" lIns="0" tIns="0" rIns="0" bIns="0" rtlCol="0" anchor="t"/>
          <a:lstStyle/>
          <a:p>
            <a:pPr indent="0" marL="0">
              <a:buNone/>
            </a:pPr>
            <a:r>
              <a:rPr lang="en-US" sz="1500" dirty="0">
                <a:solidFill>
                  <a:srgbClr val="A794D6"/>
                </a:solidFill>
                <a:latin typeface="Calibri" pitchFamily="34" charset="0"/>
                <a:ea typeface="Calibri" pitchFamily="34" charset="-122"/>
                <a:cs typeface="Calibri" pitchFamily="34" charset="-120"/>
              </a:rPr>
              <a:t>Ibtihal Hussien  ·  Supervised by Dr. Ahmed Badri and Dr. Esraa Hadi  ·  University of Babylon</a:t>
            </a:r>
            <a:endParaRPr lang="en-US" sz="1500" dirty="0"/>
          </a:p>
        </p:txBody>
      </p:sp>
      <p:pic>
        <p:nvPicPr>
          <p:cNvPr id="7" name="University logo" descr="/home/user/mihk/results/seminar/assets/logo.png">    </p:cNvPr>
          <p:cNvPicPr>
            <a:picLocks noChangeAspect="1"/>
          </p:cNvPicPr>
          <p:nvPr/>
        </p:nvPicPr>
        <p:blipFill>
          <a:blip r:embed="rId1"/>
          <a:stretch>
            <a:fillRect/>
          </a:stretch>
        </p:blipFill>
        <p:spPr>
          <a:xfrm>
            <a:off x="731520" y="640080"/>
            <a:ext cx="960120" cy="1005840"/>
          </a:xfrm>
          <a:prstGeom prst="rect">
            <a:avLst/>
          </a:prstGeom>
        </p:spPr>
      </p:pic>
    </p:spTree>
  </p:cSld>
  <p:clrMapOvr>
    <a:masterClrMapping/>
  </p:clrMapOvr>
</p:sld>
</file>

<file path=ppt/theme/theme1.xml><?xml version="1.0" encoding="utf-8"?>
<a:theme xmlns:a="http://schemas.openxmlformats.org/drawingml/2006/main" name="Seminar Plum">
  <a:themeElements>
    <a:clrScheme name="Seminar Plum">
      <a:dk1>
        <a:srgbClr val="1F1A33"/>
      </a:dk1>
      <a:lt1>
        <a:srgbClr val="FFFFFF"/>
      </a:lt1>
      <a:dk2>
        <a:srgbClr val="2E2055"/>
      </a:dk2>
      <a:lt2>
        <a:srgbClr val="F5F1FB"/>
      </a:lt2>
      <a:accent1>
        <a:srgbClr val="6B4FA3"/>
      </a:accent1>
      <a:accent2>
        <a:srgbClr val="E0457B"/>
      </a:accent2>
      <a:accent3>
        <a:srgbClr val="2A9D8F"/>
      </a:accent3>
      <a:accent4>
        <a:srgbClr val="F2B134"/>
      </a:accent4>
      <a:accent5>
        <a:srgbClr val="A794D6"/>
      </a:accent5>
      <a:accent6>
        <a:srgbClr val="8A8FA8"/>
      </a:accent6>
      <a:hlink>
        <a:srgbClr val="6B4FA3"/>
      </a:hlink>
      <a:folHlink>
        <a:srgbClr val="8A8FA8"/>
      </a:folHlink>
    </a:clrScheme>
    <a:fontScheme name="Seminar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LBG vector-quantization image compression: MPI on a heterogeneous multicore CPU</dc:title>
  <dc:subject>PptxGenJS Presentation</dc:subject>
  <dc:creator>Ibtihal Hussien</dc:creator>
  <cp:lastModifiedBy>Ibtihal Hussien</cp:lastModifiedBy>
  <cp:revision>1</cp:revision>
  <dcterms:created xsi:type="dcterms:W3CDTF">2026-10-14T20:08:35Z</dcterms:created>
  <dcterms:modified xsi:type="dcterms:W3CDTF">2026-10-14T20:08:35Z</dcterms:modified>
</cp:coreProperties>
</file>