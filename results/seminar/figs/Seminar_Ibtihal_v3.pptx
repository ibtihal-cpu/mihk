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Results</a:t>
            </a:r>
            <a:endParaRPr lang="en-US" sz="1600" dirty="0"/>
          </a:p>
        </p:txBody>
      </p:sp>
      <p:sp>
        <p:nvSpPr>
          <p:cNvPr id="4" name="Text 2"/>
          <p:cNvSpPr/>
          <p:nvPr/>
        </p:nvSpPr>
        <p:spPr>
          <a:xfrm>
            <a:off x="2103120" y="274320"/>
            <a:ext cx="100584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Performance and Quality 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371600"/>
            <a:ext cx="5029200" cy="640080"/>
          </a:xfrm>
          <a:prstGeom prst="roundRect">
            <a:avLst>
              <a:gd name="adj" fmla="val 11429"/>
            </a:avLst>
          </a:prstGeom>
          <a:solidFill>
            <a:srgbClr val="2A9D8F"/>
          </a:solidFill>
          <a:ln w="12700">
            <a:solidFill>
              <a:srgbClr val="2A9D8F"/>
            </a:solidFill>
            <a:prstDash val="solid"/>
          </a:ln>
        </p:spPr>
      </p:sp>
      <p:sp>
        <p:nvSpPr>
          <p:cNvPr id="7" name="Text 5"/>
          <p:cNvSpPr/>
          <p:nvPr/>
        </p:nvSpPr>
        <p:spPr>
          <a:xfrm>
            <a:off x="8229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Compression Quality</a:t>
            </a:r>
            <a:endParaRPr lang="en-US" sz="2200" dirty="0"/>
          </a:p>
        </p:txBody>
      </p:sp>
      <p:sp>
        <p:nvSpPr>
          <p:cNvPr id="8" name="Shape 6"/>
          <p:cNvSpPr/>
          <p:nvPr/>
        </p:nvSpPr>
        <p:spPr>
          <a:xfrm>
            <a:off x="822960" y="2103120"/>
            <a:ext cx="5029200" cy="3291840"/>
          </a:xfrm>
          <a:prstGeom prst="roundRect">
            <a:avLst>
              <a:gd name="adj" fmla="val 2222"/>
            </a:avLst>
          </a:prstGeom>
          <a:solidFill>
            <a:srgbClr val="EEF8F6"/>
          </a:solidFill>
          <a:ln w="15875">
            <a:solidFill>
              <a:srgbClr val="2A9D8F"/>
            </a:solidFill>
            <a:prstDash val="solid"/>
          </a:ln>
        </p:spPr>
      </p:sp>
      <p:sp>
        <p:nvSpPr>
          <p:cNvPr id="9" name="Text 7"/>
          <p:cNvSpPr/>
          <p:nvPr/>
        </p:nvSpPr>
        <p:spPr>
          <a:xfrm>
            <a:off x="10972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Compression Ratio (CR)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Bits Per Pixel (BPP)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MSE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PSNR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SSIM</a:t>
            </a:r>
            <a:endParaRPr lang="en-US" sz="2200" dirty="0"/>
          </a:p>
        </p:txBody>
      </p:sp>
      <p:sp>
        <p:nvSpPr>
          <p:cNvPr id="10" name="Shape 8"/>
          <p:cNvSpPr/>
          <p:nvPr/>
        </p:nvSpPr>
        <p:spPr>
          <a:xfrm>
            <a:off x="6309360" y="1371600"/>
            <a:ext cx="5029200" cy="640080"/>
          </a:xfrm>
          <a:prstGeom prst="roundRect">
            <a:avLst>
              <a:gd name="adj" fmla="val 11429"/>
            </a:avLst>
          </a:prstGeom>
          <a:solidFill>
            <a:srgbClr val="E07B22"/>
          </a:solidFill>
          <a:ln w="12700">
            <a:solidFill>
              <a:srgbClr val="E07B22"/>
            </a:solidFill>
            <a:prstDash val="solid"/>
          </a:ln>
        </p:spPr>
      </p:sp>
      <p:sp>
        <p:nvSpPr>
          <p:cNvPr id="11" name="Text 9"/>
          <p:cNvSpPr/>
          <p:nvPr/>
        </p:nvSpPr>
        <p:spPr>
          <a:xfrm>
            <a:off x="63093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Parallel Performance</a:t>
            </a:r>
            <a:endParaRPr lang="en-US" sz="2200" dirty="0"/>
          </a:p>
        </p:txBody>
      </p:sp>
      <p:sp>
        <p:nvSpPr>
          <p:cNvPr id="12" name="Shape 10"/>
          <p:cNvSpPr/>
          <p:nvPr/>
        </p:nvSpPr>
        <p:spPr>
          <a:xfrm>
            <a:off x="6309360" y="2103120"/>
            <a:ext cx="5029200" cy="3291840"/>
          </a:xfrm>
          <a:prstGeom prst="roundRect">
            <a:avLst>
              <a:gd name="adj" fmla="val 2222"/>
            </a:avLst>
          </a:prstGeom>
          <a:solidFill>
            <a:srgbClr val="FDF1E6"/>
          </a:solidFill>
          <a:ln w="15875">
            <a:solidFill>
              <a:srgbClr val="E07B22"/>
            </a:solidFill>
            <a:prstDash val="solid"/>
          </a:ln>
        </p:spPr>
      </p:sp>
      <p:sp>
        <p:nvSpPr>
          <p:cNvPr id="13" name="Text 11"/>
          <p:cNvSpPr/>
          <p:nvPr/>
        </p:nvSpPr>
        <p:spPr>
          <a:xfrm>
            <a:off x="65836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Execution Time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Speedup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Parallel Efficiency</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Throughput</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Karp–Flatt Metric</a:t>
            </a:r>
            <a:endParaRPr lang="en-US" sz="2200" dirty="0"/>
          </a:p>
        </p:txBody>
      </p:sp>
      <p:sp>
        <p:nvSpPr>
          <p:cNvPr id="14" name="Text 12"/>
          <p:cNvSpPr/>
          <p:nvPr/>
        </p:nvSpPr>
        <p:spPr>
          <a:xfrm>
            <a:off x="822960" y="5669280"/>
            <a:ext cx="10515600" cy="365760"/>
          </a:xfrm>
          <a:prstGeom prst="rect">
            <a:avLst/>
          </a:prstGeom>
          <a:noFill/>
          <a:ln/>
        </p:spPr>
        <p:txBody>
          <a:bodyPr wrap="square" lIns="0" tIns="0" rIns="0" bIns="0" rtlCol="0" anchor="ctr"/>
          <a:lstStyle/>
          <a:p>
            <a:pPr algn="ctr" indent="0" marL="0">
              <a:buNone/>
            </a:pPr>
            <a:r>
              <a:rPr lang="en-US" sz="1600" i="1" dirty="0">
                <a:solidFill>
                  <a:srgbClr val="6B4FA3"/>
                </a:solidFill>
                <a:latin typeface="Calibri" pitchFamily="34" charset="0"/>
                <a:ea typeface="Calibri" pitchFamily="34" charset="-122"/>
                <a:cs typeface="Calibri" pitchFamily="34" charset="-120"/>
              </a:rPr>
              <a:t>Each formula is shown next to the result it measures.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097280"/>
            <a:ext cx="10515600" cy="822960"/>
          </a:xfrm>
          <a:prstGeom prst="roundRect">
            <a:avLst>
              <a:gd name="adj" fmla="val 8889"/>
            </a:avLst>
          </a:prstGeom>
          <a:solidFill>
            <a:srgbClr val="FDF1E6"/>
          </a:solidFill>
          <a:ln w="15875">
            <a:solidFill>
              <a:srgbClr val="E07B22"/>
            </a:solidFill>
            <a:prstDash val="solid"/>
          </a:ln>
        </p:spPr>
      </p:sp>
      <p:sp>
        <p:nvSpPr>
          <p:cNvPr id="7" name="Text 5"/>
          <p:cNvSpPr/>
          <p:nvPr/>
        </p:nvSpPr>
        <p:spPr>
          <a:xfrm>
            <a:off x="822960" y="1097280"/>
            <a:ext cx="10515600" cy="822960"/>
          </a:xfrm>
          <a:prstGeom prst="rect">
            <a:avLst/>
          </a:prstGeom>
          <a:noFill/>
          <a:ln/>
        </p:spPr>
        <p:txBody>
          <a:bodyPr wrap="square" lIns="508" tIns="508" rIns="508" bIns="508" rtlCol="0" anchor="ctr"/>
          <a:lstStyle/>
          <a:p>
            <a:pPr algn="ctr" indent="0" marL="0">
              <a:buNone/>
            </a:pPr>
            <a:r>
              <a:rPr lang="en-US" sz="1700" b="1" dirty="0">
                <a:solidFill>
                  <a:srgbClr val="2E2055"/>
                </a:solidFill>
                <a:latin typeface="Cambria" pitchFamily="34" charset="0"/>
                <a:ea typeface="Cambria" pitchFamily="34" charset="-122"/>
                <a:cs typeface="Cambria" pitchFamily="34" charset="-120"/>
              </a:rPr>
              <a:t>CR = S_orig / S_comp        BPP = compressed bits / number of pixels</a:t>
            </a:r>
            <a:endParaRPr lang="en-US" sz="1700" dirty="0"/>
          </a:p>
          <a:p>
            <a:pPr algn="ctr" indent="0" marL="0">
              <a:buNone/>
            </a:pPr>
            <a:r>
              <a:rPr lang="en-US" sz="1700" b="1" dirty="0">
                <a:solidFill>
                  <a:srgbClr val="2E2055"/>
                </a:solidFill>
                <a:latin typeface="Cambria" pitchFamily="34" charset="0"/>
                <a:ea typeface="Cambria" pitchFamily="34" charset="-122"/>
                <a:cs typeface="Cambria" pitchFamily="34" charset="-120"/>
              </a:rPr>
              <a:t>MSE = mean (I − Î)²        PSNR = 10·log₁₀(255² / MSE)  dB        SSIM: 11 × 11 Gaussian window, σ = 1.5</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2011680"/>
          <a:ext cx="10515600" cy="914400"/>
        </p:xfrm>
        <a:graphic>
          <a:graphicData uri="http://schemas.openxmlformats.org/drawingml/2006/table">
            <a:tbl>
              <a:tblPr/>
              <a:tblGrid>
                <a:gridCol w="2377440"/>
                <a:gridCol w="1097280"/>
                <a:gridCol w="1371600"/>
                <a:gridCol w="1371600"/>
                <a:gridCol w="1371600"/>
                <a:gridCol w="1554480"/>
                <a:gridCol w="137160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9" name="Text 6"/>
          <p:cNvSpPr/>
          <p:nvPr/>
        </p:nvSpPr>
        <p:spPr>
          <a:xfrm>
            <a:off x="822960" y="6217920"/>
            <a:ext cx="10515600" cy="5029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H = −Σ p(s) · log₂ p(s)   (bits / symbol)</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ntrop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 the bars show the minimum and maximum.</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The total speedup is shown separately for gray and color two slides later.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fficienc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Efficiency is 97% at P = 2 and stays at 90% or more up to P = 6 (P-cores only).</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It drops to 79% at P = 8, where the E-cores start to be used, and reaches 66% at P = 14.</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E-cores are slower than the P-cores, so each added process contributes less than a full core.</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stays near 0.04 for P ≥ 8: the serial fraction of LBG remains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otal_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work outside LBG (mainly image reading and file output) runs on Rank 0.</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Throughput = I_size / T_total   (MiB/s)</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hroughput_ch4.png">    </p:cNvPr>
          <p:cNvPicPr>
            <a:picLocks noChangeAspect="1"/>
          </p:cNvPicPr>
          <p:nvPr/>
        </p:nvPicPr>
        <p:blipFill>
          <a:blip r:embed="rId1"/>
          <a:stretch>
            <a:fillRect/>
          </a:stretch>
        </p:blipFill>
        <p:spPr>
          <a:xfrm>
            <a:off x="714695" y="1645920"/>
            <a:ext cx="6983091" cy="4617720"/>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143000"/>
            <a:ext cx="777240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143000"/>
            <a:ext cx="777240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(1/S − 1/P) / (1 − 1/P)</a:t>
            </a:r>
            <a:endParaRPr lang="en-US" sz="2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7772400" cy="914400"/>
        </p:xfrm>
        <a:graphic>
          <a:graphicData uri="http://schemas.openxmlformats.org/drawingml/2006/table">
            <a:tbl>
              <a:tblPr/>
              <a:tblGrid>
                <a:gridCol w="640080"/>
                <a:gridCol w="1005840"/>
                <a:gridCol w="1188720"/>
                <a:gridCol w="1188720"/>
                <a:gridCol w="1280160"/>
                <a:gridCol w="1188720"/>
                <a:gridCol w="1280160"/>
              </a:tblGrid>
              <a:tr h="50292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9" name="Text 6"/>
          <p:cNvSpPr/>
          <p:nvPr/>
        </p:nvSpPr>
        <p:spPr>
          <a:xfrm>
            <a:off x="457200" y="585216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10" name="Shape 7"/>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11" name="Text 8"/>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work on Rank 0 (mainly image reading and file output) limits the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work that runs on Rank 0, mainly image reading and file output.</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Improve the rate–distortion performance: color transform (YCbCr instead of RGB), prediction or context modeling of the VQ indices, and variable block sizes.</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Accelerate the LBG assignment step, which dominates the run time, with GPUs (CUDA or OpenCL) combined with MPI.</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Scale to multi-node clusters, larger images and image sequences that share one codebook.</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Rebalance the workload during the run, using the measured compute time of each rank and a load-imbalance measure.</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1554480"/>
            <a:ext cx="512064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 for your attention</a:t>
            </a:r>
            <a:endParaRPr lang="en-US" sz="4400" dirty="0"/>
          </a:p>
        </p:txBody>
      </p:sp>
      <p:sp>
        <p:nvSpPr>
          <p:cNvPr id="5" name="Text 3"/>
          <p:cNvSpPr/>
          <p:nvPr/>
        </p:nvSpPr>
        <p:spPr>
          <a:xfrm>
            <a:off x="822960" y="3657600"/>
            <a:ext cx="5120640" cy="731520"/>
          </a:xfrm>
          <a:prstGeom prst="rect">
            <a:avLst/>
          </a:prstGeom>
          <a:noFill/>
          <a:ln/>
        </p:spPr>
        <p:txBody>
          <a:bodyPr wrap="square" lIns="0" tIns="0" rIns="0" bIns="0" rtlCol="0" anchor="ctr"/>
          <a:lstStyle/>
          <a:p>
            <a:pPr indent="0" marL="0">
              <a:buNone/>
            </a:pPr>
            <a:r>
              <a:rPr lang="en-US" sz="3200" b="1" dirty="0">
                <a:solidFill>
                  <a:srgbClr val="F2993A"/>
                </a:solidFill>
                <a:latin typeface="Calibri" pitchFamily="34" charset="0"/>
                <a:ea typeface="Calibri" pitchFamily="34" charset="-122"/>
                <a:cs typeface="Calibri" pitchFamily="34" charset="-120"/>
              </a:rPr>
              <a:t>Questions?</a:t>
            </a:r>
            <a:endParaRPr lang="en-US" sz="3200" dirty="0"/>
          </a:p>
        </p:txBody>
      </p:sp>
      <p:sp>
        <p:nvSpPr>
          <p:cNvPr id="6" name="Text 4"/>
          <p:cNvSpPr/>
          <p:nvPr/>
        </p:nvSpPr>
        <p:spPr>
          <a:xfrm>
            <a:off x="822960" y="4937760"/>
            <a:ext cx="5120640" cy="914400"/>
          </a:xfrm>
          <a:prstGeom prst="rect">
            <a:avLst/>
          </a:prstGeom>
          <a:noFill/>
          <a:ln/>
        </p:spPr>
        <p:txBody>
          <a:bodyPr wrap="square" lIns="0" tIns="0" rIns="0" bIns="0" rtlCol="0" anchor="ctr"/>
          <a:lstStyle/>
          <a:p>
            <a:pPr indent="0" marL="0">
              <a:spcAft>
                <a:spcPts val="6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600"/>
              </a:spcAft>
              <a:buNone/>
            </a:pPr>
            <a:r>
              <a:rPr lang="en-US" sz="2000" dirty="0">
                <a:solidFill>
                  <a:srgbClr val="C9BDE8"/>
                </a:solidFill>
                <a:latin typeface="Calibri" pitchFamily="34" charset="0"/>
                <a:ea typeface="Calibri" pitchFamily="34" charset="-122"/>
                <a:cs typeface="Calibri" pitchFamily="34" charset="-120"/>
              </a:rPr>
              <a:t>University of Babylon</a:t>
            </a:r>
            <a:endParaRPr lang="en-US" sz="2000" dirty="0"/>
          </a:p>
        </p:txBody>
      </p:sp>
      <p:pic>
        <p:nvPicPr>
          <p:cNvPr id="7" name="Image 0" descr="assets/closing.png">    </p:cNvPr>
          <p:cNvPicPr>
            <a:picLocks noChangeAspect="1"/>
          </p:cNvPicPr>
          <p:nvPr/>
        </p:nvPicPr>
        <p:blipFill>
          <a:blip r:embed="rId1"/>
          <a:stretch>
            <a:fillRect/>
          </a:stretch>
        </p:blipFill>
        <p:spPr>
          <a:xfrm>
            <a:off x="5943600" y="1097280"/>
            <a:ext cx="5943600" cy="449394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2026-10-17T16:23:52Z</dcterms:created>
  <dcterms:modified xsi:type="dcterms:W3CDTF">2026-10-17T16:23:52Z</dcterms:modified>
</cp:coreProperties>
</file>