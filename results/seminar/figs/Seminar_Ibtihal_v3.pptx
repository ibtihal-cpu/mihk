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 values of 'This work' come from the previous Huffman-table accounting. Replace them with the CR column of correctness.csv after the rerun (expected change about -1.2%). Source values checked against the papers: [6] Table 1 and Table 3; [16] Table 1; [17] Table 1 (Cameraman, FLBG).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0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055"/>
          </a:solidFill>
          <a:ln w="12700">
            <a:solidFill>
              <a:srgbClr val="2E20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SEMINAR  |  University of Babylon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Image Compression Using High-Performance Computing Strategies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 vector quantization, delta coding and Huffman coding with speed-aware MPI on a hybrid P/E-core CPU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9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Student Ibtihal Hussien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9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Ahmed Badri  ·  Dr. Esraa Hadi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5F1FB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1325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5F1FB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508760"/>
            <a:ext cx="640080" cy="640080"/>
          </a:xfrm>
          <a:prstGeom prst="ellipse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1325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5F1FB"/>
          </a:solidFill>
          <a:ln w="19050">
            <a:solidFill>
              <a:srgbClr val="E045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788920"/>
            <a:ext cx="640080" cy="640080"/>
          </a:xfrm>
          <a:prstGeom prst="ellipse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26060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09360" y="260604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5F1FB"/>
          </a:solidFill>
          <a:ln w="19050">
            <a:solidFill>
              <a:srgbClr val="E045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788920"/>
            <a:ext cx="640080" cy="640080"/>
          </a:xfrm>
          <a:prstGeom prst="ellipse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26060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Objectives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0080" y="388620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5F1FB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45920" y="38862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Work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309360" y="388620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5F1FB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406908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0" y="38862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40080" y="516636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5F1FB"/>
          </a:solidFill>
          <a:ln w="19050">
            <a:solidFill>
              <a:srgbClr val="2E20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rgbClr val="2E2055"/>
          </a:solidFill>
          <a:ln w="12700">
            <a:solidFill>
              <a:srgbClr val="2E20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349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645920" y="51663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6309360" y="516636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5F1FB"/>
          </a:solidFill>
          <a:ln w="19050">
            <a:solidFill>
              <a:srgbClr val="2E20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5349240"/>
            <a:ext cx="640080" cy="640080"/>
          </a:xfrm>
          <a:prstGeom prst="ellipse">
            <a:avLst/>
          </a:prstGeom>
          <a:solidFill>
            <a:srgbClr val="2E2055"/>
          </a:solidFill>
          <a:ln w="12700">
            <a:solidFill>
              <a:srgbClr val="2E20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5349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15200" y="51663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Image Compression?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2225">
            <a:solidFill>
              <a:srgbClr val="6B4F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89888"/>
            <a:ext cx="109728" cy="3255264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image collections require a large amount of storage space.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2225">
            <a:solidFill>
              <a:srgbClr val="E045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1389888"/>
            <a:ext cx="109728" cy="3255264"/>
          </a:xfrm>
          <a:prstGeom prst="rect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images reach the receiver sooner and use less network bandwidth.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2225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1389888"/>
            <a:ext cx="109728" cy="32552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compression ratio needs complex methods, so the compression itself must stay fast.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compression reduces the amount of data needed to represent an image.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Lossless and Lossy Compression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2225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89888"/>
            <a:ext cx="109728" cy="298094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17320"/>
            <a:ext cx="49834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image is recovered exactly. Examples: RLE, Huffman, LZW.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2225">
            <a:solidFill>
              <a:srgbClr val="E07B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389888"/>
            <a:ext cx="109728" cy="2980944"/>
          </a:xfrm>
          <a:prstGeom prst="rect">
            <a:avLst/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417320"/>
            <a:ext cx="49834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information is discarded to reach a higher compression ratio. Examples: VQ, DCT, DWT.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927080" cy="1188720"/>
          </a:xfrm>
          <a:prstGeom prst="roundRect">
            <a:avLst>
              <a:gd name="adj" fmla="val 7692"/>
            </a:avLst>
          </a:prstGeom>
          <a:solidFill>
            <a:srgbClr val="F5F1FB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09160"/>
            <a:ext cx="10561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work: </a:t>
            </a:r>
            <a:pPr indent="0" marL="0">
              <a:buNone/>
            </a:pPr>
            <a:r>
              <a:rPr lang="en-US" sz="2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LBG vector quantization, followed by lossless delta coding and Huffman coding.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Processing in Image Compression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processing improves processing speed and efficiency when handling large data.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2225">
            <a:solidFill>
              <a:srgbClr val="E07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487168"/>
            <a:ext cx="109728" cy="3072384"/>
          </a:xfrm>
          <a:prstGeom prst="rect">
            <a:avLst/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14600"/>
            <a:ext cx="31089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 training dominates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most time-consuming stage of the sequential program, so it is the stage worth parallelizing.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2225">
            <a:solidFill>
              <a:srgbClr val="6B4F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2487168"/>
            <a:ext cx="109728" cy="3072384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514600"/>
            <a:ext cx="31089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Data-parallel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training vector is assigned to its nearest codeword independently, so the work can be split across processes.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672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2225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2487168"/>
            <a:ext cx="109728" cy="30723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514600"/>
            <a:ext cx="31089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CPU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P-cores and E-cores have different speeds, so an equal split can leave fast cores waiting.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17520" y="2743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Work: Compression Quality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2011680"/>
                <a:gridCol w="3657600"/>
                <a:gridCol w="12801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(dB)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Thomas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coefficients + Huffman coding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[16]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Ranjan and Kumar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DWT + PCA + canonical Huffman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LBG-VQ + delta + Huffman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Thomas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coefficients + Huffman coding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LBG-VQ + delta + Huffman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[17]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FLBG (LBG with bilinear rescaling)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25.3–26.8*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LBG-VQ + delta + Huffman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074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[16]: Lena 512 × 512, Table 1 (CR 4.4058, PSNR 34.7809 dB). [6]: near-lossless scheme. * [17]: FLBG PSNR over 0.15–0.625 bpp (CR not reported).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work reaches a much higher compression ratio than [6] and [16], at a lower PSNR.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17520" y="2743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Work: Parallel Speedup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2651760"/>
                <a:gridCol w="1280160"/>
                <a:gridCol w="21031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Resources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Speedup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Zangana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compression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1–16 GPUs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9.09× (16 GPUs)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Papakyriakou et al.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MPI-based k-means clustering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2–48 MPI processes (24 Raspberry Pi nodes)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processes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10× (181.8 s to 18.1 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Bystrov et al. (2023)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Discrete-element simulation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heterogeneous containers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6.0×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MPI-based LBG image compression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MPI processes (6 P + 8 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9.19× (LBG); 5.00× (gray total); 6.84× (color total)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75488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5F1FB"/>
          </a:solidFill>
          <a:ln w="25400">
            <a:solidFill>
              <a:srgbClr val="E045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75488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parallel studies use other compression algorithms on GPUs, or target clustering and simulation workloads. To our knowledge, none of the reviewed studies evaluates MPI-parallel LBG for image compression on a hybrid P/E-core CPU.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923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685800" cy="685800"/>
          </a:xfrm>
          <a:prstGeom prst="ellipse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28016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Transmitting and storing uncompressed images consumes bandwidth and storage capacity.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685800" cy="685800"/>
          </a:xfrm>
          <a:prstGeom prst="ellipse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251460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 vector quantization gives a compact representation, but codebook training is computationally expensive: it repeatedly computes distances between training vectors and codewords.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685800" cy="685800"/>
          </a:xfrm>
          <a:prstGeom prst="ellipse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hybrid CPU, an equal distribution of training vectors causes workload imbalance: the faster P-cores finish early and wait for the slower E-cores at synchronization points.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10927080" cy="1280160"/>
          </a:xfrm>
          <a:prstGeom prst="roundRect">
            <a:avLst>
              <a:gd name="adj" fmla="val 7143"/>
            </a:avLst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074920"/>
            <a:ext cx="10469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LBG training and total compression time through speed-aware workload distribution, while preserving the compression ratio and the reconstruction quality of the sequential implementation.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923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B4F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252728"/>
            <a:ext cx="109728" cy="1106424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105156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Image Compression Framework Development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compress grayscale and color images by combining LBG vector quantization, delta coding, and Huffman coding.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7B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532888"/>
            <a:ext cx="109728" cy="1106424"/>
          </a:xfrm>
          <a:prstGeom prst="rect">
            <a:avLst/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60320"/>
            <a:ext cx="105156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LBG Execution-Time Reduction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codebook-training time by parallelizing the computationally intensive operations of LBG using MPI.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13048"/>
            <a:ext cx="109728" cy="11064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40480"/>
            <a:ext cx="105156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Workload Distribution Improvement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distribute the training vectors according to the measured throughput of each MPI process on the P-cores and E-cores, and to improve performance compared with equal distribution.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45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5093208"/>
            <a:ext cx="109728" cy="1106424"/>
          </a:xfrm>
          <a:prstGeom prst="rect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20640"/>
            <a:ext cx="105156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Performance Evaluation and Result Verification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compression, reconstruction quality and parallel performance, and to verify that the parallel results match the sequential implementation.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1503152" cy="1417320"/>
          </a:xfrm>
          <a:prstGeom prst="roundRect">
            <a:avLst>
              <a:gd name="adj" fmla="val 6452"/>
            </a:avLst>
          </a:prstGeom>
          <a:solidFill>
            <a:srgbClr val="E3EEFA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24028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75488" y="118872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887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SEQUENTIAL: Process 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3200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F6F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320040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image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512×512,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/ color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8032" y="772668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3200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F6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320040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4×4 blocks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14032" y="772668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3200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F6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320040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Training vectors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16-D, N = 16,384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channel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159105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16,384 training vectors per channel (16-D)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609344"/>
            <a:ext cx="237744" cy="192024"/>
          </a:xfrm>
          <a:prstGeom prst="down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810512"/>
            <a:ext cx="11503152" cy="1417320"/>
          </a:xfrm>
          <a:prstGeom prst="roundRect">
            <a:avLst>
              <a:gd name="adj" fmla="val 6452"/>
            </a:avLst>
          </a:prstGeom>
          <a:solidFill>
            <a:srgbClr val="FDEBD9"/>
          </a:solidFill>
          <a:ln w="31750">
            <a:solidFill>
              <a:srgbClr val="E07B2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65760" y="1856232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856232"/>
            <a:ext cx="224028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LBG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(MPI)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75488" y="2816352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81635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all processes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88920" y="1947672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1947672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Distribute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MPI_Scatterv: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/ Adaptive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28032" y="2400300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1947672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947672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Assign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codeword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process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14032" y="2400300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947672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1947672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Combine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Allreduce: sums,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distortion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00032" y="2400300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46920" y="1947672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1947672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Refine and split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level,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K = 64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5080" y="32186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 C + index array L (gathered on Process 0)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89320" y="3236976"/>
            <a:ext cx="237744" cy="192024"/>
          </a:xfrm>
          <a:prstGeom prst="down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438144"/>
            <a:ext cx="11503152" cy="1417320"/>
          </a:xfrm>
          <a:prstGeom prst="roundRect">
            <a:avLst>
              <a:gd name="adj" fmla="val 6452"/>
            </a:avLst>
          </a:prstGeom>
          <a:solidFill>
            <a:srgbClr val="DDF3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483864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483864"/>
            <a:ext cx="224028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Index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475488" y="4443984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44398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SEQUENTIAL: Process 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88920" y="3575304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88920" y="3575304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Delta coding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of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 indices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828032" y="4027932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74920" y="3575304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3575304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Huffman coding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14032" y="4027932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60920" y="3575304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3575304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Compressed size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 + Huffman table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coded indices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55080" y="48463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accounted size: codebook + Huffman table + coded indices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989320" y="4864608"/>
            <a:ext cx="237744" cy="192024"/>
          </a:xfrm>
          <a:prstGeom prst="down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" y="5065776"/>
            <a:ext cx="11503152" cy="1417320"/>
          </a:xfrm>
          <a:prstGeom prst="roundRect">
            <a:avLst>
              <a:gd name="adj" fmla="val 6452"/>
            </a:avLst>
          </a:prstGeom>
          <a:solidFill>
            <a:srgbClr val="ECE6F6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5111496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5111496"/>
            <a:ext cx="224028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and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75488" y="6071616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" y="60716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SEQUENTIAL: Process 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788920" y="5202936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88920" y="5202936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Huffman decoding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stream to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values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828032" y="5655564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74920" y="5202936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4920" y="5202936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Inverse delta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 indices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114032" y="5655564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60920" y="5202936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60920" y="5202936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Reconstruction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2377440" y="647395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7B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26080" y="6455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all MPI processes work together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766560" y="647395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5B67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0" y="6455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Sequential: executed on Process 0 only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Formation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5875">
            <a:solidFill>
              <a:srgbClr val="2F6FB5"/>
            </a:solidFill>
            <a:prstDash val="solid"/>
          </a:ln>
        </p:spPr>
      </p:sp>
      <p:pic>
        <p:nvPicPr>
          <p:cNvPr id="7" name="Image 0" descr="assets/ch3_fig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29857"/>
            <a:ext cx="7132320" cy="31926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245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vector quantization (illustrative)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01000" y="1234440"/>
            <a:ext cx="3749040" cy="4983480"/>
          </a:xfrm>
          <a:prstGeom prst="roundRect">
            <a:avLst>
              <a:gd name="adj" fmla="val 19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1325880"/>
            <a:ext cx="3566160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divided into non-overlapping 4 × 4 blocks.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becomes a 16-dimensional vector.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512 × 512 image gives N = 16,384 training vectors.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images: the R, G and B channels are processed independently.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LBG Codebook Training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5875">
            <a:solidFill>
              <a:srgbClr val="E07B22"/>
            </a:solidFill>
            <a:prstDash val="solid"/>
          </a:ln>
        </p:spPr>
      </p:sp>
      <p:pic>
        <p:nvPicPr>
          <p:cNvPr id="7" name="Image 0" descr="assets/lbg_flow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77" y="1325880"/>
            <a:ext cx="6730646" cy="4800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234440"/>
            <a:ext cx="3749040" cy="4983480"/>
          </a:xfrm>
          <a:prstGeom prst="roundRect">
            <a:avLst>
              <a:gd name="adj" fmla="val 19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325880"/>
            <a:ext cx="3566160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global mean as the first codeword.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splitting (δ = 0.01) doubles the codebook size.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 refinement: assign each vector to its nearest codeword, then update the centroids.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ΔD ≤ ε or 100 iterations; repeat until K = 64.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LBG Training (MPI)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11274552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875">
            <a:solidFill>
              <a:srgbClr val="E07B22"/>
            </a:solidFill>
            <a:prstDash val="solid"/>
          </a:ln>
        </p:spPr>
      </p:sp>
      <p:pic>
        <p:nvPicPr>
          <p:cNvPr id="7" name="Image 0" descr="figs/parallel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179" y="1234440"/>
            <a:ext cx="9898594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440680"/>
            <a:ext cx="5559552" cy="1234440"/>
          </a:xfrm>
          <a:prstGeom prst="roundRect">
            <a:avLst>
              <a:gd name="adj" fmla="val 5926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532120"/>
            <a:ext cx="5376672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SPMD: every process runs the same program on its own chunk of vectors.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Nearest-codeword assignment is local and is the main cost of LBG.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5440680"/>
            <a:ext cx="5559552" cy="1234440"/>
          </a:xfrm>
          <a:prstGeom prst="roundRect">
            <a:avLst>
              <a:gd name="adj" fmla="val 5926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5532120"/>
            <a:ext cx="5376672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combines sums, counts and distortion; every process updates the same codebook.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Gatherv collects the final indices on Process 0.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and Unbalanced Workload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5875">
            <a:solidFill>
              <a:srgbClr val="E07B22"/>
            </a:solidFill>
            <a:prstDash val="solid"/>
          </a:ln>
        </p:spPr>
      </p:sp>
      <p:pic>
        <p:nvPicPr>
          <p:cNvPr id="7" name="Image 0" descr="figs/Workload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130" y="1325880"/>
            <a:ext cx="7049339" cy="4800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234440"/>
            <a:ext cx="3749040" cy="4983480"/>
          </a:xfrm>
          <a:prstGeom prst="roundRect">
            <a:avLst>
              <a:gd name="adj" fmla="val 19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325880"/>
            <a:ext cx="3566160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(Equal), P ≤ 4: each process gets N/P training vectors.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 (Adaptive), P &gt; 4: each process gets a share proportional to its measured speed.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process r: q_r = N · s_r / Σ s_j, where s_r is the speed of process 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s_r is measured once by a short calibration run (3 trials, the first is a warm-up).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Coding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7" name="Image 0" descr="assets/ch3_fig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17794"/>
            <a:ext cx="7132320" cy="321677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234440"/>
            <a:ext cx="3749040" cy="4983480"/>
          </a:xfrm>
          <a:prstGeom prst="roundRect">
            <a:avLst>
              <a:gd name="adj" fmla="val 19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325880"/>
            <a:ext cx="3566160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difference between successive VQ indices (offset 128).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Neighbouring blocks are correlated, so the differences cluster around the offset.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(Lena): entropy falls from 5.39 to 4.67 bits per symbol.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Huffman Coding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745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7" name="Image 0" descr="assets/ch3_fig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6490"/>
            <a:ext cx="11091672" cy="11818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154680"/>
            <a:ext cx="11274552" cy="3063240"/>
          </a:xfrm>
          <a:prstGeom prst="roundRect">
            <a:avLst>
              <a:gd name="adj" fmla="val 2388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246120"/>
            <a:ext cx="11091672" cy="2880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symbols receive shorter codewords, rare symbols longer ones (lossless).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 Huffman codes and the encoded bitstream.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Accounted compressed size = codebook (K × 16 bytes, one byte per codeword element) + Huffman table + Huffman-coded data.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is accounted as 5 bytes per used symbol (1 byte symbol + 4 bytes frequency) plus 10 bytes of fixed metadata. The program accounts this size; it does not write a stand-alone compressed file.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and Evaluation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5146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Huffman decoding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stream → delta values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99232" y="1508760"/>
            <a:ext cx="31089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1430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43000"/>
            <a:ext cx="25146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Inverse delta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deltas → VQ indices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79592" y="1508760"/>
            <a:ext cx="31089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1430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43000"/>
            <a:ext cx="25146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Codebook lookup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 4×4 block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59952" y="1508760"/>
            <a:ext cx="31089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8280" y="11430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143000"/>
            <a:ext cx="25146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Reconstructed image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→ 512×512 image</a:t>
            </a:r>
            <a:endParaRPr lang="en-US" sz="1600" dirty="0"/>
          </a:p>
        </p:txBody>
      </p:sp>
      <p:pic>
        <p:nvPicPr>
          <p:cNvPr id="17" name="Image 0" descr="assets/lena_color_or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31720"/>
            <a:ext cx="2926080" cy="2926080"/>
          </a:xfrm>
          <a:prstGeom prst="rect">
            <a:avLst/>
          </a:prstGeom>
        </p:spPr>
      </p:pic>
      <p:pic>
        <p:nvPicPr>
          <p:cNvPr id="18" name="Image 1" descr="assets/lena_color_r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33172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5285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11880" y="5285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57200" y="562356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 (color): PSNR 28.91 dB, SSIM 0.7594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858000" y="2331720"/>
            <a:ext cx="4892040" cy="3886200"/>
          </a:xfrm>
          <a:prstGeom prst="roundRect">
            <a:avLst>
              <a:gd name="adj" fmla="val 1882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49440" y="2423160"/>
            <a:ext cx="47091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and reconstruction run on Process 0.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MSE, PSNR and SSIM (SSIM is computed in parallel); size: CR and BPP.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performance: time, speedup, efficiency, throughput, Karp–Flatt.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the reconstructed image (MD5) and the metrics are identical for the sequential run, P = 4, and P = 14 (Adaptive and Equal).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0" y="2743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6B4F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44168"/>
            <a:ext cx="109728" cy="1426464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71600"/>
            <a:ext cx="4983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i7-13650HX: 6 P-cores and 8 E-cores (14 cores in total).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E07B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344168"/>
            <a:ext cx="109728" cy="1426464"/>
          </a:xfrm>
          <a:prstGeom prst="rect">
            <a:avLst/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371600"/>
            <a:ext cx="4983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24.04, GCC 13.3 (-O2), Open MPI 4.1.6, written in C.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990088"/>
            <a:ext cx="109728" cy="14264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17520"/>
            <a:ext cx="4983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 5 runs; governor set to performance; processes bound to cores, P-cores first.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72200" y="29718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E045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0488" y="2990088"/>
            <a:ext cx="109728" cy="1426464"/>
          </a:xfrm>
          <a:prstGeom prst="rect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017520"/>
            <a:ext cx="4983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standard 512 × 512 images: 4 grayscale and 4 color.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2E20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636008"/>
            <a:ext cx="109728" cy="1426464"/>
          </a:xfrm>
          <a:prstGeom prst="rect">
            <a:avLst/>
          </a:prstGeom>
          <a:solidFill>
            <a:srgbClr val="2E2055"/>
          </a:solidFill>
          <a:ln w="12700">
            <a:solidFill>
              <a:srgbClr val="2E20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663440"/>
            <a:ext cx="4983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 settings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4 blocks, K = 64 codewords, δ = 0.01, ε = 0.0001 (relative improvement in distortion), at most 100 iterations per level.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F2B1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4636008"/>
            <a:ext cx="109728" cy="1426464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663440"/>
            <a:ext cx="4983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(default for P ≤ 4) and Adaptive speed-aware (P &gt; 4).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and Quality Evaluation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716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Quality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EEF8F6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94560"/>
            <a:ext cx="44805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Ratio (CR)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Per Pixel (BPP)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371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Performance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FDF1E6"/>
          </a:solidFill>
          <a:ln w="15875">
            <a:solidFill>
              <a:srgbClr val="E07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194560"/>
            <a:ext cx="44805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Efficiency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Karp–Flatt Metric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formula is shown next to the result it measures.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Images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103120" cy="21031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1031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103120" cy="21031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291840" y="1417320"/>
            <a:ext cx="21031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103120" cy="21031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126480" y="1417320"/>
            <a:ext cx="21031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Cameraman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0" y="1417320"/>
            <a:ext cx="2103120" cy="21031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961120" y="1417320"/>
            <a:ext cx="21031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2103120" cy="21031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4206240"/>
            <a:ext cx="21031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336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4206240"/>
            <a:ext cx="2103120" cy="21031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291840" y="4206240"/>
            <a:ext cx="21031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6336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4206240"/>
            <a:ext cx="2103120" cy="21031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126480" y="4206240"/>
            <a:ext cx="21031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26480" y="6336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F16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61120" y="4206240"/>
            <a:ext cx="2103120" cy="21031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8961120" y="4206240"/>
            <a:ext cx="21031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61120" y="6336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Hill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 Results: Grayscale Images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1097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3840480"/>
            <a:ext cx="1234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0789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00200" y="141732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600200" y="141732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00200" y="384048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600200" y="384048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6199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29.67 dB   SSIM 0.8190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10789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069080" y="141732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069080" y="141732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69080" y="384048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069080" y="384048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6199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29.11 dB   SSIM 0.8394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10789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Cameraman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37960" y="141732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537960" y="141732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37960" y="384048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37960" y="384048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6199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29.75 dB   SSIM 0.8855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06840" y="10789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006840" y="141732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006840" y="141732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06840" y="384048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9006840" y="384048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15400" y="6199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29.41 dB   SSIM 0.7624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 Results: Color Images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1097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3840480"/>
            <a:ext cx="1234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0789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00200" y="141732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600200" y="141732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00200" y="384048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600200" y="384048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6199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28.91 dB   SSIM 0.7594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10789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069080" y="141732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069080" y="141732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69080" y="384048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069080" y="384048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6199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28.35 dB   SSIM 0.6964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10789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37960" y="141732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537960" y="141732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37960" y="384048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37960" y="384048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6199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29.47 dB   SSIM 0.8539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06840" y="10789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Hill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006840" y="141732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006840" y="141732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06840" y="3840480"/>
            <a:ext cx="2331720" cy="233172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9006840" y="3840480"/>
            <a:ext cx="2331720" cy="2331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15400" y="6199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28.45 dB   SSIM 0.7520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Results (4 × 4 blocks, K = 64)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0972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DF1E6"/>
          </a:solidFill>
          <a:ln w="15875">
            <a:solidFill>
              <a:srgbClr val="E07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 = S_orig / S_comp        BPP = compressed bits / number of pixels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= mean (I − Î)²        PSNR = 10·log₁₀(255² / MSE)  dB        SSIM: 11 × 11 Gaussian window, σ = 1.5</a:t>
            </a:r>
            <a:endParaRPr lang="en-US" sz="1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371600"/>
                <a:gridCol w="1371600"/>
                <a:gridCol w="1371600"/>
                <a:gridCol w="1554480"/>
                <a:gridCol w="137160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(dB)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Peppers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(gray)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Peppers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Hill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(color)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6217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images: MSE and PSNR are computed over the RGB channels; SSIM is the mean of the channel-wise values. CR = original size / (codebook + Huffman table + Huffman-coded data).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Entropy and Delta–Huffman Coding Efficiency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FDF1E6"/>
          </a:solidFill>
          <a:ln w="15875">
            <a:solidFill>
              <a:srgbClr val="E07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7498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−Σ p(s) · log₂ p(s)   (bits / symbol)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74980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9" name="Image 0" descr="assets/entropy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2756"/>
            <a:ext cx="7498080" cy="45640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183880" y="12344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5320" y="1325880"/>
            <a:ext cx="338328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coding lowers the entropy of the index sequence from 5.30 to 4.19 bits on average (−1.10 bits).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reduction depends on the spatial correlation of the image: 0.73 bits (Lena) to 1.48 bits (Cameraman).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Huffman average code length (4.23 bits) is within 0.04 bits of the entropy after delta coding.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6-bit fixed-length indices, the index data is 21.5% to 38.3% smaller (mean 29.5%).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images, K = 64.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Verification: Parallel Results Equal Sequential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371600"/>
                <a:gridCol w="1280160"/>
                <a:gridCol w="1737360"/>
                <a:gridCol w="182880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(dB)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LBG iterations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identical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MD5 identical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Peppers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Peppers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Hill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the sequential run: parallel P = 4 (automatic), P = 14 (Adaptive) and P = 14 (forced Equal). Metrics: compression ratio, MSE, PSNR, SSIM and iteration count. MD5: checksum of the reconstructed image. Values shown are identical in all four runs.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Speedup of LBG Training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FDF1E6"/>
          </a:solidFill>
          <a:ln w="15875">
            <a:solidFill>
              <a:srgbClr val="E07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7498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T_seq / T_P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74980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9" name="Image 0" descr="assets/speedup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2756"/>
            <a:ext cx="7498080" cy="45640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183880" y="12344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5320" y="1325880"/>
            <a:ext cx="338328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 speedup reaches 9.19× on 14 processes.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Near-linear for P ≤ 6, where only P-cores are used.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drops once the slower E-cores join.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the 8 images; the bars show the minimum and maximum.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LBG stage. The total speedup is shown separately for gray and color two slides later.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Efficiency of LBG Training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FDF1E6"/>
          </a:solidFill>
          <a:ln w="15875">
            <a:solidFill>
              <a:srgbClr val="E07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7498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S / 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74980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9" name="Image 0" descr="assets/efficiency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2756"/>
            <a:ext cx="7498080" cy="45640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183880" y="12344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5320" y="1325880"/>
            <a:ext cx="338328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is 97% at P = 2 and stays at 90% or more up to P = 6 (P-cores only).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drops to 79% at P = 8, where the E-cores start to be used, and reaches 66% at P = 14.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E-cores are slower than the P-cores, so each added process contributes less than a full core.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Karp–Flatt stays near 0.04 for P ≥ 8: the serial fraction of LBG remains small.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the 8 images.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Speedup: Grayscale and Color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FDF1E6"/>
          </a:solidFill>
          <a:ln w="15875">
            <a:solidFill>
              <a:srgbClr val="E07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7498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T_seq / T_P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74980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9" name="Image 0" descr="assets/total_speedup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2756"/>
            <a:ext cx="7498080" cy="45640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183880" y="12344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5320" y="1325880"/>
            <a:ext cx="338328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speedup at P = 14: 5.00× (grayscale) and 6.84× (color); efficiency 35.7% and 48.9%.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lower than the LBG speedup (9.19×) because the work outside LBG (mainly image reading and file output) runs on Process 0.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images gain more: LBG is 81% of their sequential time, against 77% for grayscale.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is the whole program execution; the shaded bands show the minimum to maximum over the images of each type.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Time Goes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49808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7" name="Image 0" descr="assets/breakdow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7741"/>
            <a:ext cx="7498080" cy="45625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2344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1325880"/>
            <a:ext cx="338328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 training is 77% (gray) and 81% (color) of the sequential run time.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 = 14 it shrinks to 42% and 60% of the run time.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stages do not shrink in the same way, so they become the larger part: about 58% (gray) and 40% (color).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Amdahl's law this limits the total speedup to 5.00× (gray) and 6.84× (color), against 9.19× for LBG alone.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vs Adaptive Workload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49808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7" name="Image 0" descr="assets/eqad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7016"/>
            <a:ext cx="7498080" cy="456404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2344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1325880"/>
            <a:ext cx="338328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Equal distribution, the faster P-cores finish early and wait for the E-cores: 7.61× at P = 14.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distribution reaches 9.19× at P = 14.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 time is reduced by 28.3%, 23.6%, 19.8% and 17.2% at P = 8, 10, 12 and 14.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is reduced by 17.9% to 8.8%.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adaptive-distribution benefit was observed when only P-cores were used (P ≤ 6).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reconstructed images are identical in both cases.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values here come from the Equal-vs-Adaptive runs, so they can differ by up to 0.02× from the main speedup runs.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FDF1E6"/>
          </a:solidFill>
          <a:ln w="15875">
            <a:solidFill>
              <a:srgbClr val="E07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7498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= I_size / T_total   (MiB/s)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74980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9" name="Image 0" descr="assets/throughput_ch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695" y="1645920"/>
            <a:ext cx="6983091" cy="4617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183880" y="12344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5320" y="1325880"/>
            <a:ext cx="338328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= original image size / total execution time (MiB/s).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Grayscale: 1.30 → 3.35 MiB/s from P = 2 to P = 14.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1.42 → 4.54 MiB/s.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images hold three times more data, but their total time grows by only about 2.2× at P = 14, so their throughput is higher.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bands: minimum to maximum over the images.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Karp–Flatt Metric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FDF1E6"/>
          </a:solidFill>
          <a:ln w="15875">
            <a:solidFill>
              <a:srgbClr val="E07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7772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(1/S − 1/P) / (1 − 1/P)</a:t>
            </a:r>
            <a:endParaRPr lang="en-US" sz="2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77724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1188720"/>
                <a:gridCol w="1188720"/>
                <a:gridCol w="1280160"/>
                <a:gridCol w="118872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LBG: KF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LBG: Eff.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gray: KF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gray: Eff.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color: KF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color: Eff.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852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LBG: mean of the 8 images. Total: mean of the 4 grayscale and of the 4 color images, separately. KF = Karp–Flatt, Eff. = efficiency.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58200" y="128016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49640" y="1371600"/>
            <a:ext cx="3108960" cy="4663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Karp–Flatt estimates the serial fraction of the program from the measured speedup.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LBG: about 0.04 for P ≥ 8; the serial fraction stays small and does not grow with P.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about 0.14 (gray) and 0.08 (color); the work on Process 0 (mainly image reading and file output) limits the speedup.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is lower because LBG is a larger share of its time (81% against 77%).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2E2055"/>
          </a:solidFill>
          <a:ln w="12700">
            <a:solidFill>
              <a:srgbClr val="2E2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27432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E2055"/>
          </a:solidFill>
          <a:ln w="12700">
            <a:solidFill>
              <a:srgbClr val="2E20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10927080" cy="5029200"/>
          </a:xfrm>
          <a:prstGeom prst="roundRect">
            <a:avLst>
              <a:gd name="adj" fmla="val 1455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1065276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image compression framework was implemented: LBG vector quantization, delta coding and Huffman coding.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 training was parallelized with MPI: 9.19× speedup on 14 processes (efficiency ≈ 66%); total speedup 5.00× (gray) and 6.84× (color).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speed-aware (Adaptive) distribution reduced LBG time by 17.2–28.3% compared with Equal distribution (P = 8 to 14).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parallel results were identical to the sequential ones: same reconstructed images and quality metrics.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mean PSNR 29.49 dB and SSIM 0.8266 (gray); 28.80 dB and 0.7654 (color), at a compression ratio of ___ (gray) and ___ (color).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speedup is limited by the work that runs on Process 0, mainly image reading and file output.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2E2055"/>
          </a:solidFill>
          <a:ln w="12700">
            <a:solidFill>
              <a:srgbClr val="2E2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27432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E2055"/>
          </a:solidFill>
          <a:ln w="12700">
            <a:solidFill>
              <a:srgbClr val="2E20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10927080" cy="5029200"/>
          </a:xfrm>
          <a:prstGeom prst="roundRect">
            <a:avLst>
              <a:gd name="adj" fmla="val 1455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1065276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rate–distortion performance: color transform (YCbCr instead of RGB), prediction or context modeling of the VQ indices, and variable block sizes.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the LBG assignment step, which dominates the run time, with GPUs (CUDA or OpenCL) combined with MPI.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multi-node clusters, larger images and image sequences that share one codebook.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the workload during the run, using the measured compute time of each process and a load-imbalance measure.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2E2055"/>
          </a:solidFill>
          <a:ln w="12700">
            <a:solidFill>
              <a:srgbClr val="2E2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27432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E2055"/>
          </a:solidFill>
          <a:ln w="12700">
            <a:solidFill>
              <a:srgbClr val="2E20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10927080" cy="5029200"/>
          </a:xfrm>
          <a:prstGeom prst="roundRect">
            <a:avLst>
              <a:gd name="adj" fmla="val 1455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1065276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Thomas, S., Krishna, A., Govind, S., Sahu, A.K. (2025). A novel image compression method using wavelet coefficients and Huffman coding. J. Eng. Res., 13(1): 361-370.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Ranjan, R., Kumar, P. (2023). An improved image compression algorithm using 2D DWT and PCA with canonical Huffman encoding. Entropy, 25(10): 1382.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Bilal, M., Ullah, Z., Mujahid, O., Fouzder, T. (2024). Fast Linde–Buzo–Gray (FLBG) algorithm for image compression through rescaling using bilinear interpolation. J. Imaging, 10(5): 124.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Linde, Y., Buzo, A., Gray, R.M. (1980). An algorithm for vector quantizer design. IEEE Trans. Commun., 28(1): 84-95.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Zangana, H.M. (2025). Design and implementation of a novel parallel algorithm for efficient image compression in high-performance computing. EAI Endorsed Trans. AI Robot., 4. doi:10.4108/airo.7832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Bystrov, O., Pacevič, R., Kačeniauskas, A. (2023). Hybrid parallelization of discrete element software for heterogeneous resources. Proc. 7th Int. Conf. on Parallel, Distributed, GPU and Cloud Computing for Engineering, Civil-Comp Press, Paper 4.1. doi:10.4203/ccc.4.4.1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Papakyriakou, D., Barbounakis, I.S. (2025). Parallel k-means benchmarking on a CPU-bound Beowulf cluster of Raspberry Pi nodes: an MPI-based scaling analysis with CPU-centric performance evaluation. Int. J. Comput. Appl., 187(32).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Paul, R.K., Jena, S., Chandran, S., Bandyopadhyay, A., Swain, S. (2024). Image compression scheme based on optimized K-means clustering and higher-level decomposed DWT. Procedia Comput. Sci., 235: 642-655.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880000">
            <a:off x="4626864" y="429768"/>
            <a:ext cx="438912" cy="438912"/>
          </a:xfrm>
          <a:prstGeom prst="triangl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78408" y="70408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7100000">
            <a:off x="4690872" y="6190488"/>
            <a:ext cx="329184" cy="329184"/>
          </a:xfrm>
          <a:prstGeom prst="ellipse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7160000">
            <a:off x="1837944" y="877824"/>
            <a:ext cx="246888" cy="246888"/>
          </a:xfrm>
          <a:prstGeom prst="rect">
            <a:avLst/>
          </a:prstGeom>
          <a:solidFill>
            <a:srgbClr val="F2993A"/>
          </a:solidFill>
          <a:ln w="12700">
            <a:solidFill>
              <a:srgbClr val="F299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6800000">
            <a:off x="6757416" y="1325880"/>
            <a:ext cx="192024" cy="192024"/>
          </a:xfrm>
          <a:prstGeom prst="rect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460000">
            <a:off x="9281160" y="4526280"/>
            <a:ext cx="256032" cy="256032"/>
          </a:xfrm>
          <a:prstGeom prst="triangle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8660000">
            <a:off x="10149840" y="4672584"/>
            <a:ext cx="320040" cy="320040"/>
          </a:xfrm>
          <a:prstGeom prst="triangle">
            <a:avLst/>
          </a:prstGeom>
          <a:solidFill>
            <a:srgbClr val="F2993A"/>
          </a:solidFill>
          <a:ln w="12700">
            <a:solidFill>
              <a:srgbClr val="F299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2180000">
            <a:off x="8951976" y="941832"/>
            <a:ext cx="283464" cy="283464"/>
          </a:xfrm>
          <a:prstGeom prst="star5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7080000">
            <a:off x="11365992" y="4343400"/>
            <a:ext cx="374904" cy="374904"/>
          </a:xfrm>
          <a:prstGeom prst="triangl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780000">
            <a:off x="6135624" y="1033272"/>
            <a:ext cx="438912" cy="438912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580000">
            <a:off x="6144768" y="256032"/>
            <a:ext cx="320040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9740000">
            <a:off x="10332720" y="1088136"/>
            <a:ext cx="393192" cy="393192"/>
          </a:xfrm>
          <a:prstGeom prst="triangl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4040000">
            <a:off x="8449056" y="256032"/>
            <a:ext cx="256032" cy="256032"/>
          </a:xfrm>
          <a:prstGeom prst="triangl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3180000">
            <a:off x="914400" y="6263640"/>
            <a:ext cx="310896" cy="310896"/>
          </a:xfrm>
          <a:prstGeom prst="triangle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2780000">
            <a:off x="1581912" y="210312"/>
            <a:ext cx="237744" cy="237744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260000">
            <a:off x="9592056" y="1051560"/>
            <a:ext cx="192024" cy="192024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5720000">
            <a:off x="7470648" y="411480"/>
            <a:ext cx="374904" cy="374904"/>
          </a:xfrm>
          <a:prstGeom prst="triangl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9200000">
            <a:off x="5340096" y="457200"/>
            <a:ext cx="274320" cy="274320"/>
          </a:xfrm>
          <a:prstGeom prst="ellipse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5420000">
            <a:off x="219456" y="5111496"/>
            <a:ext cx="310896" cy="310896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2180000">
            <a:off x="9729216" y="146304"/>
            <a:ext cx="347472" cy="347472"/>
          </a:xfrm>
          <a:prstGeom prst="star5">
            <a:avLst/>
          </a:prstGeom>
          <a:solidFill>
            <a:srgbClr val="F2993A"/>
          </a:solidFill>
          <a:ln w="12700">
            <a:solidFill>
              <a:srgbClr val="F299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8880000">
            <a:off x="2386584" y="210312"/>
            <a:ext cx="438912" cy="438912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4620000">
            <a:off x="2971800" y="795528"/>
            <a:ext cx="493776" cy="493776"/>
          </a:xfrm>
          <a:prstGeom prst="star5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7140000">
            <a:off x="9043416" y="146304"/>
            <a:ext cx="292608" cy="292608"/>
          </a:xfrm>
          <a:prstGeom prst="star5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6200000">
            <a:off x="3630168" y="932688"/>
            <a:ext cx="356616" cy="356616"/>
          </a:xfrm>
          <a:prstGeom prst="ellipse">
            <a:avLst/>
          </a:prstGeom>
          <a:solidFill>
            <a:srgbClr val="F2993A"/>
          </a:solidFill>
          <a:ln w="12700">
            <a:solidFill>
              <a:srgbClr val="F299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7560000">
            <a:off x="10442448" y="329184"/>
            <a:ext cx="274320" cy="274320"/>
          </a:xfrm>
          <a:prstGeom prst="triangl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7220000">
            <a:off x="3200400" y="210312"/>
            <a:ext cx="283464" cy="283464"/>
          </a:xfrm>
          <a:prstGeom prst="triangl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7980000">
            <a:off x="7662672" y="1234440"/>
            <a:ext cx="292608" cy="292608"/>
          </a:xfrm>
          <a:prstGeom prst="star5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3240000">
            <a:off x="8714232" y="4489704"/>
            <a:ext cx="420624" cy="42062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2240000">
            <a:off x="8211312" y="5769864"/>
            <a:ext cx="237744" cy="237744"/>
          </a:xfrm>
          <a:prstGeom prst="triangle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640000">
            <a:off x="8375904" y="941832"/>
            <a:ext cx="219456" cy="219456"/>
          </a:xfrm>
          <a:prstGeom prst="triangl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4740000">
            <a:off x="6922008" y="6272784"/>
            <a:ext cx="365760" cy="36576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6660000">
            <a:off x="7909560" y="6419088"/>
            <a:ext cx="164592" cy="164592"/>
          </a:xfrm>
          <a:prstGeom prst="ellipse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4100000">
            <a:off x="6793992" y="192024"/>
            <a:ext cx="438912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520000">
            <a:off x="4005072" y="6227064"/>
            <a:ext cx="411480" cy="411480"/>
          </a:xfrm>
          <a:prstGeom prst="triangl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480000">
            <a:off x="11237976" y="1024128"/>
            <a:ext cx="411480" cy="41148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100000">
            <a:off x="310896" y="804672"/>
            <a:ext cx="429768" cy="429768"/>
          </a:xfrm>
          <a:prstGeom prst="star5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6980000">
            <a:off x="301752" y="155448"/>
            <a:ext cx="365760" cy="36576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520000">
            <a:off x="5586984" y="6373368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4500000">
            <a:off x="210312" y="1527048"/>
            <a:ext cx="320040" cy="320040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220000">
            <a:off x="2642616" y="6208776"/>
            <a:ext cx="265176" cy="265176"/>
          </a:xfrm>
          <a:prstGeom prst="ellipse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320000">
            <a:off x="4800600" y="1115568"/>
            <a:ext cx="393192" cy="393192"/>
          </a:xfrm>
          <a:prstGeom prst="star5">
            <a:avLst/>
          </a:prstGeom>
          <a:solidFill>
            <a:srgbClr val="F2993A"/>
          </a:solidFill>
          <a:ln w="12700">
            <a:solidFill>
              <a:srgbClr val="F299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6080000">
            <a:off x="1682496" y="6391656"/>
            <a:ext cx="283464" cy="283464"/>
          </a:xfrm>
          <a:prstGeom prst="star5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680000">
            <a:off x="4005072" y="210312"/>
            <a:ext cx="320040" cy="320040"/>
          </a:xfrm>
          <a:prstGeom prst="star5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620000">
            <a:off x="5541264" y="1143000"/>
            <a:ext cx="246888" cy="2468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9780000">
            <a:off x="11338560" y="301752"/>
            <a:ext cx="374904" cy="374904"/>
          </a:xfrm>
          <a:prstGeom prst="rect">
            <a:avLst/>
          </a:prstGeom>
          <a:solidFill>
            <a:srgbClr val="F2993A"/>
          </a:solidFill>
          <a:ln w="12700">
            <a:solidFill>
              <a:srgbClr val="F299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19500000">
            <a:off x="3282696" y="6208776"/>
            <a:ext cx="292608" cy="292608"/>
          </a:xfrm>
          <a:prstGeom prst="star5">
            <a:avLst/>
          </a:prstGeom>
          <a:solidFill>
            <a:srgbClr val="F2993A"/>
          </a:solidFill>
          <a:ln w="12700">
            <a:solidFill>
              <a:srgbClr val="F299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16260000">
            <a:off x="338328" y="3090672"/>
            <a:ext cx="173736" cy="173736"/>
          </a:xfrm>
          <a:prstGeom prst="rect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4640000">
            <a:off x="10725912" y="4745736"/>
            <a:ext cx="192024" cy="192024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16916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B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</a:t>
            </a:r>
            <a:pPr algn="ctr" indent="0" marL="0">
              <a:buNone/>
            </a:pPr>
            <a:r>
              <a:rPr lang="en-US" sz="8800" b="1" dirty="0">
                <a:solidFill>
                  <a:srgbClr val="E045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You!</a:t>
            </a:r>
            <a:endParaRPr lang="en-US" sz="8800" dirty="0"/>
          </a:p>
        </p:txBody>
      </p:sp>
      <p:sp>
        <p:nvSpPr>
          <p:cNvPr id="52" name="Text 50"/>
          <p:cNvSpPr/>
          <p:nvPr/>
        </p:nvSpPr>
        <p:spPr>
          <a:xfrm>
            <a:off x="731520" y="34290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3600" dirty="0"/>
          </a:p>
        </p:txBody>
      </p:sp>
      <p:sp>
        <p:nvSpPr>
          <p:cNvPr id="53" name="Shape 51"/>
          <p:cNvSpPr/>
          <p:nvPr/>
        </p:nvSpPr>
        <p:spPr>
          <a:xfrm>
            <a:off x="1097280" y="4617720"/>
            <a:ext cx="1463040" cy="1463040"/>
          </a:xfrm>
          <a:prstGeom prst="smileyFace">
            <a:avLst/>
          </a:prstGeom>
          <a:solidFill>
            <a:srgbClr val="FFC93C"/>
          </a:solidFill>
          <a:ln w="38100">
            <a:solidFill>
              <a:srgbClr val="2E20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26080" y="4800600"/>
            <a:ext cx="5120640" cy="1097280"/>
          </a:xfrm>
          <a:prstGeom prst="roundRect">
            <a:avLst>
              <a:gd name="adj" fmla="val 25000"/>
            </a:avLst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6200000">
            <a:off x="2606040" y="5166360"/>
            <a:ext cx="411480" cy="365760"/>
          </a:xfrm>
          <a:prstGeom prst="triangle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3600" dirty="0"/>
          </a:p>
        </p:txBody>
      </p:sp>
      <p:sp>
        <p:nvSpPr>
          <p:cNvPr id="57" name="Text 55"/>
          <p:cNvSpPr/>
          <p:nvPr/>
        </p:nvSpPr>
        <p:spPr>
          <a:xfrm>
            <a:off x="8686800" y="5349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Ibtihal Hussien</a:t>
            </a:r>
            <a:endParaRPr lang="en-US" sz="1800" dirty="0"/>
          </a:p>
          <a:p>
            <a:pPr algn="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Babylon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2026-10-19T10:28:45Z</dcterms:created>
  <dcterms:modified xsi:type="dcterms:W3CDTF">2026-10-19T10:28:45Z</dcterms:modified>
</cp:coreProperties>
</file>