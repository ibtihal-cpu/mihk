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566928">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566928">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 = 16,384</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27080" cy="914400"/>
        </p:xfrm>
        <a:graphic>
          <a:graphicData uri="http://schemas.openxmlformats.org/drawingml/2006/table">
            <a:tbl>
              <a:tblPr/>
              <a:tblGrid>
                <a:gridCol w="1463040"/>
                <a:gridCol w="4023360"/>
                <a:gridCol w="1920240"/>
                <a:gridCol w="352044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Quality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Formula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07B22"/>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S_orig / S_comp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Execution time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T (median of 5 runs)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compressed bits / pixels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Speedup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S = T_seq / T_P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mean (I − Î)²</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Efficiency</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S / 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PSNR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10·log10(255² / MSE)  dB</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Throughput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I_size / T_total  (MiB/s)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66928">
                <a:tc>
                  <a:txBody>
                    <a:bodyPr/>
                    <a:lstStyle/>
                    <a:p>
                      <a:pPr algn="ctr" indent="0" marL="0">
                        <a:buNone/>
                      </a:pPr>
                      <a:r>
                        <a:rPr lang="en-US" sz="1500" b="1" dirty="0">
                          <a:solidFill>
                            <a:srgbClr val="2A9D8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11 × 11 Gaussian window, σ = 1.5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EF8F6"/>
                    </a:solidFill>
                  </a:tcPr>
                </a:tc>
                <a:tc>
                  <a:txBody>
                    <a:bodyPr/>
                    <a:lstStyle/>
                    <a:p>
                      <a:pPr algn="ctr" indent="0" marL="0">
                        <a:buNone/>
                      </a:pPr>
                      <a:r>
                        <a:rPr lang="en-US" sz="1500" b="1" dirty="0">
                          <a:solidFill>
                            <a:srgbClr val="E07B22"/>
                          </a:solidFill>
                          <a:latin typeface="Calibri" pitchFamily="34" charset="0"/>
                          <a:ea typeface="Calibri" pitchFamily="34" charset="-122"/>
                          <a:cs typeface="Calibri" pitchFamily="34" charset="-120"/>
                        </a:rPr>
                        <a:t>Karp–Flatt</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e = (1/S − 1/P) / (1 − 1/P)</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DF1E6"/>
                    </a:solidFill>
                  </a:tcPr>
                </a:tc>
              </a:tr>
            </a:tbl>
          </a:graphicData>
        </a:graphic>
      </p:graphicFrame>
      <p:sp>
        <p:nvSpPr>
          <p:cNvPr id="7" name="Text 4"/>
          <p:cNvSpPr/>
          <p:nvPr/>
        </p:nvSpPr>
        <p:spPr>
          <a:xfrm>
            <a:off x="640080" y="5120640"/>
            <a:ext cx="10927080" cy="914400"/>
          </a:xfrm>
          <a:prstGeom prst="rect">
            <a:avLst/>
          </a:prstGeom>
          <a:noFill/>
          <a:ln/>
        </p:spPr>
        <p:txBody>
          <a:bodyPr wrap="square" lIns="0" tIns="0" rIns="0" bIns="0" rtlCol="0" anchor="ctr"/>
          <a:lstStyle/>
          <a:p>
            <a:pPr indent="0" marL="0">
              <a:buNone/>
            </a:pPr>
            <a:r>
              <a:rPr lang="en-US" sz="1300" i="1" dirty="0">
                <a:solidFill>
                  <a:srgbClr val="6B4FA3"/>
                </a:solidFill>
                <a:latin typeface="Calibri" pitchFamily="34" charset="0"/>
                <a:ea typeface="Calibri" pitchFamily="34" charset="-122"/>
                <a:cs typeface="Calibri" pitchFamily="34" charset="-120"/>
              </a:rPr>
              <a:t>S_comp = accounted compressed size = codebook (K × 16 bytes, one byte per element) + Huffman table + Huffman-coded data. The table is accounted as 5 bytes per used symbol (1 byte symbol + 4 bytes frequency) plus 10 bytes of fixed metadata. For color images, MSE and PSNR are computed over RGB and SSIM is the mean of the channels.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188720"/>
          <a:ext cx="10515600" cy="914400"/>
        </p:xfrm>
        <a:graphic>
          <a:graphicData uri="http://schemas.openxmlformats.org/drawingml/2006/table">
            <a:tbl>
              <a:tblPr/>
              <a:tblGrid>
                <a:gridCol w="2377440"/>
                <a:gridCol w="1097280"/>
                <a:gridCol w="1371600"/>
                <a:gridCol w="1371600"/>
                <a:gridCol w="1371600"/>
                <a:gridCol w="1554480"/>
                <a:gridCol w="1371600"/>
              </a:tblGrid>
              <a:tr h="39319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93192">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7" name="Text 4"/>
          <p:cNvSpPr/>
          <p:nvPr/>
        </p:nvSpPr>
        <p:spPr>
          <a:xfrm>
            <a:off x="822960" y="5989320"/>
            <a:ext cx="105156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ntropy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otal_speedup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throughput_ch4.png">    </p:cNvPr>
          <p:cNvPicPr>
            <a:picLocks noChangeAspect="1"/>
          </p:cNvPicPr>
          <p:nvPr/>
        </p:nvPicPr>
        <p:blipFill>
          <a:blip r:embed="rId1"/>
          <a:stretch>
            <a:fillRect/>
          </a:stretch>
        </p:blipFill>
        <p:spPr>
          <a:xfrm>
            <a:off x="457200" y="1269906"/>
            <a:ext cx="7498080" cy="4958268"/>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772400" cy="914400"/>
        </p:xfrm>
        <a:graphic>
          <a:graphicData uri="http://schemas.openxmlformats.org/drawingml/2006/table">
            <a:tbl>
              <a:tblPr/>
              <a:tblGrid>
                <a:gridCol w="640080"/>
                <a:gridCol w="1005840"/>
                <a:gridCol w="1188720"/>
                <a:gridCol w="1188720"/>
                <a:gridCol w="1280160"/>
                <a:gridCol w="1188720"/>
                <a:gridCol w="1280160"/>
              </a:tblGrid>
              <a:tr h="53035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30352">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7" name="Text 4"/>
          <p:cNvSpPr/>
          <p:nvPr/>
        </p:nvSpPr>
        <p:spPr>
          <a:xfrm>
            <a:off x="457200" y="557784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8" name="Shape 5"/>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9" name="Text 6"/>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2026-10-17T09:13:30Z</dcterms:created>
  <dcterms:modified xsi:type="dcterms:W3CDTF">2026-10-17T09:13:30Z</dcterms:modified>
</cp:coreProperties>
</file>