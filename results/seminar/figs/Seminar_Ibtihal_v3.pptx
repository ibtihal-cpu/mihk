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E2055"/>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2E2055"/>
          </a:solidFill>
          <a:ln w="12700">
            <a:solidFill>
              <a:srgbClr val="2E2055"/>
            </a:solidFill>
            <a:prstDash val="solid"/>
          </a:ln>
        </p:spPr>
      </p:sp>
      <p:sp>
        <p:nvSpPr>
          <p:cNvPr id="3" name="Shape 1"/>
          <p:cNvSpPr/>
          <p:nvPr/>
        </p:nvSpPr>
        <p:spPr>
          <a:xfrm>
            <a:off x="0" y="0"/>
            <a:ext cx="320040" cy="6858000"/>
          </a:xfrm>
          <a:prstGeom prst="rect">
            <a:avLst/>
          </a:prstGeom>
          <a:solidFill>
            <a:srgbClr val="E0457B"/>
          </a:solidFill>
          <a:ln w="12700">
            <a:solidFill>
              <a:srgbClr val="E0457B"/>
            </a:solidFill>
            <a:prstDash val="solid"/>
          </a:ln>
        </p:spPr>
      </p:sp>
      <p:sp>
        <p:nvSpPr>
          <p:cNvPr id="4" name="Text 2"/>
          <p:cNvSpPr/>
          <p:nvPr/>
        </p:nvSpPr>
        <p:spPr>
          <a:xfrm>
            <a:off x="822960" y="640080"/>
            <a:ext cx="10515600" cy="457200"/>
          </a:xfrm>
          <a:prstGeom prst="rect">
            <a:avLst/>
          </a:prstGeom>
          <a:noFill/>
          <a:ln/>
        </p:spPr>
        <p:txBody>
          <a:bodyPr wrap="square" lIns="0" tIns="0" rIns="0" bIns="0" rtlCol="0" anchor="ctr"/>
          <a:lstStyle/>
          <a:p>
            <a:pPr indent="0" marL="0">
              <a:buNone/>
            </a:pPr>
            <a:r>
              <a:rPr lang="en-US" sz="1800" b="1" dirty="0">
                <a:solidFill>
                  <a:srgbClr val="C9BDE8"/>
                </a:solidFill>
                <a:latin typeface="Calibri" pitchFamily="34" charset="0"/>
                <a:ea typeface="Calibri" pitchFamily="34" charset="-122"/>
                <a:cs typeface="Calibri" pitchFamily="34" charset="-120"/>
              </a:rPr>
              <a:t>MSc SEMINAR  |  University of Babylon</a:t>
            </a:r>
            <a:endParaRPr lang="en-US" sz="1800" dirty="0"/>
          </a:p>
        </p:txBody>
      </p:sp>
      <p:sp>
        <p:nvSpPr>
          <p:cNvPr id="5" name="Text 3"/>
          <p:cNvSpPr/>
          <p:nvPr/>
        </p:nvSpPr>
        <p:spPr>
          <a:xfrm>
            <a:off x="822960" y="1463040"/>
            <a:ext cx="10515600" cy="17373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Parallel Image Compression Using High-Performance Computing Strategies</a:t>
            </a:r>
            <a:endParaRPr lang="en-US" sz="4000" dirty="0"/>
          </a:p>
        </p:txBody>
      </p:sp>
      <p:sp>
        <p:nvSpPr>
          <p:cNvPr id="6" name="Text 4"/>
          <p:cNvSpPr/>
          <p:nvPr/>
        </p:nvSpPr>
        <p:spPr>
          <a:xfrm>
            <a:off x="822960" y="3383280"/>
            <a:ext cx="10515600" cy="822960"/>
          </a:xfrm>
          <a:prstGeom prst="rect">
            <a:avLst/>
          </a:prstGeom>
          <a:noFill/>
          <a:ln/>
        </p:spPr>
        <p:txBody>
          <a:bodyPr wrap="square" lIns="0" tIns="0" rIns="0" bIns="0" rtlCol="0" anchor="ctr"/>
          <a:lstStyle/>
          <a:p>
            <a:pPr indent="0" marL="0">
              <a:buNone/>
            </a:pPr>
            <a:r>
              <a:rPr lang="en-US" sz="2000" dirty="0">
                <a:solidFill>
                  <a:srgbClr val="E8DFF7"/>
                </a:solidFill>
                <a:latin typeface="Calibri" pitchFamily="34" charset="0"/>
                <a:ea typeface="Calibri" pitchFamily="34" charset="-122"/>
                <a:cs typeface="Calibri" pitchFamily="34" charset="-120"/>
              </a:rPr>
              <a:t>LBG vector quantization, delta coding and Huffman coding with speed-aware MPI on a hybrid P/E-core CPU</a:t>
            </a:r>
            <a:endParaRPr lang="en-US" sz="2000" dirty="0"/>
          </a:p>
        </p:txBody>
      </p:sp>
      <p:sp>
        <p:nvSpPr>
          <p:cNvPr id="7" name="Text 5"/>
          <p:cNvSpPr/>
          <p:nvPr/>
        </p:nvSpPr>
        <p:spPr>
          <a:xfrm>
            <a:off x="822960" y="4846320"/>
            <a:ext cx="10515600" cy="1097280"/>
          </a:xfrm>
          <a:prstGeom prst="rect">
            <a:avLst/>
          </a:prstGeom>
          <a:noFill/>
          <a:ln/>
        </p:spPr>
        <p:txBody>
          <a:bodyPr wrap="square" lIns="0" tIns="0" rIns="0" bIns="0" rtlCol="0" anchor="ctr"/>
          <a:lstStyle/>
          <a:p>
            <a:pPr indent="0" marL="0">
              <a:spcAft>
                <a:spcPts val="800"/>
              </a:spcAft>
              <a:buNone/>
            </a:pPr>
            <a:r>
              <a:rPr lang="en-US" sz="2000" dirty="0">
                <a:solidFill>
                  <a:srgbClr val="C9BDE8"/>
                </a:solidFill>
                <a:latin typeface="Calibri" pitchFamily="34" charset="0"/>
                <a:ea typeface="Calibri" pitchFamily="34" charset="-122"/>
                <a:cs typeface="Calibri" pitchFamily="34" charset="-120"/>
              </a:rPr>
              <a:t>Presented by  </a:t>
            </a:r>
            <a:pPr indent="0" marL="0">
              <a:spcAft>
                <a:spcPts val="800"/>
              </a:spcAft>
              <a:buNone/>
            </a:pPr>
            <a:r>
              <a:rPr lang="en-US" sz="2000" b="1" dirty="0">
                <a:solidFill>
                  <a:srgbClr val="FFFFFF"/>
                </a:solidFill>
                <a:latin typeface="Calibri" pitchFamily="34" charset="0"/>
                <a:ea typeface="Calibri" pitchFamily="34" charset="-122"/>
                <a:cs typeface="Calibri" pitchFamily="34" charset="-120"/>
              </a:rPr>
              <a:t>MSc. Student Ibtihal Hussien</a:t>
            </a:r>
            <a:endParaRPr lang="en-US" sz="2000" dirty="0"/>
          </a:p>
          <a:p>
            <a:pPr indent="0" marL="0">
              <a:spcAft>
                <a:spcPts val="800"/>
              </a:spcAft>
              <a:buNone/>
            </a:pPr>
            <a:r>
              <a:rPr lang="en-US" sz="2000" dirty="0">
                <a:solidFill>
                  <a:srgbClr val="C9BDE8"/>
                </a:solidFill>
                <a:latin typeface="Calibri" pitchFamily="34" charset="0"/>
                <a:ea typeface="Calibri" pitchFamily="34" charset="-122"/>
                <a:cs typeface="Calibri" pitchFamily="34" charset="-120"/>
              </a:rPr>
              <a:t>Supervised by  </a:t>
            </a:r>
            <a:pPr indent="0" marL="0">
              <a:spcAft>
                <a:spcPts val="800"/>
              </a:spcAft>
              <a:buNone/>
            </a:pPr>
            <a:r>
              <a:rPr lang="en-US" sz="2000" b="1" dirty="0">
                <a:solidFill>
                  <a:srgbClr val="FFFFFF"/>
                </a:solidFill>
                <a:latin typeface="Calibri" pitchFamily="34" charset="0"/>
                <a:ea typeface="Calibri" pitchFamily="34" charset="-122"/>
                <a:cs typeface="Calibri" pitchFamily="34" charset="-120"/>
              </a:rPr>
              <a:t>Dr. Ahmed Badri  ·  Dr. Esraa Hadi</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9202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19202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Outline</a:t>
            </a:r>
            <a:endParaRPr lang="en-US" sz="1600" dirty="0"/>
          </a:p>
        </p:txBody>
      </p:sp>
      <p:sp>
        <p:nvSpPr>
          <p:cNvPr id="4" name="Text 2"/>
          <p:cNvSpPr/>
          <p:nvPr/>
        </p:nvSpPr>
        <p:spPr>
          <a:xfrm>
            <a:off x="25603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Outline</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sp>
        <p:nvSpPr>
          <p:cNvPr id="6" name="Shape 4"/>
          <p:cNvSpPr/>
          <p:nvPr/>
        </p:nvSpPr>
        <p:spPr>
          <a:xfrm>
            <a:off x="640080" y="1325880"/>
            <a:ext cx="5303520" cy="1005840"/>
          </a:xfrm>
          <a:prstGeom prst="roundRect">
            <a:avLst>
              <a:gd name="adj" fmla="val 9091"/>
            </a:avLst>
          </a:prstGeom>
          <a:solidFill>
            <a:srgbClr val="F5F1FB"/>
          </a:solidFill>
          <a:ln w="19050">
            <a:solidFill>
              <a:srgbClr val="6B4FA3"/>
            </a:solidFill>
            <a:prstDash val="solid"/>
          </a:ln>
        </p:spPr>
      </p:sp>
      <p:sp>
        <p:nvSpPr>
          <p:cNvPr id="7" name="Shape 5"/>
          <p:cNvSpPr/>
          <p:nvPr/>
        </p:nvSpPr>
        <p:spPr>
          <a:xfrm>
            <a:off x="822960" y="1508760"/>
            <a:ext cx="640080" cy="640080"/>
          </a:xfrm>
          <a:prstGeom prst="ellipse">
            <a:avLst/>
          </a:prstGeom>
          <a:solidFill>
            <a:srgbClr val="6B4FA3"/>
          </a:solidFill>
          <a:ln w="12700">
            <a:solidFill>
              <a:srgbClr val="6B4FA3"/>
            </a:solidFill>
            <a:prstDash val="solid"/>
          </a:ln>
        </p:spPr>
      </p:sp>
      <p:sp>
        <p:nvSpPr>
          <p:cNvPr id="8" name="Text 6"/>
          <p:cNvSpPr/>
          <p:nvPr/>
        </p:nvSpPr>
        <p:spPr>
          <a:xfrm>
            <a:off x="822960" y="150876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9" name="Text 7"/>
          <p:cNvSpPr/>
          <p:nvPr/>
        </p:nvSpPr>
        <p:spPr>
          <a:xfrm>
            <a:off x="1645920" y="132588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Introduction</a:t>
            </a:r>
            <a:endParaRPr lang="en-US" sz="2400" dirty="0"/>
          </a:p>
        </p:txBody>
      </p:sp>
      <p:sp>
        <p:nvSpPr>
          <p:cNvPr id="10" name="Shape 8"/>
          <p:cNvSpPr/>
          <p:nvPr/>
        </p:nvSpPr>
        <p:spPr>
          <a:xfrm>
            <a:off x="6309360" y="1325880"/>
            <a:ext cx="5303520" cy="1005840"/>
          </a:xfrm>
          <a:prstGeom prst="roundRect">
            <a:avLst>
              <a:gd name="adj" fmla="val 9091"/>
            </a:avLst>
          </a:prstGeom>
          <a:solidFill>
            <a:srgbClr val="F5F1FB"/>
          </a:solidFill>
          <a:ln w="19050">
            <a:solidFill>
              <a:srgbClr val="6B4FA3"/>
            </a:solidFill>
            <a:prstDash val="solid"/>
          </a:ln>
        </p:spPr>
      </p:sp>
      <p:sp>
        <p:nvSpPr>
          <p:cNvPr id="11" name="Shape 9"/>
          <p:cNvSpPr/>
          <p:nvPr/>
        </p:nvSpPr>
        <p:spPr>
          <a:xfrm>
            <a:off x="6492240" y="1508760"/>
            <a:ext cx="640080" cy="640080"/>
          </a:xfrm>
          <a:prstGeom prst="ellipse">
            <a:avLst/>
          </a:prstGeom>
          <a:solidFill>
            <a:srgbClr val="6B4FA3"/>
          </a:solidFill>
          <a:ln w="12700">
            <a:solidFill>
              <a:srgbClr val="6B4FA3"/>
            </a:solidFill>
            <a:prstDash val="solid"/>
          </a:ln>
        </p:spPr>
      </p:sp>
      <p:sp>
        <p:nvSpPr>
          <p:cNvPr id="12" name="Text 10"/>
          <p:cNvSpPr/>
          <p:nvPr/>
        </p:nvSpPr>
        <p:spPr>
          <a:xfrm>
            <a:off x="6492240" y="150876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13" name="Text 11"/>
          <p:cNvSpPr/>
          <p:nvPr/>
        </p:nvSpPr>
        <p:spPr>
          <a:xfrm>
            <a:off x="7315200" y="132588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Literature Review</a:t>
            </a:r>
            <a:endParaRPr lang="en-US" sz="2400" dirty="0"/>
          </a:p>
        </p:txBody>
      </p:sp>
      <p:sp>
        <p:nvSpPr>
          <p:cNvPr id="14" name="Shape 12"/>
          <p:cNvSpPr/>
          <p:nvPr/>
        </p:nvSpPr>
        <p:spPr>
          <a:xfrm>
            <a:off x="640080" y="2606040"/>
            <a:ext cx="5303520" cy="1005840"/>
          </a:xfrm>
          <a:prstGeom prst="roundRect">
            <a:avLst>
              <a:gd name="adj" fmla="val 9091"/>
            </a:avLst>
          </a:prstGeom>
          <a:solidFill>
            <a:srgbClr val="F5F1FB"/>
          </a:solidFill>
          <a:ln w="19050">
            <a:solidFill>
              <a:srgbClr val="E0457B"/>
            </a:solidFill>
            <a:prstDash val="solid"/>
          </a:ln>
        </p:spPr>
      </p:sp>
      <p:sp>
        <p:nvSpPr>
          <p:cNvPr id="15" name="Shape 13"/>
          <p:cNvSpPr/>
          <p:nvPr/>
        </p:nvSpPr>
        <p:spPr>
          <a:xfrm>
            <a:off x="822960" y="2788920"/>
            <a:ext cx="640080" cy="640080"/>
          </a:xfrm>
          <a:prstGeom prst="ellipse">
            <a:avLst/>
          </a:prstGeom>
          <a:solidFill>
            <a:srgbClr val="E0457B"/>
          </a:solidFill>
          <a:ln w="12700">
            <a:solidFill>
              <a:srgbClr val="E0457B"/>
            </a:solidFill>
            <a:prstDash val="solid"/>
          </a:ln>
        </p:spPr>
      </p:sp>
      <p:sp>
        <p:nvSpPr>
          <p:cNvPr id="16" name="Text 14"/>
          <p:cNvSpPr/>
          <p:nvPr/>
        </p:nvSpPr>
        <p:spPr>
          <a:xfrm>
            <a:off x="822960" y="278892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17" name="Text 15"/>
          <p:cNvSpPr/>
          <p:nvPr/>
        </p:nvSpPr>
        <p:spPr>
          <a:xfrm>
            <a:off x="1645920" y="260604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Problem Statement</a:t>
            </a:r>
            <a:endParaRPr lang="en-US" sz="2400" dirty="0"/>
          </a:p>
        </p:txBody>
      </p:sp>
      <p:sp>
        <p:nvSpPr>
          <p:cNvPr id="18" name="Shape 16"/>
          <p:cNvSpPr/>
          <p:nvPr/>
        </p:nvSpPr>
        <p:spPr>
          <a:xfrm>
            <a:off x="6309360" y="2606040"/>
            <a:ext cx="5303520" cy="1005840"/>
          </a:xfrm>
          <a:prstGeom prst="roundRect">
            <a:avLst>
              <a:gd name="adj" fmla="val 9091"/>
            </a:avLst>
          </a:prstGeom>
          <a:solidFill>
            <a:srgbClr val="F5F1FB"/>
          </a:solidFill>
          <a:ln w="19050">
            <a:solidFill>
              <a:srgbClr val="E0457B"/>
            </a:solidFill>
            <a:prstDash val="solid"/>
          </a:ln>
        </p:spPr>
      </p:sp>
      <p:sp>
        <p:nvSpPr>
          <p:cNvPr id="19" name="Shape 17"/>
          <p:cNvSpPr/>
          <p:nvPr/>
        </p:nvSpPr>
        <p:spPr>
          <a:xfrm>
            <a:off x="6492240" y="2788920"/>
            <a:ext cx="640080" cy="640080"/>
          </a:xfrm>
          <a:prstGeom prst="ellipse">
            <a:avLst/>
          </a:prstGeom>
          <a:solidFill>
            <a:srgbClr val="E0457B"/>
          </a:solidFill>
          <a:ln w="12700">
            <a:solidFill>
              <a:srgbClr val="E0457B"/>
            </a:solidFill>
            <a:prstDash val="solid"/>
          </a:ln>
        </p:spPr>
      </p:sp>
      <p:sp>
        <p:nvSpPr>
          <p:cNvPr id="20" name="Text 18"/>
          <p:cNvSpPr/>
          <p:nvPr/>
        </p:nvSpPr>
        <p:spPr>
          <a:xfrm>
            <a:off x="6492240" y="278892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4</a:t>
            </a:r>
            <a:endParaRPr lang="en-US" sz="2200" dirty="0"/>
          </a:p>
        </p:txBody>
      </p:sp>
      <p:sp>
        <p:nvSpPr>
          <p:cNvPr id="21" name="Text 19"/>
          <p:cNvSpPr/>
          <p:nvPr/>
        </p:nvSpPr>
        <p:spPr>
          <a:xfrm>
            <a:off x="7315200" y="260604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Thesis Objectives</a:t>
            </a:r>
            <a:endParaRPr lang="en-US" sz="2400" dirty="0"/>
          </a:p>
        </p:txBody>
      </p:sp>
      <p:sp>
        <p:nvSpPr>
          <p:cNvPr id="22" name="Shape 20"/>
          <p:cNvSpPr/>
          <p:nvPr/>
        </p:nvSpPr>
        <p:spPr>
          <a:xfrm>
            <a:off x="640080" y="3886200"/>
            <a:ext cx="5303520" cy="1005840"/>
          </a:xfrm>
          <a:prstGeom prst="roundRect">
            <a:avLst>
              <a:gd name="adj" fmla="val 9091"/>
            </a:avLst>
          </a:prstGeom>
          <a:solidFill>
            <a:srgbClr val="F5F1FB"/>
          </a:solidFill>
          <a:ln w="19050">
            <a:solidFill>
              <a:srgbClr val="E07B22"/>
            </a:solidFill>
            <a:prstDash val="solid"/>
          </a:ln>
        </p:spPr>
      </p:sp>
      <p:sp>
        <p:nvSpPr>
          <p:cNvPr id="23" name="Shape 21"/>
          <p:cNvSpPr/>
          <p:nvPr/>
        </p:nvSpPr>
        <p:spPr>
          <a:xfrm>
            <a:off x="822960" y="4069080"/>
            <a:ext cx="640080" cy="640080"/>
          </a:xfrm>
          <a:prstGeom prst="ellipse">
            <a:avLst/>
          </a:prstGeom>
          <a:solidFill>
            <a:srgbClr val="E07B22"/>
          </a:solidFill>
          <a:ln w="12700">
            <a:solidFill>
              <a:srgbClr val="E07B22"/>
            </a:solidFill>
            <a:prstDash val="solid"/>
          </a:ln>
        </p:spPr>
      </p:sp>
      <p:sp>
        <p:nvSpPr>
          <p:cNvPr id="24" name="Text 22"/>
          <p:cNvSpPr/>
          <p:nvPr/>
        </p:nvSpPr>
        <p:spPr>
          <a:xfrm>
            <a:off x="822960" y="406908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5</a:t>
            </a:r>
            <a:endParaRPr lang="en-US" sz="2200" dirty="0"/>
          </a:p>
        </p:txBody>
      </p:sp>
      <p:sp>
        <p:nvSpPr>
          <p:cNvPr id="25" name="Text 23"/>
          <p:cNvSpPr/>
          <p:nvPr/>
        </p:nvSpPr>
        <p:spPr>
          <a:xfrm>
            <a:off x="1645920" y="388620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Proposed Work</a:t>
            </a:r>
            <a:endParaRPr lang="en-US" sz="2400" dirty="0"/>
          </a:p>
        </p:txBody>
      </p:sp>
      <p:sp>
        <p:nvSpPr>
          <p:cNvPr id="26" name="Shape 24"/>
          <p:cNvSpPr/>
          <p:nvPr/>
        </p:nvSpPr>
        <p:spPr>
          <a:xfrm>
            <a:off x="6309360" y="3886200"/>
            <a:ext cx="5303520" cy="1005840"/>
          </a:xfrm>
          <a:prstGeom prst="roundRect">
            <a:avLst>
              <a:gd name="adj" fmla="val 9091"/>
            </a:avLst>
          </a:prstGeom>
          <a:solidFill>
            <a:srgbClr val="F5F1FB"/>
          </a:solidFill>
          <a:ln w="19050">
            <a:solidFill>
              <a:srgbClr val="2A9D8F"/>
            </a:solidFill>
            <a:prstDash val="solid"/>
          </a:ln>
        </p:spPr>
      </p:sp>
      <p:sp>
        <p:nvSpPr>
          <p:cNvPr id="27" name="Shape 25"/>
          <p:cNvSpPr/>
          <p:nvPr/>
        </p:nvSpPr>
        <p:spPr>
          <a:xfrm>
            <a:off x="6492240" y="4069080"/>
            <a:ext cx="640080" cy="640080"/>
          </a:xfrm>
          <a:prstGeom prst="ellipse">
            <a:avLst/>
          </a:prstGeom>
          <a:solidFill>
            <a:srgbClr val="2A9D8F"/>
          </a:solidFill>
          <a:ln w="12700">
            <a:solidFill>
              <a:srgbClr val="2A9D8F"/>
            </a:solidFill>
            <a:prstDash val="solid"/>
          </a:ln>
        </p:spPr>
      </p:sp>
      <p:sp>
        <p:nvSpPr>
          <p:cNvPr id="28" name="Text 26"/>
          <p:cNvSpPr/>
          <p:nvPr/>
        </p:nvSpPr>
        <p:spPr>
          <a:xfrm>
            <a:off x="6492240" y="406908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6</a:t>
            </a:r>
            <a:endParaRPr lang="en-US" sz="2200" dirty="0"/>
          </a:p>
        </p:txBody>
      </p:sp>
      <p:sp>
        <p:nvSpPr>
          <p:cNvPr id="29" name="Text 27"/>
          <p:cNvSpPr/>
          <p:nvPr/>
        </p:nvSpPr>
        <p:spPr>
          <a:xfrm>
            <a:off x="7315200" y="388620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Experimental Results</a:t>
            </a:r>
            <a:endParaRPr lang="en-US" sz="2400" dirty="0"/>
          </a:p>
        </p:txBody>
      </p:sp>
      <p:sp>
        <p:nvSpPr>
          <p:cNvPr id="30" name="Shape 28"/>
          <p:cNvSpPr/>
          <p:nvPr/>
        </p:nvSpPr>
        <p:spPr>
          <a:xfrm>
            <a:off x="640080" y="5166360"/>
            <a:ext cx="5303520" cy="1005840"/>
          </a:xfrm>
          <a:prstGeom prst="roundRect">
            <a:avLst>
              <a:gd name="adj" fmla="val 9091"/>
            </a:avLst>
          </a:prstGeom>
          <a:solidFill>
            <a:srgbClr val="F5F1FB"/>
          </a:solidFill>
          <a:ln w="19050">
            <a:solidFill>
              <a:srgbClr val="2E2055"/>
            </a:solidFill>
            <a:prstDash val="solid"/>
          </a:ln>
        </p:spPr>
      </p:sp>
      <p:sp>
        <p:nvSpPr>
          <p:cNvPr id="31" name="Shape 29"/>
          <p:cNvSpPr/>
          <p:nvPr/>
        </p:nvSpPr>
        <p:spPr>
          <a:xfrm>
            <a:off x="822960" y="5349240"/>
            <a:ext cx="640080" cy="640080"/>
          </a:xfrm>
          <a:prstGeom prst="ellipse">
            <a:avLst/>
          </a:prstGeom>
          <a:solidFill>
            <a:srgbClr val="2E2055"/>
          </a:solidFill>
          <a:ln w="12700">
            <a:solidFill>
              <a:srgbClr val="2E2055"/>
            </a:solidFill>
            <a:prstDash val="solid"/>
          </a:ln>
        </p:spPr>
      </p:sp>
      <p:sp>
        <p:nvSpPr>
          <p:cNvPr id="32" name="Text 30"/>
          <p:cNvSpPr/>
          <p:nvPr/>
        </p:nvSpPr>
        <p:spPr>
          <a:xfrm>
            <a:off x="822960" y="534924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7</a:t>
            </a:r>
            <a:endParaRPr lang="en-US" sz="2200" dirty="0"/>
          </a:p>
        </p:txBody>
      </p:sp>
      <p:sp>
        <p:nvSpPr>
          <p:cNvPr id="33" name="Text 31"/>
          <p:cNvSpPr/>
          <p:nvPr/>
        </p:nvSpPr>
        <p:spPr>
          <a:xfrm>
            <a:off x="1645920" y="516636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Conclusion</a:t>
            </a:r>
            <a:endParaRPr lang="en-US" sz="2400" dirty="0"/>
          </a:p>
        </p:txBody>
      </p:sp>
      <p:sp>
        <p:nvSpPr>
          <p:cNvPr id="34" name="Shape 32"/>
          <p:cNvSpPr/>
          <p:nvPr/>
        </p:nvSpPr>
        <p:spPr>
          <a:xfrm>
            <a:off x="6309360" y="5166360"/>
            <a:ext cx="5303520" cy="1005840"/>
          </a:xfrm>
          <a:prstGeom prst="roundRect">
            <a:avLst>
              <a:gd name="adj" fmla="val 9091"/>
            </a:avLst>
          </a:prstGeom>
          <a:solidFill>
            <a:srgbClr val="F5F1FB"/>
          </a:solidFill>
          <a:ln w="19050">
            <a:solidFill>
              <a:srgbClr val="2E2055"/>
            </a:solidFill>
            <a:prstDash val="solid"/>
          </a:ln>
        </p:spPr>
      </p:sp>
      <p:sp>
        <p:nvSpPr>
          <p:cNvPr id="35" name="Shape 33"/>
          <p:cNvSpPr/>
          <p:nvPr/>
        </p:nvSpPr>
        <p:spPr>
          <a:xfrm>
            <a:off x="6492240" y="5349240"/>
            <a:ext cx="640080" cy="640080"/>
          </a:xfrm>
          <a:prstGeom prst="ellipse">
            <a:avLst/>
          </a:prstGeom>
          <a:solidFill>
            <a:srgbClr val="2E2055"/>
          </a:solidFill>
          <a:ln w="12700">
            <a:solidFill>
              <a:srgbClr val="2E2055"/>
            </a:solidFill>
            <a:prstDash val="solid"/>
          </a:ln>
        </p:spPr>
      </p:sp>
      <p:sp>
        <p:nvSpPr>
          <p:cNvPr id="36" name="Text 34"/>
          <p:cNvSpPr/>
          <p:nvPr/>
        </p:nvSpPr>
        <p:spPr>
          <a:xfrm>
            <a:off x="6492240" y="534924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8</a:t>
            </a:r>
            <a:endParaRPr lang="en-US" sz="2200" dirty="0"/>
          </a:p>
        </p:txBody>
      </p:sp>
      <p:sp>
        <p:nvSpPr>
          <p:cNvPr id="37" name="Text 35"/>
          <p:cNvSpPr/>
          <p:nvPr/>
        </p:nvSpPr>
        <p:spPr>
          <a:xfrm>
            <a:off x="7315200" y="516636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Future Work</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9202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19202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Introduction</a:t>
            </a:r>
            <a:endParaRPr lang="en-US" sz="1600" dirty="0"/>
          </a:p>
        </p:txBody>
      </p:sp>
      <p:sp>
        <p:nvSpPr>
          <p:cNvPr id="4" name="Text 2"/>
          <p:cNvSpPr/>
          <p:nvPr/>
        </p:nvSpPr>
        <p:spPr>
          <a:xfrm>
            <a:off x="25603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Why Image Compression?</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sp>
        <p:nvSpPr>
          <p:cNvPr id="6" name="Shape 4"/>
          <p:cNvSpPr/>
          <p:nvPr/>
        </p:nvSpPr>
        <p:spPr>
          <a:xfrm>
            <a:off x="640080" y="1371600"/>
            <a:ext cx="3520440" cy="3291840"/>
          </a:xfrm>
          <a:prstGeom prst="roundRect">
            <a:avLst>
              <a:gd name="adj" fmla="val 2778"/>
            </a:avLst>
          </a:prstGeom>
          <a:solidFill>
            <a:srgbClr val="FFFFFF"/>
          </a:solidFill>
          <a:ln w="22225">
            <a:solidFill>
              <a:srgbClr val="6B4FA3"/>
            </a:solidFill>
            <a:prstDash val="solid"/>
          </a:ln>
        </p:spPr>
      </p:sp>
      <p:sp>
        <p:nvSpPr>
          <p:cNvPr id="7" name="Shape 5"/>
          <p:cNvSpPr/>
          <p:nvPr/>
        </p:nvSpPr>
        <p:spPr>
          <a:xfrm>
            <a:off x="658368" y="1389888"/>
            <a:ext cx="109728" cy="3255264"/>
          </a:xfrm>
          <a:prstGeom prst="rect">
            <a:avLst/>
          </a:prstGeom>
          <a:solidFill>
            <a:srgbClr val="6B4FA3"/>
          </a:solidFill>
          <a:ln w="12700">
            <a:solidFill>
              <a:srgbClr val="6B4FA3"/>
            </a:solidFill>
            <a:prstDash val="solid"/>
          </a:ln>
        </p:spPr>
      </p:sp>
      <p:sp>
        <p:nvSpPr>
          <p:cNvPr id="8" name="Text 6"/>
          <p:cNvSpPr/>
          <p:nvPr/>
        </p:nvSpPr>
        <p:spPr>
          <a:xfrm>
            <a:off x="914400" y="1417320"/>
            <a:ext cx="3108960" cy="3200400"/>
          </a:xfrm>
          <a:prstGeom prst="rect">
            <a:avLst/>
          </a:prstGeom>
          <a:noFill/>
          <a:ln/>
        </p:spPr>
        <p:txBody>
          <a:bodyPr wrap="square" lIns="635" tIns="635" rIns="635" bIns="635" rtlCol="0" anchor="ctr"/>
          <a:lstStyle/>
          <a:p>
            <a:pPr indent="0" marL="0">
              <a:spcAft>
                <a:spcPts val="600"/>
              </a:spcAft>
              <a:buNone/>
            </a:pPr>
            <a:r>
              <a:rPr lang="en-US" sz="2400" b="1" dirty="0">
                <a:solidFill>
                  <a:srgbClr val="6B4FA3"/>
                </a:solidFill>
                <a:latin typeface="Calibri" pitchFamily="34" charset="0"/>
                <a:ea typeface="Calibri" pitchFamily="34" charset="-122"/>
                <a:cs typeface="Calibri" pitchFamily="34" charset="-120"/>
              </a:rPr>
              <a:t>Storage</a:t>
            </a:r>
            <a:endParaRPr lang="en-US" sz="2400" dirty="0"/>
          </a:p>
          <a:p>
            <a:pPr indent="0" marL="0">
              <a:spcAft>
                <a:spcPts val="600"/>
              </a:spcAft>
              <a:buNone/>
            </a:pPr>
            <a:r>
              <a:rPr lang="en-US" sz="1800" dirty="0">
                <a:solidFill>
                  <a:srgbClr val="1F1A33"/>
                </a:solidFill>
                <a:latin typeface="Calibri" pitchFamily="34" charset="0"/>
                <a:ea typeface="Calibri" pitchFamily="34" charset="-122"/>
                <a:cs typeface="Calibri" pitchFamily="34" charset="-120"/>
              </a:rPr>
              <a:t>Large image collections require a large amount of storage space.</a:t>
            </a:r>
            <a:endParaRPr lang="en-US" sz="2400" dirty="0"/>
          </a:p>
        </p:txBody>
      </p:sp>
      <p:sp>
        <p:nvSpPr>
          <p:cNvPr id="9" name="Shape 7"/>
          <p:cNvSpPr/>
          <p:nvPr/>
        </p:nvSpPr>
        <p:spPr>
          <a:xfrm>
            <a:off x="4343400" y="1371600"/>
            <a:ext cx="3520440" cy="3291840"/>
          </a:xfrm>
          <a:prstGeom prst="roundRect">
            <a:avLst>
              <a:gd name="adj" fmla="val 2778"/>
            </a:avLst>
          </a:prstGeom>
          <a:solidFill>
            <a:srgbClr val="FFFFFF"/>
          </a:solidFill>
          <a:ln w="22225">
            <a:solidFill>
              <a:srgbClr val="E0457B"/>
            </a:solidFill>
            <a:prstDash val="solid"/>
          </a:ln>
        </p:spPr>
      </p:sp>
      <p:sp>
        <p:nvSpPr>
          <p:cNvPr id="10" name="Shape 8"/>
          <p:cNvSpPr/>
          <p:nvPr/>
        </p:nvSpPr>
        <p:spPr>
          <a:xfrm>
            <a:off x="4361688" y="1389888"/>
            <a:ext cx="109728" cy="3255264"/>
          </a:xfrm>
          <a:prstGeom prst="rect">
            <a:avLst/>
          </a:prstGeom>
          <a:solidFill>
            <a:srgbClr val="E0457B"/>
          </a:solidFill>
          <a:ln w="12700">
            <a:solidFill>
              <a:srgbClr val="E0457B"/>
            </a:solidFill>
            <a:prstDash val="solid"/>
          </a:ln>
        </p:spPr>
      </p:sp>
      <p:sp>
        <p:nvSpPr>
          <p:cNvPr id="11" name="Text 9"/>
          <p:cNvSpPr/>
          <p:nvPr/>
        </p:nvSpPr>
        <p:spPr>
          <a:xfrm>
            <a:off x="4617720" y="1417320"/>
            <a:ext cx="3108960" cy="3200400"/>
          </a:xfrm>
          <a:prstGeom prst="rect">
            <a:avLst/>
          </a:prstGeom>
          <a:noFill/>
          <a:ln/>
        </p:spPr>
        <p:txBody>
          <a:bodyPr wrap="square" lIns="635" tIns="635" rIns="635" bIns="635" rtlCol="0" anchor="ctr"/>
          <a:lstStyle/>
          <a:p>
            <a:pPr indent="0" marL="0">
              <a:spcAft>
                <a:spcPts val="600"/>
              </a:spcAft>
              <a:buNone/>
            </a:pPr>
            <a:r>
              <a:rPr lang="en-US" sz="2400" b="1" dirty="0">
                <a:solidFill>
                  <a:srgbClr val="E0457B"/>
                </a:solidFill>
                <a:latin typeface="Calibri" pitchFamily="34" charset="0"/>
                <a:ea typeface="Calibri" pitchFamily="34" charset="-122"/>
                <a:cs typeface="Calibri" pitchFamily="34" charset="-120"/>
              </a:rPr>
              <a:t>Transmission</a:t>
            </a:r>
            <a:endParaRPr lang="en-US" sz="2400" dirty="0"/>
          </a:p>
          <a:p>
            <a:pPr indent="0" marL="0">
              <a:spcAft>
                <a:spcPts val="600"/>
              </a:spcAft>
              <a:buNone/>
            </a:pPr>
            <a:r>
              <a:rPr lang="en-US" sz="1800" dirty="0">
                <a:solidFill>
                  <a:srgbClr val="1F1A33"/>
                </a:solidFill>
                <a:latin typeface="Calibri" pitchFamily="34" charset="0"/>
                <a:ea typeface="Calibri" pitchFamily="34" charset="-122"/>
                <a:cs typeface="Calibri" pitchFamily="34" charset="-120"/>
              </a:rPr>
              <a:t>Smaller images reach the receiver sooner and use less network bandwidth.</a:t>
            </a:r>
            <a:endParaRPr lang="en-US" sz="2400" dirty="0"/>
          </a:p>
        </p:txBody>
      </p:sp>
      <p:sp>
        <p:nvSpPr>
          <p:cNvPr id="12" name="Shape 10"/>
          <p:cNvSpPr/>
          <p:nvPr/>
        </p:nvSpPr>
        <p:spPr>
          <a:xfrm>
            <a:off x="8046720" y="1371600"/>
            <a:ext cx="3520440" cy="3291840"/>
          </a:xfrm>
          <a:prstGeom prst="roundRect">
            <a:avLst>
              <a:gd name="adj" fmla="val 2778"/>
            </a:avLst>
          </a:prstGeom>
          <a:solidFill>
            <a:srgbClr val="FFFFFF"/>
          </a:solidFill>
          <a:ln w="22225">
            <a:solidFill>
              <a:srgbClr val="2A9D8F"/>
            </a:solidFill>
            <a:prstDash val="solid"/>
          </a:ln>
        </p:spPr>
      </p:sp>
      <p:sp>
        <p:nvSpPr>
          <p:cNvPr id="13" name="Shape 11"/>
          <p:cNvSpPr/>
          <p:nvPr/>
        </p:nvSpPr>
        <p:spPr>
          <a:xfrm>
            <a:off x="8065008" y="1389888"/>
            <a:ext cx="109728" cy="3255264"/>
          </a:xfrm>
          <a:prstGeom prst="rect">
            <a:avLst/>
          </a:prstGeom>
          <a:solidFill>
            <a:srgbClr val="2A9D8F"/>
          </a:solidFill>
          <a:ln w="12700">
            <a:solidFill>
              <a:srgbClr val="2A9D8F"/>
            </a:solidFill>
            <a:prstDash val="solid"/>
          </a:ln>
        </p:spPr>
      </p:sp>
      <p:sp>
        <p:nvSpPr>
          <p:cNvPr id="14" name="Text 12"/>
          <p:cNvSpPr/>
          <p:nvPr/>
        </p:nvSpPr>
        <p:spPr>
          <a:xfrm>
            <a:off x="8321040" y="1417320"/>
            <a:ext cx="3108960" cy="3200400"/>
          </a:xfrm>
          <a:prstGeom prst="rect">
            <a:avLst/>
          </a:prstGeom>
          <a:noFill/>
          <a:ln/>
        </p:spPr>
        <p:txBody>
          <a:bodyPr wrap="square" lIns="635" tIns="635" rIns="635" bIns="635" rtlCol="0" anchor="ctr"/>
          <a:lstStyle/>
          <a:p>
            <a:pPr indent="0" marL="0">
              <a:spcAft>
                <a:spcPts val="600"/>
              </a:spcAft>
              <a:buNone/>
            </a:pPr>
            <a:r>
              <a:rPr lang="en-US" sz="2400" b="1" dirty="0">
                <a:solidFill>
                  <a:srgbClr val="2A9D8F"/>
                </a:solidFill>
                <a:latin typeface="Calibri" pitchFamily="34" charset="0"/>
                <a:ea typeface="Calibri" pitchFamily="34" charset="-122"/>
                <a:cs typeface="Calibri" pitchFamily="34" charset="-120"/>
              </a:rPr>
              <a:t>Computation</a:t>
            </a:r>
            <a:endParaRPr lang="en-US" sz="2400" dirty="0"/>
          </a:p>
          <a:p>
            <a:pPr indent="0" marL="0">
              <a:spcAft>
                <a:spcPts val="600"/>
              </a:spcAft>
              <a:buNone/>
            </a:pPr>
            <a:r>
              <a:rPr lang="en-US" sz="1800" dirty="0">
                <a:solidFill>
                  <a:srgbClr val="1F1A33"/>
                </a:solidFill>
                <a:latin typeface="Calibri" pitchFamily="34" charset="0"/>
                <a:ea typeface="Calibri" pitchFamily="34" charset="-122"/>
                <a:cs typeface="Calibri" pitchFamily="34" charset="-120"/>
              </a:rPr>
              <a:t>A good compression ratio needs complex methods, so the compression itself must stay fast.</a:t>
            </a:r>
            <a:endParaRPr lang="en-US" sz="2400" dirty="0"/>
          </a:p>
        </p:txBody>
      </p:sp>
      <p:sp>
        <p:nvSpPr>
          <p:cNvPr id="15" name="Text 13"/>
          <p:cNvSpPr/>
          <p:nvPr/>
        </p:nvSpPr>
        <p:spPr>
          <a:xfrm>
            <a:off x="640080" y="5074920"/>
            <a:ext cx="10881360" cy="640080"/>
          </a:xfrm>
          <a:prstGeom prst="rect">
            <a:avLst/>
          </a:prstGeom>
          <a:noFill/>
          <a:ln/>
        </p:spPr>
        <p:txBody>
          <a:bodyPr wrap="square" lIns="0" tIns="0" rIns="0" bIns="0" rtlCol="0" anchor="ctr"/>
          <a:lstStyle/>
          <a:p>
            <a:pPr algn="ctr" indent="0" marL="0">
              <a:buNone/>
            </a:pPr>
            <a:r>
              <a:rPr lang="en-US" sz="2200" i="1" dirty="0">
                <a:solidFill>
                  <a:srgbClr val="2E2055"/>
                </a:solidFill>
                <a:latin typeface="Cambria" pitchFamily="34" charset="0"/>
                <a:ea typeface="Cambria" pitchFamily="34" charset="-122"/>
                <a:cs typeface="Cambria" pitchFamily="34" charset="-120"/>
              </a:rPr>
              <a:t>Image compression reduces the amount of data needed to represent an image.</a:t>
            </a:r>
            <a:endParaRPr lang="en-US" sz="2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9202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19202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Introduction</a:t>
            </a:r>
            <a:endParaRPr lang="en-US" sz="1600" dirty="0"/>
          </a:p>
        </p:txBody>
      </p:sp>
      <p:sp>
        <p:nvSpPr>
          <p:cNvPr id="4" name="Text 2"/>
          <p:cNvSpPr/>
          <p:nvPr/>
        </p:nvSpPr>
        <p:spPr>
          <a:xfrm>
            <a:off x="25603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Lossless and Lossy Compression</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sp>
        <p:nvSpPr>
          <p:cNvPr id="6" name="Shape 4"/>
          <p:cNvSpPr/>
          <p:nvPr/>
        </p:nvSpPr>
        <p:spPr>
          <a:xfrm>
            <a:off x="640080" y="1371600"/>
            <a:ext cx="5394960" cy="3017520"/>
          </a:xfrm>
          <a:prstGeom prst="roundRect">
            <a:avLst>
              <a:gd name="adj" fmla="val 3030"/>
            </a:avLst>
          </a:prstGeom>
          <a:solidFill>
            <a:srgbClr val="FFFFFF"/>
          </a:solidFill>
          <a:ln w="22225">
            <a:solidFill>
              <a:srgbClr val="2A9D8F"/>
            </a:solidFill>
            <a:prstDash val="solid"/>
          </a:ln>
        </p:spPr>
      </p:sp>
      <p:sp>
        <p:nvSpPr>
          <p:cNvPr id="7" name="Shape 5"/>
          <p:cNvSpPr/>
          <p:nvPr/>
        </p:nvSpPr>
        <p:spPr>
          <a:xfrm>
            <a:off x="658368" y="1389888"/>
            <a:ext cx="109728" cy="2980944"/>
          </a:xfrm>
          <a:prstGeom prst="rect">
            <a:avLst/>
          </a:prstGeom>
          <a:solidFill>
            <a:srgbClr val="2A9D8F"/>
          </a:solidFill>
          <a:ln w="12700">
            <a:solidFill>
              <a:srgbClr val="2A9D8F"/>
            </a:solidFill>
            <a:prstDash val="solid"/>
          </a:ln>
        </p:spPr>
      </p:sp>
      <p:sp>
        <p:nvSpPr>
          <p:cNvPr id="8" name="Text 6"/>
          <p:cNvSpPr/>
          <p:nvPr/>
        </p:nvSpPr>
        <p:spPr>
          <a:xfrm>
            <a:off x="914400" y="1417320"/>
            <a:ext cx="4983480" cy="2926080"/>
          </a:xfrm>
          <a:prstGeom prst="rect">
            <a:avLst/>
          </a:prstGeom>
          <a:noFill/>
          <a:ln/>
        </p:spPr>
        <p:txBody>
          <a:bodyPr wrap="square" lIns="635" tIns="635" rIns="635" bIns="635" rtlCol="0" anchor="ctr"/>
          <a:lstStyle/>
          <a:p>
            <a:pPr indent="0" marL="0">
              <a:spcAft>
                <a:spcPts val="600"/>
              </a:spcAft>
              <a:buNone/>
            </a:pPr>
            <a:r>
              <a:rPr lang="en-US" sz="2600" b="1" dirty="0">
                <a:solidFill>
                  <a:srgbClr val="2A9D8F"/>
                </a:solidFill>
                <a:latin typeface="Calibri" pitchFamily="34" charset="0"/>
                <a:ea typeface="Calibri" pitchFamily="34" charset="-122"/>
                <a:cs typeface="Calibri" pitchFamily="34" charset="-120"/>
              </a:rPr>
              <a:t>Lossless</a:t>
            </a:r>
            <a:endParaRPr lang="en-US" sz="2600" dirty="0"/>
          </a:p>
          <a:p>
            <a:pPr indent="0" marL="0">
              <a:spcAft>
                <a:spcPts val="600"/>
              </a:spcAft>
              <a:buNone/>
            </a:pPr>
            <a:r>
              <a:rPr lang="en-US" sz="1900" dirty="0">
                <a:solidFill>
                  <a:srgbClr val="1F1A33"/>
                </a:solidFill>
                <a:latin typeface="Calibri" pitchFamily="34" charset="0"/>
                <a:ea typeface="Calibri" pitchFamily="34" charset="-122"/>
                <a:cs typeface="Calibri" pitchFamily="34" charset="-120"/>
              </a:rPr>
              <a:t>The original image is recovered exactly. Examples: RLE, Huffman, LZW.</a:t>
            </a:r>
            <a:endParaRPr lang="en-US" sz="2600" dirty="0"/>
          </a:p>
        </p:txBody>
      </p:sp>
      <p:sp>
        <p:nvSpPr>
          <p:cNvPr id="9" name="Shape 7"/>
          <p:cNvSpPr/>
          <p:nvPr/>
        </p:nvSpPr>
        <p:spPr>
          <a:xfrm>
            <a:off x="6172200" y="1371600"/>
            <a:ext cx="5394960" cy="3017520"/>
          </a:xfrm>
          <a:prstGeom prst="roundRect">
            <a:avLst>
              <a:gd name="adj" fmla="val 3030"/>
            </a:avLst>
          </a:prstGeom>
          <a:solidFill>
            <a:srgbClr val="FFFFFF"/>
          </a:solidFill>
          <a:ln w="22225">
            <a:solidFill>
              <a:srgbClr val="E07B22"/>
            </a:solidFill>
            <a:prstDash val="solid"/>
          </a:ln>
        </p:spPr>
      </p:sp>
      <p:sp>
        <p:nvSpPr>
          <p:cNvPr id="10" name="Shape 8"/>
          <p:cNvSpPr/>
          <p:nvPr/>
        </p:nvSpPr>
        <p:spPr>
          <a:xfrm>
            <a:off x="6190488" y="1389888"/>
            <a:ext cx="109728" cy="2980944"/>
          </a:xfrm>
          <a:prstGeom prst="rect">
            <a:avLst/>
          </a:prstGeom>
          <a:solidFill>
            <a:srgbClr val="E07B22"/>
          </a:solidFill>
          <a:ln w="12700">
            <a:solidFill>
              <a:srgbClr val="E07B22"/>
            </a:solidFill>
            <a:prstDash val="solid"/>
          </a:ln>
        </p:spPr>
      </p:sp>
      <p:sp>
        <p:nvSpPr>
          <p:cNvPr id="11" name="Text 9"/>
          <p:cNvSpPr/>
          <p:nvPr/>
        </p:nvSpPr>
        <p:spPr>
          <a:xfrm>
            <a:off x="6446520" y="1417320"/>
            <a:ext cx="4983480" cy="2926080"/>
          </a:xfrm>
          <a:prstGeom prst="rect">
            <a:avLst/>
          </a:prstGeom>
          <a:noFill/>
          <a:ln/>
        </p:spPr>
        <p:txBody>
          <a:bodyPr wrap="square" lIns="635" tIns="635" rIns="635" bIns="635" rtlCol="0" anchor="ctr"/>
          <a:lstStyle/>
          <a:p>
            <a:pPr indent="0" marL="0">
              <a:spcAft>
                <a:spcPts val="600"/>
              </a:spcAft>
              <a:buNone/>
            </a:pPr>
            <a:r>
              <a:rPr lang="en-US" sz="2600" b="1" dirty="0">
                <a:solidFill>
                  <a:srgbClr val="E07B22"/>
                </a:solidFill>
                <a:latin typeface="Calibri" pitchFamily="34" charset="0"/>
                <a:ea typeface="Calibri" pitchFamily="34" charset="-122"/>
                <a:cs typeface="Calibri" pitchFamily="34" charset="-120"/>
              </a:rPr>
              <a:t>Lossy</a:t>
            </a:r>
            <a:endParaRPr lang="en-US" sz="2600" dirty="0"/>
          </a:p>
          <a:p>
            <a:pPr indent="0" marL="0">
              <a:spcAft>
                <a:spcPts val="600"/>
              </a:spcAft>
              <a:buNone/>
            </a:pPr>
            <a:r>
              <a:rPr lang="en-US" sz="1900" dirty="0">
                <a:solidFill>
                  <a:srgbClr val="1F1A33"/>
                </a:solidFill>
                <a:latin typeface="Calibri" pitchFamily="34" charset="0"/>
                <a:ea typeface="Calibri" pitchFamily="34" charset="-122"/>
                <a:cs typeface="Calibri" pitchFamily="34" charset="-120"/>
              </a:rPr>
              <a:t>Some information is discarded to reach a higher compression ratio. Examples: VQ, DCT, DWT.</a:t>
            </a:r>
            <a:endParaRPr lang="en-US" sz="2600" dirty="0"/>
          </a:p>
        </p:txBody>
      </p:sp>
      <p:sp>
        <p:nvSpPr>
          <p:cNvPr id="12" name="Shape 10"/>
          <p:cNvSpPr/>
          <p:nvPr/>
        </p:nvSpPr>
        <p:spPr>
          <a:xfrm>
            <a:off x="640080" y="4709160"/>
            <a:ext cx="10927080" cy="1188720"/>
          </a:xfrm>
          <a:prstGeom prst="roundRect">
            <a:avLst>
              <a:gd name="adj" fmla="val 7692"/>
            </a:avLst>
          </a:prstGeom>
          <a:solidFill>
            <a:srgbClr val="F5F1FB"/>
          </a:solidFill>
          <a:ln w="19050">
            <a:solidFill>
              <a:srgbClr val="6B4FA3"/>
            </a:solidFill>
            <a:prstDash val="solid"/>
          </a:ln>
        </p:spPr>
      </p:sp>
      <p:sp>
        <p:nvSpPr>
          <p:cNvPr id="13" name="Text 11"/>
          <p:cNvSpPr/>
          <p:nvPr/>
        </p:nvSpPr>
        <p:spPr>
          <a:xfrm>
            <a:off x="822960" y="4709160"/>
            <a:ext cx="10561320" cy="1188720"/>
          </a:xfrm>
          <a:prstGeom prst="rect">
            <a:avLst/>
          </a:prstGeom>
          <a:noFill/>
          <a:ln/>
        </p:spPr>
        <p:txBody>
          <a:bodyPr wrap="square" lIns="0" tIns="0" rIns="0" bIns="0" rtlCol="0" anchor="ctr"/>
          <a:lstStyle/>
          <a:p>
            <a:pPr indent="0" marL="0">
              <a:buNone/>
            </a:pPr>
            <a:r>
              <a:rPr lang="en-US" sz="2100" b="1" dirty="0">
                <a:solidFill>
                  <a:srgbClr val="E0457B"/>
                </a:solidFill>
                <a:latin typeface="Calibri" pitchFamily="34" charset="0"/>
                <a:ea typeface="Calibri" pitchFamily="34" charset="-122"/>
                <a:cs typeface="Calibri" pitchFamily="34" charset="-120"/>
              </a:rPr>
              <a:t>This work: </a:t>
            </a:r>
            <a:pPr indent="0" marL="0">
              <a:buNone/>
            </a:pPr>
            <a:r>
              <a:rPr lang="en-US" sz="2100" dirty="0">
                <a:solidFill>
                  <a:srgbClr val="1F1A33"/>
                </a:solidFill>
                <a:latin typeface="Calibri" pitchFamily="34" charset="0"/>
                <a:ea typeface="Calibri" pitchFamily="34" charset="-122"/>
                <a:cs typeface="Calibri" pitchFamily="34" charset="-120"/>
              </a:rPr>
              <a:t>lossy LBG vector quantization, followed by lossless delta coding and Huffman coding.</a:t>
            </a:r>
            <a:endParaRPr lang="en-US" sz="2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9202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19202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Introduction</a:t>
            </a:r>
            <a:endParaRPr lang="en-US" sz="1600" dirty="0"/>
          </a:p>
        </p:txBody>
      </p:sp>
      <p:sp>
        <p:nvSpPr>
          <p:cNvPr id="4" name="Text 2"/>
          <p:cNvSpPr/>
          <p:nvPr/>
        </p:nvSpPr>
        <p:spPr>
          <a:xfrm>
            <a:off x="25603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Parallel Processing in Image Compression</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sp>
        <p:nvSpPr>
          <p:cNvPr id="6" name="Text 4"/>
          <p:cNvSpPr/>
          <p:nvPr/>
        </p:nvSpPr>
        <p:spPr>
          <a:xfrm>
            <a:off x="640080" y="1280160"/>
            <a:ext cx="10881360" cy="914400"/>
          </a:xfrm>
          <a:prstGeom prst="rect">
            <a:avLst/>
          </a:prstGeom>
          <a:noFill/>
          <a:ln/>
        </p:spPr>
        <p:txBody>
          <a:bodyPr wrap="square" lIns="0" tIns="0" rIns="0" bIns="0" rtlCol="0" anchor="ctr"/>
          <a:lstStyle/>
          <a:p>
            <a:pPr indent="0" marL="0">
              <a:buNone/>
            </a:pPr>
            <a:r>
              <a:rPr lang="en-US" sz="2400" i="1" dirty="0">
                <a:solidFill>
                  <a:srgbClr val="2E2055"/>
                </a:solidFill>
                <a:latin typeface="Cambria" pitchFamily="34" charset="0"/>
                <a:ea typeface="Cambria" pitchFamily="34" charset="-122"/>
                <a:cs typeface="Cambria" pitchFamily="34" charset="-120"/>
              </a:rPr>
              <a:t>Parallel processing improves processing speed and efficiency when handling large data.</a:t>
            </a:r>
            <a:endParaRPr lang="en-US" sz="2400" dirty="0"/>
          </a:p>
        </p:txBody>
      </p:sp>
      <p:sp>
        <p:nvSpPr>
          <p:cNvPr id="7" name="Shape 5"/>
          <p:cNvSpPr/>
          <p:nvPr/>
        </p:nvSpPr>
        <p:spPr>
          <a:xfrm>
            <a:off x="640080" y="2468880"/>
            <a:ext cx="3520440" cy="3108960"/>
          </a:xfrm>
          <a:prstGeom prst="roundRect">
            <a:avLst>
              <a:gd name="adj" fmla="val 2941"/>
            </a:avLst>
          </a:prstGeom>
          <a:solidFill>
            <a:srgbClr val="FFFFFF"/>
          </a:solidFill>
          <a:ln w="22225">
            <a:solidFill>
              <a:srgbClr val="E07B22"/>
            </a:solidFill>
            <a:prstDash val="solid"/>
          </a:ln>
        </p:spPr>
      </p:sp>
      <p:sp>
        <p:nvSpPr>
          <p:cNvPr id="8" name="Shape 6"/>
          <p:cNvSpPr/>
          <p:nvPr/>
        </p:nvSpPr>
        <p:spPr>
          <a:xfrm>
            <a:off x="658368" y="2487168"/>
            <a:ext cx="109728" cy="3072384"/>
          </a:xfrm>
          <a:prstGeom prst="rect">
            <a:avLst/>
          </a:prstGeom>
          <a:solidFill>
            <a:srgbClr val="E07B22"/>
          </a:solidFill>
          <a:ln w="12700">
            <a:solidFill>
              <a:srgbClr val="E07B22"/>
            </a:solidFill>
            <a:prstDash val="solid"/>
          </a:ln>
        </p:spPr>
      </p:sp>
      <p:sp>
        <p:nvSpPr>
          <p:cNvPr id="9" name="Text 7"/>
          <p:cNvSpPr/>
          <p:nvPr/>
        </p:nvSpPr>
        <p:spPr>
          <a:xfrm>
            <a:off x="914400" y="2514600"/>
            <a:ext cx="3108960" cy="3017520"/>
          </a:xfrm>
          <a:prstGeom prst="rect">
            <a:avLst/>
          </a:prstGeom>
          <a:noFill/>
          <a:ln/>
        </p:spPr>
        <p:txBody>
          <a:bodyPr wrap="square" lIns="635" tIns="635" rIns="635" bIns="635" rtlCol="0" anchor="ctr"/>
          <a:lstStyle/>
          <a:p>
            <a:pPr indent="0" marL="0">
              <a:spcAft>
                <a:spcPts val="600"/>
              </a:spcAft>
              <a:buNone/>
            </a:pPr>
            <a:r>
              <a:rPr lang="en-US" sz="2200" b="1" dirty="0">
                <a:solidFill>
                  <a:srgbClr val="E07B22"/>
                </a:solidFill>
                <a:latin typeface="Calibri" pitchFamily="34" charset="0"/>
                <a:ea typeface="Calibri" pitchFamily="34" charset="-122"/>
                <a:cs typeface="Calibri" pitchFamily="34" charset="-120"/>
              </a:rPr>
              <a:t>LBG training dominates</a:t>
            </a:r>
            <a:endParaRPr lang="en-US" sz="2200" dirty="0"/>
          </a:p>
          <a:p>
            <a:pPr indent="0" marL="0">
              <a:spcAft>
                <a:spcPts val="600"/>
              </a:spcAft>
              <a:buNone/>
            </a:pPr>
            <a:r>
              <a:rPr lang="en-US" sz="1700" dirty="0">
                <a:solidFill>
                  <a:srgbClr val="1F1A33"/>
                </a:solidFill>
                <a:latin typeface="Calibri" pitchFamily="34" charset="0"/>
                <a:ea typeface="Calibri" pitchFamily="34" charset="-122"/>
                <a:cs typeface="Calibri" pitchFamily="34" charset="-120"/>
              </a:rPr>
              <a:t>In the sequential program it takes about 77% (gray) and 81% (color) of the total time.</a:t>
            </a:r>
            <a:endParaRPr lang="en-US" sz="2200" dirty="0"/>
          </a:p>
        </p:txBody>
      </p:sp>
      <p:sp>
        <p:nvSpPr>
          <p:cNvPr id="10" name="Shape 8"/>
          <p:cNvSpPr/>
          <p:nvPr/>
        </p:nvSpPr>
        <p:spPr>
          <a:xfrm>
            <a:off x="4343400" y="2468880"/>
            <a:ext cx="3520440" cy="3108960"/>
          </a:xfrm>
          <a:prstGeom prst="roundRect">
            <a:avLst>
              <a:gd name="adj" fmla="val 2941"/>
            </a:avLst>
          </a:prstGeom>
          <a:solidFill>
            <a:srgbClr val="FFFFFF"/>
          </a:solidFill>
          <a:ln w="22225">
            <a:solidFill>
              <a:srgbClr val="6B4FA3"/>
            </a:solidFill>
            <a:prstDash val="solid"/>
          </a:ln>
        </p:spPr>
      </p:sp>
      <p:sp>
        <p:nvSpPr>
          <p:cNvPr id="11" name="Shape 9"/>
          <p:cNvSpPr/>
          <p:nvPr/>
        </p:nvSpPr>
        <p:spPr>
          <a:xfrm>
            <a:off x="4361688" y="2487168"/>
            <a:ext cx="109728" cy="3072384"/>
          </a:xfrm>
          <a:prstGeom prst="rect">
            <a:avLst/>
          </a:prstGeom>
          <a:solidFill>
            <a:srgbClr val="6B4FA3"/>
          </a:solidFill>
          <a:ln w="12700">
            <a:solidFill>
              <a:srgbClr val="6B4FA3"/>
            </a:solidFill>
            <a:prstDash val="solid"/>
          </a:ln>
        </p:spPr>
      </p:sp>
      <p:sp>
        <p:nvSpPr>
          <p:cNvPr id="12" name="Text 10"/>
          <p:cNvSpPr/>
          <p:nvPr/>
        </p:nvSpPr>
        <p:spPr>
          <a:xfrm>
            <a:off x="4617720" y="2514600"/>
            <a:ext cx="3108960" cy="3017520"/>
          </a:xfrm>
          <a:prstGeom prst="rect">
            <a:avLst/>
          </a:prstGeom>
          <a:noFill/>
          <a:ln/>
        </p:spPr>
        <p:txBody>
          <a:bodyPr wrap="square" lIns="635" tIns="635" rIns="635" bIns="635" rtlCol="0" anchor="ctr"/>
          <a:lstStyle/>
          <a:p>
            <a:pPr indent="0" marL="0">
              <a:spcAft>
                <a:spcPts val="600"/>
              </a:spcAft>
              <a:buNone/>
            </a:pPr>
            <a:r>
              <a:rPr lang="en-US" sz="2200" b="1" dirty="0">
                <a:solidFill>
                  <a:srgbClr val="6B4FA3"/>
                </a:solidFill>
                <a:latin typeface="Calibri" pitchFamily="34" charset="0"/>
                <a:ea typeface="Calibri" pitchFamily="34" charset="-122"/>
                <a:cs typeface="Calibri" pitchFamily="34" charset="-120"/>
              </a:rPr>
              <a:t>Data-parallel</a:t>
            </a:r>
            <a:endParaRPr lang="en-US" sz="2200" dirty="0"/>
          </a:p>
          <a:p>
            <a:pPr indent="0" marL="0">
              <a:spcAft>
                <a:spcPts val="600"/>
              </a:spcAft>
              <a:buNone/>
            </a:pPr>
            <a:r>
              <a:rPr lang="en-US" sz="1700" dirty="0">
                <a:solidFill>
                  <a:srgbClr val="1F1A33"/>
                </a:solidFill>
                <a:latin typeface="Calibri" pitchFamily="34" charset="0"/>
                <a:ea typeface="Calibri" pitchFamily="34" charset="-122"/>
                <a:cs typeface="Calibri" pitchFamily="34" charset="-120"/>
              </a:rPr>
              <a:t>Each training vector is assigned to its nearest codeword independently, so the work can be split across processes.</a:t>
            </a:r>
            <a:endParaRPr lang="en-US" sz="2200" dirty="0"/>
          </a:p>
        </p:txBody>
      </p:sp>
      <p:sp>
        <p:nvSpPr>
          <p:cNvPr id="13" name="Shape 11"/>
          <p:cNvSpPr/>
          <p:nvPr/>
        </p:nvSpPr>
        <p:spPr>
          <a:xfrm>
            <a:off x="8046720" y="2468880"/>
            <a:ext cx="3520440" cy="3108960"/>
          </a:xfrm>
          <a:prstGeom prst="roundRect">
            <a:avLst>
              <a:gd name="adj" fmla="val 2941"/>
            </a:avLst>
          </a:prstGeom>
          <a:solidFill>
            <a:srgbClr val="FFFFFF"/>
          </a:solidFill>
          <a:ln w="22225">
            <a:solidFill>
              <a:srgbClr val="2A9D8F"/>
            </a:solidFill>
            <a:prstDash val="solid"/>
          </a:ln>
        </p:spPr>
      </p:sp>
      <p:sp>
        <p:nvSpPr>
          <p:cNvPr id="14" name="Shape 12"/>
          <p:cNvSpPr/>
          <p:nvPr/>
        </p:nvSpPr>
        <p:spPr>
          <a:xfrm>
            <a:off x="8065008" y="2487168"/>
            <a:ext cx="109728" cy="3072384"/>
          </a:xfrm>
          <a:prstGeom prst="rect">
            <a:avLst/>
          </a:prstGeom>
          <a:solidFill>
            <a:srgbClr val="2A9D8F"/>
          </a:solidFill>
          <a:ln w="12700">
            <a:solidFill>
              <a:srgbClr val="2A9D8F"/>
            </a:solidFill>
            <a:prstDash val="solid"/>
          </a:ln>
        </p:spPr>
      </p:sp>
      <p:sp>
        <p:nvSpPr>
          <p:cNvPr id="15" name="Text 13"/>
          <p:cNvSpPr/>
          <p:nvPr/>
        </p:nvSpPr>
        <p:spPr>
          <a:xfrm>
            <a:off x="8321040" y="2514600"/>
            <a:ext cx="3108960" cy="3017520"/>
          </a:xfrm>
          <a:prstGeom prst="rect">
            <a:avLst/>
          </a:prstGeom>
          <a:noFill/>
          <a:ln/>
        </p:spPr>
        <p:txBody>
          <a:bodyPr wrap="square" lIns="635" tIns="635" rIns="635" bIns="635" rtlCol="0" anchor="ctr"/>
          <a:lstStyle/>
          <a:p>
            <a:pPr indent="0" marL="0">
              <a:spcAft>
                <a:spcPts val="600"/>
              </a:spcAft>
              <a:buNone/>
            </a:pPr>
            <a:r>
              <a:rPr lang="en-US" sz="2200" b="1" dirty="0">
                <a:solidFill>
                  <a:srgbClr val="2A9D8F"/>
                </a:solidFill>
                <a:latin typeface="Calibri" pitchFamily="34" charset="0"/>
                <a:ea typeface="Calibri" pitchFamily="34" charset="-122"/>
                <a:cs typeface="Calibri" pitchFamily="34" charset="-120"/>
              </a:rPr>
              <a:t>Hybrid CPU</a:t>
            </a:r>
            <a:endParaRPr lang="en-US" sz="2200" dirty="0"/>
          </a:p>
          <a:p>
            <a:pPr indent="0" marL="0">
              <a:spcAft>
                <a:spcPts val="600"/>
              </a:spcAft>
              <a:buNone/>
            </a:pPr>
            <a:r>
              <a:rPr lang="en-US" sz="1700" dirty="0">
                <a:solidFill>
                  <a:srgbClr val="1F1A33"/>
                </a:solidFill>
                <a:latin typeface="Calibri" pitchFamily="34" charset="0"/>
                <a:ea typeface="Calibri" pitchFamily="34" charset="-122"/>
                <a:cs typeface="Calibri" pitchFamily="34" charset="-120"/>
              </a:rPr>
              <a:t>P-cores and E-cores have different speeds, so an equal split can leave fast cores waiting.</a:t>
            </a:r>
            <a:endParaRPr lang="en-US"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3774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23774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Literature Review</a:t>
            </a:r>
            <a:endParaRPr lang="en-US" sz="1600" dirty="0"/>
          </a:p>
        </p:txBody>
      </p:sp>
      <p:sp>
        <p:nvSpPr>
          <p:cNvPr id="4" name="Text 2"/>
          <p:cNvSpPr/>
          <p:nvPr/>
        </p:nvSpPr>
        <p:spPr>
          <a:xfrm>
            <a:off x="3017520" y="274320"/>
            <a:ext cx="91440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Related Work: Compression Quality</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40080" y="1234440"/>
          <a:ext cx="10881360" cy="914400"/>
        </p:xfrm>
        <a:graphic>
          <a:graphicData uri="http://schemas.openxmlformats.org/drawingml/2006/table">
            <a:tbl>
              <a:tblPr/>
              <a:tblGrid>
                <a:gridCol w="1097280"/>
                <a:gridCol w="2011680"/>
                <a:gridCol w="3840480"/>
                <a:gridCol w="1828800"/>
                <a:gridCol w="2103120"/>
              </a:tblGrid>
              <a:tr h="457200">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Ref.</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Image</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Study</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CR</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PSNR (dB)</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r>
              <a:tr h="457200">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[6]</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F1A33"/>
                          </a:solidFill>
                          <a:latin typeface="Calibri" pitchFamily="34" charset="0"/>
                          <a:ea typeface="Calibri" pitchFamily="34" charset="-122"/>
                          <a:cs typeface="Calibri" pitchFamily="34" charset="-120"/>
                        </a:rPr>
                        <a:t>Lena</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Thomas et al.</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1.52</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54.28</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r>
              <a:tr h="457200">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[16]</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Ranjan and Kumar</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4.41</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34.78</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r>
              <a:tr h="457200">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l" indent="0" marL="0">
                        <a:buNone/>
                      </a:pPr>
                      <a:r>
                        <a:rPr lang="en-US" sz="1300" b="1" dirty="0">
                          <a:solidFill>
                            <a:srgbClr val="1F1A33"/>
                          </a:solidFill>
                          <a:latin typeface="Calibri" pitchFamily="34" charset="0"/>
                          <a:ea typeface="Calibri" pitchFamily="34" charset="-122"/>
                          <a:cs typeface="Calibri" pitchFamily="34" charset="-120"/>
                        </a:rPr>
                        <a:t>This work</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r>
                        <a:rPr lang="en-US" sz="1300" b="1" dirty="0">
                          <a:solidFill>
                            <a:srgbClr val="E0457B"/>
                          </a:solidFill>
                          <a:latin typeface="Calibri" pitchFamily="34" charset="0"/>
                          <a:ea typeface="Calibri" pitchFamily="34" charset="-122"/>
                          <a:cs typeface="Calibri" pitchFamily="34" charset="-120"/>
                        </a:rPr>
                        <a:t>___</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29.67</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r>
              <a:tr h="457200">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[6]</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F1A33"/>
                          </a:solidFill>
                          <a:latin typeface="Calibri" pitchFamily="34" charset="0"/>
                          <a:ea typeface="Calibri" pitchFamily="34" charset="-122"/>
                          <a:cs typeface="Calibri" pitchFamily="34" charset="-120"/>
                        </a:rPr>
                        <a:t>Boat</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Thomas et al.</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1.41</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54.07</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r>
              <a:tr h="457200">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l" indent="0" marL="0">
                        <a:buNone/>
                      </a:pPr>
                      <a:r>
                        <a:rPr lang="en-US" sz="1300" b="1" dirty="0">
                          <a:solidFill>
                            <a:srgbClr val="1F1A33"/>
                          </a:solidFill>
                          <a:latin typeface="Calibri" pitchFamily="34" charset="0"/>
                          <a:ea typeface="Calibri" pitchFamily="34" charset="-122"/>
                          <a:cs typeface="Calibri" pitchFamily="34" charset="-120"/>
                        </a:rPr>
                        <a:t>This work</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r>
                        <a:rPr lang="en-US" sz="1300" b="1" dirty="0">
                          <a:solidFill>
                            <a:srgbClr val="E0457B"/>
                          </a:solidFill>
                          <a:latin typeface="Calibri" pitchFamily="34" charset="0"/>
                          <a:ea typeface="Calibri" pitchFamily="34" charset="-122"/>
                          <a:cs typeface="Calibri" pitchFamily="34" charset="-120"/>
                        </a:rPr>
                        <a:t>___</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29.11</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r>
              <a:tr h="457200">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[17]</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F1A33"/>
                          </a:solidFill>
                          <a:latin typeface="Calibri" pitchFamily="34" charset="0"/>
                          <a:ea typeface="Calibri" pitchFamily="34" charset="-122"/>
                          <a:cs typeface="Calibri" pitchFamily="34" charset="-120"/>
                        </a:rPr>
                        <a:t>Cameraman</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Bilal et al.</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25.3–26.8*</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r>
              <a:tr h="457200">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l" indent="0" marL="0">
                        <a:buNone/>
                      </a:pPr>
                      <a:r>
                        <a:rPr lang="en-US" sz="1300" b="1" dirty="0">
                          <a:solidFill>
                            <a:srgbClr val="1F1A33"/>
                          </a:solidFill>
                          <a:latin typeface="Calibri" pitchFamily="34" charset="0"/>
                          <a:ea typeface="Calibri" pitchFamily="34" charset="-122"/>
                          <a:cs typeface="Calibri" pitchFamily="34" charset="-120"/>
                        </a:rPr>
                        <a:t>This work</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r>
                        <a:rPr lang="en-US" sz="1300" b="1" dirty="0">
                          <a:solidFill>
                            <a:srgbClr val="E0457B"/>
                          </a:solidFill>
                          <a:latin typeface="Calibri" pitchFamily="34" charset="0"/>
                          <a:ea typeface="Calibri" pitchFamily="34" charset="-122"/>
                          <a:cs typeface="Calibri" pitchFamily="34" charset="-120"/>
                        </a:rPr>
                        <a:t>___</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29.75</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r>
            </a:tbl>
          </a:graphicData>
        </a:graphic>
      </p:graphicFrame>
      <p:sp>
        <p:nvSpPr>
          <p:cNvPr id="7" name="Text 4"/>
          <p:cNvSpPr/>
          <p:nvPr/>
        </p:nvSpPr>
        <p:spPr>
          <a:xfrm>
            <a:off x="640080" y="5074920"/>
            <a:ext cx="10881360" cy="731520"/>
          </a:xfrm>
          <a:prstGeom prst="rect">
            <a:avLst/>
          </a:prstGeom>
          <a:noFill/>
          <a:ln/>
        </p:spPr>
        <p:txBody>
          <a:bodyPr wrap="square" lIns="0" tIns="0" rIns="0" bIns="0" rtlCol="0" anchor="ctr"/>
          <a:lstStyle/>
          <a:p>
            <a:pPr indent="0" marL="0">
              <a:buNone/>
            </a:pPr>
            <a:r>
              <a:rPr lang="en-US" sz="1200" i="1" dirty="0">
                <a:solidFill>
                  <a:srgbClr val="6B4FA3"/>
                </a:solidFill>
                <a:latin typeface="Calibri" pitchFamily="34" charset="0"/>
                <a:ea typeface="Calibri" pitchFamily="34" charset="-122"/>
                <a:cs typeface="Calibri" pitchFamily="34" charset="-120"/>
              </a:rPr>
              <a:t>* Bilal et al.: PSNR range at bit rates up to 0.625 bpp (CR not reported). Thomas et al. is a near-lossless scheme (CR ≈ 1.5).</a:t>
            </a:r>
            <a:endParaRPr lang="en-US" sz="1200" dirty="0"/>
          </a:p>
        </p:txBody>
      </p:sp>
      <p:sp>
        <p:nvSpPr>
          <p:cNvPr id="8" name="Text 5"/>
          <p:cNvSpPr/>
          <p:nvPr/>
        </p:nvSpPr>
        <p:spPr>
          <a:xfrm>
            <a:off x="640080" y="5852160"/>
            <a:ext cx="10881360" cy="548640"/>
          </a:xfrm>
          <a:prstGeom prst="rect">
            <a:avLst/>
          </a:prstGeom>
          <a:noFill/>
          <a:ln/>
        </p:spPr>
        <p:txBody>
          <a:bodyPr wrap="square" lIns="0" tIns="0" rIns="0" bIns="0" rtlCol="0" anchor="ctr"/>
          <a:lstStyle/>
          <a:p>
            <a:pPr indent="0" marL="0">
              <a:buNone/>
            </a:pPr>
            <a:r>
              <a:rPr lang="en-US" sz="1800" b="1" dirty="0">
                <a:solidFill>
                  <a:srgbClr val="2E2055"/>
                </a:solidFill>
                <a:latin typeface="Cambria" pitchFamily="34" charset="0"/>
                <a:ea typeface="Cambria" pitchFamily="34" charset="-122"/>
                <a:cs typeface="Cambria" pitchFamily="34" charset="-120"/>
              </a:rPr>
              <a:t>The proposed method provides substantially higher compression than the near-lossless method, with lower reconstruction fidelity.</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3774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23774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Literature Review</a:t>
            </a:r>
            <a:endParaRPr lang="en-US" sz="1600" dirty="0"/>
          </a:p>
        </p:txBody>
      </p:sp>
      <p:sp>
        <p:nvSpPr>
          <p:cNvPr id="4" name="Text 2"/>
          <p:cNvSpPr/>
          <p:nvPr/>
        </p:nvSpPr>
        <p:spPr>
          <a:xfrm>
            <a:off x="3017520" y="274320"/>
            <a:ext cx="91440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Related Work: Parallel Speedup</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1234440"/>
          <a:ext cx="10881360" cy="914400"/>
        </p:xfrm>
        <a:graphic>
          <a:graphicData uri="http://schemas.openxmlformats.org/drawingml/2006/table">
            <a:tbl>
              <a:tblPr/>
              <a:tblGrid>
                <a:gridCol w="2377440"/>
                <a:gridCol w="2468880"/>
                <a:gridCol w="2651760"/>
                <a:gridCol w="1280160"/>
                <a:gridCol w="2103120"/>
              </a:tblGrid>
              <a:tr h="566928">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Study</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Application</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Resources</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Baseline</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Speedup</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r>
              <a:tr h="566928">
                <a:tc>
                  <a:txBody>
                    <a:bodyPr/>
                    <a:lstStyle/>
                    <a:p>
                      <a:pPr algn="l" indent="0" marL="0">
                        <a:buNone/>
                      </a:pPr>
                      <a:r>
                        <a:rPr lang="en-US" sz="1300" b="1" dirty="0">
                          <a:solidFill>
                            <a:srgbClr val="1F1A33"/>
                          </a:solidFill>
                          <a:latin typeface="Calibri" pitchFamily="34" charset="0"/>
                          <a:ea typeface="Calibri" pitchFamily="34" charset="-122"/>
                          <a:cs typeface="Calibri" pitchFamily="34" charset="-120"/>
                        </a:rPr>
                        <a:t>Tanović et al. (2024)</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k-means, image classification</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12 cores (OpenMP + MPI)</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Not stated</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Up to 10.2×</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r>
              <a:tr h="566928">
                <a:tc>
                  <a:txBody>
                    <a:bodyPr/>
                    <a:lstStyle/>
                    <a:p>
                      <a:pPr algn="l" indent="0" marL="0">
                        <a:buNone/>
                      </a:pPr>
                      <a:r>
                        <a:rPr lang="en-US" sz="1300" b="1" dirty="0">
                          <a:solidFill>
                            <a:srgbClr val="1F1A33"/>
                          </a:solidFill>
                          <a:latin typeface="Calibri" pitchFamily="34" charset="0"/>
                          <a:ea typeface="Calibri" pitchFamily="34" charset="-122"/>
                          <a:cs typeface="Calibri" pitchFamily="34" charset="-120"/>
                        </a:rPr>
                        <a:t>Papakyriakou et al. (2025)</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k-means, 75 M synthetic points</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2–48 MPI processes</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2 processes</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 10.05×</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r>
              <a:tr h="566928">
                <a:tc>
                  <a:txBody>
                    <a:bodyPr/>
                    <a:lstStyle/>
                    <a:p>
                      <a:pPr algn="l" indent="0" marL="0">
                        <a:buNone/>
                      </a:pPr>
                      <a:r>
                        <a:rPr lang="en-US" sz="1300" b="1" dirty="0">
                          <a:solidFill>
                            <a:srgbClr val="1F1A33"/>
                          </a:solidFill>
                          <a:latin typeface="Calibri" pitchFamily="34" charset="0"/>
                          <a:ea typeface="Calibri" pitchFamily="34" charset="-122"/>
                          <a:cs typeface="Calibri" pitchFamily="34" charset="-120"/>
                        </a:rPr>
                        <a:t>Bystrov et al. (2023)</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Discrete-element simulation</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8 heterogeneous containers</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Sequential</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Up to 6.0×</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r>
              <a:tr h="566928">
                <a:tc>
                  <a:txBody>
                    <a:bodyPr/>
                    <a:lstStyle/>
                    <a:p>
                      <a:pPr algn="l" indent="0" marL="0">
                        <a:buNone/>
                      </a:pPr>
                      <a:r>
                        <a:rPr lang="en-US" sz="1300" b="1" dirty="0">
                          <a:solidFill>
                            <a:srgbClr val="E0457B"/>
                          </a:solidFill>
                          <a:latin typeface="Calibri" pitchFamily="34" charset="0"/>
                          <a:ea typeface="Calibri" pitchFamily="34" charset="-122"/>
                          <a:cs typeface="Calibri" pitchFamily="34" charset="-120"/>
                        </a:rPr>
                        <a:t>This work</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ECE6F6"/>
                    </a:solidFill>
                  </a:tcPr>
                </a:tc>
                <a:tc>
                  <a:txBody>
                    <a:bodyPr/>
                    <a:lstStyle/>
                    <a:p>
                      <a:pPr algn="l" indent="0" marL="0">
                        <a:buNone/>
                      </a:pPr>
                      <a:r>
                        <a:rPr lang="en-US" sz="1300" b="1" dirty="0">
                          <a:solidFill>
                            <a:srgbClr val="E0457B"/>
                          </a:solidFill>
                          <a:latin typeface="Calibri" pitchFamily="34" charset="0"/>
                          <a:ea typeface="Calibri" pitchFamily="34" charset="-122"/>
                          <a:cs typeface="Calibri" pitchFamily="34" charset="-120"/>
                        </a:rPr>
                        <a:t>LBG image compression</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ECE6F6"/>
                    </a:solidFill>
                  </a:tcPr>
                </a:tc>
                <a:tc>
                  <a:txBody>
                    <a:bodyPr/>
                    <a:lstStyle/>
                    <a:p>
                      <a:pPr algn="l" indent="0" marL="0">
                        <a:buNone/>
                      </a:pPr>
                      <a:r>
                        <a:rPr lang="en-US" sz="1300" b="1" dirty="0">
                          <a:solidFill>
                            <a:srgbClr val="E0457B"/>
                          </a:solidFill>
                          <a:latin typeface="Calibri" pitchFamily="34" charset="0"/>
                          <a:ea typeface="Calibri" pitchFamily="34" charset="-122"/>
                          <a:cs typeface="Calibri" pitchFamily="34" charset="-120"/>
                        </a:rPr>
                        <a:t>14 MPI processes (6 P + 8 E cores)</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ECE6F6"/>
                    </a:solidFill>
                  </a:tcPr>
                </a:tc>
                <a:tc>
                  <a:txBody>
                    <a:bodyPr/>
                    <a:lstStyle/>
                    <a:p>
                      <a:pPr algn="ctr" indent="0" marL="0">
                        <a:buNone/>
                      </a:pPr>
                      <a:r>
                        <a:rPr lang="en-US" sz="1300" b="1" dirty="0">
                          <a:solidFill>
                            <a:srgbClr val="E0457B"/>
                          </a:solidFill>
                          <a:latin typeface="Calibri" pitchFamily="34" charset="0"/>
                          <a:ea typeface="Calibri" pitchFamily="34" charset="-122"/>
                          <a:cs typeface="Calibri" pitchFamily="34" charset="-120"/>
                        </a:rPr>
                        <a:t>Sequential</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ECE6F6"/>
                    </a:solidFill>
                  </a:tcPr>
                </a:tc>
                <a:tc>
                  <a:txBody>
                    <a:bodyPr/>
                    <a:lstStyle/>
                    <a:p>
                      <a:pPr algn="ctr" indent="0" marL="0">
                        <a:buNone/>
                      </a:pPr>
                      <a:r>
                        <a:rPr lang="en-US" sz="1300" b="1" dirty="0">
                          <a:solidFill>
                            <a:srgbClr val="E0457B"/>
                          </a:solidFill>
                          <a:latin typeface="Calibri" pitchFamily="34" charset="0"/>
                          <a:ea typeface="Calibri" pitchFamily="34" charset="-122"/>
                          <a:cs typeface="Calibri" pitchFamily="34" charset="-120"/>
                        </a:rPr>
                        <a:t>9.19× (LBG); 5.00× / 6.84× (total, gray / color)</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ECE6F6"/>
                    </a:solidFill>
                  </a:tcPr>
                </a:tc>
              </a:tr>
            </a:tbl>
          </a:graphicData>
        </a:graphic>
      </p:graphicFrame>
      <p:sp>
        <p:nvSpPr>
          <p:cNvPr id="7" name="Shape 4"/>
          <p:cNvSpPr/>
          <p:nvPr/>
        </p:nvSpPr>
        <p:spPr>
          <a:xfrm>
            <a:off x="640080" y="4754880"/>
            <a:ext cx="10881360" cy="1417320"/>
          </a:xfrm>
          <a:prstGeom prst="roundRect">
            <a:avLst>
              <a:gd name="adj" fmla="val 6452"/>
            </a:avLst>
          </a:prstGeom>
          <a:solidFill>
            <a:srgbClr val="F5F1FB"/>
          </a:solidFill>
          <a:ln w="25400">
            <a:solidFill>
              <a:srgbClr val="E0457B"/>
            </a:solidFill>
            <a:prstDash val="solid"/>
          </a:ln>
        </p:spPr>
      </p:sp>
      <p:sp>
        <p:nvSpPr>
          <p:cNvPr id="8" name="Text 5"/>
          <p:cNvSpPr/>
          <p:nvPr/>
        </p:nvSpPr>
        <p:spPr>
          <a:xfrm>
            <a:off x="822960" y="4754880"/>
            <a:ext cx="10515600" cy="1417320"/>
          </a:xfrm>
          <a:prstGeom prst="rect">
            <a:avLst/>
          </a:prstGeom>
          <a:noFill/>
          <a:ln/>
        </p:spPr>
        <p:txBody>
          <a:bodyPr wrap="square" lIns="0" tIns="0" rIns="0" bIns="0" rtlCol="0" anchor="ctr"/>
          <a:lstStyle/>
          <a:p>
            <a:pPr indent="0" marL="0">
              <a:buNone/>
            </a:pPr>
            <a:r>
              <a:rPr lang="en-US" sz="1800" b="1" dirty="0">
                <a:solidFill>
                  <a:srgbClr val="E0457B"/>
                </a:solidFill>
                <a:latin typeface="Calibri" pitchFamily="34" charset="0"/>
                <a:ea typeface="Calibri" pitchFamily="34" charset="-122"/>
                <a:cs typeface="Calibri" pitchFamily="34" charset="-120"/>
              </a:rPr>
              <a:t>Research gap  </a:t>
            </a:r>
            <a:endParaRPr lang="en-US" sz="1800" dirty="0"/>
          </a:p>
          <a:p>
            <a:pPr indent="0" marL="0">
              <a:buNone/>
            </a:pPr>
            <a:r>
              <a:rPr lang="en-US" sz="1800" dirty="0">
                <a:solidFill>
                  <a:srgbClr val="1F1A33"/>
                </a:solidFill>
                <a:latin typeface="Calibri" pitchFamily="34" charset="0"/>
                <a:ea typeface="Calibri" pitchFamily="34" charset="-122"/>
                <a:cs typeface="Calibri" pitchFamily="34" charset="-120"/>
              </a:rPr>
              <a:t>Existing parallel studies target k-means or other applications. To our knowledge, none of the reviewed studies evaluates MPI-parallel LBG for image compression on a hybrid P/E-core CPU.</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286000" cy="502920"/>
          </a:xfrm>
          <a:prstGeom prst="roundRect">
            <a:avLst>
              <a:gd name="adj" fmla="val 18182"/>
            </a:avLst>
          </a:prstGeom>
          <a:solidFill>
            <a:srgbClr val="E0457B"/>
          </a:solidFill>
          <a:ln w="12700">
            <a:solidFill>
              <a:srgbClr val="E0457B"/>
            </a:solidFill>
            <a:prstDash val="solid"/>
          </a:ln>
        </p:spPr>
      </p:sp>
      <p:sp>
        <p:nvSpPr>
          <p:cNvPr id="3" name="Text 1"/>
          <p:cNvSpPr/>
          <p:nvPr/>
        </p:nvSpPr>
        <p:spPr>
          <a:xfrm>
            <a:off x="457200" y="320040"/>
            <a:ext cx="228600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Problem Statement</a:t>
            </a:r>
            <a:endParaRPr lang="en-US" sz="1600" dirty="0"/>
          </a:p>
        </p:txBody>
      </p:sp>
      <p:sp>
        <p:nvSpPr>
          <p:cNvPr id="4" name="Text 2"/>
          <p:cNvSpPr/>
          <p:nvPr/>
        </p:nvSpPr>
        <p:spPr>
          <a:xfrm>
            <a:off x="2926080" y="274320"/>
            <a:ext cx="923544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Problem Statement</a:t>
            </a:r>
            <a:endParaRPr lang="en-US" sz="2800" dirty="0"/>
          </a:p>
        </p:txBody>
      </p:sp>
      <p:sp>
        <p:nvSpPr>
          <p:cNvPr id="5" name="Shape 3"/>
          <p:cNvSpPr/>
          <p:nvPr/>
        </p:nvSpPr>
        <p:spPr>
          <a:xfrm>
            <a:off x="457200" y="960120"/>
            <a:ext cx="11274552" cy="36576"/>
          </a:xfrm>
          <a:prstGeom prst="rect">
            <a:avLst/>
          </a:prstGeom>
          <a:solidFill>
            <a:srgbClr val="E0457B"/>
          </a:solidFill>
          <a:ln w="12700">
            <a:solidFill>
              <a:srgbClr val="E0457B"/>
            </a:solidFill>
            <a:prstDash val="solid"/>
          </a:ln>
        </p:spPr>
      </p:sp>
      <p:sp>
        <p:nvSpPr>
          <p:cNvPr id="6" name="Shape 4"/>
          <p:cNvSpPr/>
          <p:nvPr/>
        </p:nvSpPr>
        <p:spPr>
          <a:xfrm>
            <a:off x="640080" y="1463040"/>
            <a:ext cx="685800" cy="685800"/>
          </a:xfrm>
          <a:prstGeom prst="ellipse">
            <a:avLst/>
          </a:prstGeom>
          <a:solidFill>
            <a:srgbClr val="E0457B"/>
          </a:solidFill>
          <a:ln w="12700">
            <a:solidFill>
              <a:srgbClr val="E0457B"/>
            </a:solidFill>
            <a:prstDash val="solid"/>
          </a:ln>
        </p:spPr>
      </p:sp>
      <p:sp>
        <p:nvSpPr>
          <p:cNvPr id="7" name="Text 5"/>
          <p:cNvSpPr/>
          <p:nvPr/>
        </p:nvSpPr>
        <p:spPr>
          <a:xfrm>
            <a:off x="640080" y="1463040"/>
            <a:ext cx="685800" cy="68580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8" name="Text 6"/>
          <p:cNvSpPr/>
          <p:nvPr/>
        </p:nvSpPr>
        <p:spPr>
          <a:xfrm>
            <a:off x="1554480" y="1280160"/>
            <a:ext cx="9966960" cy="1097280"/>
          </a:xfrm>
          <a:prstGeom prst="rect">
            <a:avLst/>
          </a:prstGeom>
          <a:noFill/>
          <a:ln/>
        </p:spPr>
        <p:txBody>
          <a:bodyPr wrap="square" lIns="0" tIns="0" rIns="0" bIns="0" rtlCol="0" anchor="ctr"/>
          <a:lstStyle/>
          <a:p>
            <a:pPr indent="0" marL="0">
              <a:buNone/>
            </a:pPr>
            <a:r>
              <a:rPr lang="en-US" sz="1800" dirty="0">
                <a:solidFill>
                  <a:srgbClr val="1F1A33"/>
                </a:solidFill>
                <a:latin typeface="Calibri" pitchFamily="34" charset="0"/>
                <a:ea typeface="Calibri" pitchFamily="34" charset="-122"/>
                <a:cs typeface="Calibri" pitchFamily="34" charset="-120"/>
              </a:rPr>
              <a:t>Transmitting and storing uncompressed images consumes bandwidth and storage capacity.</a:t>
            </a:r>
            <a:endParaRPr lang="en-US" sz="1800" dirty="0"/>
          </a:p>
        </p:txBody>
      </p:sp>
      <p:sp>
        <p:nvSpPr>
          <p:cNvPr id="9" name="Shape 7"/>
          <p:cNvSpPr/>
          <p:nvPr/>
        </p:nvSpPr>
        <p:spPr>
          <a:xfrm>
            <a:off x="640080" y="2697480"/>
            <a:ext cx="685800" cy="685800"/>
          </a:xfrm>
          <a:prstGeom prst="ellipse">
            <a:avLst/>
          </a:prstGeom>
          <a:solidFill>
            <a:srgbClr val="E0457B"/>
          </a:solidFill>
          <a:ln w="12700">
            <a:solidFill>
              <a:srgbClr val="E0457B"/>
            </a:solidFill>
            <a:prstDash val="solid"/>
          </a:ln>
        </p:spPr>
      </p:sp>
      <p:sp>
        <p:nvSpPr>
          <p:cNvPr id="10" name="Text 8"/>
          <p:cNvSpPr/>
          <p:nvPr/>
        </p:nvSpPr>
        <p:spPr>
          <a:xfrm>
            <a:off x="640080" y="2697480"/>
            <a:ext cx="685800" cy="68580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1" name="Text 9"/>
          <p:cNvSpPr/>
          <p:nvPr/>
        </p:nvSpPr>
        <p:spPr>
          <a:xfrm>
            <a:off x="1554480" y="2514600"/>
            <a:ext cx="9966960" cy="1097280"/>
          </a:xfrm>
          <a:prstGeom prst="rect">
            <a:avLst/>
          </a:prstGeom>
          <a:noFill/>
          <a:ln/>
        </p:spPr>
        <p:txBody>
          <a:bodyPr wrap="square" lIns="0" tIns="0" rIns="0" bIns="0" rtlCol="0" anchor="ctr"/>
          <a:lstStyle/>
          <a:p>
            <a:pPr indent="0" marL="0">
              <a:buNone/>
            </a:pPr>
            <a:r>
              <a:rPr lang="en-US" sz="1800" dirty="0">
                <a:solidFill>
                  <a:srgbClr val="1F1A33"/>
                </a:solidFill>
                <a:latin typeface="Calibri" pitchFamily="34" charset="0"/>
                <a:ea typeface="Calibri" pitchFamily="34" charset="-122"/>
                <a:cs typeface="Calibri" pitchFamily="34" charset="-120"/>
              </a:rPr>
              <a:t>LBG vector quantization gives a compact representation, but codebook training is computationally expensive: it repeatedly computes distances between training vectors and codewords (about 77% of the sequential time, gray images).</a:t>
            </a:r>
            <a:endParaRPr lang="en-US" sz="1800" dirty="0"/>
          </a:p>
        </p:txBody>
      </p:sp>
      <p:sp>
        <p:nvSpPr>
          <p:cNvPr id="12" name="Shape 10"/>
          <p:cNvSpPr/>
          <p:nvPr/>
        </p:nvSpPr>
        <p:spPr>
          <a:xfrm>
            <a:off x="640080" y="3931920"/>
            <a:ext cx="685800" cy="685800"/>
          </a:xfrm>
          <a:prstGeom prst="ellipse">
            <a:avLst/>
          </a:prstGeom>
          <a:solidFill>
            <a:srgbClr val="E0457B"/>
          </a:solidFill>
          <a:ln w="12700">
            <a:solidFill>
              <a:srgbClr val="E0457B"/>
            </a:solidFill>
            <a:prstDash val="solid"/>
          </a:ln>
        </p:spPr>
      </p:sp>
      <p:sp>
        <p:nvSpPr>
          <p:cNvPr id="13" name="Text 11"/>
          <p:cNvSpPr/>
          <p:nvPr/>
        </p:nvSpPr>
        <p:spPr>
          <a:xfrm>
            <a:off x="640080" y="3931920"/>
            <a:ext cx="685800" cy="68580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14" name="Text 12"/>
          <p:cNvSpPr/>
          <p:nvPr/>
        </p:nvSpPr>
        <p:spPr>
          <a:xfrm>
            <a:off x="1554480" y="3749040"/>
            <a:ext cx="9966960" cy="1097280"/>
          </a:xfrm>
          <a:prstGeom prst="rect">
            <a:avLst/>
          </a:prstGeom>
          <a:noFill/>
          <a:ln/>
        </p:spPr>
        <p:txBody>
          <a:bodyPr wrap="square" lIns="0" tIns="0" rIns="0" bIns="0" rtlCol="0" anchor="ctr"/>
          <a:lstStyle/>
          <a:p>
            <a:pPr indent="0" marL="0">
              <a:buNone/>
            </a:pPr>
            <a:r>
              <a:rPr lang="en-US" sz="1800" dirty="0">
                <a:solidFill>
                  <a:srgbClr val="1F1A33"/>
                </a:solidFill>
                <a:latin typeface="Calibri" pitchFamily="34" charset="0"/>
                <a:ea typeface="Calibri" pitchFamily="34" charset="-122"/>
                <a:cs typeface="Calibri" pitchFamily="34" charset="-120"/>
              </a:rPr>
              <a:t>On a hybrid CPU, an equal distribution of training vectors causes workload imbalance: the faster P-cores finish early and wait for the slower E-cores at synchronization points.</a:t>
            </a:r>
            <a:endParaRPr lang="en-US" sz="1800" dirty="0"/>
          </a:p>
        </p:txBody>
      </p:sp>
      <p:sp>
        <p:nvSpPr>
          <p:cNvPr id="15" name="Shape 13"/>
          <p:cNvSpPr/>
          <p:nvPr/>
        </p:nvSpPr>
        <p:spPr>
          <a:xfrm>
            <a:off x="640080" y="5074920"/>
            <a:ext cx="10927080" cy="1280160"/>
          </a:xfrm>
          <a:prstGeom prst="roundRect">
            <a:avLst>
              <a:gd name="adj" fmla="val 7143"/>
            </a:avLst>
          </a:prstGeom>
          <a:solidFill>
            <a:srgbClr val="E0457B"/>
          </a:solidFill>
          <a:ln w="12700">
            <a:solidFill>
              <a:srgbClr val="E0457B"/>
            </a:solidFill>
            <a:prstDash val="solid"/>
          </a:ln>
        </p:spPr>
      </p:sp>
      <p:sp>
        <p:nvSpPr>
          <p:cNvPr id="16" name="Text 14"/>
          <p:cNvSpPr/>
          <p:nvPr/>
        </p:nvSpPr>
        <p:spPr>
          <a:xfrm>
            <a:off x="868680" y="5074920"/>
            <a:ext cx="10469880" cy="12801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Reduce LBG training and total compression time through speed-aware workload distribution, while preserving the compression ratio and the reconstruction quality of the sequential implementation.</a:t>
            </a:r>
            <a:endParaRPr lang="en-US" sz="1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286000" cy="502920"/>
          </a:xfrm>
          <a:prstGeom prst="roundRect">
            <a:avLst>
              <a:gd name="adj" fmla="val 18182"/>
            </a:avLst>
          </a:prstGeom>
          <a:solidFill>
            <a:srgbClr val="E0457B"/>
          </a:solidFill>
          <a:ln w="12700">
            <a:solidFill>
              <a:srgbClr val="E0457B"/>
            </a:solidFill>
            <a:prstDash val="solid"/>
          </a:ln>
        </p:spPr>
      </p:sp>
      <p:sp>
        <p:nvSpPr>
          <p:cNvPr id="3" name="Text 1"/>
          <p:cNvSpPr/>
          <p:nvPr/>
        </p:nvSpPr>
        <p:spPr>
          <a:xfrm>
            <a:off x="457200" y="320040"/>
            <a:ext cx="228600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Objectives</a:t>
            </a:r>
            <a:endParaRPr lang="en-US" sz="1600" dirty="0"/>
          </a:p>
        </p:txBody>
      </p:sp>
      <p:sp>
        <p:nvSpPr>
          <p:cNvPr id="4" name="Text 2"/>
          <p:cNvSpPr/>
          <p:nvPr/>
        </p:nvSpPr>
        <p:spPr>
          <a:xfrm>
            <a:off x="2926080" y="274320"/>
            <a:ext cx="923544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Thesis Objectives</a:t>
            </a:r>
            <a:endParaRPr lang="en-US" sz="2800" dirty="0"/>
          </a:p>
        </p:txBody>
      </p:sp>
      <p:sp>
        <p:nvSpPr>
          <p:cNvPr id="5" name="Shape 3"/>
          <p:cNvSpPr/>
          <p:nvPr/>
        </p:nvSpPr>
        <p:spPr>
          <a:xfrm>
            <a:off x="457200" y="960120"/>
            <a:ext cx="11274552" cy="36576"/>
          </a:xfrm>
          <a:prstGeom prst="rect">
            <a:avLst/>
          </a:prstGeom>
          <a:solidFill>
            <a:srgbClr val="E0457B"/>
          </a:solidFill>
          <a:ln w="12700">
            <a:solidFill>
              <a:srgbClr val="E0457B"/>
            </a:solidFill>
            <a:prstDash val="solid"/>
          </a:ln>
        </p:spPr>
      </p:sp>
      <p:sp>
        <p:nvSpPr>
          <p:cNvPr id="6" name="Shape 4"/>
          <p:cNvSpPr/>
          <p:nvPr/>
        </p:nvSpPr>
        <p:spPr>
          <a:xfrm>
            <a:off x="640080" y="1234440"/>
            <a:ext cx="10927080" cy="1143000"/>
          </a:xfrm>
          <a:prstGeom prst="roundRect">
            <a:avLst>
              <a:gd name="adj" fmla="val 8000"/>
            </a:avLst>
          </a:prstGeom>
          <a:solidFill>
            <a:srgbClr val="FFFFFF"/>
          </a:solidFill>
          <a:ln w="22225">
            <a:solidFill>
              <a:srgbClr val="6B4FA3"/>
            </a:solidFill>
            <a:prstDash val="solid"/>
          </a:ln>
        </p:spPr>
      </p:sp>
      <p:sp>
        <p:nvSpPr>
          <p:cNvPr id="7" name="Shape 5"/>
          <p:cNvSpPr/>
          <p:nvPr/>
        </p:nvSpPr>
        <p:spPr>
          <a:xfrm>
            <a:off x="658368" y="1252728"/>
            <a:ext cx="109728" cy="1106424"/>
          </a:xfrm>
          <a:prstGeom prst="rect">
            <a:avLst/>
          </a:prstGeom>
          <a:solidFill>
            <a:srgbClr val="6B4FA3"/>
          </a:solidFill>
          <a:ln w="12700">
            <a:solidFill>
              <a:srgbClr val="6B4FA3"/>
            </a:solidFill>
            <a:prstDash val="solid"/>
          </a:ln>
        </p:spPr>
      </p:sp>
      <p:sp>
        <p:nvSpPr>
          <p:cNvPr id="8" name="Text 6"/>
          <p:cNvSpPr/>
          <p:nvPr/>
        </p:nvSpPr>
        <p:spPr>
          <a:xfrm>
            <a:off x="914400" y="1280160"/>
            <a:ext cx="10515600" cy="1051560"/>
          </a:xfrm>
          <a:prstGeom prst="rect">
            <a:avLst/>
          </a:prstGeom>
          <a:noFill/>
          <a:ln/>
        </p:spPr>
        <p:txBody>
          <a:bodyPr wrap="square" lIns="635" tIns="635" rIns="635" bIns="635" rtlCol="0" anchor="ctr"/>
          <a:lstStyle/>
          <a:p>
            <a:pPr indent="0" marL="0">
              <a:spcAft>
                <a:spcPts val="600"/>
              </a:spcAft>
              <a:buNone/>
            </a:pPr>
            <a:r>
              <a:rPr lang="en-US" sz="1900" b="1" dirty="0">
                <a:solidFill>
                  <a:srgbClr val="6B4FA3"/>
                </a:solidFill>
                <a:latin typeface="Calibri" pitchFamily="34" charset="0"/>
                <a:ea typeface="Calibri" pitchFamily="34" charset="-122"/>
                <a:cs typeface="Calibri" pitchFamily="34" charset="-120"/>
              </a:rPr>
              <a:t>1. Image Compression Framework Development</a:t>
            </a:r>
            <a:endParaRPr lang="en-US" sz="19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To compress grayscale and color images by combining LBG vector quantization, delta coding, and Huffman coding.</a:t>
            </a:r>
            <a:endParaRPr lang="en-US" sz="1900" dirty="0"/>
          </a:p>
        </p:txBody>
      </p:sp>
      <p:sp>
        <p:nvSpPr>
          <p:cNvPr id="9" name="Shape 7"/>
          <p:cNvSpPr/>
          <p:nvPr/>
        </p:nvSpPr>
        <p:spPr>
          <a:xfrm>
            <a:off x="640080" y="2514600"/>
            <a:ext cx="10927080" cy="1143000"/>
          </a:xfrm>
          <a:prstGeom prst="roundRect">
            <a:avLst>
              <a:gd name="adj" fmla="val 8000"/>
            </a:avLst>
          </a:prstGeom>
          <a:solidFill>
            <a:srgbClr val="FFFFFF"/>
          </a:solidFill>
          <a:ln w="22225">
            <a:solidFill>
              <a:srgbClr val="E07B22"/>
            </a:solidFill>
            <a:prstDash val="solid"/>
          </a:ln>
        </p:spPr>
      </p:sp>
      <p:sp>
        <p:nvSpPr>
          <p:cNvPr id="10" name="Shape 8"/>
          <p:cNvSpPr/>
          <p:nvPr/>
        </p:nvSpPr>
        <p:spPr>
          <a:xfrm>
            <a:off x="658368" y="2532888"/>
            <a:ext cx="109728" cy="1106424"/>
          </a:xfrm>
          <a:prstGeom prst="rect">
            <a:avLst/>
          </a:prstGeom>
          <a:solidFill>
            <a:srgbClr val="E07B22"/>
          </a:solidFill>
          <a:ln w="12700">
            <a:solidFill>
              <a:srgbClr val="E07B22"/>
            </a:solidFill>
            <a:prstDash val="solid"/>
          </a:ln>
        </p:spPr>
      </p:sp>
      <p:sp>
        <p:nvSpPr>
          <p:cNvPr id="11" name="Text 9"/>
          <p:cNvSpPr/>
          <p:nvPr/>
        </p:nvSpPr>
        <p:spPr>
          <a:xfrm>
            <a:off x="914400" y="2560320"/>
            <a:ext cx="10515600" cy="1051560"/>
          </a:xfrm>
          <a:prstGeom prst="rect">
            <a:avLst/>
          </a:prstGeom>
          <a:noFill/>
          <a:ln/>
        </p:spPr>
        <p:txBody>
          <a:bodyPr wrap="square" lIns="635" tIns="635" rIns="635" bIns="635" rtlCol="0" anchor="ctr"/>
          <a:lstStyle/>
          <a:p>
            <a:pPr indent="0" marL="0">
              <a:spcAft>
                <a:spcPts val="600"/>
              </a:spcAft>
              <a:buNone/>
            </a:pPr>
            <a:r>
              <a:rPr lang="en-US" sz="1900" b="1" dirty="0">
                <a:solidFill>
                  <a:srgbClr val="E07B22"/>
                </a:solidFill>
                <a:latin typeface="Calibri" pitchFamily="34" charset="0"/>
                <a:ea typeface="Calibri" pitchFamily="34" charset="-122"/>
                <a:cs typeface="Calibri" pitchFamily="34" charset="-120"/>
              </a:rPr>
              <a:t>2. LBG Execution-Time Reduction</a:t>
            </a:r>
            <a:endParaRPr lang="en-US" sz="19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To reduce codebook-training time by parallelizing the computationally intensive operations of LBG using MPI.</a:t>
            </a:r>
            <a:endParaRPr lang="en-US" sz="1900" dirty="0"/>
          </a:p>
        </p:txBody>
      </p:sp>
      <p:sp>
        <p:nvSpPr>
          <p:cNvPr id="12" name="Shape 10"/>
          <p:cNvSpPr/>
          <p:nvPr/>
        </p:nvSpPr>
        <p:spPr>
          <a:xfrm>
            <a:off x="640080" y="3794760"/>
            <a:ext cx="10927080" cy="1143000"/>
          </a:xfrm>
          <a:prstGeom prst="roundRect">
            <a:avLst>
              <a:gd name="adj" fmla="val 8000"/>
            </a:avLst>
          </a:prstGeom>
          <a:solidFill>
            <a:srgbClr val="FFFFFF"/>
          </a:solidFill>
          <a:ln w="22225">
            <a:solidFill>
              <a:srgbClr val="2A9D8F"/>
            </a:solidFill>
            <a:prstDash val="solid"/>
          </a:ln>
        </p:spPr>
      </p:sp>
      <p:sp>
        <p:nvSpPr>
          <p:cNvPr id="13" name="Shape 11"/>
          <p:cNvSpPr/>
          <p:nvPr/>
        </p:nvSpPr>
        <p:spPr>
          <a:xfrm>
            <a:off x="658368" y="3813048"/>
            <a:ext cx="109728" cy="1106424"/>
          </a:xfrm>
          <a:prstGeom prst="rect">
            <a:avLst/>
          </a:prstGeom>
          <a:solidFill>
            <a:srgbClr val="2A9D8F"/>
          </a:solidFill>
          <a:ln w="12700">
            <a:solidFill>
              <a:srgbClr val="2A9D8F"/>
            </a:solidFill>
            <a:prstDash val="solid"/>
          </a:ln>
        </p:spPr>
      </p:sp>
      <p:sp>
        <p:nvSpPr>
          <p:cNvPr id="14" name="Text 12"/>
          <p:cNvSpPr/>
          <p:nvPr/>
        </p:nvSpPr>
        <p:spPr>
          <a:xfrm>
            <a:off x="914400" y="3840480"/>
            <a:ext cx="10515600" cy="1051560"/>
          </a:xfrm>
          <a:prstGeom prst="rect">
            <a:avLst/>
          </a:prstGeom>
          <a:noFill/>
          <a:ln/>
        </p:spPr>
        <p:txBody>
          <a:bodyPr wrap="square" lIns="635" tIns="635" rIns="635" bIns="635" rtlCol="0" anchor="ctr"/>
          <a:lstStyle/>
          <a:p>
            <a:pPr indent="0" marL="0">
              <a:spcAft>
                <a:spcPts val="600"/>
              </a:spcAft>
              <a:buNone/>
            </a:pPr>
            <a:r>
              <a:rPr lang="en-US" sz="1900" b="1" dirty="0">
                <a:solidFill>
                  <a:srgbClr val="2A9D8F"/>
                </a:solidFill>
                <a:latin typeface="Calibri" pitchFamily="34" charset="0"/>
                <a:ea typeface="Calibri" pitchFamily="34" charset="-122"/>
                <a:cs typeface="Calibri" pitchFamily="34" charset="-120"/>
              </a:rPr>
              <a:t>3. Workload Distribution Improvement</a:t>
            </a:r>
            <a:endParaRPr lang="en-US" sz="19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To distribute the training vectors according to the measured throughput of each MPI process on the P-cores and E-cores, and to improve performance compared with equal distribution.</a:t>
            </a:r>
            <a:endParaRPr lang="en-US" sz="1900" dirty="0"/>
          </a:p>
        </p:txBody>
      </p:sp>
      <p:sp>
        <p:nvSpPr>
          <p:cNvPr id="15" name="Shape 13"/>
          <p:cNvSpPr/>
          <p:nvPr/>
        </p:nvSpPr>
        <p:spPr>
          <a:xfrm>
            <a:off x="640080" y="5074920"/>
            <a:ext cx="10927080" cy="1143000"/>
          </a:xfrm>
          <a:prstGeom prst="roundRect">
            <a:avLst>
              <a:gd name="adj" fmla="val 8000"/>
            </a:avLst>
          </a:prstGeom>
          <a:solidFill>
            <a:srgbClr val="FFFFFF"/>
          </a:solidFill>
          <a:ln w="22225">
            <a:solidFill>
              <a:srgbClr val="E0457B"/>
            </a:solidFill>
            <a:prstDash val="solid"/>
          </a:ln>
        </p:spPr>
      </p:sp>
      <p:sp>
        <p:nvSpPr>
          <p:cNvPr id="16" name="Shape 14"/>
          <p:cNvSpPr/>
          <p:nvPr/>
        </p:nvSpPr>
        <p:spPr>
          <a:xfrm>
            <a:off x="658368" y="5093208"/>
            <a:ext cx="109728" cy="1106424"/>
          </a:xfrm>
          <a:prstGeom prst="rect">
            <a:avLst/>
          </a:prstGeom>
          <a:solidFill>
            <a:srgbClr val="E0457B"/>
          </a:solidFill>
          <a:ln w="12700">
            <a:solidFill>
              <a:srgbClr val="E0457B"/>
            </a:solidFill>
            <a:prstDash val="solid"/>
          </a:ln>
        </p:spPr>
      </p:sp>
      <p:sp>
        <p:nvSpPr>
          <p:cNvPr id="17" name="Text 15"/>
          <p:cNvSpPr/>
          <p:nvPr/>
        </p:nvSpPr>
        <p:spPr>
          <a:xfrm>
            <a:off x="914400" y="5120640"/>
            <a:ext cx="10515600" cy="1051560"/>
          </a:xfrm>
          <a:prstGeom prst="rect">
            <a:avLst/>
          </a:prstGeom>
          <a:noFill/>
          <a:ln/>
        </p:spPr>
        <p:txBody>
          <a:bodyPr wrap="square" lIns="635" tIns="635" rIns="635" bIns="635" rtlCol="0" anchor="ctr"/>
          <a:lstStyle/>
          <a:p>
            <a:pPr indent="0" marL="0">
              <a:spcAft>
                <a:spcPts val="600"/>
              </a:spcAft>
              <a:buNone/>
            </a:pPr>
            <a:r>
              <a:rPr lang="en-US" sz="1900" b="1" dirty="0">
                <a:solidFill>
                  <a:srgbClr val="E0457B"/>
                </a:solidFill>
                <a:latin typeface="Calibri" pitchFamily="34" charset="0"/>
                <a:ea typeface="Calibri" pitchFamily="34" charset="-122"/>
                <a:cs typeface="Calibri" pitchFamily="34" charset="-120"/>
              </a:rPr>
              <a:t>4. Performance Evaluation and Result Verification</a:t>
            </a:r>
            <a:endParaRPr lang="en-US" sz="19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To evaluate compression, reconstruction quality and parallel performance, and to verify that the parallel results match the sequential implementation.</a:t>
            </a:r>
            <a:endParaRPr lang="en-US" sz="1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20040" y="182880"/>
            <a:ext cx="11503152" cy="1417320"/>
          </a:xfrm>
          <a:prstGeom prst="roundRect">
            <a:avLst>
              <a:gd name="adj" fmla="val 6452"/>
            </a:avLst>
          </a:prstGeom>
          <a:solidFill>
            <a:srgbClr val="E3EEFA"/>
          </a:solidFill>
          <a:ln w="12700">
            <a:solidFill>
              <a:srgbClr val="2F6FB5"/>
            </a:solidFill>
            <a:prstDash val="solid"/>
          </a:ln>
        </p:spPr>
      </p:sp>
      <p:sp>
        <p:nvSpPr>
          <p:cNvPr id="3" name="Shape 1"/>
          <p:cNvSpPr/>
          <p:nvPr/>
        </p:nvSpPr>
        <p:spPr>
          <a:xfrm>
            <a:off x="365760" y="228600"/>
            <a:ext cx="2240280" cy="1325880"/>
          </a:xfrm>
          <a:prstGeom prst="roundRect">
            <a:avLst>
              <a:gd name="adj" fmla="val 5517"/>
            </a:avLst>
          </a:prstGeom>
          <a:solidFill>
            <a:srgbClr val="2F6FB5"/>
          </a:solidFill>
          <a:ln w="12700">
            <a:solidFill>
              <a:srgbClr val="2F6FB5"/>
            </a:solidFill>
            <a:prstDash val="solid"/>
          </a:ln>
        </p:spPr>
      </p:sp>
      <p:sp>
        <p:nvSpPr>
          <p:cNvPr id="4" name="Text 2"/>
          <p:cNvSpPr/>
          <p:nvPr/>
        </p:nvSpPr>
        <p:spPr>
          <a:xfrm>
            <a:off x="365760" y="228600"/>
            <a:ext cx="2240280" cy="1325880"/>
          </a:xfrm>
          <a:prstGeom prst="rect">
            <a:avLst/>
          </a:prstGeom>
          <a:noFill/>
          <a:ln/>
        </p:spPr>
        <p:txBody>
          <a:bodyPr wrap="square" lIns="762" tIns="762" rIns="762" bIns="762"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Stage 1</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Block</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Formation</a:t>
            </a:r>
            <a:endParaRPr lang="en-US" sz="2200" dirty="0"/>
          </a:p>
        </p:txBody>
      </p:sp>
      <p:sp>
        <p:nvSpPr>
          <p:cNvPr id="5" name="Shape 3"/>
          <p:cNvSpPr/>
          <p:nvPr/>
        </p:nvSpPr>
        <p:spPr>
          <a:xfrm>
            <a:off x="2788920" y="320040"/>
            <a:ext cx="2011680" cy="1143000"/>
          </a:xfrm>
          <a:prstGeom prst="roundRect">
            <a:avLst>
              <a:gd name="adj" fmla="val 6400"/>
            </a:avLst>
          </a:prstGeom>
          <a:solidFill>
            <a:srgbClr val="FFFFFF"/>
          </a:solidFill>
          <a:ln w="19050">
            <a:solidFill>
              <a:srgbClr val="2F6FB5"/>
            </a:solidFill>
            <a:prstDash val="solid"/>
          </a:ln>
        </p:spPr>
      </p:sp>
      <p:sp>
        <p:nvSpPr>
          <p:cNvPr id="6" name="Text 4"/>
          <p:cNvSpPr/>
          <p:nvPr/>
        </p:nvSpPr>
        <p:spPr>
          <a:xfrm>
            <a:off x="2788920" y="320040"/>
            <a:ext cx="2011680" cy="1143000"/>
          </a:xfrm>
          <a:prstGeom prst="rect">
            <a:avLst/>
          </a:prstGeom>
          <a:noFill/>
          <a:ln/>
        </p:spPr>
        <p:txBody>
          <a:bodyPr wrap="square" lIns="635" tIns="635" rIns="635" bIns="635" rtlCol="0" anchor="ctr"/>
          <a:lstStyle/>
          <a:p>
            <a:pPr algn="ctr" indent="0" marL="0">
              <a:buNone/>
            </a:pPr>
            <a:r>
              <a:rPr lang="en-US" sz="1600" b="1" dirty="0">
                <a:solidFill>
                  <a:srgbClr val="2F6FB5"/>
                </a:solidFill>
                <a:latin typeface="Calibri" pitchFamily="34" charset="0"/>
                <a:ea typeface="Calibri" pitchFamily="34" charset="-122"/>
                <a:cs typeface="Calibri" pitchFamily="34" charset="-120"/>
              </a:rPr>
              <a:t>1. Input image</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512×512,</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gray / color</a:t>
            </a:r>
            <a:endParaRPr lang="en-US" sz="1600" dirty="0"/>
          </a:p>
        </p:txBody>
      </p:sp>
      <p:sp>
        <p:nvSpPr>
          <p:cNvPr id="7" name="Shape 5"/>
          <p:cNvSpPr/>
          <p:nvPr/>
        </p:nvSpPr>
        <p:spPr>
          <a:xfrm>
            <a:off x="4828032" y="772668"/>
            <a:ext cx="219456" cy="237744"/>
          </a:xfrm>
          <a:prstGeom prst="rightArrow">
            <a:avLst/>
          </a:prstGeom>
          <a:solidFill>
            <a:srgbClr val="1F1A33"/>
          </a:solidFill>
          <a:ln w="12700">
            <a:solidFill>
              <a:srgbClr val="1F1A33"/>
            </a:solidFill>
            <a:prstDash val="solid"/>
          </a:ln>
        </p:spPr>
      </p:sp>
      <p:sp>
        <p:nvSpPr>
          <p:cNvPr id="8" name="Shape 6"/>
          <p:cNvSpPr/>
          <p:nvPr/>
        </p:nvSpPr>
        <p:spPr>
          <a:xfrm>
            <a:off x="5074920" y="320040"/>
            <a:ext cx="2011680" cy="1143000"/>
          </a:xfrm>
          <a:prstGeom prst="roundRect">
            <a:avLst>
              <a:gd name="adj" fmla="val 6400"/>
            </a:avLst>
          </a:prstGeom>
          <a:solidFill>
            <a:srgbClr val="FFFFFF"/>
          </a:solidFill>
          <a:ln w="19050">
            <a:solidFill>
              <a:srgbClr val="2F6FB5"/>
            </a:solidFill>
            <a:prstDash val="solid"/>
          </a:ln>
        </p:spPr>
      </p:sp>
      <p:sp>
        <p:nvSpPr>
          <p:cNvPr id="9" name="Text 7"/>
          <p:cNvSpPr/>
          <p:nvPr/>
        </p:nvSpPr>
        <p:spPr>
          <a:xfrm>
            <a:off x="5074920" y="320040"/>
            <a:ext cx="2011680" cy="1143000"/>
          </a:xfrm>
          <a:prstGeom prst="rect">
            <a:avLst/>
          </a:prstGeom>
          <a:noFill/>
          <a:ln/>
        </p:spPr>
        <p:txBody>
          <a:bodyPr wrap="square" lIns="635" tIns="635" rIns="635" bIns="635" rtlCol="0" anchor="ctr"/>
          <a:lstStyle/>
          <a:p>
            <a:pPr algn="ctr" indent="0" marL="0">
              <a:buNone/>
            </a:pPr>
            <a:r>
              <a:rPr lang="en-US" sz="1600" b="1" dirty="0">
                <a:solidFill>
                  <a:srgbClr val="2F6FB5"/>
                </a:solidFill>
                <a:latin typeface="Calibri" pitchFamily="34" charset="0"/>
                <a:ea typeface="Calibri" pitchFamily="34" charset="-122"/>
                <a:cs typeface="Calibri" pitchFamily="34" charset="-120"/>
              </a:rPr>
              <a:t>2. 4×4 blocks</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non-overlapping</a:t>
            </a:r>
            <a:endParaRPr lang="en-US" sz="1600" dirty="0"/>
          </a:p>
        </p:txBody>
      </p:sp>
      <p:sp>
        <p:nvSpPr>
          <p:cNvPr id="10" name="Shape 8"/>
          <p:cNvSpPr/>
          <p:nvPr/>
        </p:nvSpPr>
        <p:spPr>
          <a:xfrm>
            <a:off x="7114032" y="772668"/>
            <a:ext cx="219456" cy="237744"/>
          </a:xfrm>
          <a:prstGeom prst="rightArrow">
            <a:avLst/>
          </a:prstGeom>
          <a:solidFill>
            <a:srgbClr val="1F1A33"/>
          </a:solidFill>
          <a:ln w="12700">
            <a:solidFill>
              <a:srgbClr val="1F1A33"/>
            </a:solidFill>
            <a:prstDash val="solid"/>
          </a:ln>
        </p:spPr>
      </p:sp>
      <p:sp>
        <p:nvSpPr>
          <p:cNvPr id="11" name="Shape 9"/>
          <p:cNvSpPr/>
          <p:nvPr/>
        </p:nvSpPr>
        <p:spPr>
          <a:xfrm>
            <a:off x="7360920" y="320040"/>
            <a:ext cx="2011680" cy="1143000"/>
          </a:xfrm>
          <a:prstGeom prst="roundRect">
            <a:avLst>
              <a:gd name="adj" fmla="val 6400"/>
            </a:avLst>
          </a:prstGeom>
          <a:solidFill>
            <a:srgbClr val="FFFFFF"/>
          </a:solidFill>
          <a:ln w="19050">
            <a:solidFill>
              <a:srgbClr val="2F6FB5"/>
            </a:solidFill>
            <a:prstDash val="solid"/>
          </a:ln>
        </p:spPr>
      </p:sp>
      <p:sp>
        <p:nvSpPr>
          <p:cNvPr id="12" name="Text 10"/>
          <p:cNvSpPr/>
          <p:nvPr/>
        </p:nvSpPr>
        <p:spPr>
          <a:xfrm>
            <a:off x="7360920" y="320040"/>
            <a:ext cx="2011680" cy="1143000"/>
          </a:xfrm>
          <a:prstGeom prst="rect">
            <a:avLst/>
          </a:prstGeom>
          <a:noFill/>
          <a:ln/>
        </p:spPr>
        <p:txBody>
          <a:bodyPr wrap="square" lIns="635" tIns="635" rIns="635" bIns="635" rtlCol="0" anchor="ctr"/>
          <a:lstStyle/>
          <a:p>
            <a:pPr algn="ctr" indent="0" marL="0">
              <a:buNone/>
            </a:pPr>
            <a:r>
              <a:rPr lang="en-US" sz="1600" b="1" dirty="0">
                <a:solidFill>
                  <a:srgbClr val="2F6FB5"/>
                </a:solidFill>
                <a:latin typeface="Calibri" pitchFamily="34" charset="0"/>
                <a:ea typeface="Calibri" pitchFamily="34" charset="-122"/>
                <a:cs typeface="Calibri" pitchFamily="34" charset="-120"/>
              </a:rPr>
              <a:t>3. Training vectors</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16-D,</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N = 16,384</a:t>
            </a:r>
            <a:endParaRPr lang="en-US" sz="1600" dirty="0"/>
          </a:p>
        </p:txBody>
      </p:sp>
      <p:sp>
        <p:nvSpPr>
          <p:cNvPr id="13" name="Text 11"/>
          <p:cNvSpPr/>
          <p:nvPr/>
        </p:nvSpPr>
        <p:spPr>
          <a:xfrm>
            <a:off x="6355080" y="1591056"/>
            <a:ext cx="5394960" cy="228600"/>
          </a:xfrm>
          <a:prstGeom prst="rect">
            <a:avLst/>
          </a:prstGeom>
          <a:noFill/>
          <a:ln/>
        </p:spPr>
        <p:txBody>
          <a:bodyPr wrap="square" lIns="0" tIns="0" rIns="0" bIns="0" rtlCol="0" anchor="ctr"/>
          <a:lstStyle/>
          <a:p>
            <a:pPr indent="0" marL="0">
              <a:buNone/>
            </a:pPr>
            <a:r>
              <a:rPr lang="en-US" sz="1300" b="1" i="1" dirty="0">
                <a:solidFill>
                  <a:srgbClr val="E0457B"/>
                </a:solidFill>
                <a:latin typeface="Calibri" pitchFamily="34" charset="0"/>
                <a:ea typeface="Calibri" pitchFamily="34" charset="-122"/>
                <a:cs typeface="Calibri" pitchFamily="34" charset="-120"/>
              </a:rPr>
              <a:t>16,384 training vectors (16-D)</a:t>
            </a:r>
            <a:endParaRPr lang="en-US" sz="1300" dirty="0"/>
          </a:p>
        </p:txBody>
      </p:sp>
      <p:sp>
        <p:nvSpPr>
          <p:cNvPr id="14" name="Shape 12"/>
          <p:cNvSpPr/>
          <p:nvPr/>
        </p:nvSpPr>
        <p:spPr>
          <a:xfrm>
            <a:off x="5989320" y="1609344"/>
            <a:ext cx="237744" cy="192024"/>
          </a:xfrm>
          <a:prstGeom prst="downArrow">
            <a:avLst/>
          </a:prstGeom>
          <a:solidFill>
            <a:srgbClr val="1F1A33"/>
          </a:solidFill>
          <a:ln w="12700">
            <a:solidFill>
              <a:srgbClr val="1F1A33"/>
            </a:solidFill>
            <a:prstDash val="solid"/>
          </a:ln>
        </p:spPr>
      </p:sp>
      <p:sp>
        <p:nvSpPr>
          <p:cNvPr id="15" name="Shape 13"/>
          <p:cNvSpPr/>
          <p:nvPr/>
        </p:nvSpPr>
        <p:spPr>
          <a:xfrm>
            <a:off x="320040" y="1810512"/>
            <a:ext cx="11503152" cy="1417320"/>
          </a:xfrm>
          <a:prstGeom prst="roundRect">
            <a:avLst>
              <a:gd name="adj" fmla="val 6452"/>
            </a:avLst>
          </a:prstGeom>
          <a:solidFill>
            <a:srgbClr val="FDEBD9"/>
          </a:solidFill>
          <a:ln w="31750">
            <a:solidFill>
              <a:srgbClr val="E07B22"/>
            </a:solidFill>
            <a:prstDash val="dash"/>
          </a:ln>
        </p:spPr>
      </p:sp>
      <p:sp>
        <p:nvSpPr>
          <p:cNvPr id="16" name="Shape 14"/>
          <p:cNvSpPr/>
          <p:nvPr/>
        </p:nvSpPr>
        <p:spPr>
          <a:xfrm>
            <a:off x="365760" y="1856232"/>
            <a:ext cx="2240280" cy="1325880"/>
          </a:xfrm>
          <a:prstGeom prst="roundRect">
            <a:avLst>
              <a:gd name="adj" fmla="val 5517"/>
            </a:avLst>
          </a:prstGeom>
          <a:solidFill>
            <a:srgbClr val="E07B22"/>
          </a:solidFill>
          <a:ln w="12700">
            <a:solidFill>
              <a:srgbClr val="E07B22"/>
            </a:solidFill>
            <a:prstDash val="solid"/>
          </a:ln>
        </p:spPr>
      </p:sp>
      <p:sp>
        <p:nvSpPr>
          <p:cNvPr id="17" name="Text 15"/>
          <p:cNvSpPr/>
          <p:nvPr/>
        </p:nvSpPr>
        <p:spPr>
          <a:xfrm>
            <a:off x="365760" y="1856232"/>
            <a:ext cx="2240280" cy="1325880"/>
          </a:xfrm>
          <a:prstGeom prst="rect">
            <a:avLst/>
          </a:prstGeom>
          <a:noFill/>
          <a:ln/>
        </p:spPr>
        <p:txBody>
          <a:bodyPr wrap="square" lIns="762" tIns="762" rIns="762" bIns="762"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Stage 2</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Parallel LBG</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Training (MPI)</a:t>
            </a:r>
            <a:endParaRPr lang="en-US" sz="2200" dirty="0"/>
          </a:p>
        </p:txBody>
      </p:sp>
      <p:sp>
        <p:nvSpPr>
          <p:cNvPr id="18" name="Shape 16"/>
          <p:cNvSpPr/>
          <p:nvPr/>
        </p:nvSpPr>
        <p:spPr>
          <a:xfrm>
            <a:off x="2788920" y="1947672"/>
            <a:ext cx="2011680" cy="1143000"/>
          </a:xfrm>
          <a:prstGeom prst="roundRect">
            <a:avLst>
              <a:gd name="adj" fmla="val 6400"/>
            </a:avLst>
          </a:prstGeom>
          <a:solidFill>
            <a:srgbClr val="FFFFFF"/>
          </a:solidFill>
          <a:ln w="19050">
            <a:solidFill>
              <a:srgbClr val="E07B22"/>
            </a:solidFill>
            <a:prstDash val="solid"/>
          </a:ln>
        </p:spPr>
      </p:sp>
      <p:sp>
        <p:nvSpPr>
          <p:cNvPr id="19" name="Text 17"/>
          <p:cNvSpPr/>
          <p:nvPr/>
        </p:nvSpPr>
        <p:spPr>
          <a:xfrm>
            <a:off x="2788920" y="1947672"/>
            <a:ext cx="2011680" cy="1143000"/>
          </a:xfrm>
          <a:prstGeom prst="rect">
            <a:avLst/>
          </a:prstGeom>
          <a:noFill/>
          <a:ln/>
        </p:spPr>
        <p:txBody>
          <a:bodyPr wrap="square" lIns="635" tIns="635" rIns="635" bIns="635" rtlCol="0" anchor="ctr"/>
          <a:lstStyle/>
          <a:p>
            <a:pPr algn="ctr" indent="0" marL="0">
              <a:buNone/>
            </a:pPr>
            <a:r>
              <a:rPr lang="en-US" sz="1600" b="1" dirty="0">
                <a:solidFill>
                  <a:srgbClr val="E07B22"/>
                </a:solidFill>
                <a:latin typeface="Calibri" pitchFamily="34" charset="0"/>
                <a:ea typeface="Calibri" pitchFamily="34" charset="-122"/>
                <a:cs typeface="Calibri" pitchFamily="34" charset="-120"/>
              </a:rPr>
              <a:t>1. Distribute</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MPI_Scatterv:</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Equal / Adaptive</a:t>
            </a:r>
            <a:endParaRPr lang="en-US" sz="1600" dirty="0"/>
          </a:p>
        </p:txBody>
      </p:sp>
      <p:sp>
        <p:nvSpPr>
          <p:cNvPr id="20" name="Shape 18"/>
          <p:cNvSpPr/>
          <p:nvPr/>
        </p:nvSpPr>
        <p:spPr>
          <a:xfrm>
            <a:off x="4828032" y="2400300"/>
            <a:ext cx="219456" cy="237744"/>
          </a:xfrm>
          <a:prstGeom prst="rightArrow">
            <a:avLst/>
          </a:prstGeom>
          <a:solidFill>
            <a:srgbClr val="1F1A33"/>
          </a:solidFill>
          <a:ln w="12700">
            <a:solidFill>
              <a:srgbClr val="1F1A33"/>
            </a:solidFill>
            <a:prstDash val="solid"/>
          </a:ln>
        </p:spPr>
      </p:sp>
      <p:sp>
        <p:nvSpPr>
          <p:cNvPr id="21" name="Shape 19"/>
          <p:cNvSpPr/>
          <p:nvPr/>
        </p:nvSpPr>
        <p:spPr>
          <a:xfrm>
            <a:off x="5074920" y="1947672"/>
            <a:ext cx="2011680" cy="1143000"/>
          </a:xfrm>
          <a:prstGeom prst="roundRect">
            <a:avLst>
              <a:gd name="adj" fmla="val 6400"/>
            </a:avLst>
          </a:prstGeom>
          <a:solidFill>
            <a:srgbClr val="FFFFFF"/>
          </a:solidFill>
          <a:ln w="19050">
            <a:solidFill>
              <a:srgbClr val="E07B22"/>
            </a:solidFill>
            <a:prstDash val="solid"/>
          </a:ln>
        </p:spPr>
      </p:sp>
      <p:sp>
        <p:nvSpPr>
          <p:cNvPr id="22" name="Text 20"/>
          <p:cNvSpPr/>
          <p:nvPr/>
        </p:nvSpPr>
        <p:spPr>
          <a:xfrm>
            <a:off x="5074920" y="1947672"/>
            <a:ext cx="2011680" cy="1143000"/>
          </a:xfrm>
          <a:prstGeom prst="rect">
            <a:avLst/>
          </a:prstGeom>
          <a:noFill/>
          <a:ln/>
        </p:spPr>
        <p:txBody>
          <a:bodyPr wrap="square" lIns="635" tIns="635" rIns="635" bIns="635" rtlCol="0" anchor="ctr"/>
          <a:lstStyle/>
          <a:p>
            <a:pPr algn="ctr" indent="0" marL="0">
              <a:buNone/>
            </a:pPr>
            <a:r>
              <a:rPr lang="en-US" sz="1600" b="1" dirty="0">
                <a:solidFill>
                  <a:srgbClr val="E07B22"/>
                </a:solidFill>
                <a:latin typeface="Calibri" pitchFamily="34" charset="0"/>
                <a:ea typeface="Calibri" pitchFamily="34" charset="-122"/>
                <a:cs typeface="Calibri" pitchFamily="34" charset="-120"/>
              </a:rPr>
              <a:t>2. Assign</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nearest codeword</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on each rank</a:t>
            </a:r>
            <a:endParaRPr lang="en-US" sz="1600" dirty="0"/>
          </a:p>
        </p:txBody>
      </p:sp>
      <p:sp>
        <p:nvSpPr>
          <p:cNvPr id="23" name="Shape 21"/>
          <p:cNvSpPr/>
          <p:nvPr/>
        </p:nvSpPr>
        <p:spPr>
          <a:xfrm>
            <a:off x="7114032" y="2400300"/>
            <a:ext cx="219456" cy="237744"/>
          </a:xfrm>
          <a:prstGeom prst="rightArrow">
            <a:avLst/>
          </a:prstGeom>
          <a:solidFill>
            <a:srgbClr val="1F1A33"/>
          </a:solidFill>
          <a:ln w="12700">
            <a:solidFill>
              <a:srgbClr val="1F1A33"/>
            </a:solidFill>
            <a:prstDash val="solid"/>
          </a:ln>
        </p:spPr>
      </p:sp>
      <p:sp>
        <p:nvSpPr>
          <p:cNvPr id="24" name="Shape 22"/>
          <p:cNvSpPr/>
          <p:nvPr/>
        </p:nvSpPr>
        <p:spPr>
          <a:xfrm>
            <a:off x="7360920" y="1947672"/>
            <a:ext cx="2011680" cy="1143000"/>
          </a:xfrm>
          <a:prstGeom prst="roundRect">
            <a:avLst>
              <a:gd name="adj" fmla="val 6400"/>
            </a:avLst>
          </a:prstGeom>
          <a:solidFill>
            <a:srgbClr val="FFFFFF"/>
          </a:solidFill>
          <a:ln w="19050">
            <a:solidFill>
              <a:srgbClr val="E07B22"/>
            </a:solidFill>
            <a:prstDash val="solid"/>
          </a:ln>
        </p:spPr>
      </p:sp>
      <p:sp>
        <p:nvSpPr>
          <p:cNvPr id="25" name="Text 23"/>
          <p:cNvSpPr/>
          <p:nvPr/>
        </p:nvSpPr>
        <p:spPr>
          <a:xfrm>
            <a:off x="7360920" y="1947672"/>
            <a:ext cx="2011680" cy="1143000"/>
          </a:xfrm>
          <a:prstGeom prst="rect">
            <a:avLst/>
          </a:prstGeom>
          <a:noFill/>
          <a:ln/>
        </p:spPr>
        <p:txBody>
          <a:bodyPr wrap="square" lIns="635" tIns="635" rIns="635" bIns="635" rtlCol="0" anchor="ctr"/>
          <a:lstStyle/>
          <a:p>
            <a:pPr algn="ctr" indent="0" marL="0">
              <a:buNone/>
            </a:pPr>
            <a:r>
              <a:rPr lang="en-US" sz="1600" b="1" dirty="0">
                <a:solidFill>
                  <a:srgbClr val="E07B22"/>
                </a:solidFill>
                <a:latin typeface="Calibri" pitchFamily="34" charset="0"/>
                <a:ea typeface="Calibri" pitchFamily="34" charset="-122"/>
                <a:cs typeface="Calibri" pitchFamily="34" charset="-120"/>
              </a:rPr>
              <a:t>3. Combine</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Allreduce: sums,</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counts, distortion</a:t>
            </a:r>
            <a:endParaRPr lang="en-US" sz="1600" dirty="0"/>
          </a:p>
        </p:txBody>
      </p:sp>
      <p:sp>
        <p:nvSpPr>
          <p:cNvPr id="26" name="Shape 24"/>
          <p:cNvSpPr/>
          <p:nvPr/>
        </p:nvSpPr>
        <p:spPr>
          <a:xfrm>
            <a:off x="9400032" y="2400300"/>
            <a:ext cx="219456" cy="237744"/>
          </a:xfrm>
          <a:prstGeom prst="rightArrow">
            <a:avLst/>
          </a:prstGeom>
          <a:solidFill>
            <a:srgbClr val="1F1A33"/>
          </a:solidFill>
          <a:ln w="12700">
            <a:solidFill>
              <a:srgbClr val="1F1A33"/>
            </a:solidFill>
            <a:prstDash val="solid"/>
          </a:ln>
        </p:spPr>
      </p:sp>
      <p:sp>
        <p:nvSpPr>
          <p:cNvPr id="27" name="Shape 25"/>
          <p:cNvSpPr/>
          <p:nvPr/>
        </p:nvSpPr>
        <p:spPr>
          <a:xfrm>
            <a:off x="9646920" y="1947672"/>
            <a:ext cx="2011680" cy="1143000"/>
          </a:xfrm>
          <a:prstGeom prst="roundRect">
            <a:avLst>
              <a:gd name="adj" fmla="val 6400"/>
            </a:avLst>
          </a:prstGeom>
          <a:solidFill>
            <a:srgbClr val="FFFFFF"/>
          </a:solidFill>
          <a:ln w="19050">
            <a:solidFill>
              <a:srgbClr val="E07B22"/>
            </a:solidFill>
            <a:prstDash val="solid"/>
          </a:ln>
        </p:spPr>
      </p:sp>
      <p:sp>
        <p:nvSpPr>
          <p:cNvPr id="28" name="Text 26"/>
          <p:cNvSpPr/>
          <p:nvPr/>
        </p:nvSpPr>
        <p:spPr>
          <a:xfrm>
            <a:off x="9646920" y="1947672"/>
            <a:ext cx="2011680" cy="1143000"/>
          </a:xfrm>
          <a:prstGeom prst="rect">
            <a:avLst/>
          </a:prstGeom>
          <a:noFill/>
          <a:ln/>
        </p:spPr>
        <p:txBody>
          <a:bodyPr wrap="square" lIns="635" tIns="635" rIns="635" bIns="635" rtlCol="0" anchor="ctr"/>
          <a:lstStyle/>
          <a:p>
            <a:pPr algn="ctr" indent="0" marL="0">
              <a:buNone/>
            </a:pPr>
            <a:r>
              <a:rPr lang="en-US" sz="1600" b="1" dirty="0">
                <a:solidFill>
                  <a:srgbClr val="E07B22"/>
                </a:solidFill>
                <a:latin typeface="Calibri" pitchFamily="34" charset="0"/>
                <a:ea typeface="Calibri" pitchFamily="34" charset="-122"/>
                <a:cs typeface="Calibri" pitchFamily="34" charset="-120"/>
              </a:rPr>
              <a:t>4. Refine and split</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per level,</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until K = 64</a:t>
            </a:r>
            <a:endParaRPr lang="en-US" sz="1600" dirty="0"/>
          </a:p>
        </p:txBody>
      </p:sp>
      <p:sp>
        <p:nvSpPr>
          <p:cNvPr id="29" name="Text 27"/>
          <p:cNvSpPr/>
          <p:nvPr/>
        </p:nvSpPr>
        <p:spPr>
          <a:xfrm>
            <a:off x="6355080" y="3218688"/>
            <a:ext cx="5394960" cy="228600"/>
          </a:xfrm>
          <a:prstGeom prst="rect">
            <a:avLst/>
          </a:prstGeom>
          <a:noFill/>
          <a:ln/>
        </p:spPr>
        <p:txBody>
          <a:bodyPr wrap="square" lIns="0" tIns="0" rIns="0" bIns="0" rtlCol="0" anchor="ctr"/>
          <a:lstStyle/>
          <a:p>
            <a:pPr indent="0" marL="0">
              <a:buNone/>
            </a:pPr>
            <a:r>
              <a:rPr lang="en-US" sz="1300" b="1" i="1" dirty="0">
                <a:solidFill>
                  <a:srgbClr val="E0457B"/>
                </a:solidFill>
                <a:latin typeface="Calibri" pitchFamily="34" charset="0"/>
                <a:ea typeface="Calibri" pitchFamily="34" charset="-122"/>
                <a:cs typeface="Calibri" pitchFamily="34" charset="-120"/>
              </a:rPr>
              <a:t>codebook C + index array L (gathered on Rank 0)</a:t>
            </a:r>
            <a:endParaRPr lang="en-US" sz="1300" dirty="0"/>
          </a:p>
        </p:txBody>
      </p:sp>
      <p:sp>
        <p:nvSpPr>
          <p:cNvPr id="30" name="Shape 28"/>
          <p:cNvSpPr/>
          <p:nvPr/>
        </p:nvSpPr>
        <p:spPr>
          <a:xfrm>
            <a:off x="5989320" y="3236976"/>
            <a:ext cx="237744" cy="192024"/>
          </a:xfrm>
          <a:prstGeom prst="downArrow">
            <a:avLst/>
          </a:prstGeom>
          <a:solidFill>
            <a:srgbClr val="1F1A33"/>
          </a:solidFill>
          <a:ln w="12700">
            <a:solidFill>
              <a:srgbClr val="1F1A33"/>
            </a:solidFill>
            <a:prstDash val="solid"/>
          </a:ln>
        </p:spPr>
      </p:sp>
      <p:sp>
        <p:nvSpPr>
          <p:cNvPr id="31" name="Shape 29"/>
          <p:cNvSpPr/>
          <p:nvPr/>
        </p:nvSpPr>
        <p:spPr>
          <a:xfrm>
            <a:off x="320040" y="3438144"/>
            <a:ext cx="11503152" cy="1417320"/>
          </a:xfrm>
          <a:prstGeom prst="roundRect">
            <a:avLst>
              <a:gd name="adj" fmla="val 6452"/>
            </a:avLst>
          </a:prstGeom>
          <a:solidFill>
            <a:srgbClr val="DDF3F0"/>
          </a:solidFill>
          <a:ln w="12700">
            <a:solidFill>
              <a:srgbClr val="2A9D8F"/>
            </a:solidFill>
            <a:prstDash val="solid"/>
          </a:ln>
        </p:spPr>
      </p:sp>
      <p:sp>
        <p:nvSpPr>
          <p:cNvPr id="32" name="Shape 30"/>
          <p:cNvSpPr/>
          <p:nvPr/>
        </p:nvSpPr>
        <p:spPr>
          <a:xfrm>
            <a:off x="365760" y="3483864"/>
            <a:ext cx="2240280" cy="1325880"/>
          </a:xfrm>
          <a:prstGeom prst="roundRect">
            <a:avLst>
              <a:gd name="adj" fmla="val 5517"/>
            </a:avLst>
          </a:prstGeom>
          <a:solidFill>
            <a:srgbClr val="2A9D8F"/>
          </a:solidFill>
          <a:ln w="12700">
            <a:solidFill>
              <a:srgbClr val="2A9D8F"/>
            </a:solidFill>
            <a:prstDash val="solid"/>
          </a:ln>
        </p:spPr>
      </p:sp>
      <p:sp>
        <p:nvSpPr>
          <p:cNvPr id="33" name="Text 31"/>
          <p:cNvSpPr/>
          <p:nvPr/>
        </p:nvSpPr>
        <p:spPr>
          <a:xfrm>
            <a:off x="365760" y="3483864"/>
            <a:ext cx="2240280" cy="1325880"/>
          </a:xfrm>
          <a:prstGeom prst="rect">
            <a:avLst/>
          </a:prstGeom>
          <a:noFill/>
          <a:ln/>
        </p:spPr>
        <p:txBody>
          <a:bodyPr wrap="square" lIns="762" tIns="762" rIns="762" bIns="762"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Stage 3</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Lossless Index</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Coding (Rank 0)</a:t>
            </a:r>
            <a:endParaRPr lang="en-US" sz="2200" dirty="0"/>
          </a:p>
        </p:txBody>
      </p:sp>
      <p:sp>
        <p:nvSpPr>
          <p:cNvPr id="34" name="Shape 32"/>
          <p:cNvSpPr/>
          <p:nvPr/>
        </p:nvSpPr>
        <p:spPr>
          <a:xfrm>
            <a:off x="2788920" y="3575304"/>
            <a:ext cx="2011680" cy="1143000"/>
          </a:xfrm>
          <a:prstGeom prst="roundRect">
            <a:avLst>
              <a:gd name="adj" fmla="val 6400"/>
            </a:avLst>
          </a:prstGeom>
          <a:solidFill>
            <a:srgbClr val="FFFFFF"/>
          </a:solidFill>
          <a:ln w="19050">
            <a:solidFill>
              <a:srgbClr val="2A9D8F"/>
            </a:solidFill>
            <a:prstDash val="solid"/>
          </a:ln>
        </p:spPr>
      </p:sp>
      <p:sp>
        <p:nvSpPr>
          <p:cNvPr id="35" name="Text 33"/>
          <p:cNvSpPr/>
          <p:nvPr/>
        </p:nvSpPr>
        <p:spPr>
          <a:xfrm>
            <a:off x="2788920" y="3575304"/>
            <a:ext cx="2011680" cy="1143000"/>
          </a:xfrm>
          <a:prstGeom prst="rect">
            <a:avLst/>
          </a:prstGeom>
          <a:noFill/>
          <a:ln/>
        </p:spPr>
        <p:txBody>
          <a:bodyPr wrap="square" lIns="635" tIns="635" rIns="635" bIns="635" rtlCol="0" anchor="ctr"/>
          <a:lstStyle/>
          <a:p>
            <a:pPr algn="ctr" indent="0" marL="0">
              <a:buNone/>
            </a:pPr>
            <a:r>
              <a:rPr lang="en-US" sz="1600" b="1" dirty="0">
                <a:solidFill>
                  <a:srgbClr val="2A9D8F"/>
                </a:solidFill>
                <a:latin typeface="Calibri" pitchFamily="34" charset="0"/>
                <a:ea typeface="Calibri" pitchFamily="34" charset="-122"/>
                <a:cs typeface="Calibri" pitchFamily="34" charset="-120"/>
              </a:rPr>
              <a:t>1. Delta coding</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differences of</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VQ indices</a:t>
            </a:r>
            <a:endParaRPr lang="en-US" sz="1600" dirty="0"/>
          </a:p>
        </p:txBody>
      </p:sp>
      <p:sp>
        <p:nvSpPr>
          <p:cNvPr id="36" name="Shape 34"/>
          <p:cNvSpPr/>
          <p:nvPr/>
        </p:nvSpPr>
        <p:spPr>
          <a:xfrm>
            <a:off x="4828032" y="4027932"/>
            <a:ext cx="219456" cy="237744"/>
          </a:xfrm>
          <a:prstGeom prst="rightArrow">
            <a:avLst/>
          </a:prstGeom>
          <a:solidFill>
            <a:srgbClr val="1F1A33"/>
          </a:solidFill>
          <a:ln w="12700">
            <a:solidFill>
              <a:srgbClr val="1F1A33"/>
            </a:solidFill>
            <a:prstDash val="solid"/>
          </a:ln>
        </p:spPr>
      </p:sp>
      <p:sp>
        <p:nvSpPr>
          <p:cNvPr id="37" name="Shape 35"/>
          <p:cNvSpPr/>
          <p:nvPr/>
        </p:nvSpPr>
        <p:spPr>
          <a:xfrm>
            <a:off x="5074920" y="3575304"/>
            <a:ext cx="2011680" cy="1143000"/>
          </a:xfrm>
          <a:prstGeom prst="roundRect">
            <a:avLst>
              <a:gd name="adj" fmla="val 6400"/>
            </a:avLst>
          </a:prstGeom>
          <a:solidFill>
            <a:srgbClr val="FFFFFF"/>
          </a:solidFill>
          <a:ln w="19050">
            <a:solidFill>
              <a:srgbClr val="2A9D8F"/>
            </a:solidFill>
            <a:prstDash val="solid"/>
          </a:ln>
        </p:spPr>
      </p:sp>
      <p:sp>
        <p:nvSpPr>
          <p:cNvPr id="38" name="Text 36"/>
          <p:cNvSpPr/>
          <p:nvPr/>
        </p:nvSpPr>
        <p:spPr>
          <a:xfrm>
            <a:off x="5074920" y="3575304"/>
            <a:ext cx="2011680" cy="1143000"/>
          </a:xfrm>
          <a:prstGeom prst="rect">
            <a:avLst/>
          </a:prstGeom>
          <a:noFill/>
          <a:ln/>
        </p:spPr>
        <p:txBody>
          <a:bodyPr wrap="square" lIns="635" tIns="635" rIns="635" bIns="635" rtlCol="0" anchor="ctr"/>
          <a:lstStyle/>
          <a:p>
            <a:pPr algn="ctr" indent="0" marL="0">
              <a:buNone/>
            </a:pPr>
            <a:r>
              <a:rPr lang="en-US" sz="1600" b="1" dirty="0">
                <a:solidFill>
                  <a:srgbClr val="2A9D8F"/>
                </a:solidFill>
                <a:latin typeface="Calibri" pitchFamily="34" charset="0"/>
                <a:ea typeface="Calibri" pitchFamily="34" charset="-122"/>
                <a:cs typeface="Calibri" pitchFamily="34" charset="-120"/>
              </a:rPr>
              <a:t>2. Huffman coding</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variable-length</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codes</a:t>
            </a:r>
            <a:endParaRPr lang="en-US" sz="1600" dirty="0"/>
          </a:p>
        </p:txBody>
      </p:sp>
      <p:sp>
        <p:nvSpPr>
          <p:cNvPr id="39" name="Shape 37"/>
          <p:cNvSpPr/>
          <p:nvPr/>
        </p:nvSpPr>
        <p:spPr>
          <a:xfrm>
            <a:off x="7114032" y="4027932"/>
            <a:ext cx="219456" cy="237744"/>
          </a:xfrm>
          <a:prstGeom prst="rightArrow">
            <a:avLst/>
          </a:prstGeom>
          <a:solidFill>
            <a:srgbClr val="1F1A33"/>
          </a:solidFill>
          <a:ln w="12700">
            <a:solidFill>
              <a:srgbClr val="1F1A33"/>
            </a:solidFill>
            <a:prstDash val="solid"/>
          </a:ln>
        </p:spPr>
      </p:sp>
      <p:sp>
        <p:nvSpPr>
          <p:cNvPr id="40" name="Shape 38"/>
          <p:cNvSpPr/>
          <p:nvPr/>
        </p:nvSpPr>
        <p:spPr>
          <a:xfrm>
            <a:off x="7360920" y="3575304"/>
            <a:ext cx="2011680" cy="1143000"/>
          </a:xfrm>
          <a:prstGeom prst="roundRect">
            <a:avLst>
              <a:gd name="adj" fmla="val 6400"/>
            </a:avLst>
          </a:prstGeom>
          <a:solidFill>
            <a:srgbClr val="FFFFFF"/>
          </a:solidFill>
          <a:ln w="19050">
            <a:solidFill>
              <a:srgbClr val="2A9D8F"/>
            </a:solidFill>
            <a:prstDash val="solid"/>
          </a:ln>
        </p:spPr>
      </p:sp>
      <p:sp>
        <p:nvSpPr>
          <p:cNvPr id="41" name="Text 39"/>
          <p:cNvSpPr/>
          <p:nvPr/>
        </p:nvSpPr>
        <p:spPr>
          <a:xfrm>
            <a:off x="7360920" y="3575304"/>
            <a:ext cx="2011680" cy="1143000"/>
          </a:xfrm>
          <a:prstGeom prst="rect">
            <a:avLst/>
          </a:prstGeom>
          <a:noFill/>
          <a:ln/>
        </p:spPr>
        <p:txBody>
          <a:bodyPr wrap="square" lIns="635" tIns="635" rIns="635" bIns="635" rtlCol="0" anchor="ctr"/>
          <a:lstStyle/>
          <a:p>
            <a:pPr algn="ctr" indent="0" marL="0">
              <a:buNone/>
            </a:pPr>
            <a:r>
              <a:rPr lang="en-US" sz="1600" b="1" dirty="0">
                <a:solidFill>
                  <a:srgbClr val="2A9D8F"/>
                </a:solidFill>
                <a:latin typeface="Calibri" pitchFamily="34" charset="0"/>
                <a:ea typeface="Calibri" pitchFamily="34" charset="-122"/>
                <a:cs typeface="Calibri" pitchFamily="34" charset="-120"/>
              </a:rPr>
              <a:t>3. Compressed size</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codebook + Huffman table</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 coded indices</a:t>
            </a:r>
            <a:endParaRPr lang="en-US" sz="1600" dirty="0"/>
          </a:p>
        </p:txBody>
      </p:sp>
      <p:sp>
        <p:nvSpPr>
          <p:cNvPr id="42" name="Text 40"/>
          <p:cNvSpPr/>
          <p:nvPr/>
        </p:nvSpPr>
        <p:spPr>
          <a:xfrm>
            <a:off x="6355080" y="4846320"/>
            <a:ext cx="5394960" cy="228600"/>
          </a:xfrm>
          <a:prstGeom prst="rect">
            <a:avLst/>
          </a:prstGeom>
          <a:noFill/>
          <a:ln/>
        </p:spPr>
        <p:txBody>
          <a:bodyPr wrap="square" lIns="0" tIns="0" rIns="0" bIns="0" rtlCol="0" anchor="ctr"/>
          <a:lstStyle/>
          <a:p>
            <a:pPr indent="0" marL="0">
              <a:buNone/>
            </a:pPr>
            <a:r>
              <a:rPr lang="en-US" sz="1300" b="1" i="1" dirty="0">
                <a:solidFill>
                  <a:srgbClr val="E0457B"/>
                </a:solidFill>
                <a:latin typeface="Calibri" pitchFamily="34" charset="0"/>
                <a:ea typeface="Calibri" pitchFamily="34" charset="-122"/>
                <a:cs typeface="Calibri" pitchFamily="34" charset="-120"/>
              </a:rPr>
              <a:t>accounted size: codebook + Huffman table + coded indices</a:t>
            </a:r>
            <a:endParaRPr lang="en-US" sz="1300" dirty="0"/>
          </a:p>
        </p:txBody>
      </p:sp>
      <p:sp>
        <p:nvSpPr>
          <p:cNvPr id="43" name="Shape 41"/>
          <p:cNvSpPr/>
          <p:nvPr/>
        </p:nvSpPr>
        <p:spPr>
          <a:xfrm>
            <a:off x="5989320" y="4864608"/>
            <a:ext cx="237744" cy="192024"/>
          </a:xfrm>
          <a:prstGeom prst="downArrow">
            <a:avLst/>
          </a:prstGeom>
          <a:solidFill>
            <a:srgbClr val="1F1A33"/>
          </a:solidFill>
          <a:ln w="12700">
            <a:solidFill>
              <a:srgbClr val="1F1A33"/>
            </a:solidFill>
            <a:prstDash val="solid"/>
          </a:ln>
        </p:spPr>
      </p:sp>
      <p:sp>
        <p:nvSpPr>
          <p:cNvPr id="44" name="Shape 42"/>
          <p:cNvSpPr/>
          <p:nvPr/>
        </p:nvSpPr>
        <p:spPr>
          <a:xfrm>
            <a:off x="320040" y="5065776"/>
            <a:ext cx="11503152" cy="1417320"/>
          </a:xfrm>
          <a:prstGeom prst="roundRect">
            <a:avLst>
              <a:gd name="adj" fmla="val 6452"/>
            </a:avLst>
          </a:prstGeom>
          <a:solidFill>
            <a:srgbClr val="ECE6F6"/>
          </a:solidFill>
          <a:ln w="12700">
            <a:solidFill>
              <a:srgbClr val="6B4FA3"/>
            </a:solidFill>
            <a:prstDash val="solid"/>
          </a:ln>
        </p:spPr>
      </p:sp>
      <p:sp>
        <p:nvSpPr>
          <p:cNvPr id="45" name="Shape 43"/>
          <p:cNvSpPr/>
          <p:nvPr/>
        </p:nvSpPr>
        <p:spPr>
          <a:xfrm>
            <a:off x="365760" y="5111496"/>
            <a:ext cx="2240280" cy="1325880"/>
          </a:xfrm>
          <a:prstGeom prst="roundRect">
            <a:avLst>
              <a:gd name="adj" fmla="val 5517"/>
            </a:avLst>
          </a:prstGeom>
          <a:solidFill>
            <a:srgbClr val="6B4FA3"/>
          </a:solidFill>
          <a:ln w="12700">
            <a:solidFill>
              <a:srgbClr val="6B4FA3"/>
            </a:solidFill>
            <a:prstDash val="solid"/>
          </a:ln>
        </p:spPr>
      </p:sp>
      <p:sp>
        <p:nvSpPr>
          <p:cNvPr id="46" name="Text 44"/>
          <p:cNvSpPr/>
          <p:nvPr/>
        </p:nvSpPr>
        <p:spPr>
          <a:xfrm>
            <a:off x="365760" y="5111496"/>
            <a:ext cx="2240280" cy="1325880"/>
          </a:xfrm>
          <a:prstGeom prst="rect">
            <a:avLst/>
          </a:prstGeom>
          <a:noFill/>
          <a:ln/>
        </p:spPr>
        <p:txBody>
          <a:bodyPr wrap="square" lIns="762" tIns="762" rIns="762" bIns="762"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Stage 4</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Decoding and</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Evaluation</a:t>
            </a:r>
            <a:endParaRPr lang="en-US" sz="2200" dirty="0"/>
          </a:p>
        </p:txBody>
      </p:sp>
      <p:sp>
        <p:nvSpPr>
          <p:cNvPr id="47" name="Shape 45"/>
          <p:cNvSpPr/>
          <p:nvPr/>
        </p:nvSpPr>
        <p:spPr>
          <a:xfrm>
            <a:off x="2788920" y="5202936"/>
            <a:ext cx="2011680" cy="1143000"/>
          </a:xfrm>
          <a:prstGeom prst="roundRect">
            <a:avLst>
              <a:gd name="adj" fmla="val 6400"/>
            </a:avLst>
          </a:prstGeom>
          <a:solidFill>
            <a:srgbClr val="FFFFFF"/>
          </a:solidFill>
          <a:ln w="19050">
            <a:solidFill>
              <a:srgbClr val="6B4FA3"/>
            </a:solidFill>
            <a:prstDash val="solid"/>
          </a:ln>
        </p:spPr>
      </p:sp>
      <p:sp>
        <p:nvSpPr>
          <p:cNvPr id="48" name="Text 46"/>
          <p:cNvSpPr/>
          <p:nvPr/>
        </p:nvSpPr>
        <p:spPr>
          <a:xfrm>
            <a:off x="2788920" y="5202936"/>
            <a:ext cx="2011680" cy="1143000"/>
          </a:xfrm>
          <a:prstGeom prst="rect">
            <a:avLst/>
          </a:prstGeom>
          <a:noFill/>
          <a:ln/>
        </p:spPr>
        <p:txBody>
          <a:bodyPr wrap="square" lIns="635" tIns="635" rIns="635" bIns="635"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1. Huffman decoding</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Rank 0</a:t>
            </a:r>
            <a:endParaRPr lang="en-US" sz="1600" dirty="0"/>
          </a:p>
        </p:txBody>
      </p:sp>
      <p:sp>
        <p:nvSpPr>
          <p:cNvPr id="49" name="Shape 47"/>
          <p:cNvSpPr/>
          <p:nvPr/>
        </p:nvSpPr>
        <p:spPr>
          <a:xfrm>
            <a:off x="4828032" y="5655564"/>
            <a:ext cx="219456" cy="237744"/>
          </a:xfrm>
          <a:prstGeom prst="rightArrow">
            <a:avLst/>
          </a:prstGeom>
          <a:solidFill>
            <a:srgbClr val="1F1A33"/>
          </a:solidFill>
          <a:ln w="12700">
            <a:solidFill>
              <a:srgbClr val="1F1A33"/>
            </a:solidFill>
            <a:prstDash val="solid"/>
          </a:ln>
        </p:spPr>
      </p:sp>
      <p:sp>
        <p:nvSpPr>
          <p:cNvPr id="50" name="Shape 48"/>
          <p:cNvSpPr/>
          <p:nvPr/>
        </p:nvSpPr>
        <p:spPr>
          <a:xfrm>
            <a:off x="5074920" y="5202936"/>
            <a:ext cx="2011680" cy="1143000"/>
          </a:xfrm>
          <a:prstGeom prst="roundRect">
            <a:avLst>
              <a:gd name="adj" fmla="val 6400"/>
            </a:avLst>
          </a:prstGeom>
          <a:solidFill>
            <a:srgbClr val="FFFFFF"/>
          </a:solidFill>
          <a:ln w="19050">
            <a:solidFill>
              <a:srgbClr val="6B4FA3"/>
            </a:solidFill>
            <a:prstDash val="solid"/>
          </a:ln>
        </p:spPr>
      </p:sp>
      <p:sp>
        <p:nvSpPr>
          <p:cNvPr id="51" name="Text 49"/>
          <p:cNvSpPr/>
          <p:nvPr/>
        </p:nvSpPr>
        <p:spPr>
          <a:xfrm>
            <a:off x="5074920" y="5202936"/>
            <a:ext cx="2011680" cy="1143000"/>
          </a:xfrm>
          <a:prstGeom prst="rect">
            <a:avLst/>
          </a:prstGeom>
          <a:noFill/>
          <a:ln/>
        </p:spPr>
        <p:txBody>
          <a:bodyPr wrap="square" lIns="635" tIns="635" rIns="635" bIns="635"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2. Inverse delta</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recover</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VQ indices</a:t>
            </a:r>
            <a:endParaRPr lang="en-US" sz="1600" dirty="0"/>
          </a:p>
        </p:txBody>
      </p:sp>
      <p:sp>
        <p:nvSpPr>
          <p:cNvPr id="52" name="Shape 50"/>
          <p:cNvSpPr/>
          <p:nvPr/>
        </p:nvSpPr>
        <p:spPr>
          <a:xfrm>
            <a:off x="7114032" y="5655564"/>
            <a:ext cx="219456" cy="237744"/>
          </a:xfrm>
          <a:prstGeom prst="rightArrow">
            <a:avLst/>
          </a:prstGeom>
          <a:solidFill>
            <a:srgbClr val="1F1A33"/>
          </a:solidFill>
          <a:ln w="12700">
            <a:solidFill>
              <a:srgbClr val="1F1A33"/>
            </a:solidFill>
            <a:prstDash val="solid"/>
          </a:ln>
        </p:spPr>
      </p:sp>
      <p:sp>
        <p:nvSpPr>
          <p:cNvPr id="53" name="Shape 51"/>
          <p:cNvSpPr/>
          <p:nvPr/>
        </p:nvSpPr>
        <p:spPr>
          <a:xfrm>
            <a:off x="7360920" y="5202936"/>
            <a:ext cx="2011680" cy="1143000"/>
          </a:xfrm>
          <a:prstGeom prst="roundRect">
            <a:avLst>
              <a:gd name="adj" fmla="val 6400"/>
            </a:avLst>
          </a:prstGeom>
          <a:solidFill>
            <a:srgbClr val="FFFFFF"/>
          </a:solidFill>
          <a:ln w="19050">
            <a:solidFill>
              <a:srgbClr val="6B4FA3"/>
            </a:solidFill>
            <a:prstDash val="solid"/>
          </a:ln>
        </p:spPr>
      </p:sp>
      <p:sp>
        <p:nvSpPr>
          <p:cNvPr id="54" name="Text 52"/>
          <p:cNvSpPr/>
          <p:nvPr/>
        </p:nvSpPr>
        <p:spPr>
          <a:xfrm>
            <a:off x="7360920" y="5202936"/>
            <a:ext cx="2011680" cy="1143000"/>
          </a:xfrm>
          <a:prstGeom prst="rect">
            <a:avLst/>
          </a:prstGeom>
          <a:noFill/>
          <a:ln/>
        </p:spPr>
        <p:txBody>
          <a:bodyPr wrap="square" lIns="635" tIns="635" rIns="635" bIns="635"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3. Reconstruction</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codebook</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lookup</a:t>
            </a:r>
            <a:endParaRPr lang="en-US" sz="1600" dirty="0"/>
          </a:p>
        </p:txBody>
      </p:sp>
      <p:sp>
        <p:nvSpPr>
          <p:cNvPr id="55" name="Shape 53"/>
          <p:cNvSpPr/>
          <p:nvPr/>
        </p:nvSpPr>
        <p:spPr>
          <a:xfrm>
            <a:off x="9400032" y="5655564"/>
            <a:ext cx="219456" cy="237744"/>
          </a:xfrm>
          <a:prstGeom prst="rightArrow">
            <a:avLst/>
          </a:prstGeom>
          <a:solidFill>
            <a:srgbClr val="1F1A33"/>
          </a:solidFill>
          <a:ln w="12700">
            <a:solidFill>
              <a:srgbClr val="1F1A33"/>
            </a:solidFill>
            <a:prstDash val="solid"/>
          </a:ln>
        </p:spPr>
      </p:sp>
      <p:sp>
        <p:nvSpPr>
          <p:cNvPr id="56" name="Shape 54"/>
          <p:cNvSpPr/>
          <p:nvPr/>
        </p:nvSpPr>
        <p:spPr>
          <a:xfrm>
            <a:off x="9646920" y="5202936"/>
            <a:ext cx="2011680" cy="1143000"/>
          </a:xfrm>
          <a:prstGeom prst="roundRect">
            <a:avLst>
              <a:gd name="adj" fmla="val 6400"/>
            </a:avLst>
          </a:prstGeom>
          <a:solidFill>
            <a:srgbClr val="FFFFFF"/>
          </a:solidFill>
          <a:ln w="19050">
            <a:solidFill>
              <a:srgbClr val="6B4FA3"/>
            </a:solidFill>
            <a:prstDash val="solid"/>
          </a:ln>
        </p:spPr>
      </p:sp>
      <p:sp>
        <p:nvSpPr>
          <p:cNvPr id="57" name="Text 55"/>
          <p:cNvSpPr/>
          <p:nvPr/>
        </p:nvSpPr>
        <p:spPr>
          <a:xfrm>
            <a:off x="9646920" y="5202936"/>
            <a:ext cx="2011680" cy="1143000"/>
          </a:xfrm>
          <a:prstGeom prst="rect">
            <a:avLst/>
          </a:prstGeom>
          <a:noFill/>
          <a:ln/>
        </p:spPr>
        <p:txBody>
          <a:bodyPr wrap="square" lIns="635" tIns="635" rIns="635" bIns="635"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4. Metrics</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CR, BPP, MSE,</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PSNR; parallel SSIM</a:t>
            </a:r>
            <a:endParaRPr lang="en-US" sz="1600" dirty="0"/>
          </a:p>
        </p:txBody>
      </p:sp>
      <p:sp>
        <p:nvSpPr>
          <p:cNvPr id="58" name="Text 56"/>
          <p:cNvSpPr/>
          <p:nvPr/>
        </p:nvSpPr>
        <p:spPr>
          <a:xfrm>
            <a:off x="365760" y="6492240"/>
            <a:ext cx="11430000" cy="274320"/>
          </a:xfrm>
          <a:prstGeom prst="rect">
            <a:avLst/>
          </a:prstGeom>
          <a:noFill/>
          <a:ln/>
        </p:spPr>
        <p:txBody>
          <a:bodyPr wrap="square" lIns="0" tIns="0" rIns="0" bIns="0" rtlCol="0" anchor="ctr"/>
          <a:lstStyle/>
          <a:p>
            <a:pPr algn="ctr" indent="0" marL="0">
              <a:buNone/>
            </a:pPr>
            <a:r>
              <a:rPr lang="en-US" sz="1300" i="1" dirty="0">
                <a:solidFill>
                  <a:srgbClr val="6B4FA3"/>
                </a:solidFill>
                <a:latin typeface="Calibri" pitchFamily="34" charset="0"/>
                <a:ea typeface="Calibri" pitchFamily="34" charset="-122"/>
                <a:cs typeface="Calibri" pitchFamily="34" charset="-120"/>
              </a:rPr>
              <a:t>Parallel: LBG training and SSIM   |   Rank 0: index coding, decoding, reconstruction, and remaining metrics</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2F6FB5"/>
          </a:solidFill>
          <a:ln w="12700">
            <a:solidFill>
              <a:srgbClr val="2F6FB5"/>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1</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Block Formation</a:t>
            </a:r>
            <a:endParaRPr lang="en-US" sz="2800" dirty="0"/>
          </a:p>
        </p:txBody>
      </p:sp>
      <p:sp>
        <p:nvSpPr>
          <p:cNvPr id="5" name="Shape 3"/>
          <p:cNvSpPr/>
          <p:nvPr/>
        </p:nvSpPr>
        <p:spPr>
          <a:xfrm>
            <a:off x="457200" y="960120"/>
            <a:ext cx="11274552" cy="36576"/>
          </a:xfrm>
          <a:prstGeom prst="rect">
            <a:avLst/>
          </a:prstGeom>
          <a:solidFill>
            <a:srgbClr val="2F6FB5"/>
          </a:solidFill>
          <a:ln w="12700">
            <a:solidFill>
              <a:srgbClr val="2F6FB5"/>
            </a:solidFill>
            <a:prstDash val="solid"/>
          </a:ln>
        </p:spPr>
      </p:sp>
      <p:sp>
        <p:nvSpPr>
          <p:cNvPr id="6" name="Shape 4"/>
          <p:cNvSpPr/>
          <p:nvPr/>
        </p:nvSpPr>
        <p:spPr>
          <a:xfrm>
            <a:off x="457200" y="1234440"/>
            <a:ext cx="7315200" cy="4983480"/>
          </a:xfrm>
          <a:prstGeom prst="roundRect">
            <a:avLst>
              <a:gd name="adj" fmla="val 1468"/>
            </a:avLst>
          </a:prstGeom>
          <a:solidFill>
            <a:srgbClr val="FFFFFF"/>
          </a:solidFill>
          <a:ln w="15875">
            <a:solidFill>
              <a:srgbClr val="2F6FB5"/>
            </a:solidFill>
            <a:prstDash val="solid"/>
          </a:ln>
        </p:spPr>
      </p:sp>
      <p:pic>
        <p:nvPicPr>
          <p:cNvPr id="7" name="Image 0" descr="assets/ch3_fig32.png">    </p:cNvPr>
          <p:cNvPicPr>
            <a:picLocks noChangeAspect="1"/>
          </p:cNvPicPr>
          <p:nvPr/>
        </p:nvPicPr>
        <p:blipFill>
          <a:blip r:embed="rId1"/>
          <a:stretch>
            <a:fillRect/>
          </a:stretch>
        </p:blipFill>
        <p:spPr>
          <a:xfrm>
            <a:off x="548640" y="2129857"/>
            <a:ext cx="7132320" cy="3192647"/>
          </a:xfrm>
          <a:prstGeom prst="rect">
            <a:avLst/>
          </a:prstGeom>
        </p:spPr>
      </p:pic>
      <p:sp>
        <p:nvSpPr>
          <p:cNvPr id="8" name="Text 5"/>
          <p:cNvSpPr/>
          <p:nvPr/>
        </p:nvSpPr>
        <p:spPr>
          <a:xfrm>
            <a:off x="457200" y="6245352"/>
            <a:ext cx="7315200" cy="274320"/>
          </a:xfrm>
          <a:prstGeom prst="rect">
            <a:avLst/>
          </a:prstGeom>
          <a:noFill/>
          <a:ln/>
        </p:spPr>
        <p:txBody>
          <a:bodyPr wrap="square" lIns="0" tIns="0" rIns="0" bIns="0" rtlCol="0" anchor="ctr"/>
          <a:lstStyle/>
          <a:p>
            <a:pPr algn="ctr" indent="0" marL="0">
              <a:buNone/>
            </a:pPr>
            <a:r>
              <a:rPr lang="en-US" sz="1200" i="1" dirty="0">
                <a:solidFill>
                  <a:srgbClr val="6B4FA3"/>
                </a:solidFill>
                <a:latin typeface="Calibri" pitchFamily="34" charset="0"/>
                <a:ea typeface="Calibri" pitchFamily="34" charset="-122"/>
                <a:cs typeface="Calibri" pitchFamily="34" charset="-120"/>
              </a:rPr>
              <a:t>Block-based vector quantization (illustrative)</a:t>
            </a:r>
            <a:endParaRPr lang="en-US" sz="1200" dirty="0"/>
          </a:p>
        </p:txBody>
      </p:sp>
      <p:sp>
        <p:nvSpPr>
          <p:cNvPr id="9" name="Shape 6"/>
          <p:cNvSpPr/>
          <p:nvPr/>
        </p:nvSpPr>
        <p:spPr>
          <a:xfrm>
            <a:off x="8001000" y="1234440"/>
            <a:ext cx="3749040" cy="4983480"/>
          </a:xfrm>
          <a:prstGeom prst="roundRect">
            <a:avLst>
              <a:gd name="adj" fmla="val 1951"/>
            </a:avLst>
          </a:prstGeom>
          <a:solidFill>
            <a:srgbClr val="F5F1FB"/>
          </a:solidFill>
          <a:ln w="12700">
            <a:solidFill>
              <a:srgbClr val="F5F1FB"/>
            </a:solidFill>
            <a:prstDash val="solid"/>
          </a:ln>
        </p:spPr>
      </p:sp>
      <p:sp>
        <p:nvSpPr>
          <p:cNvPr id="10" name="Text 7"/>
          <p:cNvSpPr/>
          <p:nvPr/>
        </p:nvSpPr>
        <p:spPr>
          <a:xfrm>
            <a:off x="8092440" y="1325880"/>
            <a:ext cx="3566160" cy="4800600"/>
          </a:xfrm>
          <a:prstGeom prst="rect">
            <a:avLst/>
          </a:prstGeom>
          <a:noFill/>
          <a:ln/>
        </p:spPr>
        <p:txBody>
          <a:bodyPr wrap="square" lIns="1016" tIns="1016" rIns="1016" bIns="1016" rtlCol="0" anchor="t"/>
          <a:lstStyle/>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The image is divided into non-overlapping 4 × 4 blocks.</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Each block becomes a 16-dimensional vector.</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A 512 × 512 image gives N = 16,384 training vectors.</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Color images: the R, G and B channels are processed independently.</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E07B22"/>
          </a:solidFill>
          <a:ln w="12700">
            <a:solidFill>
              <a:srgbClr val="E07B22"/>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2</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LBG Codebook Training</a:t>
            </a:r>
            <a:endParaRPr lang="en-US" sz="2800" dirty="0"/>
          </a:p>
        </p:txBody>
      </p:sp>
      <p:sp>
        <p:nvSpPr>
          <p:cNvPr id="5" name="Shape 3"/>
          <p:cNvSpPr/>
          <p:nvPr/>
        </p:nvSpPr>
        <p:spPr>
          <a:xfrm>
            <a:off x="457200" y="960120"/>
            <a:ext cx="11274552" cy="36576"/>
          </a:xfrm>
          <a:prstGeom prst="rect">
            <a:avLst/>
          </a:prstGeom>
          <a:solidFill>
            <a:srgbClr val="E07B22"/>
          </a:solidFill>
          <a:ln w="12700">
            <a:solidFill>
              <a:srgbClr val="E07B22"/>
            </a:solidFill>
            <a:prstDash val="solid"/>
          </a:ln>
        </p:spPr>
      </p:sp>
      <p:sp>
        <p:nvSpPr>
          <p:cNvPr id="6" name="Shape 4"/>
          <p:cNvSpPr/>
          <p:nvPr/>
        </p:nvSpPr>
        <p:spPr>
          <a:xfrm>
            <a:off x="457200" y="1234440"/>
            <a:ext cx="7315200" cy="4983480"/>
          </a:xfrm>
          <a:prstGeom prst="roundRect">
            <a:avLst>
              <a:gd name="adj" fmla="val 1468"/>
            </a:avLst>
          </a:prstGeom>
          <a:solidFill>
            <a:srgbClr val="FFFFFF"/>
          </a:solidFill>
          <a:ln w="15875">
            <a:solidFill>
              <a:srgbClr val="E07B22"/>
            </a:solidFill>
            <a:prstDash val="solid"/>
          </a:ln>
        </p:spPr>
      </p:sp>
      <p:pic>
        <p:nvPicPr>
          <p:cNvPr id="7" name="Image 0" descr="assets/lbg_flow_color.png">    </p:cNvPr>
          <p:cNvPicPr>
            <a:picLocks noChangeAspect="1"/>
          </p:cNvPicPr>
          <p:nvPr/>
        </p:nvPicPr>
        <p:blipFill>
          <a:blip r:embed="rId1"/>
          <a:stretch>
            <a:fillRect/>
          </a:stretch>
        </p:blipFill>
        <p:spPr>
          <a:xfrm>
            <a:off x="749477" y="1325880"/>
            <a:ext cx="6730646" cy="4800600"/>
          </a:xfrm>
          <a:prstGeom prst="rect">
            <a:avLst/>
          </a:prstGeom>
        </p:spPr>
      </p:pic>
      <p:sp>
        <p:nvSpPr>
          <p:cNvPr id="8" name="Shape 5"/>
          <p:cNvSpPr/>
          <p:nvPr/>
        </p:nvSpPr>
        <p:spPr>
          <a:xfrm>
            <a:off x="8001000" y="1234440"/>
            <a:ext cx="3749040" cy="4983480"/>
          </a:xfrm>
          <a:prstGeom prst="roundRect">
            <a:avLst>
              <a:gd name="adj" fmla="val 1951"/>
            </a:avLst>
          </a:prstGeom>
          <a:solidFill>
            <a:srgbClr val="F5F1FB"/>
          </a:solidFill>
          <a:ln w="12700">
            <a:solidFill>
              <a:srgbClr val="F5F1FB"/>
            </a:solidFill>
            <a:prstDash val="solid"/>
          </a:ln>
        </p:spPr>
      </p:sp>
      <p:sp>
        <p:nvSpPr>
          <p:cNvPr id="9" name="Text 6"/>
          <p:cNvSpPr/>
          <p:nvPr/>
        </p:nvSpPr>
        <p:spPr>
          <a:xfrm>
            <a:off x="8092440" y="1325880"/>
            <a:ext cx="3566160" cy="4800600"/>
          </a:xfrm>
          <a:prstGeom prst="rect">
            <a:avLst/>
          </a:prstGeom>
          <a:noFill/>
          <a:ln/>
        </p:spPr>
        <p:txBody>
          <a:bodyPr wrap="square" lIns="1016" tIns="1016" rIns="1016" bIns="1016" rtlCol="0" anchor="t"/>
          <a:lstStyle/>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Start from the global mean as the first codeword.</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Binary splitting (δ = 0.01) doubles the codebook size.</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Lloyd refinement: assign each vector to its nearest codeword, then update the centroids.</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Stop at ΔD ≤ ε or 100 iterations; repeat until K = 64.</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E07B22"/>
          </a:solidFill>
          <a:ln w="12700">
            <a:solidFill>
              <a:srgbClr val="E07B22"/>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2</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Parallel LBG Training (MPI)</a:t>
            </a:r>
            <a:endParaRPr lang="en-US" sz="2800" dirty="0"/>
          </a:p>
        </p:txBody>
      </p:sp>
      <p:sp>
        <p:nvSpPr>
          <p:cNvPr id="5" name="Shape 3"/>
          <p:cNvSpPr/>
          <p:nvPr/>
        </p:nvSpPr>
        <p:spPr>
          <a:xfrm>
            <a:off x="457200" y="960120"/>
            <a:ext cx="11274552" cy="36576"/>
          </a:xfrm>
          <a:prstGeom prst="rect">
            <a:avLst/>
          </a:prstGeom>
          <a:solidFill>
            <a:srgbClr val="E07B22"/>
          </a:solidFill>
          <a:ln w="12700">
            <a:solidFill>
              <a:srgbClr val="E07B22"/>
            </a:solidFill>
            <a:prstDash val="solid"/>
          </a:ln>
        </p:spPr>
      </p:sp>
      <p:sp>
        <p:nvSpPr>
          <p:cNvPr id="6" name="Shape 4"/>
          <p:cNvSpPr/>
          <p:nvPr/>
        </p:nvSpPr>
        <p:spPr>
          <a:xfrm>
            <a:off x="457200" y="1143000"/>
            <a:ext cx="11274552" cy="4206240"/>
          </a:xfrm>
          <a:prstGeom prst="roundRect">
            <a:avLst>
              <a:gd name="adj" fmla="val 1739"/>
            </a:avLst>
          </a:prstGeom>
          <a:solidFill>
            <a:srgbClr val="FFFFFF"/>
          </a:solidFill>
          <a:ln w="15875">
            <a:solidFill>
              <a:srgbClr val="E07B22"/>
            </a:solidFill>
            <a:prstDash val="solid"/>
          </a:ln>
        </p:spPr>
      </p:sp>
      <p:pic>
        <p:nvPicPr>
          <p:cNvPr id="7" name="Image 0" descr="figs/parallel_overview.png">    </p:cNvPr>
          <p:cNvPicPr>
            <a:picLocks noChangeAspect="1"/>
          </p:cNvPicPr>
          <p:nvPr/>
        </p:nvPicPr>
        <p:blipFill>
          <a:blip r:embed="rId1"/>
          <a:stretch>
            <a:fillRect/>
          </a:stretch>
        </p:blipFill>
        <p:spPr>
          <a:xfrm>
            <a:off x="1145179" y="1234440"/>
            <a:ext cx="9898594" cy="4023360"/>
          </a:xfrm>
          <a:prstGeom prst="rect">
            <a:avLst/>
          </a:prstGeom>
        </p:spPr>
      </p:pic>
      <p:sp>
        <p:nvSpPr>
          <p:cNvPr id="8" name="Shape 5"/>
          <p:cNvSpPr/>
          <p:nvPr/>
        </p:nvSpPr>
        <p:spPr>
          <a:xfrm>
            <a:off x="457200" y="5440680"/>
            <a:ext cx="5559552" cy="1234440"/>
          </a:xfrm>
          <a:prstGeom prst="roundRect">
            <a:avLst>
              <a:gd name="adj" fmla="val 5926"/>
            </a:avLst>
          </a:prstGeom>
          <a:solidFill>
            <a:srgbClr val="F5F1FB"/>
          </a:solidFill>
          <a:ln w="12700">
            <a:solidFill>
              <a:srgbClr val="F5F1FB"/>
            </a:solidFill>
            <a:prstDash val="solid"/>
          </a:ln>
        </p:spPr>
      </p:sp>
      <p:sp>
        <p:nvSpPr>
          <p:cNvPr id="9" name="Text 6"/>
          <p:cNvSpPr/>
          <p:nvPr/>
        </p:nvSpPr>
        <p:spPr>
          <a:xfrm>
            <a:off x="548640" y="5532120"/>
            <a:ext cx="5376672" cy="1051560"/>
          </a:xfrm>
          <a:prstGeom prst="rect">
            <a:avLst/>
          </a:prstGeom>
          <a:noFill/>
          <a:ln/>
        </p:spPr>
        <p:txBody>
          <a:bodyPr wrap="square" lIns="1016" tIns="1016" rIns="1016" bIns="1016" rtlCol="0" anchor="t"/>
          <a:lstStyle/>
          <a:p>
            <a:pPr marL="342900" indent="-342900">
              <a:spcAft>
                <a:spcPts val="1000"/>
              </a:spcAft>
              <a:buSzPct val="100000"/>
              <a:buChar char="■"/>
            </a:pPr>
            <a:r>
              <a:rPr lang="en-US" sz="1400" dirty="0">
                <a:solidFill>
                  <a:srgbClr val="1F1A33"/>
                </a:solidFill>
                <a:latin typeface="Calibri" pitchFamily="34" charset="0"/>
                <a:ea typeface="Calibri" pitchFamily="34" charset="-122"/>
                <a:cs typeface="Calibri" pitchFamily="34" charset="-120"/>
              </a:rPr>
              <a:t>SPMD: every rank runs the same program on its own chunk of vectors.</a:t>
            </a:r>
            <a:endParaRPr lang="en-US" sz="1400" dirty="0"/>
          </a:p>
          <a:p>
            <a:pPr marL="342900" indent="-342900">
              <a:spcAft>
                <a:spcPts val="1000"/>
              </a:spcAft>
              <a:buSzPct val="100000"/>
              <a:buChar char="■"/>
            </a:pPr>
            <a:r>
              <a:rPr lang="en-US" sz="1400" dirty="0">
                <a:solidFill>
                  <a:srgbClr val="1F1A33"/>
                </a:solidFill>
                <a:latin typeface="Calibri" pitchFamily="34" charset="0"/>
                <a:ea typeface="Calibri" pitchFamily="34" charset="-122"/>
                <a:cs typeface="Calibri" pitchFamily="34" charset="-120"/>
              </a:rPr>
              <a:t>Nearest-codeword assignment is local: about 77% of the sequential time (gray).</a:t>
            </a:r>
            <a:endParaRPr lang="en-US" sz="1400" dirty="0"/>
          </a:p>
        </p:txBody>
      </p:sp>
      <p:sp>
        <p:nvSpPr>
          <p:cNvPr id="10" name="Shape 7"/>
          <p:cNvSpPr/>
          <p:nvPr/>
        </p:nvSpPr>
        <p:spPr>
          <a:xfrm>
            <a:off x="6172200" y="5440680"/>
            <a:ext cx="5559552" cy="1234440"/>
          </a:xfrm>
          <a:prstGeom prst="roundRect">
            <a:avLst>
              <a:gd name="adj" fmla="val 5926"/>
            </a:avLst>
          </a:prstGeom>
          <a:solidFill>
            <a:srgbClr val="F5F1FB"/>
          </a:solidFill>
          <a:ln w="12700">
            <a:solidFill>
              <a:srgbClr val="F5F1FB"/>
            </a:solidFill>
            <a:prstDash val="solid"/>
          </a:ln>
        </p:spPr>
      </p:sp>
      <p:sp>
        <p:nvSpPr>
          <p:cNvPr id="11" name="Text 8"/>
          <p:cNvSpPr/>
          <p:nvPr/>
        </p:nvSpPr>
        <p:spPr>
          <a:xfrm>
            <a:off x="6263640" y="5532120"/>
            <a:ext cx="5376672" cy="1051560"/>
          </a:xfrm>
          <a:prstGeom prst="rect">
            <a:avLst/>
          </a:prstGeom>
          <a:noFill/>
          <a:ln/>
        </p:spPr>
        <p:txBody>
          <a:bodyPr wrap="square" lIns="1016" tIns="1016" rIns="1016" bIns="1016" rtlCol="0" anchor="t"/>
          <a:lstStyle/>
          <a:p>
            <a:pPr marL="342900" indent="-342900">
              <a:spcAft>
                <a:spcPts val="1000"/>
              </a:spcAft>
              <a:buSzPct val="100000"/>
              <a:buChar char="■"/>
            </a:pPr>
            <a:r>
              <a:rPr lang="en-US" sz="1400" dirty="0">
                <a:solidFill>
                  <a:srgbClr val="1F1A33"/>
                </a:solidFill>
                <a:latin typeface="Calibri" pitchFamily="34" charset="0"/>
                <a:ea typeface="Calibri" pitchFamily="34" charset="-122"/>
                <a:cs typeface="Calibri" pitchFamily="34" charset="-120"/>
              </a:rPr>
              <a:t>Allreduce combines sums, counts and distortion; every rank updates the same codebook.</a:t>
            </a:r>
            <a:endParaRPr lang="en-US" sz="1400" dirty="0"/>
          </a:p>
          <a:p>
            <a:pPr marL="342900" indent="-342900">
              <a:spcAft>
                <a:spcPts val="1000"/>
              </a:spcAft>
              <a:buSzPct val="100000"/>
              <a:buChar char="■"/>
            </a:pPr>
            <a:r>
              <a:rPr lang="en-US" sz="1400" dirty="0">
                <a:solidFill>
                  <a:srgbClr val="1F1A33"/>
                </a:solidFill>
                <a:latin typeface="Calibri" pitchFamily="34" charset="0"/>
                <a:ea typeface="Calibri" pitchFamily="34" charset="-122"/>
                <a:cs typeface="Calibri" pitchFamily="34" charset="-120"/>
              </a:rPr>
              <a:t>Gatherv collects the final indices on Rank 0.</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E07B22"/>
          </a:solidFill>
          <a:ln w="12700">
            <a:solidFill>
              <a:srgbClr val="E07B22"/>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2</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Equal and Adaptive Workload Distribution</a:t>
            </a:r>
            <a:endParaRPr lang="en-US" sz="2800" dirty="0"/>
          </a:p>
        </p:txBody>
      </p:sp>
      <p:sp>
        <p:nvSpPr>
          <p:cNvPr id="5" name="Shape 3"/>
          <p:cNvSpPr/>
          <p:nvPr/>
        </p:nvSpPr>
        <p:spPr>
          <a:xfrm>
            <a:off x="457200" y="960120"/>
            <a:ext cx="11274552" cy="36576"/>
          </a:xfrm>
          <a:prstGeom prst="rect">
            <a:avLst/>
          </a:prstGeom>
          <a:solidFill>
            <a:srgbClr val="E07B22"/>
          </a:solidFill>
          <a:ln w="12700">
            <a:solidFill>
              <a:srgbClr val="E07B22"/>
            </a:solidFill>
            <a:prstDash val="solid"/>
          </a:ln>
        </p:spPr>
      </p:sp>
      <p:sp>
        <p:nvSpPr>
          <p:cNvPr id="6" name="Shape 4"/>
          <p:cNvSpPr/>
          <p:nvPr/>
        </p:nvSpPr>
        <p:spPr>
          <a:xfrm>
            <a:off x="457200" y="1234440"/>
            <a:ext cx="7315200" cy="4983480"/>
          </a:xfrm>
          <a:prstGeom prst="roundRect">
            <a:avLst>
              <a:gd name="adj" fmla="val 1468"/>
            </a:avLst>
          </a:prstGeom>
          <a:solidFill>
            <a:srgbClr val="FFFFFF"/>
          </a:solidFill>
          <a:ln w="15875">
            <a:solidFill>
              <a:srgbClr val="E07B22"/>
            </a:solidFill>
            <a:prstDash val="solid"/>
          </a:ln>
        </p:spPr>
      </p:sp>
      <p:pic>
        <p:nvPicPr>
          <p:cNvPr id="7" name="Image 0" descr="assets/ch3_fig38.png">    </p:cNvPr>
          <p:cNvPicPr>
            <a:picLocks noChangeAspect="1"/>
          </p:cNvPicPr>
          <p:nvPr/>
        </p:nvPicPr>
        <p:blipFill>
          <a:blip r:embed="rId1"/>
          <a:stretch>
            <a:fillRect/>
          </a:stretch>
        </p:blipFill>
        <p:spPr>
          <a:xfrm>
            <a:off x="548640" y="1618744"/>
            <a:ext cx="7132320" cy="4214872"/>
          </a:xfrm>
          <a:prstGeom prst="rect">
            <a:avLst/>
          </a:prstGeom>
        </p:spPr>
      </p:pic>
      <p:sp>
        <p:nvSpPr>
          <p:cNvPr id="8" name="Shape 5"/>
          <p:cNvSpPr/>
          <p:nvPr/>
        </p:nvSpPr>
        <p:spPr>
          <a:xfrm>
            <a:off x="8001000" y="1234440"/>
            <a:ext cx="3749040" cy="4983480"/>
          </a:xfrm>
          <a:prstGeom prst="roundRect">
            <a:avLst>
              <a:gd name="adj" fmla="val 1951"/>
            </a:avLst>
          </a:prstGeom>
          <a:solidFill>
            <a:srgbClr val="F5F1FB"/>
          </a:solidFill>
          <a:ln w="12700">
            <a:solidFill>
              <a:srgbClr val="F5F1FB"/>
            </a:solidFill>
            <a:prstDash val="solid"/>
          </a:ln>
        </p:spPr>
      </p:sp>
      <p:sp>
        <p:nvSpPr>
          <p:cNvPr id="9" name="Text 6"/>
          <p:cNvSpPr/>
          <p:nvPr/>
        </p:nvSpPr>
        <p:spPr>
          <a:xfrm>
            <a:off x="8092440" y="1325880"/>
            <a:ext cx="3566160" cy="4800600"/>
          </a:xfrm>
          <a:prstGeom prst="rect">
            <a:avLst/>
          </a:prstGeom>
          <a:noFill/>
          <a:ln/>
        </p:spPr>
        <p:txBody>
          <a:bodyPr wrap="square" lIns="1016" tIns="1016" rIns="1016" bIns="1016" rtlCol="0" anchor="t"/>
          <a:lstStyle/>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Equal (default, P ≤ 4): each rank gets N/P vectors (rounded down or up).</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Adaptive (P &gt; 4): speed measured by calibration (3 trials, the first is a warm-up).</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q_r = N · s_r / Σ s_j: faster cores receive more vectors.</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Adaptive reduces LBG time by 17–28% compared with Equal (P = 8 to 14).</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3</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Delta Coding</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234440"/>
            <a:ext cx="7315200" cy="4983480"/>
          </a:xfrm>
          <a:prstGeom prst="roundRect">
            <a:avLst>
              <a:gd name="adj" fmla="val 1468"/>
            </a:avLst>
          </a:prstGeom>
          <a:solidFill>
            <a:srgbClr val="FFFFFF"/>
          </a:solidFill>
          <a:ln w="15875">
            <a:solidFill>
              <a:srgbClr val="2A9D8F"/>
            </a:solidFill>
            <a:prstDash val="solid"/>
          </a:ln>
        </p:spPr>
      </p:sp>
      <p:pic>
        <p:nvPicPr>
          <p:cNvPr id="7" name="Image 0" descr="assets/ch3_fig34.png">    </p:cNvPr>
          <p:cNvPicPr>
            <a:picLocks noChangeAspect="1"/>
          </p:cNvPicPr>
          <p:nvPr/>
        </p:nvPicPr>
        <p:blipFill>
          <a:blip r:embed="rId1"/>
          <a:stretch>
            <a:fillRect/>
          </a:stretch>
        </p:blipFill>
        <p:spPr>
          <a:xfrm>
            <a:off x="548640" y="2117794"/>
            <a:ext cx="7132320" cy="3216773"/>
          </a:xfrm>
          <a:prstGeom prst="rect">
            <a:avLst/>
          </a:prstGeom>
        </p:spPr>
      </p:pic>
      <p:sp>
        <p:nvSpPr>
          <p:cNvPr id="8" name="Shape 5"/>
          <p:cNvSpPr/>
          <p:nvPr/>
        </p:nvSpPr>
        <p:spPr>
          <a:xfrm>
            <a:off x="8001000" y="1234440"/>
            <a:ext cx="3749040" cy="4983480"/>
          </a:xfrm>
          <a:prstGeom prst="roundRect">
            <a:avLst>
              <a:gd name="adj" fmla="val 1951"/>
            </a:avLst>
          </a:prstGeom>
          <a:solidFill>
            <a:srgbClr val="F5F1FB"/>
          </a:solidFill>
          <a:ln w="12700">
            <a:solidFill>
              <a:srgbClr val="F5F1FB"/>
            </a:solidFill>
            <a:prstDash val="solid"/>
          </a:ln>
        </p:spPr>
      </p:sp>
      <p:sp>
        <p:nvSpPr>
          <p:cNvPr id="9" name="Text 6"/>
          <p:cNvSpPr/>
          <p:nvPr/>
        </p:nvSpPr>
        <p:spPr>
          <a:xfrm>
            <a:off x="8092440" y="1325880"/>
            <a:ext cx="3566160" cy="4800600"/>
          </a:xfrm>
          <a:prstGeom prst="rect">
            <a:avLst/>
          </a:prstGeom>
          <a:noFill/>
          <a:ln/>
        </p:spPr>
        <p:txBody>
          <a:bodyPr wrap="square" lIns="1016" tIns="1016" rIns="1016" bIns="1016" rtlCol="0" anchor="t"/>
          <a:lstStyle/>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Stores the difference between successive VQ indices (offset 128).</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Neighbouring blocks are correlated, so the differences cluster around the offset.</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Example (Lena): entropy falls from 5.39 to 4.67 bits per symbol.</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3</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Huffman Coding</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280160"/>
            <a:ext cx="11274552" cy="1554480"/>
          </a:xfrm>
          <a:prstGeom prst="roundRect">
            <a:avLst>
              <a:gd name="adj" fmla="val 4706"/>
            </a:avLst>
          </a:prstGeom>
          <a:solidFill>
            <a:srgbClr val="FFFFFF"/>
          </a:solidFill>
          <a:ln w="15875">
            <a:solidFill>
              <a:srgbClr val="2A9D8F"/>
            </a:solidFill>
            <a:prstDash val="solid"/>
          </a:ln>
        </p:spPr>
      </p:sp>
      <p:pic>
        <p:nvPicPr>
          <p:cNvPr id="7" name="Image 0" descr="assets/ch3_fig35.png">    </p:cNvPr>
          <p:cNvPicPr>
            <a:picLocks noChangeAspect="1"/>
          </p:cNvPicPr>
          <p:nvPr/>
        </p:nvPicPr>
        <p:blipFill>
          <a:blip r:embed="rId1"/>
          <a:stretch>
            <a:fillRect/>
          </a:stretch>
        </p:blipFill>
        <p:spPr>
          <a:xfrm>
            <a:off x="548640" y="1466490"/>
            <a:ext cx="11091672" cy="1181820"/>
          </a:xfrm>
          <a:prstGeom prst="rect">
            <a:avLst/>
          </a:prstGeom>
        </p:spPr>
      </p:pic>
      <p:sp>
        <p:nvSpPr>
          <p:cNvPr id="8" name="Shape 5"/>
          <p:cNvSpPr/>
          <p:nvPr/>
        </p:nvSpPr>
        <p:spPr>
          <a:xfrm>
            <a:off x="457200" y="3154680"/>
            <a:ext cx="11274552" cy="3063240"/>
          </a:xfrm>
          <a:prstGeom prst="roundRect">
            <a:avLst>
              <a:gd name="adj" fmla="val 2388"/>
            </a:avLst>
          </a:prstGeom>
          <a:solidFill>
            <a:srgbClr val="F5F1FB"/>
          </a:solidFill>
          <a:ln w="12700">
            <a:solidFill>
              <a:srgbClr val="F5F1FB"/>
            </a:solidFill>
            <a:prstDash val="solid"/>
          </a:ln>
        </p:spPr>
      </p:sp>
      <p:sp>
        <p:nvSpPr>
          <p:cNvPr id="9" name="Text 6"/>
          <p:cNvSpPr/>
          <p:nvPr/>
        </p:nvSpPr>
        <p:spPr>
          <a:xfrm>
            <a:off x="548640" y="3246120"/>
            <a:ext cx="11091672" cy="2880360"/>
          </a:xfrm>
          <a:prstGeom prst="rect">
            <a:avLst/>
          </a:prstGeom>
          <a:noFill/>
          <a:ln/>
        </p:spPr>
        <p:txBody>
          <a:bodyPr wrap="square" lIns="1016" tIns="1016" rIns="1016" bIns="1016" rtlCol="0" anchor="t"/>
          <a:lstStyle/>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Frequent symbols receive shorter codewords, rare symbols longer ones (lossless).</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Output: the Huffman codes and the encoded bitstream.</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Accounted compressed size = codebook (K × 16 bytes, one byte per codeword element) + Huffman table + Huffman-coded data.</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The table is accounted as 5 bytes per used symbol (1 byte symbol + 4 bytes frequency) plus 10 bytes of fixed metadata. The program accounts this size; it does not write a stand-alone compressed file.</a:t>
            </a:r>
            <a:endParaRPr lang="en-US" sz="1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4</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Decoding and Evaluation</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sp>
        <p:nvSpPr>
          <p:cNvPr id="6" name="Shape 4"/>
          <p:cNvSpPr/>
          <p:nvPr/>
        </p:nvSpPr>
        <p:spPr>
          <a:xfrm>
            <a:off x="457200" y="1234440"/>
            <a:ext cx="2468880" cy="731520"/>
          </a:xfrm>
          <a:prstGeom prst="roundRect">
            <a:avLst>
              <a:gd name="adj" fmla="val 10000"/>
            </a:avLst>
          </a:prstGeom>
          <a:solidFill>
            <a:srgbClr val="ECE6F6"/>
          </a:solidFill>
          <a:ln w="19050">
            <a:solidFill>
              <a:srgbClr val="6B4FA3"/>
            </a:solidFill>
            <a:prstDash val="solid"/>
          </a:ln>
        </p:spPr>
      </p:sp>
      <p:sp>
        <p:nvSpPr>
          <p:cNvPr id="7" name="Text 5"/>
          <p:cNvSpPr/>
          <p:nvPr/>
        </p:nvSpPr>
        <p:spPr>
          <a:xfrm>
            <a:off x="457200" y="1234440"/>
            <a:ext cx="2468880" cy="731520"/>
          </a:xfrm>
          <a:prstGeom prst="rect">
            <a:avLst/>
          </a:prstGeom>
          <a:noFill/>
          <a:ln/>
        </p:spPr>
        <p:txBody>
          <a:bodyPr wrap="square" lIns="0" tIns="0" rIns="0" bIns="0"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Huffman decoding</a:t>
            </a:r>
            <a:endParaRPr lang="en-US" sz="1600" dirty="0"/>
          </a:p>
        </p:txBody>
      </p:sp>
      <p:sp>
        <p:nvSpPr>
          <p:cNvPr id="8" name="Shape 6"/>
          <p:cNvSpPr/>
          <p:nvPr/>
        </p:nvSpPr>
        <p:spPr>
          <a:xfrm>
            <a:off x="2953512" y="1481328"/>
            <a:ext cx="310896" cy="237744"/>
          </a:xfrm>
          <a:prstGeom prst="rightArrow">
            <a:avLst/>
          </a:prstGeom>
          <a:solidFill>
            <a:srgbClr val="1F1A33"/>
          </a:solidFill>
          <a:ln w="12700">
            <a:solidFill>
              <a:srgbClr val="1F1A33"/>
            </a:solidFill>
            <a:prstDash val="solid"/>
          </a:ln>
        </p:spPr>
      </p:sp>
      <p:sp>
        <p:nvSpPr>
          <p:cNvPr id="9" name="Shape 7"/>
          <p:cNvSpPr/>
          <p:nvPr/>
        </p:nvSpPr>
        <p:spPr>
          <a:xfrm>
            <a:off x="3291840" y="1234440"/>
            <a:ext cx="2468880" cy="731520"/>
          </a:xfrm>
          <a:prstGeom prst="roundRect">
            <a:avLst>
              <a:gd name="adj" fmla="val 10000"/>
            </a:avLst>
          </a:prstGeom>
          <a:solidFill>
            <a:srgbClr val="ECE6F6"/>
          </a:solidFill>
          <a:ln w="19050">
            <a:solidFill>
              <a:srgbClr val="6B4FA3"/>
            </a:solidFill>
            <a:prstDash val="solid"/>
          </a:ln>
        </p:spPr>
      </p:sp>
      <p:sp>
        <p:nvSpPr>
          <p:cNvPr id="10" name="Text 8"/>
          <p:cNvSpPr/>
          <p:nvPr/>
        </p:nvSpPr>
        <p:spPr>
          <a:xfrm>
            <a:off x="3291840" y="1234440"/>
            <a:ext cx="2468880" cy="731520"/>
          </a:xfrm>
          <a:prstGeom prst="rect">
            <a:avLst/>
          </a:prstGeom>
          <a:noFill/>
          <a:ln/>
        </p:spPr>
        <p:txBody>
          <a:bodyPr wrap="square" lIns="0" tIns="0" rIns="0" bIns="0"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Inverse delta</a:t>
            </a:r>
            <a:endParaRPr lang="en-US" sz="1600" dirty="0"/>
          </a:p>
        </p:txBody>
      </p:sp>
      <p:sp>
        <p:nvSpPr>
          <p:cNvPr id="11" name="Shape 9"/>
          <p:cNvSpPr/>
          <p:nvPr/>
        </p:nvSpPr>
        <p:spPr>
          <a:xfrm>
            <a:off x="5788152" y="1481328"/>
            <a:ext cx="310896" cy="237744"/>
          </a:xfrm>
          <a:prstGeom prst="rightArrow">
            <a:avLst/>
          </a:prstGeom>
          <a:solidFill>
            <a:srgbClr val="1F1A33"/>
          </a:solidFill>
          <a:ln w="12700">
            <a:solidFill>
              <a:srgbClr val="1F1A33"/>
            </a:solidFill>
            <a:prstDash val="solid"/>
          </a:ln>
        </p:spPr>
      </p:sp>
      <p:sp>
        <p:nvSpPr>
          <p:cNvPr id="12" name="Shape 10"/>
          <p:cNvSpPr/>
          <p:nvPr/>
        </p:nvSpPr>
        <p:spPr>
          <a:xfrm>
            <a:off x="6126480" y="1234440"/>
            <a:ext cx="2468880" cy="731520"/>
          </a:xfrm>
          <a:prstGeom prst="roundRect">
            <a:avLst>
              <a:gd name="adj" fmla="val 10000"/>
            </a:avLst>
          </a:prstGeom>
          <a:solidFill>
            <a:srgbClr val="ECE6F6"/>
          </a:solidFill>
          <a:ln w="19050">
            <a:solidFill>
              <a:srgbClr val="6B4FA3"/>
            </a:solidFill>
            <a:prstDash val="solid"/>
          </a:ln>
        </p:spPr>
      </p:sp>
      <p:sp>
        <p:nvSpPr>
          <p:cNvPr id="13" name="Text 11"/>
          <p:cNvSpPr/>
          <p:nvPr/>
        </p:nvSpPr>
        <p:spPr>
          <a:xfrm>
            <a:off x="6126480" y="1234440"/>
            <a:ext cx="2468880" cy="731520"/>
          </a:xfrm>
          <a:prstGeom prst="rect">
            <a:avLst/>
          </a:prstGeom>
          <a:noFill/>
          <a:ln/>
        </p:spPr>
        <p:txBody>
          <a:bodyPr wrap="square" lIns="0" tIns="0" rIns="0" bIns="0"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Codebook lookup</a:t>
            </a:r>
            <a:endParaRPr lang="en-US" sz="1600" dirty="0"/>
          </a:p>
        </p:txBody>
      </p:sp>
      <p:sp>
        <p:nvSpPr>
          <p:cNvPr id="14" name="Shape 12"/>
          <p:cNvSpPr/>
          <p:nvPr/>
        </p:nvSpPr>
        <p:spPr>
          <a:xfrm>
            <a:off x="8622792" y="1481328"/>
            <a:ext cx="310896" cy="237744"/>
          </a:xfrm>
          <a:prstGeom prst="rightArrow">
            <a:avLst/>
          </a:prstGeom>
          <a:solidFill>
            <a:srgbClr val="1F1A33"/>
          </a:solidFill>
          <a:ln w="12700">
            <a:solidFill>
              <a:srgbClr val="1F1A33"/>
            </a:solidFill>
            <a:prstDash val="solid"/>
          </a:ln>
        </p:spPr>
      </p:sp>
      <p:sp>
        <p:nvSpPr>
          <p:cNvPr id="15" name="Shape 13"/>
          <p:cNvSpPr/>
          <p:nvPr/>
        </p:nvSpPr>
        <p:spPr>
          <a:xfrm>
            <a:off x="8961120" y="1234440"/>
            <a:ext cx="2468880" cy="731520"/>
          </a:xfrm>
          <a:prstGeom prst="roundRect">
            <a:avLst>
              <a:gd name="adj" fmla="val 10000"/>
            </a:avLst>
          </a:prstGeom>
          <a:solidFill>
            <a:srgbClr val="ECE6F6"/>
          </a:solidFill>
          <a:ln w="19050">
            <a:solidFill>
              <a:srgbClr val="6B4FA3"/>
            </a:solidFill>
            <a:prstDash val="solid"/>
          </a:ln>
        </p:spPr>
      </p:sp>
      <p:sp>
        <p:nvSpPr>
          <p:cNvPr id="16" name="Text 14"/>
          <p:cNvSpPr/>
          <p:nvPr/>
        </p:nvSpPr>
        <p:spPr>
          <a:xfrm>
            <a:off x="8961120" y="1234440"/>
            <a:ext cx="2468880" cy="731520"/>
          </a:xfrm>
          <a:prstGeom prst="rect">
            <a:avLst/>
          </a:prstGeom>
          <a:noFill/>
          <a:ln/>
        </p:spPr>
        <p:txBody>
          <a:bodyPr wrap="square" lIns="0" tIns="0" rIns="0" bIns="0"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Reconstructed image</a:t>
            </a:r>
            <a:endParaRPr lang="en-US" sz="1600" dirty="0"/>
          </a:p>
        </p:txBody>
      </p:sp>
      <p:pic>
        <p:nvPicPr>
          <p:cNvPr id="17" name="Image 0" descr="assets/cam_orig.png">    </p:cNvPr>
          <p:cNvPicPr>
            <a:picLocks noChangeAspect="1"/>
          </p:cNvPicPr>
          <p:nvPr/>
        </p:nvPicPr>
        <p:blipFill>
          <a:blip r:embed="rId1"/>
          <a:stretch>
            <a:fillRect/>
          </a:stretch>
        </p:blipFill>
        <p:spPr>
          <a:xfrm>
            <a:off x="457200" y="2331720"/>
            <a:ext cx="2926080" cy="2926080"/>
          </a:xfrm>
          <a:prstGeom prst="rect">
            <a:avLst/>
          </a:prstGeom>
        </p:spPr>
      </p:pic>
      <p:pic>
        <p:nvPicPr>
          <p:cNvPr id="18" name="Image 1" descr="assets/cam_rec.png">    </p:cNvPr>
          <p:cNvPicPr>
            <a:picLocks noChangeAspect="1"/>
          </p:cNvPicPr>
          <p:nvPr/>
        </p:nvPicPr>
        <p:blipFill>
          <a:blip r:embed="rId2"/>
          <a:stretch>
            <a:fillRect/>
          </a:stretch>
        </p:blipFill>
        <p:spPr>
          <a:xfrm>
            <a:off x="3611880" y="2331720"/>
            <a:ext cx="2926080" cy="2926080"/>
          </a:xfrm>
          <a:prstGeom prst="rect">
            <a:avLst/>
          </a:prstGeom>
        </p:spPr>
      </p:pic>
      <p:sp>
        <p:nvSpPr>
          <p:cNvPr id="19" name="Text 15"/>
          <p:cNvSpPr/>
          <p:nvPr/>
        </p:nvSpPr>
        <p:spPr>
          <a:xfrm>
            <a:off x="457200" y="5285232"/>
            <a:ext cx="292608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Original</a:t>
            </a:r>
            <a:endParaRPr lang="en-US" sz="1400" dirty="0"/>
          </a:p>
        </p:txBody>
      </p:sp>
      <p:sp>
        <p:nvSpPr>
          <p:cNvPr id="20" name="Text 16"/>
          <p:cNvSpPr/>
          <p:nvPr/>
        </p:nvSpPr>
        <p:spPr>
          <a:xfrm>
            <a:off x="3611880" y="5285232"/>
            <a:ext cx="292608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Reconstructed</a:t>
            </a:r>
            <a:endParaRPr lang="en-US" sz="1400" dirty="0"/>
          </a:p>
        </p:txBody>
      </p:sp>
      <p:sp>
        <p:nvSpPr>
          <p:cNvPr id="21" name="Text 17"/>
          <p:cNvSpPr/>
          <p:nvPr/>
        </p:nvSpPr>
        <p:spPr>
          <a:xfrm>
            <a:off x="457200" y="5623560"/>
            <a:ext cx="6080760" cy="274320"/>
          </a:xfrm>
          <a:prstGeom prst="rect">
            <a:avLst/>
          </a:prstGeom>
          <a:noFill/>
          <a:ln/>
        </p:spPr>
        <p:txBody>
          <a:bodyPr wrap="square" lIns="0" tIns="0" rIns="0" bIns="0" rtlCol="0" anchor="ctr"/>
          <a:lstStyle/>
          <a:p>
            <a:pPr algn="ctr" indent="0" marL="0">
              <a:buNone/>
            </a:pPr>
            <a:r>
              <a:rPr lang="en-US" sz="1300" i="1" dirty="0">
                <a:solidFill>
                  <a:srgbClr val="6B4FA3"/>
                </a:solidFill>
                <a:latin typeface="Calibri" pitchFamily="34" charset="0"/>
                <a:ea typeface="Calibri" pitchFamily="34" charset="-122"/>
                <a:cs typeface="Calibri" pitchFamily="34" charset="-120"/>
              </a:rPr>
              <a:t>Cameraman: PSNR 29.75 dB, SSIM 0.8855</a:t>
            </a:r>
            <a:endParaRPr lang="en-US" sz="1300" dirty="0"/>
          </a:p>
        </p:txBody>
      </p:sp>
      <p:sp>
        <p:nvSpPr>
          <p:cNvPr id="22" name="Shape 18"/>
          <p:cNvSpPr/>
          <p:nvPr/>
        </p:nvSpPr>
        <p:spPr>
          <a:xfrm>
            <a:off x="6858000" y="2331720"/>
            <a:ext cx="4892040" cy="3886200"/>
          </a:xfrm>
          <a:prstGeom prst="roundRect">
            <a:avLst>
              <a:gd name="adj" fmla="val 1882"/>
            </a:avLst>
          </a:prstGeom>
          <a:solidFill>
            <a:srgbClr val="F5F1FB"/>
          </a:solidFill>
          <a:ln w="12700">
            <a:solidFill>
              <a:srgbClr val="F5F1FB"/>
            </a:solidFill>
            <a:prstDash val="solid"/>
          </a:ln>
        </p:spPr>
      </p:sp>
      <p:sp>
        <p:nvSpPr>
          <p:cNvPr id="23" name="Text 19"/>
          <p:cNvSpPr/>
          <p:nvPr/>
        </p:nvSpPr>
        <p:spPr>
          <a:xfrm>
            <a:off x="6949440" y="2423160"/>
            <a:ext cx="4709160" cy="3703320"/>
          </a:xfrm>
          <a:prstGeom prst="rect">
            <a:avLst/>
          </a:prstGeom>
          <a:noFill/>
          <a:ln/>
        </p:spPr>
        <p:txBody>
          <a:bodyPr wrap="square" lIns="1016" tIns="1016" rIns="1016" bIns="1016" rtlCol="0" anchor="t"/>
          <a:lstStyle/>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Decoding and reconstruction run on Rank 0.</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Quality: MSE, PSNR and SSIM (SSIM is computed in parallel); size: CR and BPP.</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Parallel performance: time, speedup, efficiency, throughput, Karp–Flatt.</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Verification: the reconstructed image (MD5) and the metrics are identical for the sequential run, P = 4, and P = 14 (Adaptive and Equal).</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301752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30175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Experimental Results</a:t>
            </a:r>
            <a:endParaRPr lang="en-US" sz="1600" dirty="0"/>
          </a:p>
        </p:txBody>
      </p:sp>
      <p:sp>
        <p:nvSpPr>
          <p:cNvPr id="4" name="Text 2"/>
          <p:cNvSpPr/>
          <p:nvPr/>
        </p:nvSpPr>
        <p:spPr>
          <a:xfrm>
            <a:off x="3657600" y="274320"/>
            <a:ext cx="850392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Experimental Setup</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640080" y="1325880"/>
            <a:ext cx="5394960" cy="1463040"/>
          </a:xfrm>
          <a:prstGeom prst="roundRect">
            <a:avLst>
              <a:gd name="adj" fmla="val 6250"/>
            </a:avLst>
          </a:prstGeom>
          <a:solidFill>
            <a:srgbClr val="FFFFFF"/>
          </a:solidFill>
          <a:ln w="22225">
            <a:solidFill>
              <a:srgbClr val="6B4FA3"/>
            </a:solidFill>
            <a:prstDash val="solid"/>
          </a:ln>
        </p:spPr>
      </p:sp>
      <p:sp>
        <p:nvSpPr>
          <p:cNvPr id="7" name="Shape 5"/>
          <p:cNvSpPr/>
          <p:nvPr/>
        </p:nvSpPr>
        <p:spPr>
          <a:xfrm>
            <a:off x="658368" y="1344168"/>
            <a:ext cx="109728" cy="1426464"/>
          </a:xfrm>
          <a:prstGeom prst="rect">
            <a:avLst/>
          </a:prstGeom>
          <a:solidFill>
            <a:srgbClr val="6B4FA3"/>
          </a:solidFill>
          <a:ln w="12700">
            <a:solidFill>
              <a:srgbClr val="6B4FA3"/>
            </a:solidFill>
            <a:prstDash val="solid"/>
          </a:ln>
        </p:spPr>
      </p:sp>
      <p:sp>
        <p:nvSpPr>
          <p:cNvPr id="8" name="Text 6"/>
          <p:cNvSpPr/>
          <p:nvPr/>
        </p:nvSpPr>
        <p:spPr>
          <a:xfrm>
            <a:off x="914400" y="1371600"/>
            <a:ext cx="4983480" cy="1371600"/>
          </a:xfrm>
          <a:prstGeom prst="rect">
            <a:avLst/>
          </a:prstGeom>
          <a:noFill/>
          <a:ln/>
        </p:spPr>
        <p:txBody>
          <a:bodyPr wrap="square" lIns="635" tIns="635" rIns="635" bIns="635" rtlCol="0" anchor="ctr"/>
          <a:lstStyle/>
          <a:p>
            <a:pPr indent="0" marL="0">
              <a:spcAft>
                <a:spcPts val="600"/>
              </a:spcAft>
              <a:buNone/>
            </a:pPr>
            <a:r>
              <a:rPr lang="en-US" sz="2000" b="1" dirty="0">
                <a:solidFill>
                  <a:srgbClr val="6B4FA3"/>
                </a:solidFill>
                <a:latin typeface="Calibri" pitchFamily="34" charset="0"/>
                <a:ea typeface="Calibri" pitchFamily="34" charset="-122"/>
                <a:cs typeface="Calibri" pitchFamily="34" charset="-120"/>
              </a:rPr>
              <a:t>Hardware</a:t>
            </a:r>
            <a:endParaRPr lang="en-US" sz="20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Intel Core i7-13650HX: 6 P-cores and 8 E-cores (14 cores in total).</a:t>
            </a:r>
            <a:endParaRPr lang="en-US" sz="2000" dirty="0"/>
          </a:p>
        </p:txBody>
      </p:sp>
      <p:sp>
        <p:nvSpPr>
          <p:cNvPr id="9" name="Shape 7"/>
          <p:cNvSpPr/>
          <p:nvPr/>
        </p:nvSpPr>
        <p:spPr>
          <a:xfrm>
            <a:off x="6172200" y="1325880"/>
            <a:ext cx="5394960" cy="1463040"/>
          </a:xfrm>
          <a:prstGeom prst="roundRect">
            <a:avLst>
              <a:gd name="adj" fmla="val 6250"/>
            </a:avLst>
          </a:prstGeom>
          <a:solidFill>
            <a:srgbClr val="FFFFFF"/>
          </a:solidFill>
          <a:ln w="22225">
            <a:solidFill>
              <a:srgbClr val="E07B22"/>
            </a:solidFill>
            <a:prstDash val="solid"/>
          </a:ln>
        </p:spPr>
      </p:sp>
      <p:sp>
        <p:nvSpPr>
          <p:cNvPr id="10" name="Shape 8"/>
          <p:cNvSpPr/>
          <p:nvPr/>
        </p:nvSpPr>
        <p:spPr>
          <a:xfrm>
            <a:off x="6190488" y="1344168"/>
            <a:ext cx="109728" cy="1426464"/>
          </a:xfrm>
          <a:prstGeom prst="rect">
            <a:avLst/>
          </a:prstGeom>
          <a:solidFill>
            <a:srgbClr val="E07B22"/>
          </a:solidFill>
          <a:ln w="12700">
            <a:solidFill>
              <a:srgbClr val="E07B22"/>
            </a:solidFill>
            <a:prstDash val="solid"/>
          </a:ln>
        </p:spPr>
      </p:sp>
      <p:sp>
        <p:nvSpPr>
          <p:cNvPr id="11" name="Text 9"/>
          <p:cNvSpPr/>
          <p:nvPr/>
        </p:nvSpPr>
        <p:spPr>
          <a:xfrm>
            <a:off x="6446520" y="1371600"/>
            <a:ext cx="4983480" cy="1371600"/>
          </a:xfrm>
          <a:prstGeom prst="rect">
            <a:avLst/>
          </a:prstGeom>
          <a:noFill/>
          <a:ln/>
        </p:spPr>
        <p:txBody>
          <a:bodyPr wrap="square" lIns="635" tIns="635" rIns="635" bIns="635" rtlCol="0" anchor="ctr"/>
          <a:lstStyle/>
          <a:p>
            <a:pPr indent="0" marL="0">
              <a:spcAft>
                <a:spcPts val="600"/>
              </a:spcAft>
              <a:buNone/>
            </a:pPr>
            <a:r>
              <a:rPr lang="en-US" sz="2000" b="1" dirty="0">
                <a:solidFill>
                  <a:srgbClr val="E07B22"/>
                </a:solidFill>
                <a:latin typeface="Calibri" pitchFamily="34" charset="0"/>
                <a:ea typeface="Calibri" pitchFamily="34" charset="-122"/>
                <a:cs typeface="Calibri" pitchFamily="34" charset="-120"/>
              </a:rPr>
              <a:t>Software</a:t>
            </a:r>
            <a:endParaRPr lang="en-US" sz="20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Ubuntu 24.04, GCC 13.3 (-O2), Open MPI 4.1.6, written in C.</a:t>
            </a:r>
            <a:endParaRPr lang="en-US" sz="2000" dirty="0"/>
          </a:p>
        </p:txBody>
      </p:sp>
      <p:sp>
        <p:nvSpPr>
          <p:cNvPr id="12" name="Shape 10"/>
          <p:cNvSpPr/>
          <p:nvPr/>
        </p:nvSpPr>
        <p:spPr>
          <a:xfrm>
            <a:off x="640080" y="2971800"/>
            <a:ext cx="5394960" cy="1463040"/>
          </a:xfrm>
          <a:prstGeom prst="roundRect">
            <a:avLst>
              <a:gd name="adj" fmla="val 6250"/>
            </a:avLst>
          </a:prstGeom>
          <a:solidFill>
            <a:srgbClr val="FFFFFF"/>
          </a:solidFill>
          <a:ln w="22225">
            <a:solidFill>
              <a:srgbClr val="2A9D8F"/>
            </a:solidFill>
            <a:prstDash val="solid"/>
          </a:ln>
        </p:spPr>
      </p:sp>
      <p:sp>
        <p:nvSpPr>
          <p:cNvPr id="13" name="Shape 11"/>
          <p:cNvSpPr/>
          <p:nvPr/>
        </p:nvSpPr>
        <p:spPr>
          <a:xfrm>
            <a:off x="658368" y="2990088"/>
            <a:ext cx="109728" cy="1426464"/>
          </a:xfrm>
          <a:prstGeom prst="rect">
            <a:avLst/>
          </a:prstGeom>
          <a:solidFill>
            <a:srgbClr val="2A9D8F"/>
          </a:solidFill>
          <a:ln w="12700">
            <a:solidFill>
              <a:srgbClr val="2A9D8F"/>
            </a:solidFill>
            <a:prstDash val="solid"/>
          </a:ln>
        </p:spPr>
      </p:sp>
      <p:sp>
        <p:nvSpPr>
          <p:cNvPr id="14" name="Text 12"/>
          <p:cNvSpPr/>
          <p:nvPr/>
        </p:nvSpPr>
        <p:spPr>
          <a:xfrm>
            <a:off x="914400" y="3017520"/>
            <a:ext cx="4983480" cy="1371600"/>
          </a:xfrm>
          <a:prstGeom prst="rect">
            <a:avLst/>
          </a:prstGeom>
          <a:noFill/>
          <a:ln/>
        </p:spPr>
        <p:txBody>
          <a:bodyPr wrap="square" lIns="635" tIns="635" rIns="635" bIns="635" rtlCol="0" anchor="ctr"/>
          <a:lstStyle/>
          <a:p>
            <a:pPr indent="0" marL="0">
              <a:spcAft>
                <a:spcPts val="600"/>
              </a:spcAft>
              <a:buNone/>
            </a:pPr>
            <a:r>
              <a:rPr lang="en-US" sz="2000" b="1" dirty="0">
                <a:solidFill>
                  <a:srgbClr val="2A9D8F"/>
                </a:solidFill>
                <a:latin typeface="Calibri" pitchFamily="34" charset="0"/>
                <a:ea typeface="Calibri" pitchFamily="34" charset="-122"/>
                <a:cs typeface="Calibri" pitchFamily="34" charset="-120"/>
              </a:rPr>
              <a:t>Protocol</a:t>
            </a:r>
            <a:endParaRPr lang="en-US" sz="20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Median of 5 runs; governor set to performance; processes bound to cores, P-cores first.</a:t>
            </a:r>
            <a:endParaRPr lang="en-US" sz="2000" dirty="0"/>
          </a:p>
        </p:txBody>
      </p:sp>
      <p:sp>
        <p:nvSpPr>
          <p:cNvPr id="15" name="Shape 13"/>
          <p:cNvSpPr/>
          <p:nvPr/>
        </p:nvSpPr>
        <p:spPr>
          <a:xfrm>
            <a:off x="6172200" y="2971800"/>
            <a:ext cx="5394960" cy="1463040"/>
          </a:xfrm>
          <a:prstGeom prst="roundRect">
            <a:avLst>
              <a:gd name="adj" fmla="val 6250"/>
            </a:avLst>
          </a:prstGeom>
          <a:solidFill>
            <a:srgbClr val="FFFFFF"/>
          </a:solidFill>
          <a:ln w="22225">
            <a:solidFill>
              <a:srgbClr val="E0457B"/>
            </a:solidFill>
            <a:prstDash val="solid"/>
          </a:ln>
        </p:spPr>
      </p:sp>
      <p:sp>
        <p:nvSpPr>
          <p:cNvPr id="16" name="Shape 14"/>
          <p:cNvSpPr/>
          <p:nvPr/>
        </p:nvSpPr>
        <p:spPr>
          <a:xfrm>
            <a:off x="6190488" y="2990088"/>
            <a:ext cx="109728" cy="1426464"/>
          </a:xfrm>
          <a:prstGeom prst="rect">
            <a:avLst/>
          </a:prstGeom>
          <a:solidFill>
            <a:srgbClr val="E0457B"/>
          </a:solidFill>
          <a:ln w="12700">
            <a:solidFill>
              <a:srgbClr val="E0457B"/>
            </a:solidFill>
            <a:prstDash val="solid"/>
          </a:ln>
        </p:spPr>
      </p:sp>
      <p:sp>
        <p:nvSpPr>
          <p:cNvPr id="17" name="Text 15"/>
          <p:cNvSpPr/>
          <p:nvPr/>
        </p:nvSpPr>
        <p:spPr>
          <a:xfrm>
            <a:off x="6446520" y="3017520"/>
            <a:ext cx="4983480" cy="1371600"/>
          </a:xfrm>
          <a:prstGeom prst="rect">
            <a:avLst/>
          </a:prstGeom>
          <a:noFill/>
          <a:ln/>
        </p:spPr>
        <p:txBody>
          <a:bodyPr wrap="square" lIns="635" tIns="635" rIns="635" bIns="635" rtlCol="0" anchor="ctr"/>
          <a:lstStyle/>
          <a:p>
            <a:pPr indent="0" marL="0">
              <a:spcAft>
                <a:spcPts val="600"/>
              </a:spcAft>
              <a:buNone/>
            </a:pPr>
            <a:r>
              <a:rPr lang="en-US" sz="2000" b="1" dirty="0">
                <a:solidFill>
                  <a:srgbClr val="E0457B"/>
                </a:solidFill>
                <a:latin typeface="Calibri" pitchFamily="34" charset="0"/>
                <a:ea typeface="Calibri" pitchFamily="34" charset="-122"/>
                <a:cs typeface="Calibri" pitchFamily="34" charset="-120"/>
              </a:rPr>
              <a:t>Data</a:t>
            </a:r>
            <a:endParaRPr lang="en-US" sz="20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8 standard 512 × 512 images: 4 grayscale and 4 color.</a:t>
            </a:r>
            <a:endParaRPr lang="en-US" sz="2000" dirty="0"/>
          </a:p>
        </p:txBody>
      </p:sp>
      <p:sp>
        <p:nvSpPr>
          <p:cNvPr id="18" name="Shape 16"/>
          <p:cNvSpPr/>
          <p:nvPr/>
        </p:nvSpPr>
        <p:spPr>
          <a:xfrm>
            <a:off x="640080" y="4617720"/>
            <a:ext cx="5394960" cy="1463040"/>
          </a:xfrm>
          <a:prstGeom prst="roundRect">
            <a:avLst>
              <a:gd name="adj" fmla="val 6250"/>
            </a:avLst>
          </a:prstGeom>
          <a:solidFill>
            <a:srgbClr val="FFFFFF"/>
          </a:solidFill>
          <a:ln w="22225">
            <a:solidFill>
              <a:srgbClr val="2E2055"/>
            </a:solidFill>
            <a:prstDash val="solid"/>
          </a:ln>
        </p:spPr>
      </p:sp>
      <p:sp>
        <p:nvSpPr>
          <p:cNvPr id="19" name="Shape 17"/>
          <p:cNvSpPr/>
          <p:nvPr/>
        </p:nvSpPr>
        <p:spPr>
          <a:xfrm>
            <a:off x="658368" y="4636008"/>
            <a:ext cx="109728" cy="1426464"/>
          </a:xfrm>
          <a:prstGeom prst="rect">
            <a:avLst/>
          </a:prstGeom>
          <a:solidFill>
            <a:srgbClr val="2E2055"/>
          </a:solidFill>
          <a:ln w="12700">
            <a:solidFill>
              <a:srgbClr val="2E2055"/>
            </a:solidFill>
            <a:prstDash val="solid"/>
          </a:ln>
        </p:spPr>
      </p:sp>
      <p:sp>
        <p:nvSpPr>
          <p:cNvPr id="20" name="Text 18"/>
          <p:cNvSpPr/>
          <p:nvPr/>
        </p:nvSpPr>
        <p:spPr>
          <a:xfrm>
            <a:off x="914400" y="4663440"/>
            <a:ext cx="4983480" cy="1371600"/>
          </a:xfrm>
          <a:prstGeom prst="rect">
            <a:avLst/>
          </a:prstGeom>
          <a:noFill/>
          <a:ln/>
        </p:spPr>
        <p:txBody>
          <a:bodyPr wrap="square" lIns="635" tIns="635" rIns="635" bIns="635" rtlCol="0" anchor="ctr"/>
          <a:lstStyle/>
          <a:p>
            <a:pPr indent="0" marL="0">
              <a:spcAft>
                <a:spcPts val="600"/>
              </a:spcAft>
              <a:buNone/>
            </a:pPr>
            <a:r>
              <a:rPr lang="en-US" sz="2000" b="1" dirty="0">
                <a:solidFill>
                  <a:srgbClr val="2E2055"/>
                </a:solidFill>
                <a:latin typeface="Calibri" pitchFamily="34" charset="0"/>
                <a:ea typeface="Calibri" pitchFamily="34" charset="-122"/>
                <a:cs typeface="Calibri" pitchFamily="34" charset="-120"/>
              </a:rPr>
              <a:t>LBG settings</a:t>
            </a:r>
            <a:endParaRPr lang="en-US" sz="20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4 × 4 blocks, K = 64 codewords, δ = 0.01, ε = 10⁻⁴ (relative improvement in distortion), at most 100 iterations per level.</a:t>
            </a:r>
            <a:endParaRPr lang="en-US" sz="2000" dirty="0"/>
          </a:p>
        </p:txBody>
      </p:sp>
      <p:sp>
        <p:nvSpPr>
          <p:cNvPr id="21" name="Shape 19"/>
          <p:cNvSpPr/>
          <p:nvPr/>
        </p:nvSpPr>
        <p:spPr>
          <a:xfrm>
            <a:off x="6172200" y="4617720"/>
            <a:ext cx="5394960" cy="1463040"/>
          </a:xfrm>
          <a:prstGeom prst="roundRect">
            <a:avLst>
              <a:gd name="adj" fmla="val 6250"/>
            </a:avLst>
          </a:prstGeom>
          <a:solidFill>
            <a:srgbClr val="FFFFFF"/>
          </a:solidFill>
          <a:ln w="22225">
            <a:solidFill>
              <a:srgbClr val="F2B134"/>
            </a:solidFill>
            <a:prstDash val="solid"/>
          </a:ln>
        </p:spPr>
      </p:sp>
      <p:sp>
        <p:nvSpPr>
          <p:cNvPr id="22" name="Shape 20"/>
          <p:cNvSpPr/>
          <p:nvPr/>
        </p:nvSpPr>
        <p:spPr>
          <a:xfrm>
            <a:off x="6190488" y="4636008"/>
            <a:ext cx="109728" cy="1426464"/>
          </a:xfrm>
          <a:prstGeom prst="rect">
            <a:avLst/>
          </a:prstGeom>
          <a:solidFill>
            <a:srgbClr val="F2B134"/>
          </a:solidFill>
          <a:ln w="12700">
            <a:solidFill>
              <a:srgbClr val="F2B134"/>
            </a:solidFill>
            <a:prstDash val="solid"/>
          </a:ln>
        </p:spPr>
      </p:sp>
      <p:sp>
        <p:nvSpPr>
          <p:cNvPr id="23" name="Text 21"/>
          <p:cNvSpPr/>
          <p:nvPr/>
        </p:nvSpPr>
        <p:spPr>
          <a:xfrm>
            <a:off x="6446520" y="4663440"/>
            <a:ext cx="4983480" cy="1371600"/>
          </a:xfrm>
          <a:prstGeom prst="rect">
            <a:avLst/>
          </a:prstGeom>
          <a:noFill/>
          <a:ln/>
        </p:spPr>
        <p:txBody>
          <a:bodyPr wrap="square" lIns="635" tIns="635" rIns="635" bIns="635" rtlCol="0" anchor="ctr"/>
          <a:lstStyle/>
          <a:p>
            <a:pPr indent="0" marL="0">
              <a:spcAft>
                <a:spcPts val="600"/>
              </a:spcAft>
              <a:buNone/>
            </a:pPr>
            <a:r>
              <a:rPr lang="en-US" sz="2000" b="1" dirty="0">
                <a:solidFill>
                  <a:srgbClr val="F2B134"/>
                </a:solidFill>
                <a:latin typeface="Calibri" pitchFamily="34" charset="0"/>
                <a:ea typeface="Calibri" pitchFamily="34" charset="-122"/>
                <a:cs typeface="Calibri" pitchFamily="34" charset="-120"/>
              </a:rPr>
              <a:t>Strategies</a:t>
            </a:r>
            <a:endParaRPr lang="en-US" sz="20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Equal (default for P ≤ 4) and Adaptive speed-aware (P &gt; 4).</a:t>
            </a:r>
            <a:endParaRPr lang="en-US" sz="2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301752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30175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Experimental Results</a:t>
            </a:r>
            <a:endParaRPr lang="en-US" sz="1600" dirty="0"/>
          </a:p>
        </p:txBody>
      </p:sp>
      <p:sp>
        <p:nvSpPr>
          <p:cNvPr id="4" name="Text 2"/>
          <p:cNvSpPr/>
          <p:nvPr/>
        </p:nvSpPr>
        <p:spPr>
          <a:xfrm>
            <a:off x="3657600" y="274320"/>
            <a:ext cx="850392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Evaluation Metrics</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10927080" cy="914400"/>
        </p:xfrm>
        <a:graphic>
          <a:graphicData uri="http://schemas.openxmlformats.org/drawingml/2006/table">
            <a:tbl>
              <a:tblPr/>
              <a:tblGrid>
                <a:gridCol w="1463040"/>
                <a:gridCol w="4023360"/>
                <a:gridCol w="1920240"/>
                <a:gridCol w="3520440"/>
              </a:tblGrid>
              <a:tr h="566928">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Quality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Formula</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Performance</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07B2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Formula</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07B22"/>
                    </a:solidFill>
                  </a:tcPr>
                </a:tc>
              </a:tr>
              <a:tr h="566928">
                <a:tc>
                  <a:txBody>
                    <a:bodyPr/>
                    <a:lstStyle/>
                    <a:p>
                      <a:pPr algn="ctr" indent="0" marL="0">
                        <a:buNone/>
                      </a:pPr>
                      <a:r>
                        <a:rPr lang="en-US" sz="1500" b="1" dirty="0">
                          <a:solidFill>
                            <a:srgbClr val="2A9D8F"/>
                          </a:solidFill>
                          <a:latin typeface="Calibri" pitchFamily="34" charset="0"/>
                          <a:ea typeface="Calibri" pitchFamily="34" charset="-122"/>
                          <a:cs typeface="Calibri" pitchFamily="34" charset="-120"/>
                        </a:rPr>
                        <a:t>CR</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EF8F6"/>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S_orig / S_comp</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EF8F6"/>
                    </a:solidFill>
                  </a:tcPr>
                </a:tc>
                <a:tc>
                  <a:txBody>
                    <a:bodyPr/>
                    <a:lstStyle/>
                    <a:p>
                      <a:pPr algn="ctr" indent="0" marL="0">
                        <a:buNone/>
                      </a:pPr>
                      <a:r>
                        <a:rPr lang="en-US" sz="1500" b="1" dirty="0">
                          <a:solidFill>
                            <a:srgbClr val="E07B22"/>
                          </a:solidFill>
                          <a:latin typeface="Calibri" pitchFamily="34" charset="0"/>
                          <a:ea typeface="Calibri" pitchFamily="34" charset="-122"/>
                          <a:cs typeface="Calibri" pitchFamily="34" charset="-120"/>
                        </a:rPr>
                        <a:t>Execution time</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DF1E6"/>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T (median of 5 runs)</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DF1E6"/>
                    </a:solidFill>
                  </a:tcPr>
                </a:tc>
              </a:tr>
              <a:tr h="566928">
                <a:tc>
                  <a:txBody>
                    <a:bodyPr/>
                    <a:lstStyle/>
                    <a:p>
                      <a:pPr algn="ctr" indent="0" marL="0">
                        <a:buNone/>
                      </a:pPr>
                      <a:r>
                        <a:rPr lang="en-US" sz="1500" b="1" dirty="0">
                          <a:solidFill>
                            <a:srgbClr val="2A9D8F"/>
                          </a:solidFill>
                          <a:latin typeface="Calibri" pitchFamily="34" charset="0"/>
                          <a:ea typeface="Calibri" pitchFamily="34" charset="-122"/>
                          <a:cs typeface="Calibri" pitchFamily="34" charset="-120"/>
                        </a:rPr>
                        <a:t>BPP</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compressed bits / pixels</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E07B22"/>
                          </a:solidFill>
                          <a:latin typeface="Calibri" pitchFamily="34" charset="0"/>
                          <a:ea typeface="Calibri" pitchFamily="34" charset="-122"/>
                          <a:cs typeface="Calibri" pitchFamily="34" charset="-120"/>
                        </a:rPr>
                        <a:t>Speedup</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S = T_seq / T_P</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566928">
                <a:tc>
                  <a:txBody>
                    <a:bodyPr/>
                    <a:lstStyle/>
                    <a:p>
                      <a:pPr algn="ctr" indent="0" marL="0">
                        <a:buNone/>
                      </a:pPr>
                      <a:r>
                        <a:rPr lang="en-US" sz="1500" b="1" dirty="0">
                          <a:solidFill>
                            <a:srgbClr val="2A9D8F"/>
                          </a:solidFill>
                          <a:latin typeface="Calibri" pitchFamily="34" charset="0"/>
                          <a:ea typeface="Calibri" pitchFamily="34" charset="-122"/>
                          <a:cs typeface="Calibri" pitchFamily="34" charset="-120"/>
                        </a:rPr>
                        <a:t>MSE</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EF8F6"/>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mean (I − Î)²</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EF8F6"/>
                    </a:solidFill>
                  </a:tcPr>
                </a:tc>
                <a:tc>
                  <a:txBody>
                    <a:bodyPr/>
                    <a:lstStyle/>
                    <a:p>
                      <a:pPr algn="ctr" indent="0" marL="0">
                        <a:buNone/>
                      </a:pPr>
                      <a:r>
                        <a:rPr lang="en-US" sz="1500" b="1" dirty="0">
                          <a:solidFill>
                            <a:srgbClr val="E07B22"/>
                          </a:solidFill>
                          <a:latin typeface="Calibri" pitchFamily="34" charset="0"/>
                          <a:ea typeface="Calibri" pitchFamily="34" charset="-122"/>
                          <a:cs typeface="Calibri" pitchFamily="34" charset="-120"/>
                        </a:rPr>
                        <a:t>Efficiency</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DF1E6"/>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E = S / P</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DF1E6"/>
                    </a:solidFill>
                  </a:tcPr>
                </a:tc>
              </a:tr>
              <a:tr h="566928">
                <a:tc>
                  <a:txBody>
                    <a:bodyPr/>
                    <a:lstStyle/>
                    <a:p>
                      <a:pPr algn="ctr" indent="0" marL="0">
                        <a:buNone/>
                      </a:pPr>
                      <a:r>
                        <a:rPr lang="en-US" sz="1500" b="1" dirty="0">
                          <a:solidFill>
                            <a:srgbClr val="2A9D8F"/>
                          </a:solidFill>
                          <a:latin typeface="Calibri" pitchFamily="34" charset="0"/>
                          <a:ea typeface="Calibri" pitchFamily="34" charset="-122"/>
                          <a:cs typeface="Calibri" pitchFamily="34" charset="-120"/>
                        </a:rPr>
                        <a:t>PSNR</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10·log10(255² / MSE)  dB</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E07B22"/>
                          </a:solidFill>
                          <a:latin typeface="Calibri" pitchFamily="34" charset="0"/>
                          <a:ea typeface="Calibri" pitchFamily="34" charset="-122"/>
                          <a:cs typeface="Calibri" pitchFamily="34" charset="-120"/>
                        </a:rPr>
                        <a:t>Throughput</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I_size / T_total  (MiB/s)</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566928">
                <a:tc>
                  <a:txBody>
                    <a:bodyPr/>
                    <a:lstStyle/>
                    <a:p>
                      <a:pPr algn="ctr" indent="0" marL="0">
                        <a:buNone/>
                      </a:pPr>
                      <a:r>
                        <a:rPr lang="en-US" sz="1500" b="1" dirty="0">
                          <a:solidFill>
                            <a:srgbClr val="2A9D8F"/>
                          </a:solidFill>
                          <a:latin typeface="Calibri" pitchFamily="34" charset="0"/>
                          <a:ea typeface="Calibri" pitchFamily="34" charset="-122"/>
                          <a:cs typeface="Calibri" pitchFamily="34" charset="-120"/>
                        </a:rPr>
                        <a:t>SSIM</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EF8F6"/>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11 × 11 Gaussian window, σ = 1.5</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EF8F6"/>
                    </a:solidFill>
                  </a:tcPr>
                </a:tc>
                <a:tc>
                  <a:txBody>
                    <a:bodyPr/>
                    <a:lstStyle/>
                    <a:p>
                      <a:pPr algn="ctr" indent="0" marL="0">
                        <a:buNone/>
                      </a:pPr>
                      <a:r>
                        <a:rPr lang="en-US" sz="1500" b="1" dirty="0">
                          <a:solidFill>
                            <a:srgbClr val="E07B22"/>
                          </a:solidFill>
                          <a:latin typeface="Calibri" pitchFamily="34" charset="0"/>
                          <a:ea typeface="Calibri" pitchFamily="34" charset="-122"/>
                          <a:cs typeface="Calibri" pitchFamily="34" charset="-120"/>
                        </a:rPr>
                        <a:t>Karp–Flatt</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DF1E6"/>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e = (1/S − 1/P) / (1 − 1/P)</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DF1E6"/>
                    </a:solidFill>
                  </a:tcPr>
                </a:tc>
              </a:tr>
            </a:tbl>
          </a:graphicData>
        </a:graphic>
      </p:graphicFrame>
      <p:sp>
        <p:nvSpPr>
          <p:cNvPr id="7" name="Text 4"/>
          <p:cNvSpPr/>
          <p:nvPr/>
        </p:nvSpPr>
        <p:spPr>
          <a:xfrm>
            <a:off x="640080" y="5120640"/>
            <a:ext cx="10927080" cy="914400"/>
          </a:xfrm>
          <a:prstGeom prst="rect">
            <a:avLst/>
          </a:prstGeom>
          <a:noFill/>
          <a:ln/>
        </p:spPr>
        <p:txBody>
          <a:bodyPr wrap="square" lIns="0" tIns="0" rIns="0" bIns="0" rtlCol="0" anchor="ctr"/>
          <a:lstStyle/>
          <a:p>
            <a:pPr indent="0" marL="0">
              <a:buNone/>
            </a:pPr>
            <a:r>
              <a:rPr lang="en-US" sz="1300" i="1" dirty="0">
                <a:solidFill>
                  <a:srgbClr val="6B4FA3"/>
                </a:solidFill>
                <a:latin typeface="Calibri" pitchFamily="34" charset="0"/>
                <a:ea typeface="Calibri" pitchFamily="34" charset="-122"/>
                <a:cs typeface="Calibri" pitchFamily="34" charset="-120"/>
              </a:rPr>
              <a:t>S_comp = accounted compressed size = codebook (K × 16 bytes, one byte per element) + Huffman table + Huffman-coded data. The table is accounted as 5 bytes per used symbol (1 byte symbol + 4 bytes frequency) plus 10 bytes of fixed metadata. For color images, MSE and PSNR are computed over RGB and SSIM is the mean of the channels.</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Test Images</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Text 4"/>
          <p:cNvSpPr/>
          <p:nvPr/>
        </p:nvSpPr>
        <p:spPr>
          <a:xfrm>
            <a:off x="457200" y="1143000"/>
            <a:ext cx="5486400" cy="320040"/>
          </a:xfrm>
          <a:prstGeom prst="rect">
            <a:avLst/>
          </a:prstGeom>
          <a:noFill/>
          <a:ln/>
        </p:spPr>
        <p:txBody>
          <a:bodyPr wrap="square" lIns="0" tIns="0" rIns="0" bIns="0" rtlCol="0" anchor="ctr"/>
          <a:lstStyle/>
          <a:p>
            <a:pPr indent="0" marL="0">
              <a:buNone/>
            </a:pPr>
            <a:r>
              <a:rPr lang="en-US" sz="1800" b="1" dirty="0">
                <a:solidFill>
                  <a:srgbClr val="2A9D8F"/>
                </a:solidFill>
                <a:latin typeface="Calibri" pitchFamily="34" charset="0"/>
                <a:ea typeface="Calibri" pitchFamily="34" charset="-122"/>
                <a:cs typeface="Calibri" pitchFamily="34" charset="-120"/>
              </a:rPr>
              <a:t>Grayscale</a:t>
            </a:r>
            <a:endParaRPr lang="en-US" sz="1800" dirty="0"/>
          </a:p>
        </p:txBody>
      </p:sp>
      <p:sp>
        <p:nvSpPr>
          <p:cNvPr id="7" name="Shape 5"/>
          <p:cNvSpPr/>
          <p:nvPr/>
        </p:nvSpPr>
        <p:spPr>
          <a:xfrm>
            <a:off x="457200" y="1508760"/>
            <a:ext cx="2286000" cy="2286000"/>
          </a:xfrm>
          <a:prstGeom prst="rect">
            <a:avLst/>
          </a:prstGeom>
          <a:solidFill>
            <a:srgbClr val="F5F1FB"/>
          </a:solidFill>
          <a:ln w="19050">
            <a:solidFill>
              <a:srgbClr val="6B4FA3"/>
            </a:solidFill>
            <a:prstDash val="dash"/>
          </a:ln>
        </p:spPr>
      </p:sp>
      <p:sp>
        <p:nvSpPr>
          <p:cNvPr id="8" name="Text 6"/>
          <p:cNvSpPr/>
          <p:nvPr/>
        </p:nvSpPr>
        <p:spPr>
          <a:xfrm>
            <a:off x="457200" y="1508760"/>
            <a:ext cx="2286000" cy="228600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9" name="Text 7"/>
          <p:cNvSpPr/>
          <p:nvPr/>
        </p:nvSpPr>
        <p:spPr>
          <a:xfrm>
            <a:off x="457200" y="3813048"/>
            <a:ext cx="228600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Lena</a:t>
            </a:r>
            <a:endParaRPr lang="en-US" sz="1400" dirty="0"/>
          </a:p>
        </p:txBody>
      </p:sp>
      <p:sp>
        <p:nvSpPr>
          <p:cNvPr id="10" name="Shape 8"/>
          <p:cNvSpPr/>
          <p:nvPr/>
        </p:nvSpPr>
        <p:spPr>
          <a:xfrm>
            <a:off x="3291840" y="1508760"/>
            <a:ext cx="2286000" cy="2286000"/>
          </a:xfrm>
          <a:prstGeom prst="rect">
            <a:avLst/>
          </a:prstGeom>
          <a:solidFill>
            <a:srgbClr val="F5F1FB"/>
          </a:solidFill>
          <a:ln w="19050">
            <a:solidFill>
              <a:srgbClr val="6B4FA3"/>
            </a:solidFill>
            <a:prstDash val="dash"/>
          </a:ln>
        </p:spPr>
      </p:sp>
      <p:sp>
        <p:nvSpPr>
          <p:cNvPr id="11" name="Text 9"/>
          <p:cNvSpPr/>
          <p:nvPr/>
        </p:nvSpPr>
        <p:spPr>
          <a:xfrm>
            <a:off x="3291840" y="1508760"/>
            <a:ext cx="2286000" cy="228600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12" name="Text 10"/>
          <p:cNvSpPr/>
          <p:nvPr/>
        </p:nvSpPr>
        <p:spPr>
          <a:xfrm>
            <a:off x="3291840" y="3813048"/>
            <a:ext cx="228600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Boat</a:t>
            </a:r>
            <a:endParaRPr lang="en-US" sz="1400" dirty="0"/>
          </a:p>
        </p:txBody>
      </p:sp>
      <p:sp>
        <p:nvSpPr>
          <p:cNvPr id="13" name="Shape 11"/>
          <p:cNvSpPr/>
          <p:nvPr/>
        </p:nvSpPr>
        <p:spPr>
          <a:xfrm>
            <a:off x="6126480" y="1508760"/>
            <a:ext cx="2286000" cy="2286000"/>
          </a:xfrm>
          <a:prstGeom prst="rect">
            <a:avLst/>
          </a:prstGeom>
          <a:solidFill>
            <a:srgbClr val="F5F1FB"/>
          </a:solidFill>
          <a:ln w="19050">
            <a:solidFill>
              <a:srgbClr val="6B4FA3"/>
            </a:solidFill>
            <a:prstDash val="dash"/>
          </a:ln>
        </p:spPr>
      </p:sp>
      <p:sp>
        <p:nvSpPr>
          <p:cNvPr id="14" name="Text 12"/>
          <p:cNvSpPr/>
          <p:nvPr/>
        </p:nvSpPr>
        <p:spPr>
          <a:xfrm>
            <a:off x="6126480" y="1508760"/>
            <a:ext cx="2286000" cy="228600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15" name="Text 13"/>
          <p:cNvSpPr/>
          <p:nvPr/>
        </p:nvSpPr>
        <p:spPr>
          <a:xfrm>
            <a:off x="6126480" y="3813048"/>
            <a:ext cx="228600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Cameraman</a:t>
            </a:r>
            <a:endParaRPr lang="en-US" sz="1400" dirty="0"/>
          </a:p>
        </p:txBody>
      </p:sp>
      <p:sp>
        <p:nvSpPr>
          <p:cNvPr id="16" name="Shape 14"/>
          <p:cNvSpPr/>
          <p:nvPr/>
        </p:nvSpPr>
        <p:spPr>
          <a:xfrm>
            <a:off x="8961120" y="1508760"/>
            <a:ext cx="2286000" cy="2286000"/>
          </a:xfrm>
          <a:prstGeom prst="rect">
            <a:avLst/>
          </a:prstGeom>
          <a:solidFill>
            <a:srgbClr val="F5F1FB"/>
          </a:solidFill>
          <a:ln w="19050">
            <a:solidFill>
              <a:srgbClr val="6B4FA3"/>
            </a:solidFill>
            <a:prstDash val="dash"/>
          </a:ln>
        </p:spPr>
      </p:sp>
      <p:sp>
        <p:nvSpPr>
          <p:cNvPr id="17" name="Text 15"/>
          <p:cNvSpPr/>
          <p:nvPr/>
        </p:nvSpPr>
        <p:spPr>
          <a:xfrm>
            <a:off x="8961120" y="1508760"/>
            <a:ext cx="2286000" cy="228600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18" name="Text 16"/>
          <p:cNvSpPr/>
          <p:nvPr/>
        </p:nvSpPr>
        <p:spPr>
          <a:xfrm>
            <a:off x="8961120" y="3813048"/>
            <a:ext cx="228600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Peppers</a:t>
            </a:r>
            <a:endParaRPr lang="en-US" sz="1400" dirty="0"/>
          </a:p>
        </p:txBody>
      </p:sp>
      <p:sp>
        <p:nvSpPr>
          <p:cNvPr id="19" name="Text 17"/>
          <p:cNvSpPr/>
          <p:nvPr/>
        </p:nvSpPr>
        <p:spPr>
          <a:xfrm>
            <a:off x="457200" y="3886200"/>
            <a:ext cx="5486400" cy="320040"/>
          </a:xfrm>
          <a:prstGeom prst="rect">
            <a:avLst/>
          </a:prstGeom>
          <a:noFill/>
          <a:ln/>
        </p:spPr>
        <p:txBody>
          <a:bodyPr wrap="square" lIns="0" tIns="0" rIns="0" bIns="0" rtlCol="0" anchor="ctr"/>
          <a:lstStyle/>
          <a:p>
            <a:pPr indent="0" marL="0">
              <a:buNone/>
            </a:pPr>
            <a:r>
              <a:rPr lang="en-US" sz="1800" b="1" dirty="0">
                <a:solidFill>
                  <a:srgbClr val="2A9D8F"/>
                </a:solidFill>
                <a:latin typeface="Calibri" pitchFamily="34" charset="0"/>
                <a:ea typeface="Calibri" pitchFamily="34" charset="-122"/>
                <a:cs typeface="Calibri" pitchFamily="34" charset="-120"/>
              </a:rPr>
              <a:t>Color</a:t>
            </a:r>
            <a:endParaRPr lang="en-US" sz="1800" dirty="0"/>
          </a:p>
        </p:txBody>
      </p:sp>
      <p:sp>
        <p:nvSpPr>
          <p:cNvPr id="20" name="Shape 18"/>
          <p:cNvSpPr/>
          <p:nvPr/>
        </p:nvSpPr>
        <p:spPr>
          <a:xfrm>
            <a:off x="457200" y="4251960"/>
            <a:ext cx="2286000" cy="2286000"/>
          </a:xfrm>
          <a:prstGeom prst="rect">
            <a:avLst/>
          </a:prstGeom>
          <a:solidFill>
            <a:srgbClr val="F5F1FB"/>
          </a:solidFill>
          <a:ln w="19050">
            <a:solidFill>
              <a:srgbClr val="6B4FA3"/>
            </a:solidFill>
            <a:prstDash val="dash"/>
          </a:ln>
        </p:spPr>
      </p:sp>
      <p:sp>
        <p:nvSpPr>
          <p:cNvPr id="21" name="Text 19"/>
          <p:cNvSpPr/>
          <p:nvPr/>
        </p:nvSpPr>
        <p:spPr>
          <a:xfrm>
            <a:off x="457200" y="4251960"/>
            <a:ext cx="2286000" cy="228600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22" name="Text 20"/>
          <p:cNvSpPr/>
          <p:nvPr/>
        </p:nvSpPr>
        <p:spPr>
          <a:xfrm>
            <a:off x="457200" y="6556248"/>
            <a:ext cx="228600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Lena</a:t>
            </a:r>
            <a:endParaRPr lang="en-US" sz="1400" dirty="0"/>
          </a:p>
        </p:txBody>
      </p:sp>
      <p:sp>
        <p:nvSpPr>
          <p:cNvPr id="23" name="Shape 21"/>
          <p:cNvSpPr/>
          <p:nvPr/>
        </p:nvSpPr>
        <p:spPr>
          <a:xfrm>
            <a:off x="3291840" y="4251960"/>
            <a:ext cx="2286000" cy="2286000"/>
          </a:xfrm>
          <a:prstGeom prst="rect">
            <a:avLst/>
          </a:prstGeom>
          <a:solidFill>
            <a:srgbClr val="F5F1FB"/>
          </a:solidFill>
          <a:ln w="19050">
            <a:solidFill>
              <a:srgbClr val="6B4FA3"/>
            </a:solidFill>
            <a:prstDash val="dash"/>
          </a:ln>
        </p:spPr>
      </p:sp>
      <p:sp>
        <p:nvSpPr>
          <p:cNvPr id="24" name="Text 22"/>
          <p:cNvSpPr/>
          <p:nvPr/>
        </p:nvSpPr>
        <p:spPr>
          <a:xfrm>
            <a:off x="3291840" y="4251960"/>
            <a:ext cx="2286000" cy="228600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25" name="Text 23"/>
          <p:cNvSpPr/>
          <p:nvPr/>
        </p:nvSpPr>
        <p:spPr>
          <a:xfrm>
            <a:off x="3291840" y="6556248"/>
            <a:ext cx="228600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Peppers</a:t>
            </a:r>
            <a:endParaRPr lang="en-US" sz="1400" dirty="0"/>
          </a:p>
        </p:txBody>
      </p:sp>
      <p:sp>
        <p:nvSpPr>
          <p:cNvPr id="26" name="Shape 24"/>
          <p:cNvSpPr/>
          <p:nvPr/>
        </p:nvSpPr>
        <p:spPr>
          <a:xfrm>
            <a:off x="6126480" y="4251960"/>
            <a:ext cx="2286000" cy="2286000"/>
          </a:xfrm>
          <a:prstGeom prst="rect">
            <a:avLst/>
          </a:prstGeom>
          <a:solidFill>
            <a:srgbClr val="F5F1FB"/>
          </a:solidFill>
          <a:ln w="19050">
            <a:solidFill>
              <a:srgbClr val="6B4FA3"/>
            </a:solidFill>
            <a:prstDash val="dash"/>
          </a:ln>
        </p:spPr>
      </p:sp>
      <p:sp>
        <p:nvSpPr>
          <p:cNvPr id="27" name="Text 25"/>
          <p:cNvSpPr/>
          <p:nvPr/>
        </p:nvSpPr>
        <p:spPr>
          <a:xfrm>
            <a:off x="6126480" y="4251960"/>
            <a:ext cx="2286000" cy="228600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28" name="Text 26"/>
          <p:cNvSpPr/>
          <p:nvPr/>
        </p:nvSpPr>
        <p:spPr>
          <a:xfrm>
            <a:off x="6126480" y="6556248"/>
            <a:ext cx="228600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F16</a:t>
            </a:r>
            <a:endParaRPr lang="en-US" sz="1400" dirty="0"/>
          </a:p>
        </p:txBody>
      </p:sp>
      <p:sp>
        <p:nvSpPr>
          <p:cNvPr id="29" name="Shape 27"/>
          <p:cNvSpPr/>
          <p:nvPr/>
        </p:nvSpPr>
        <p:spPr>
          <a:xfrm>
            <a:off x="8961120" y="4251960"/>
            <a:ext cx="2286000" cy="2286000"/>
          </a:xfrm>
          <a:prstGeom prst="rect">
            <a:avLst/>
          </a:prstGeom>
          <a:solidFill>
            <a:srgbClr val="F5F1FB"/>
          </a:solidFill>
          <a:ln w="19050">
            <a:solidFill>
              <a:srgbClr val="6B4FA3"/>
            </a:solidFill>
            <a:prstDash val="dash"/>
          </a:ln>
        </p:spPr>
      </p:sp>
      <p:sp>
        <p:nvSpPr>
          <p:cNvPr id="30" name="Text 28"/>
          <p:cNvSpPr/>
          <p:nvPr/>
        </p:nvSpPr>
        <p:spPr>
          <a:xfrm>
            <a:off x="8961120" y="4251960"/>
            <a:ext cx="2286000" cy="228600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31" name="Text 29"/>
          <p:cNvSpPr/>
          <p:nvPr/>
        </p:nvSpPr>
        <p:spPr>
          <a:xfrm>
            <a:off x="8961120" y="6556248"/>
            <a:ext cx="228600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Gold Hill</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Reconstruction Results: Grayscale Images</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Text 4"/>
          <p:cNvSpPr/>
          <p:nvPr/>
        </p:nvSpPr>
        <p:spPr>
          <a:xfrm>
            <a:off x="411480" y="1417320"/>
            <a:ext cx="1097280" cy="2331720"/>
          </a:xfrm>
          <a:prstGeom prst="rect">
            <a:avLst/>
          </a:prstGeom>
          <a:noFill/>
          <a:ln/>
        </p:spPr>
        <p:txBody>
          <a:bodyPr wrap="square" lIns="0" tIns="0" rIns="0" bIns="0" rtlCol="0" anchor="ctr"/>
          <a:lstStyle/>
          <a:p>
            <a:pPr algn="ctr" indent="0" marL="0">
              <a:buNone/>
            </a:pPr>
            <a:r>
              <a:rPr lang="en-US" sz="1500" b="1" dirty="0">
                <a:solidFill>
                  <a:srgbClr val="2E2055"/>
                </a:solidFill>
                <a:latin typeface="Calibri" pitchFamily="34" charset="0"/>
                <a:ea typeface="Calibri" pitchFamily="34" charset="-122"/>
                <a:cs typeface="Calibri" pitchFamily="34" charset="-120"/>
              </a:rPr>
              <a:t>Original</a:t>
            </a:r>
            <a:endParaRPr lang="en-US" sz="1500" dirty="0"/>
          </a:p>
        </p:txBody>
      </p:sp>
      <p:sp>
        <p:nvSpPr>
          <p:cNvPr id="7" name="Text 5"/>
          <p:cNvSpPr/>
          <p:nvPr/>
        </p:nvSpPr>
        <p:spPr>
          <a:xfrm>
            <a:off x="411480" y="3840480"/>
            <a:ext cx="1097280" cy="2331720"/>
          </a:xfrm>
          <a:prstGeom prst="rect">
            <a:avLst/>
          </a:prstGeom>
          <a:noFill/>
          <a:ln/>
        </p:spPr>
        <p:txBody>
          <a:bodyPr wrap="square" lIns="0" tIns="0" rIns="0" bIns="0" rtlCol="0" anchor="ctr"/>
          <a:lstStyle/>
          <a:p>
            <a:pPr algn="ctr" indent="0" marL="0">
              <a:buNone/>
            </a:pPr>
            <a:r>
              <a:rPr lang="en-US" sz="1500" b="1" dirty="0">
                <a:solidFill>
                  <a:srgbClr val="2E2055"/>
                </a:solidFill>
                <a:latin typeface="Calibri" pitchFamily="34" charset="0"/>
                <a:ea typeface="Calibri" pitchFamily="34" charset="-122"/>
                <a:cs typeface="Calibri" pitchFamily="34" charset="-120"/>
              </a:rPr>
              <a:t>Reconstructed</a:t>
            </a:r>
            <a:endParaRPr lang="en-US" sz="1500" dirty="0"/>
          </a:p>
        </p:txBody>
      </p:sp>
      <p:sp>
        <p:nvSpPr>
          <p:cNvPr id="8" name="Text 6"/>
          <p:cNvSpPr/>
          <p:nvPr/>
        </p:nvSpPr>
        <p:spPr>
          <a:xfrm>
            <a:off x="160020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Lena</a:t>
            </a:r>
            <a:endParaRPr lang="en-US" sz="1700" dirty="0"/>
          </a:p>
        </p:txBody>
      </p:sp>
      <p:sp>
        <p:nvSpPr>
          <p:cNvPr id="9" name="Shape 7"/>
          <p:cNvSpPr/>
          <p:nvPr/>
        </p:nvSpPr>
        <p:spPr>
          <a:xfrm>
            <a:off x="1600200" y="1417320"/>
            <a:ext cx="2331720" cy="2331720"/>
          </a:xfrm>
          <a:prstGeom prst="rect">
            <a:avLst/>
          </a:prstGeom>
          <a:solidFill>
            <a:srgbClr val="F5F1FB"/>
          </a:solidFill>
          <a:ln w="19050">
            <a:solidFill>
              <a:srgbClr val="6B4FA3"/>
            </a:solidFill>
            <a:prstDash val="dash"/>
          </a:ln>
        </p:spPr>
      </p:sp>
      <p:sp>
        <p:nvSpPr>
          <p:cNvPr id="10" name="Text 8"/>
          <p:cNvSpPr/>
          <p:nvPr/>
        </p:nvSpPr>
        <p:spPr>
          <a:xfrm>
            <a:off x="160020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11" name="Shape 9"/>
          <p:cNvSpPr/>
          <p:nvPr/>
        </p:nvSpPr>
        <p:spPr>
          <a:xfrm>
            <a:off x="1600200" y="3840480"/>
            <a:ext cx="2331720" cy="2331720"/>
          </a:xfrm>
          <a:prstGeom prst="rect">
            <a:avLst/>
          </a:prstGeom>
          <a:solidFill>
            <a:srgbClr val="F5F1FB"/>
          </a:solidFill>
          <a:ln w="19050">
            <a:solidFill>
              <a:srgbClr val="6B4FA3"/>
            </a:solidFill>
            <a:prstDash val="dash"/>
          </a:ln>
        </p:spPr>
      </p:sp>
      <p:sp>
        <p:nvSpPr>
          <p:cNvPr id="12" name="Text 10"/>
          <p:cNvSpPr/>
          <p:nvPr/>
        </p:nvSpPr>
        <p:spPr>
          <a:xfrm>
            <a:off x="160020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13" name="Text 11"/>
          <p:cNvSpPr/>
          <p:nvPr/>
        </p:nvSpPr>
        <p:spPr>
          <a:xfrm>
            <a:off x="150876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29.67 dB   SSIM 0.8190</a:t>
            </a:r>
            <a:endParaRPr lang="en-US" sz="1300" dirty="0"/>
          </a:p>
        </p:txBody>
      </p:sp>
      <p:sp>
        <p:nvSpPr>
          <p:cNvPr id="14" name="Text 12"/>
          <p:cNvSpPr/>
          <p:nvPr/>
        </p:nvSpPr>
        <p:spPr>
          <a:xfrm>
            <a:off x="406908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Boat</a:t>
            </a:r>
            <a:endParaRPr lang="en-US" sz="1700" dirty="0"/>
          </a:p>
        </p:txBody>
      </p:sp>
      <p:sp>
        <p:nvSpPr>
          <p:cNvPr id="15" name="Shape 13"/>
          <p:cNvSpPr/>
          <p:nvPr/>
        </p:nvSpPr>
        <p:spPr>
          <a:xfrm>
            <a:off x="4069080" y="1417320"/>
            <a:ext cx="2331720" cy="2331720"/>
          </a:xfrm>
          <a:prstGeom prst="rect">
            <a:avLst/>
          </a:prstGeom>
          <a:solidFill>
            <a:srgbClr val="F5F1FB"/>
          </a:solidFill>
          <a:ln w="19050">
            <a:solidFill>
              <a:srgbClr val="6B4FA3"/>
            </a:solidFill>
            <a:prstDash val="dash"/>
          </a:ln>
        </p:spPr>
      </p:sp>
      <p:sp>
        <p:nvSpPr>
          <p:cNvPr id="16" name="Text 14"/>
          <p:cNvSpPr/>
          <p:nvPr/>
        </p:nvSpPr>
        <p:spPr>
          <a:xfrm>
            <a:off x="406908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17" name="Shape 15"/>
          <p:cNvSpPr/>
          <p:nvPr/>
        </p:nvSpPr>
        <p:spPr>
          <a:xfrm>
            <a:off x="4069080" y="3840480"/>
            <a:ext cx="2331720" cy="2331720"/>
          </a:xfrm>
          <a:prstGeom prst="rect">
            <a:avLst/>
          </a:prstGeom>
          <a:solidFill>
            <a:srgbClr val="F5F1FB"/>
          </a:solidFill>
          <a:ln w="19050">
            <a:solidFill>
              <a:srgbClr val="6B4FA3"/>
            </a:solidFill>
            <a:prstDash val="dash"/>
          </a:ln>
        </p:spPr>
      </p:sp>
      <p:sp>
        <p:nvSpPr>
          <p:cNvPr id="18" name="Text 16"/>
          <p:cNvSpPr/>
          <p:nvPr/>
        </p:nvSpPr>
        <p:spPr>
          <a:xfrm>
            <a:off x="406908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19" name="Text 17"/>
          <p:cNvSpPr/>
          <p:nvPr/>
        </p:nvSpPr>
        <p:spPr>
          <a:xfrm>
            <a:off x="397764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29.11 dB   SSIM 0.8394</a:t>
            </a:r>
            <a:endParaRPr lang="en-US" sz="1300" dirty="0"/>
          </a:p>
        </p:txBody>
      </p:sp>
      <p:sp>
        <p:nvSpPr>
          <p:cNvPr id="20" name="Text 18"/>
          <p:cNvSpPr/>
          <p:nvPr/>
        </p:nvSpPr>
        <p:spPr>
          <a:xfrm>
            <a:off x="653796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Cameraman</a:t>
            </a:r>
            <a:endParaRPr lang="en-US" sz="1700" dirty="0"/>
          </a:p>
        </p:txBody>
      </p:sp>
      <p:sp>
        <p:nvSpPr>
          <p:cNvPr id="21" name="Shape 19"/>
          <p:cNvSpPr/>
          <p:nvPr/>
        </p:nvSpPr>
        <p:spPr>
          <a:xfrm>
            <a:off x="6537960" y="1417320"/>
            <a:ext cx="2331720" cy="2331720"/>
          </a:xfrm>
          <a:prstGeom prst="rect">
            <a:avLst/>
          </a:prstGeom>
          <a:solidFill>
            <a:srgbClr val="F5F1FB"/>
          </a:solidFill>
          <a:ln w="19050">
            <a:solidFill>
              <a:srgbClr val="6B4FA3"/>
            </a:solidFill>
            <a:prstDash val="dash"/>
          </a:ln>
        </p:spPr>
      </p:sp>
      <p:sp>
        <p:nvSpPr>
          <p:cNvPr id="22" name="Text 20"/>
          <p:cNvSpPr/>
          <p:nvPr/>
        </p:nvSpPr>
        <p:spPr>
          <a:xfrm>
            <a:off x="653796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23" name="Shape 21"/>
          <p:cNvSpPr/>
          <p:nvPr/>
        </p:nvSpPr>
        <p:spPr>
          <a:xfrm>
            <a:off x="6537960" y="3840480"/>
            <a:ext cx="2331720" cy="2331720"/>
          </a:xfrm>
          <a:prstGeom prst="rect">
            <a:avLst/>
          </a:prstGeom>
          <a:solidFill>
            <a:srgbClr val="F5F1FB"/>
          </a:solidFill>
          <a:ln w="19050">
            <a:solidFill>
              <a:srgbClr val="6B4FA3"/>
            </a:solidFill>
            <a:prstDash val="dash"/>
          </a:ln>
        </p:spPr>
      </p:sp>
      <p:sp>
        <p:nvSpPr>
          <p:cNvPr id="24" name="Text 22"/>
          <p:cNvSpPr/>
          <p:nvPr/>
        </p:nvSpPr>
        <p:spPr>
          <a:xfrm>
            <a:off x="653796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25" name="Text 23"/>
          <p:cNvSpPr/>
          <p:nvPr/>
        </p:nvSpPr>
        <p:spPr>
          <a:xfrm>
            <a:off x="644652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29.75 dB   SSIM 0.8855</a:t>
            </a:r>
            <a:endParaRPr lang="en-US" sz="1300" dirty="0"/>
          </a:p>
        </p:txBody>
      </p:sp>
      <p:sp>
        <p:nvSpPr>
          <p:cNvPr id="26" name="Text 24"/>
          <p:cNvSpPr/>
          <p:nvPr/>
        </p:nvSpPr>
        <p:spPr>
          <a:xfrm>
            <a:off x="900684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Peppers</a:t>
            </a:r>
            <a:endParaRPr lang="en-US" sz="1700" dirty="0"/>
          </a:p>
        </p:txBody>
      </p:sp>
      <p:sp>
        <p:nvSpPr>
          <p:cNvPr id="27" name="Shape 25"/>
          <p:cNvSpPr/>
          <p:nvPr/>
        </p:nvSpPr>
        <p:spPr>
          <a:xfrm>
            <a:off x="9006840" y="1417320"/>
            <a:ext cx="2331720" cy="2331720"/>
          </a:xfrm>
          <a:prstGeom prst="rect">
            <a:avLst/>
          </a:prstGeom>
          <a:solidFill>
            <a:srgbClr val="F5F1FB"/>
          </a:solidFill>
          <a:ln w="19050">
            <a:solidFill>
              <a:srgbClr val="6B4FA3"/>
            </a:solidFill>
            <a:prstDash val="dash"/>
          </a:ln>
        </p:spPr>
      </p:sp>
      <p:sp>
        <p:nvSpPr>
          <p:cNvPr id="28" name="Text 26"/>
          <p:cNvSpPr/>
          <p:nvPr/>
        </p:nvSpPr>
        <p:spPr>
          <a:xfrm>
            <a:off x="900684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29" name="Shape 27"/>
          <p:cNvSpPr/>
          <p:nvPr/>
        </p:nvSpPr>
        <p:spPr>
          <a:xfrm>
            <a:off x="9006840" y="3840480"/>
            <a:ext cx="2331720" cy="2331720"/>
          </a:xfrm>
          <a:prstGeom prst="rect">
            <a:avLst/>
          </a:prstGeom>
          <a:solidFill>
            <a:srgbClr val="F5F1FB"/>
          </a:solidFill>
          <a:ln w="19050">
            <a:solidFill>
              <a:srgbClr val="6B4FA3"/>
            </a:solidFill>
            <a:prstDash val="dash"/>
          </a:ln>
        </p:spPr>
      </p:sp>
      <p:sp>
        <p:nvSpPr>
          <p:cNvPr id="30" name="Text 28"/>
          <p:cNvSpPr/>
          <p:nvPr/>
        </p:nvSpPr>
        <p:spPr>
          <a:xfrm>
            <a:off x="900684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31" name="Text 29"/>
          <p:cNvSpPr/>
          <p:nvPr/>
        </p:nvSpPr>
        <p:spPr>
          <a:xfrm>
            <a:off x="891540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29.41 dB   SSIM 0.7624</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Reconstruction Results: Color Images</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Text 4"/>
          <p:cNvSpPr/>
          <p:nvPr/>
        </p:nvSpPr>
        <p:spPr>
          <a:xfrm>
            <a:off x="411480" y="1417320"/>
            <a:ext cx="1097280" cy="2331720"/>
          </a:xfrm>
          <a:prstGeom prst="rect">
            <a:avLst/>
          </a:prstGeom>
          <a:noFill/>
          <a:ln/>
        </p:spPr>
        <p:txBody>
          <a:bodyPr wrap="square" lIns="0" tIns="0" rIns="0" bIns="0" rtlCol="0" anchor="ctr"/>
          <a:lstStyle/>
          <a:p>
            <a:pPr algn="ctr" indent="0" marL="0">
              <a:buNone/>
            </a:pPr>
            <a:r>
              <a:rPr lang="en-US" sz="1500" b="1" dirty="0">
                <a:solidFill>
                  <a:srgbClr val="2E2055"/>
                </a:solidFill>
                <a:latin typeface="Calibri" pitchFamily="34" charset="0"/>
                <a:ea typeface="Calibri" pitchFamily="34" charset="-122"/>
                <a:cs typeface="Calibri" pitchFamily="34" charset="-120"/>
              </a:rPr>
              <a:t>Original</a:t>
            </a:r>
            <a:endParaRPr lang="en-US" sz="1500" dirty="0"/>
          </a:p>
        </p:txBody>
      </p:sp>
      <p:sp>
        <p:nvSpPr>
          <p:cNvPr id="7" name="Text 5"/>
          <p:cNvSpPr/>
          <p:nvPr/>
        </p:nvSpPr>
        <p:spPr>
          <a:xfrm>
            <a:off x="411480" y="3840480"/>
            <a:ext cx="1097280" cy="2331720"/>
          </a:xfrm>
          <a:prstGeom prst="rect">
            <a:avLst/>
          </a:prstGeom>
          <a:noFill/>
          <a:ln/>
        </p:spPr>
        <p:txBody>
          <a:bodyPr wrap="square" lIns="0" tIns="0" rIns="0" bIns="0" rtlCol="0" anchor="ctr"/>
          <a:lstStyle/>
          <a:p>
            <a:pPr algn="ctr" indent="0" marL="0">
              <a:buNone/>
            </a:pPr>
            <a:r>
              <a:rPr lang="en-US" sz="1500" b="1" dirty="0">
                <a:solidFill>
                  <a:srgbClr val="2E2055"/>
                </a:solidFill>
                <a:latin typeface="Calibri" pitchFamily="34" charset="0"/>
                <a:ea typeface="Calibri" pitchFamily="34" charset="-122"/>
                <a:cs typeface="Calibri" pitchFamily="34" charset="-120"/>
              </a:rPr>
              <a:t>Reconstructed</a:t>
            </a:r>
            <a:endParaRPr lang="en-US" sz="1500" dirty="0"/>
          </a:p>
        </p:txBody>
      </p:sp>
      <p:sp>
        <p:nvSpPr>
          <p:cNvPr id="8" name="Text 6"/>
          <p:cNvSpPr/>
          <p:nvPr/>
        </p:nvSpPr>
        <p:spPr>
          <a:xfrm>
            <a:off x="160020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Lena</a:t>
            </a:r>
            <a:endParaRPr lang="en-US" sz="1700" dirty="0"/>
          </a:p>
        </p:txBody>
      </p:sp>
      <p:sp>
        <p:nvSpPr>
          <p:cNvPr id="9" name="Shape 7"/>
          <p:cNvSpPr/>
          <p:nvPr/>
        </p:nvSpPr>
        <p:spPr>
          <a:xfrm>
            <a:off x="1600200" y="1417320"/>
            <a:ext cx="2331720" cy="2331720"/>
          </a:xfrm>
          <a:prstGeom prst="rect">
            <a:avLst/>
          </a:prstGeom>
          <a:solidFill>
            <a:srgbClr val="F5F1FB"/>
          </a:solidFill>
          <a:ln w="19050">
            <a:solidFill>
              <a:srgbClr val="6B4FA3"/>
            </a:solidFill>
            <a:prstDash val="dash"/>
          </a:ln>
        </p:spPr>
      </p:sp>
      <p:sp>
        <p:nvSpPr>
          <p:cNvPr id="10" name="Text 8"/>
          <p:cNvSpPr/>
          <p:nvPr/>
        </p:nvSpPr>
        <p:spPr>
          <a:xfrm>
            <a:off x="160020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11" name="Shape 9"/>
          <p:cNvSpPr/>
          <p:nvPr/>
        </p:nvSpPr>
        <p:spPr>
          <a:xfrm>
            <a:off x="1600200" y="3840480"/>
            <a:ext cx="2331720" cy="2331720"/>
          </a:xfrm>
          <a:prstGeom prst="rect">
            <a:avLst/>
          </a:prstGeom>
          <a:solidFill>
            <a:srgbClr val="F5F1FB"/>
          </a:solidFill>
          <a:ln w="19050">
            <a:solidFill>
              <a:srgbClr val="6B4FA3"/>
            </a:solidFill>
            <a:prstDash val="dash"/>
          </a:ln>
        </p:spPr>
      </p:sp>
      <p:sp>
        <p:nvSpPr>
          <p:cNvPr id="12" name="Text 10"/>
          <p:cNvSpPr/>
          <p:nvPr/>
        </p:nvSpPr>
        <p:spPr>
          <a:xfrm>
            <a:off x="160020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13" name="Text 11"/>
          <p:cNvSpPr/>
          <p:nvPr/>
        </p:nvSpPr>
        <p:spPr>
          <a:xfrm>
            <a:off x="150876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28.91 dB   SSIM 0.7594</a:t>
            </a:r>
            <a:endParaRPr lang="en-US" sz="1300" dirty="0"/>
          </a:p>
        </p:txBody>
      </p:sp>
      <p:sp>
        <p:nvSpPr>
          <p:cNvPr id="14" name="Text 12"/>
          <p:cNvSpPr/>
          <p:nvPr/>
        </p:nvSpPr>
        <p:spPr>
          <a:xfrm>
            <a:off x="406908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Peppers</a:t>
            </a:r>
            <a:endParaRPr lang="en-US" sz="1700" dirty="0"/>
          </a:p>
        </p:txBody>
      </p:sp>
      <p:sp>
        <p:nvSpPr>
          <p:cNvPr id="15" name="Shape 13"/>
          <p:cNvSpPr/>
          <p:nvPr/>
        </p:nvSpPr>
        <p:spPr>
          <a:xfrm>
            <a:off x="4069080" y="1417320"/>
            <a:ext cx="2331720" cy="2331720"/>
          </a:xfrm>
          <a:prstGeom prst="rect">
            <a:avLst/>
          </a:prstGeom>
          <a:solidFill>
            <a:srgbClr val="F5F1FB"/>
          </a:solidFill>
          <a:ln w="19050">
            <a:solidFill>
              <a:srgbClr val="6B4FA3"/>
            </a:solidFill>
            <a:prstDash val="dash"/>
          </a:ln>
        </p:spPr>
      </p:sp>
      <p:sp>
        <p:nvSpPr>
          <p:cNvPr id="16" name="Text 14"/>
          <p:cNvSpPr/>
          <p:nvPr/>
        </p:nvSpPr>
        <p:spPr>
          <a:xfrm>
            <a:off x="406908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17" name="Shape 15"/>
          <p:cNvSpPr/>
          <p:nvPr/>
        </p:nvSpPr>
        <p:spPr>
          <a:xfrm>
            <a:off x="4069080" y="3840480"/>
            <a:ext cx="2331720" cy="2331720"/>
          </a:xfrm>
          <a:prstGeom prst="rect">
            <a:avLst/>
          </a:prstGeom>
          <a:solidFill>
            <a:srgbClr val="F5F1FB"/>
          </a:solidFill>
          <a:ln w="19050">
            <a:solidFill>
              <a:srgbClr val="6B4FA3"/>
            </a:solidFill>
            <a:prstDash val="dash"/>
          </a:ln>
        </p:spPr>
      </p:sp>
      <p:sp>
        <p:nvSpPr>
          <p:cNvPr id="18" name="Text 16"/>
          <p:cNvSpPr/>
          <p:nvPr/>
        </p:nvSpPr>
        <p:spPr>
          <a:xfrm>
            <a:off x="406908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19" name="Text 17"/>
          <p:cNvSpPr/>
          <p:nvPr/>
        </p:nvSpPr>
        <p:spPr>
          <a:xfrm>
            <a:off x="397764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28.35 dB   SSIM 0.6964</a:t>
            </a:r>
            <a:endParaRPr lang="en-US" sz="1300" dirty="0"/>
          </a:p>
        </p:txBody>
      </p:sp>
      <p:sp>
        <p:nvSpPr>
          <p:cNvPr id="20" name="Text 18"/>
          <p:cNvSpPr/>
          <p:nvPr/>
        </p:nvSpPr>
        <p:spPr>
          <a:xfrm>
            <a:off x="653796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F16</a:t>
            </a:r>
            <a:endParaRPr lang="en-US" sz="1700" dirty="0"/>
          </a:p>
        </p:txBody>
      </p:sp>
      <p:sp>
        <p:nvSpPr>
          <p:cNvPr id="21" name="Shape 19"/>
          <p:cNvSpPr/>
          <p:nvPr/>
        </p:nvSpPr>
        <p:spPr>
          <a:xfrm>
            <a:off x="6537960" y="1417320"/>
            <a:ext cx="2331720" cy="2331720"/>
          </a:xfrm>
          <a:prstGeom prst="rect">
            <a:avLst/>
          </a:prstGeom>
          <a:solidFill>
            <a:srgbClr val="F5F1FB"/>
          </a:solidFill>
          <a:ln w="19050">
            <a:solidFill>
              <a:srgbClr val="6B4FA3"/>
            </a:solidFill>
            <a:prstDash val="dash"/>
          </a:ln>
        </p:spPr>
      </p:sp>
      <p:sp>
        <p:nvSpPr>
          <p:cNvPr id="22" name="Text 20"/>
          <p:cNvSpPr/>
          <p:nvPr/>
        </p:nvSpPr>
        <p:spPr>
          <a:xfrm>
            <a:off x="653796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23" name="Shape 21"/>
          <p:cNvSpPr/>
          <p:nvPr/>
        </p:nvSpPr>
        <p:spPr>
          <a:xfrm>
            <a:off x="6537960" y="3840480"/>
            <a:ext cx="2331720" cy="2331720"/>
          </a:xfrm>
          <a:prstGeom prst="rect">
            <a:avLst/>
          </a:prstGeom>
          <a:solidFill>
            <a:srgbClr val="F5F1FB"/>
          </a:solidFill>
          <a:ln w="19050">
            <a:solidFill>
              <a:srgbClr val="6B4FA3"/>
            </a:solidFill>
            <a:prstDash val="dash"/>
          </a:ln>
        </p:spPr>
      </p:sp>
      <p:sp>
        <p:nvSpPr>
          <p:cNvPr id="24" name="Text 22"/>
          <p:cNvSpPr/>
          <p:nvPr/>
        </p:nvSpPr>
        <p:spPr>
          <a:xfrm>
            <a:off x="653796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25" name="Text 23"/>
          <p:cNvSpPr/>
          <p:nvPr/>
        </p:nvSpPr>
        <p:spPr>
          <a:xfrm>
            <a:off x="644652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29.47 dB   SSIM 0.8539</a:t>
            </a:r>
            <a:endParaRPr lang="en-US" sz="1300" dirty="0"/>
          </a:p>
        </p:txBody>
      </p:sp>
      <p:sp>
        <p:nvSpPr>
          <p:cNvPr id="26" name="Text 24"/>
          <p:cNvSpPr/>
          <p:nvPr/>
        </p:nvSpPr>
        <p:spPr>
          <a:xfrm>
            <a:off x="900684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Gold Hill</a:t>
            </a:r>
            <a:endParaRPr lang="en-US" sz="1700" dirty="0"/>
          </a:p>
        </p:txBody>
      </p:sp>
      <p:sp>
        <p:nvSpPr>
          <p:cNvPr id="27" name="Shape 25"/>
          <p:cNvSpPr/>
          <p:nvPr/>
        </p:nvSpPr>
        <p:spPr>
          <a:xfrm>
            <a:off x="9006840" y="1417320"/>
            <a:ext cx="2331720" cy="2331720"/>
          </a:xfrm>
          <a:prstGeom prst="rect">
            <a:avLst/>
          </a:prstGeom>
          <a:solidFill>
            <a:srgbClr val="F5F1FB"/>
          </a:solidFill>
          <a:ln w="19050">
            <a:solidFill>
              <a:srgbClr val="6B4FA3"/>
            </a:solidFill>
            <a:prstDash val="dash"/>
          </a:ln>
        </p:spPr>
      </p:sp>
      <p:sp>
        <p:nvSpPr>
          <p:cNvPr id="28" name="Text 26"/>
          <p:cNvSpPr/>
          <p:nvPr/>
        </p:nvSpPr>
        <p:spPr>
          <a:xfrm>
            <a:off x="900684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29" name="Shape 27"/>
          <p:cNvSpPr/>
          <p:nvPr/>
        </p:nvSpPr>
        <p:spPr>
          <a:xfrm>
            <a:off x="9006840" y="3840480"/>
            <a:ext cx="2331720" cy="2331720"/>
          </a:xfrm>
          <a:prstGeom prst="rect">
            <a:avLst/>
          </a:prstGeom>
          <a:solidFill>
            <a:srgbClr val="F5F1FB"/>
          </a:solidFill>
          <a:ln w="19050">
            <a:solidFill>
              <a:srgbClr val="6B4FA3"/>
            </a:solidFill>
            <a:prstDash val="dash"/>
          </a:ln>
        </p:spPr>
      </p:sp>
      <p:sp>
        <p:nvSpPr>
          <p:cNvPr id="30" name="Text 28"/>
          <p:cNvSpPr/>
          <p:nvPr/>
        </p:nvSpPr>
        <p:spPr>
          <a:xfrm>
            <a:off x="900684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31" name="Text 29"/>
          <p:cNvSpPr/>
          <p:nvPr/>
        </p:nvSpPr>
        <p:spPr>
          <a:xfrm>
            <a:off x="891540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28.45 dB   SSIM 0.7520</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Compression Results (4 × 4 blocks, K = 64)</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822960" y="1188720"/>
          <a:ext cx="10515600" cy="914400"/>
        </p:xfrm>
        <a:graphic>
          <a:graphicData uri="http://schemas.openxmlformats.org/drawingml/2006/table">
            <a:tbl>
              <a:tblPr/>
              <a:tblGrid>
                <a:gridCol w="2377440"/>
                <a:gridCol w="1097280"/>
                <a:gridCol w="1371600"/>
                <a:gridCol w="1371600"/>
                <a:gridCol w="1371600"/>
                <a:gridCol w="1554480"/>
                <a:gridCol w="1371600"/>
              </a:tblGrid>
              <a:tr h="393192">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Image</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Type</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CR</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BPP</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MSE</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PSNR (dB)</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SSIM</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r>
              <a:tr h="393192">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Lena</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Gray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70.13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29.67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0.8190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393192">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Boat</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Gray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79.88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29.11</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0.8394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393192">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Cameraman</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Gray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68.84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29.75</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0.8855</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393192">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Peppers</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Gray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74.47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29.41</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0.7624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393192">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Mean (gray)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Gray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73.33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29.49</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0.8266</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r>
              <a:tr h="393192">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Lena</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Color</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83.60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28.91</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0.7594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r>
              <a:tr h="393192">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Peppers</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Color</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95.00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28.35</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0.6964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r>
              <a:tr h="393192">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F16</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Color</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73.41</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29.47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0.8539</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r>
              <a:tr h="393192">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Gold Hill</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Color</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92.97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28.45</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0.7520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r>
              <a:tr h="393192">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Mean (color)</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Color</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86.25</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28.80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0.7654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r>
            </a:tbl>
          </a:graphicData>
        </a:graphic>
      </p:graphicFrame>
      <p:sp>
        <p:nvSpPr>
          <p:cNvPr id="7" name="Text 4"/>
          <p:cNvSpPr/>
          <p:nvPr/>
        </p:nvSpPr>
        <p:spPr>
          <a:xfrm>
            <a:off x="822960" y="5989320"/>
            <a:ext cx="10515600" cy="548640"/>
          </a:xfrm>
          <a:prstGeom prst="rect">
            <a:avLst/>
          </a:prstGeom>
          <a:noFill/>
          <a:ln/>
        </p:spPr>
        <p:txBody>
          <a:bodyPr wrap="square" lIns="0" tIns="0" rIns="0" bIns="0" rtlCol="0" anchor="ctr"/>
          <a:lstStyle/>
          <a:p>
            <a:pPr indent="0" marL="0">
              <a:buNone/>
            </a:pPr>
            <a:r>
              <a:rPr lang="en-US" sz="1200" i="1" dirty="0">
                <a:solidFill>
                  <a:srgbClr val="6B4FA3"/>
                </a:solidFill>
                <a:latin typeface="Calibri" pitchFamily="34" charset="0"/>
                <a:ea typeface="Calibri" pitchFamily="34" charset="-122"/>
                <a:cs typeface="Calibri" pitchFamily="34" charset="-120"/>
              </a:rPr>
              <a:t>Color images: MSE and PSNR are computed over the RGB channels; SSIM is the mean of the channel-wise values. CR = original size / (codebook + Huffman table + Huffman-coded data).</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Entropy and Delta–Huffman Coding Efficiency</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234440"/>
            <a:ext cx="7498080" cy="5029200"/>
          </a:xfrm>
          <a:prstGeom prst="roundRect">
            <a:avLst>
              <a:gd name="adj" fmla="val 1455"/>
            </a:avLst>
          </a:prstGeom>
          <a:solidFill>
            <a:srgbClr val="FFFFFF"/>
          </a:solidFill>
          <a:ln w="15875">
            <a:solidFill>
              <a:srgbClr val="2A9D8F"/>
            </a:solidFill>
            <a:prstDash val="solid"/>
          </a:ln>
        </p:spPr>
      </p:sp>
      <p:pic>
        <p:nvPicPr>
          <p:cNvPr id="7" name="Image 0" descr="assets/entropy_chart.png">    </p:cNvPr>
          <p:cNvPicPr>
            <a:picLocks noChangeAspect="1"/>
          </p:cNvPicPr>
          <p:nvPr/>
        </p:nvPicPr>
        <p:blipFill>
          <a:blip r:embed="rId1"/>
          <a:stretch>
            <a:fillRect/>
          </a:stretch>
        </p:blipFill>
        <p:spPr>
          <a:xfrm>
            <a:off x="457200" y="1467016"/>
            <a:ext cx="7498080" cy="4564049"/>
          </a:xfrm>
          <a:prstGeom prst="rect">
            <a:avLst/>
          </a:prstGeom>
        </p:spPr>
      </p:pic>
      <p:sp>
        <p:nvSpPr>
          <p:cNvPr id="8" name="Shape 5"/>
          <p:cNvSpPr/>
          <p:nvPr/>
        </p:nvSpPr>
        <p:spPr>
          <a:xfrm>
            <a:off x="8183880" y="1234440"/>
            <a:ext cx="3566160" cy="5029200"/>
          </a:xfrm>
          <a:prstGeom prst="roundRect">
            <a:avLst>
              <a:gd name="adj" fmla="val 2051"/>
            </a:avLst>
          </a:prstGeom>
          <a:solidFill>
            <a:srgbClr val="F5F1FB"/>
          </a:solidFill>
          <a:ln w="12700">
            <a:solidFill>
              <a:srgbClr val="F5F1FB"/>
            </a:solidFill>
            <a:prstDash val="solid"/>
          </a:ln>
        </p:spPr>
      </p:sp>
      <p:sp>
        <p:nvSpPr>
          <p:cNvPr id="9" name="Text 6"/>
          <p:cNvSpPr/>
          <p:nvPr/>
        </p:nvSpPr>
        <p:spPr>
          <a:xfrm>
            <a:off x="8275320" y="1325880"/>
            <a:ext cx="3383280" cy="4846320"/>
          </a:xfrm>
          <a:prstGeom prst="rect">
            <a:avLst/>
          </a:prstGeom>
          <a:noFill/>
          <a:ln/>
        </p:spPr>
        <p:txBody>
          <a:bodyPr wrap="square" lIns="1016" tIns="1016" rIns="1016" bIns="1016" rtlCol="0" anchor="t"/>
          <a:lstStyle/>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Delta coding lowers the entropy of the index sequence from 5.30 to 4.19 bits on average (−1.10 bits).</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The reduction depends on the spatial correlation of the image: 0.73 bits (Lena) to 1.48 bits (Cameraman).</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The Huffman average code length (4.23 bits) is within 0.04 bits of the entropy after delta coding.</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Compared with 6-bit fixed-length indices, the index data is 21.5% to 38.3% smaller (mean 29.5%).</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Grayscale images, K = 64.</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Speedup and Efficiency of LBG Training</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234440"/>
            <a:ext cx="7498080" cy="5029200"/>
          </a:xfrm>
          <a:prstGeom prst="roundRect">
            <a:avLst>
              <a:gd name="adj" fmla="val 1455"/>
            </a:avLst>
          </a:prstGeom>
          <a:solidFill>
            <a:srgbClr val="FFFFFF"/>
          </a:solidFill>
          <a:ln w="15875">
            <a:solidFill>
              <a:srgbClr val="2A9D8F"/>
            </a:solidFill>
            <a:prstDash val="solid"/>
          </a:ln>
        </p:spPr>
      </p:sp>
      <p:pic>
        <p:nvPicPr>
          <p:cNvPr id="7" name="Image 0" descr="assets/speedup_chart.png">    </p:cNvPr>
          <p:cNvPicPr>
            <a:picLocks noChangeAspect="1"/>
          </p:cNvPicPr>
          <p:nvPr/>
        </p:nvPicPr>
        <p:blipFill>
          <a:blip r:embed="rId1"/>
          <a:stretch>
            <a:fillRect/>
          </a:stretch>
        </p:blipFill>
        <p:spPr>
          <a:xfrm>
            <a:off x="457200" y="1467016"/>
            <a:ext cx="7498080" cy="4564049"/>
          </a:xfrm>
          <a:prstGeom prst="rect">
            <a:avLst/>
          </a:prstGeom>
        </p:spPr>
      </p:pic>
      <p:sp>
        <p:nvSpPr>
          <p:cNvPr id="8" name="Shape 5"/>
          <p:cNvSpPr/>
          <p:nvPr/>
        </p:nvSpPr>
        <p:spPr>
          <a:xfrm>
            <a:off x="8183880" y="1234440"/>
            <a:ext cx="3566160" cy="5029200"/>
          </a:xfrm>
          <a:prstGeom prst="roundRect">
            <a:avLst>
              <a:gd name="adj" fmla="val 2051"/>
            </a:avLst>
          </a:prstGeom>
          <a:solidFill>
            <a:srgbClr val="F5F1FB"/>
          </a:solidFill>
          <a:ln w="12700">
            <a:solidFill>
              <a:srgbClr val="F5F1FB"/>
            </a:solidFill>
            <a:prstDash val="solid"/>
          </a:ln>
        </p:spPr>
      </p:sp>
      <p:sp>
        <p:nvSpPr>
          <p:cNvPr id="9" name="Text 6"/>
          <p:cNvSpPr/>
          <p:nvPr/>
        </p:nvSpPr>
        <p:spPr>
          <a:xfrm>
            <a:off x="8275320" y="1325880"/>
            <a:ext cx="3383280" cy="4846320"/>
          </a:xfrm>
          <a:prstGeom prst="rect">
            <a:avLst/>
          </a:prstGeom>
          <a:noFill/>
          <a:ln/>
        </p:spPr>
        <p:txBody>
          <a:bodyPr wrap="square" lIns="1016" tIns="1016" rIns="1016" bIns="1016" rtlCol="0" anchor="t"/>
          <a:lstStyle/>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LBG speedup reaches 9.19× on 14 processes (efficiency ≈ 66%).</a:t>
            </a:r>
            <a:endParaRPr lang="en-US" sz="1600" dirty="0"/>
          </a:p>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Near-linear for P ≤ 6, where only P-cores are used.</a:t>
            </a:r>
            <a:endParaRPr lang="en-US" sz="1600" dirty="0"/>
          </a:p>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The slope drops once the slower E-cores join.</a:t>
            </a:r>
            <a:endParaRPr lang="en-US" sz="1600" dirty="0"/>
          </a:p>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Karp–Flatt ≈ 0.04 for P ≥ 8: the serial fraction of LBG stays small.</a:t>
            </a:r>
            <a:endParaRPr lang="en-US" sz="1600" dirty="0"/>
          </a:p>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Total time: 5.00× (gray) and 6.84× (color), because coding and reconstruction remain sequential.</a:t>
            </a:r>
            <a:endParaRPr lang="en-US" sz="1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Equal vs Adaptive Workload Distribution</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234440"/>
            <a:ext cx="7498080" cy="5029200"/>
          </a:xfrm>
          <a:prstGeom prst="roundRect">
            <a:avLst>
              <a:gd name="adj" fmla="val 1455"/>
            </a:avLst>
          </a:prstGeom>
          <a:solidFill>
            <a:srgbClr val="FFFFFF"/>
          </a:solidFill>
          <a:ln w="15875">
            <a:solidFill>
              <a:srgbClr val="2A9D8F"/>
            </a:solidFill>
            <a:prstDash val="solid"/>
          </a:ln>
        </p:spPr>
      </p:sp>
      <p:pic>
        <p:nvPicPr>
          <p:cNvPr id="7" name="Image 0" descr="assets/eqad_chart.png">    </p:cNvPr>
          <p:cNvPicPr>
            <a:picLocks noChangeAspect="1"/>
          </p:cNvPicPr>
          <p:nvPr/>
        </p:nvPicPr>
        <p:blipFill>
          <a:blip r:embed="rId1"/>
          <a:stretch>
            <a:fillRect/>
          </a:stretch>
        </p:blipFill>
        <p:spPr>
          <a:xfrm>
            <a:off x="457200" y="1467016"/>
            <a:ext cx="7498080" cy="4564049"/>
          </a:xfrm>
          <a:prstGeom prst="rect">
            <a:avLst/>
          </a:prstGeom>
        </p:spPr>
      </p:pic>
      <p:sp>
        <p:nvSpPr>
          <p:cNvPr id="8" name="Shape 5"/>
          <p:cNvSpPr/>
          <p:nvPr/>
        </p:nvSpPr>
        <p:spPr>
          <a:xfrm>
            <a:off x="8183880" y="1234440"/>
            <a:ext cx="3566160" cy="5029200"/>
          </a:xfrm>
          <a:prstGeom prst="roundRect">
            <a:avLst>
              <a:gd name="adj" fmla="val 2051"/>
            </a:avLst>
          </a:prstGeom>
          <a:solidFill>
            <a:srgbClr val="F5F1FB"/>
          </a:solidFill>
          <a:ln w="12700">
            <a:solidFill>
              <a:srgbClr val="F5F1FB"/>
            </a:solidFill>
            <a:prstDash val="solid"/>
          </a:ln>
        </p:spPr>
      </p:sp>
      <p:sp>
        <p:nvSpPr>
          <p:cNvPr id="9" name="Text 6"/>
          <p:cNvSpPr/>
          <p:nvPr/>
        </p:nvSpPr>
        <p:spPr>
          <a:xfrm>
            <a:off x="8275320" y="1325880"/>
            <a:ext cx="3383280" cy="4846320"/>
          </a:xfrm>
          <a:prstGeom prst="rect">
            <a:avLst/>
          </a:prstGeom>
          <a:noFill/>
          <a:ln/>
        </p:spPr>
        <p:txBody>
          <a:bodyPr wrap="square" lIns="1016" tIns="1016" rIns="1016" bIns="1016" rtlCol="0" anchor="t"/>
          <a:lstStyle/>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With Equal distribution, the faster P-cores finish early and wait for the E-cores: 7.61× at P = 14.</a:t>
            </a:r>
            <a:endParaRPr lang="en-US" sz="1500" dirty="0"/>
          </a:p>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Adaptive distribution reaches 9.19× at P = 14.</a:t>
            </a:r>
            <a:endParaRPr lang="en-US" sz="1500" dirty="0"/>
          </a:p>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LBG time is reduced by 28.3%, 23.6%, 19.8% and 17.2% at P = 8, 10, 12 and 14.</a:t>
            </a:r>
            <a:endParaRPr lang="en-US" sz="1500" dirty="0"/>
          </a:p>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Total time is reduced by 17.9% to 8.8%.</a:t>
            </a:r>
            <a:endParaRPr lang="en-US" sz="1500" dirty="0"/>
          </a:p>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No adaptive-distribution benefit was observed when only P-cores were used (P ≤ 6).</a:t>
            </a:r>
            <a:endParaRPr lang="en-US" sz="1500" dirty="0"/>
          </a:p>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The reconstructed images are identical in both cases.</a:t>
            </a:r>
            <a:endParaRPr lang="en-US" sz="15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Throughput</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234440"/>
            <a:ext cx="7498080" cy="5029200"/>
          </a:xfrm>
          <a:prstGeom prst="roundRect">
            <a:avLst>
              <a:gd name="adj" fmla="val 1455"/>
            </a:avLst>
          </a:prstGeom>
          <a:solidFill>
            <a:srgbClr val="FFFFFF"/>
          </a:solidFill>
          <a:ln w="15875">
            <a:solidFill>
              <a:srgbClr val="2A9D8F"/>
            </a:solidFill>
            <a:prstDash val="solid"/>
          </a:ln>
        </p:spPr>
      </p:sp>
      <p:pic>
        <p:nvPicPr>
          <p:cNvPr id="7" name="Image 0" descr="assets/throughput_ch4.png">    </p:cNvPr>
          <p:cNvPicPr>
            <a:picLocks noChangeAspect="1"/>
          </p:cNvPicPr>
          <p:nvPr/>
        </p:nvPicPr>
        <p:blipFill>
          <a:blip r:embed="rId1"/>
          <a:stretch>
            <a:fillRect/>
          </a:stretch>
        </p:blipFill>
        <p:spPr>
          <a:xfrm>
            <a:off x="457200" y="1269906"/>
            <a:ext cx="7498080" cy="4958268"/>
          </a:xfrm>
          <a:prstGeom prst="rect">
            <a:avLst/>
          </a:prstGeom>
        </p:spPr>
      </p:pic>
      <p:sp>
        <p:nvSpPr>
          <p:cNvPr id="8" name="Shape 5"/>
          <p:cNvSpPr/>
          <p:nvPr/>
        </p:nvSpPr>
        <p:spPr>
          <a:xfrm>
            <a:off x="8183880" y="1234440"/>
            <a:ext cx="3566160" cy="5029200"/>
          </a:xfrm>
          <a:prstGeom prst="roundRect">
            <a:avLst>
              <a:gd name="adj" fmla="val 2051"/>
            </a:avLst>
          </a:prstGeom>
          <a:solidFill>
            <a:srgbClr val="F5F1FB"/>
          </a:solidFill>
          <a:ln w="12700">
            <a:solidFill>
              <a:srgbClr val="F5F1FB"/>
            </a:solidFill>
            <a:prstDash val="solid"/>
          </a:ln>
        </p:spPr>
      </p:sp>
      <p:sp>
        <p:nvSpPr>
          <p:cNvPr id="9" name="Text 6"/>
          <p:cNvSpPr/>
          <p:nvPr/>
        </p:nvSpPr>
        <p:spPr>
          <a:xfrm>
            <a:off x="8275320" y="1325880"/>
            <a:ext cx="3383280" cy="4846320"/>
          </a:xfrm>
          <a:prstGeom prst="rect">
            <a:avLst/>
          </a:prstGeom>
          <a:noFill/>
          <a:ln/>
        </p:spPr>
        <p:txBody>
          <a:bodyPr wrap="square" lIns="1016" tIns="1016" rIns="1016" bIns="1016" rtlCol="0" anchor="t"/>
          <a:lstStyle/>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Throughput = original image size / total execution time (MiB/s).</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Grayscale: 1.30 → 3.35 MiB/s from P = 2 to P = 14.</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Color: 1.42 → 4.54 MiB/s.</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Color images hold three times more data, but their total time grows by only about 2.2× at P = 14, so their throughput is higher.</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Shaded bands: minimum to maximum over the images.</a:t>
            </a:r>
            <a:endParaRPr lang="en-US" sz="15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Karp–Flatt Metric</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7223760" cy="914400"/>
        </p:xfrm>
        <a:graphic>
          <a:graphicData uri="http://schemas.openxmlformats.org/drawingml/2006/table">
            <a:tbl>
              <a:tblPr/>
              <a:tblGrid>
                <a:gridCol w="822960"/>
                <a:gridCol w="1554480"/>
                <a:gridCol w="1645920"/>
                <a:gridCol w="1645920"/>
                <a:gridCol w="1554480"/>
              </a:tblGrid>
              <a:tr h="502920">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P</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LBG: Karp–Flatt</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LBG: efficiency (%)</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Total: Karp–Flatt</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Total: efficiency (%)</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r>
              <a:tr h="502920">
                <a:tc>
                  <a:txBody>
                    <a:bodyPr/>
                    <a:lstStyle/>
                    <a:p>
                      <a:pPr algn="ctr" indent="0" marL="0">
                        <a:buNone/>
                      </a:pPr>
                      <a:r>
                        <a:rPr lang="en-US" sz="1500" b="1" dirty="0">
                          <a:solidFill>
                            <a:srgbClr val="1F1A33"/>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500" b="1" dirty="0">
                          <a:solidFill>
                            <a:srgbClr val="6B4FA3"/>
                          </a:solidFill>
                          <a:latin typeface="Calibri" pitchFamily="34" charset="0"/>
                          <a:ea typeface="Calibri" pitchFamily="34" charset="-122"/>
                          <a:cs typeface="Calibri" pitchFamily="34" charset="-120"/>
                        </a:rPr>
                        <a:t>0.033</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500" dirty="0">
                          <a:solidFill>
                            <a:srgbClr val="1F1A33"/>
                          </a:solidFill>
                          <a:latin typeface="Calibri" pitchFamily="34" charset="0"/>
                          <a:ea typeface="Calibri" pitchFamily="34" charset="-122"/>
                          <a:cs typeface="Calibri" pitchFamily="34" charset="-120"/>
                        </a:rPr>
                        <a:t>96.8</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500" b="1" dirty="0">
                          <a:solidFill>
                            <a:srgbClr val="E0457B"/>
                          </a:solidFill>
                          <a:latin typeface="Calibri" pitchFamily="34" charset="0"/>
                          <a:ea typeface="Calibri" pitchFamily="34" charset="-122"/>
                          <a:cs typeface="Calibri" pitchFamily="34" charset="-120"/>
                        </a:rPr>
                        <a:t>0.101</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500" dirty="0">
                          <a:solidFill>
                            <a:srgbClr val="1F1A33"/>
                          </a:solidFill>
                          <a:latin typeface="Calibri" pitchFamily="34" charset="0"/>
                          <a:ea typeface="Calibri" pitchFamily="34" charset="-122"/>
                          <a:cs typeface="Calibri" pitchFamily="34" charset="-120"/>
                        </a:rPr>
                        <a:t>90.8</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502920">
                <a:tc>
                  <a:txBody>
                    <a:bodyPr/>
                    <a:lstStyle/>
                    <a:p>
                      <a:pPr algn="ctr" indent="0" marL="0">
                        <a:buNone/>
                      </a:pPr>
                      <a:r>
                        <a:rPr lang="en-US" sz="1500" b="1" dirty="0">
                          <a:solidFill>
                            <a:srgbClr val="1F1A33"/>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6B4FA3"/>
                          </a:solidFill>
                          <a:latin typeface="Calibri" pitchFamily="34" charset="0"/>
                          <a:ea typeface="Calibri" pitchFamily="34" charset="-122"/>
                          <a:cs typeface="Calibri" pitchFamily="34" charset="-120"/>
                        </a:rPr>
                        <a:t>0.018</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1A33"/>
                          </a:solidFill>
                          <a:latin typeface="Calibri" pitchFamily="34" charset="0"/>
                          <a:ea typeface="Calibri" pitchFamily="34" charset="-122"/>
                          <a:cs typeface="Calibri" pitchFamily="34" charset="-120"/>
                        </a:rPr>
                        <a:t>94.8</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E0457B"/>
                          </a:solidFill>
                          <a:latin typeface="Calibri" pitchFamily="34" charset="0"/>
                          <a:ea typeface="Calibri" pitchFamily="34" charset="-122"/>
                          <a:cs typeface="Calibri" pitchFamily="34" charset="-120"/>
                        </a:rPr>
                        <a:t>0.081</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1A33"/>
                          </a:solidFill>
                          <a:latin typeface="Calibri" pitchFamily="34" charset="0"/>
                          <a:ea typeface="Calibri" pitchFamily="34" charset="-122"/>
                          <a:cs typeface="Calibri" pitchFamily="34" charset="-120"/>
                        </a:rPr>
                        <a:t>80.5</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502920">
                <a:tc>
                  <a:txBody>
                    <a:bodyPr/>
                    <a:lstStyle/>
                    <a:p>
                      <a:pPr algn="ctr" indent="0" marL="0">
                        <a:buNone/>
                      </a:pPr>
                      <a:r>
                        <a:rPr lang="en-US" sz="1500" b="1" dirty="0">
                          <a:solidFill>
                            <a:srgbClr val="1F1A33"/>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500" b="1" dirty="0">
                          <a:solidFill>
                            <a:srgbClr val="6B4FA3"/>
                          </a:solidFill>
                          <a:latin typeface="Calibri" pitchFamily="34" charset="0"/>
                          <a:ea typeface="Calibri" pitchFamily="34" charset="-122"/>
                          <a:cs typeface="Calibri" pitchFamily="34" charset="-120"/>
                        </a:rPr>
                        <a:t>0.022</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500" dirty="0">
                          <a:solidFill>
                            <a:srgbClr val="1F1A33"/>
                          </a:solidFill>
                          <a:latin typeface="Calibri" pitchFamily="34" charset="0"/>
                          <a:ea typeface="Calibri" pitchFamily="34" charset="-122"/>
                          <a:cs typeface="Calibri" pitchFamily="34" charset="-120"/>
                        </a:rPr>
                        <a:t>90.2</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500" b="1" dirty="0">
                          <a:solidFill>
                            <a:srgbClr val="E0457B"/>
                          </a:solidFill>
                          <a:latin typeface="Calibri" pitchFamily="34" charset="0"/>
                          <a:ea typeface="Calibri" pitchFamily="34" charset="-122"/>
                          <a:cs typeface="Calibri" pitchFamily="34" charset="-120"/>
                        </a:rPr>
                        <a:t>0.084</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500" dirty="0">
                          <a:solidFill>
                            <a:srgbClr val="1F1A33"/>
                          </a:solidFill>
                          <a:latin typeface="Calibri" pitchFamily="34" charset="0"/>
                          <a:ea typeface="Calibri" pitchFamily="34" charset="-122"/>
                          <a:cs typeface="Calibri" pitchFamily="34" charset="-120"/>
                        </a:rPr>
                        <a:t>70.4</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502920">
                <a:tc>
                  <a:txBody>
                    <a:bodyPr/>
                    <a:lstStyle/>
                    <a:p>
                      <a:pPr algn="ctr" indent="0" marL="0">
                        <a:buNone/>
                      </a:pPr>
                      <a:r>
                        <a:rPr lang="en-US" sz="1500" b="1" dirty="0">
                          <a:solidFill>
                            <a:srgbClr val="1F1A33"/>
                          </a:solidFill>
                          <a:latin typeface="Calibri" pitchFamily="34" charset="0"/>
                          <a:ea typeface="Calibri" pitchFamily="34" charset="-122"/>
                          <a:cs typeface="Calibri" pitchFamily="34" charset="-120"/>
                        </a:rPr>
                        <a:t>8</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6B4FA3"/>
                          </a:solidFill>
                          <a:latin typeface="Calibri" pitchFamily="34" charset="0"/>
                          <a:ea typeface="Calibri" pitchFamily="34" charset="-122"/>
                          <a:cs typeface="Calibri" pitchFamily="34" charset="-120"/>
                        </a:rPr>
                        <a:t>0.038</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1A33"/>
                          </a:solidFill>
                          <a:latin typeface="Calibri" pitchFamily="34" charset="0"/>
                          <a:ea typeface="Calibri" pitchFamily="34" charset="-122"/>
                          <a:cs typeface="Calibri" pitchFamily="34" charset="-120"/>
                        </a:rPr>
                        <a:t>78.8</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E0457B"/>
                          </a:solidFill>
                          <a:latin typeface="Calibri" pitchFamily="34" charset="0"/>
                          <a:ea typeface="Calibri" pitchFamily="34" charset="-122"/>
                          <a:cs typeface="Calibri" pitchFamily="34" charset="-120"/>
                        </a:rPr>
                        <a:t>0.110</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1A33"/>
                          </a:solidFill>
                          <a:latin typeface="Calibri" pitchFamily="34" charset="0"/>
                          <a:ea typeface="Calibri" pitchFamily="34" charset="-122"/>
                          <a:cs typeface="Calibri" pitchFamily="34" charset="-120"/>
                        </a:rPr>
                        <a:t>56.5</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502920">
                <a:tc>
                  <a:txBody>
                    <a:bodyPr/>
                    <a:lstStyle/>
                    <a:p>
                      <a:pPr algn="ctr" indent="0" marL="0">
                        <a:buNone/>
                      </a:pPr>
                      <a:r>
                        <a:rPr lang="en-US" sz="1500" b="1" dirty="0">
                          <a:solidFill>
                            <a:srgbClr val="1F1A33"/>
                          </a:solidFill>
                          <a:latin typeface="Calibri" pitchFamily="34" charset="0"/>
                          <a:ea typeface="Calibri" pitchFamily="34" charset="-122"/>
                          <a:cs typeface="Calibri" pitchFamily="34" charset="-120"/>
                        </a:rPr>
                        <a:t>10</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500" b="1" dirty="0">
                          <a:solidFill>
                            <a:srgbClr val="6B4FA3"/>
                          </a:solidFill>
                          <a:latin typeface="Calibri" pitchFamily="34" charset="0"/>
                          <a:ea typeface="Calibri" pitchFamily="34" charset="-122"/>
                          <a:cs typeface="Calibri" pitchFamily="34" charset="-120"/>
                        </a:rPr>
                        <a:t>0.040</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500" dirty="0">
                          <a:solidFill>
                            <a:srgbClr val="1F1A33"/>
                          </a:solidFill>
                          <a:latin typeface="Calibri" pitchFamily="34" charset="0"/>
                          <a:ea typeface="Calibri" pitchFamily="34" charset="-122"/>
                          <a:cs typeface="Calibri" pitchFamily="34" charset="-120"/>
                        </a:rPr>
                        <a:t>73.6</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500" b="1" dirty="0">
                          <a:solidFill>
                            <a:srgbClr val="E0457B"/>
                          </a:solidFill>
                          <a:latin typeface="Calibri" pitchFamily="34" charset="0"/>
                          <a:ea typeface="Calibri" pitchFamily="34" charset="-122"/>
                          <a:cs typeface="Calibri" pitchFamily="34" charset="-120"/>
                        </a:rPr>
                        <a:t>0.109</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500" dirty="0">
                          <a:solidFill>
                            <a:srgbClr val="1F1A33"/>
                          </a:solidFill>
                          <a:latin typeface="Calibri" pitchFamily="34" charset="0"/>
                          <a:ea typeface="Calibri" pitchFamily="34" charset="-122"/>
                          <a:cs typeface="Calibri" pitchFamily="34" charset="-120"/>
                        </a:rPr>
                        <a:t>50.6</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502920">
                <a:tc>
                  <a:txBody>
                    <a:bodyPr/>
                    <a:lstStyle/>
                    <a:p>
                      <a:pPr algn="ctr" indent="0" marL="0">
                        <a:buNone/>
                      </a:pPr>
                      <a:r>
                        <a:rPr lang="en-US" sz="1500" b="1" dirty="0">
                          <a:solidFill>
                            <a:srgbClr val="1F1A33"/>
                          </a:solidFill>
                          <a:latin typeface="Calibri" pitchFamily="34" charset="0"/>
                          <a:ea typeface="Calibri" pitchFamily="34" charset="-122"/>
                          <a:cs typeface="Calibri" pitchFamily="34" charset="-120"/>
                        </a:rPr>
                        <a:t>12</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6B4FA3"/>
                          </a:solidFill>
                          <a:latin typeface="Calibri" pitchFamily="34" charset="0"/>
                          <a:ea typeface="Calibri" pitchFamily="34" charset="-122"/>
                          <a:cs typeface="Calibri" pitchFamily="34" charset="-120"/>
                        </a:rPr>
                        <a:t>0.042</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1A33"/>
                          </a:solidFill>
                          <a:latin typeface="Calibri" pitchFamily="34" charset="0"/>
                          <a:ea typeface="Calibri" pitchFamily="34" charset="-122"/>
                          <a:cs typeface="Calibri" pitchFamily="34" charset="-120"/>
                        </a:rPr>
                        <a:t>68.6</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E0457B"/>
                          </a:solidFill>
                          <a:latin typeface="Calibri" pitchFamily="34" charset="0"/>
                          <a:ea typeface="Calibri" pitchFamily="34" charset="-122"/>
                          <a:cs typeface="Calibri" pitchFamily="34" charset="-120"/>
                        </a:rPr>
                        <a:t>0.107</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1A33"/>
                          </a:solidFill>
                          <a:latin typeface="Calibri" pitchFamily="34" charset="0"/>
                          <a:ea typeface="Calibri" pitchFamily="34" charset="-122"/>
                          <a:cs typeface="Calibri" pitchFamily="34" charset="-120"/>
                        </a:rPr>
                        <a:t>45.9</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502920">
                <a:tc>
                  <a:txBody>
                    <a:bodyPr/>
                    <a:lstStyle/>
                    <a:p>
                      <a:pPr algn="ctr" indent="0" marL="0">
                        <a:buNone/>
                      </a:pPr>
                      <a:r>
                        <a:rPr lang="en-US" sz="1500" b="1" dirty="0">
                          <a:solidFill>
                            <a:srgbClr val="1F1A33"/>
                          </a:solidFill>
                          <a:latin typeface="Calibri" pitchFamily="34" charset="0"/>
                          <a:ea typeface="Calibri" pitchFamily="34" charset="-122"/>
                          <a:cs typeface="Calibri" pitchFamily="34" charset="-120"/>
                        </a:rPr>
                        <a:t>14</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500" b="1" dirty="0">
                          <a:solidFill>
                            <a:srgbClr val="6B4FA3"/>
                          </a:solidFill>
                          <a:latin typeface="Calibri" pitchFamily="34" charset="0"/>
                          <a:ea typeface="Calibri" pitchFamily="34" charset="-122"/>
                          <a:cs typeface="Calibri" pitchFamily="34" charset="-120"/>
                        </a:rPr>
                        <a:t>0.040</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500" dirty="0">
                          <a:solidFill>
                            <a:srgbClr val="1F1A33"/>
                          </a:solidFill>
                          <a:latin typeface="Calibri" pitchFamily="34" charset="0"/>
                          <a:ea typeface="Calibri" pitchFamily="34" charset="-122"/>
                          <a:cs typeface="Calibri" pitchFamily="34" charset="-120"/>
                        </a:rPr>
                        <a:t>65.7</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500" b="1" dirty="0">
                          <a:solidFill>
                            <a:srgbClr val="E0457B"/>
                          </a:solidFill>
                          <a:latin typeface="Calibri" pitchFamily="34" charset="0"/>
                          <a:ea typeface="Calibri" pitchFamily="34" charset="-122"/>
                          <a:cs typeface="Calibri" pitchFamily="34" charset="-120"/>
                        </a:rPr>
                        <a:t>0.105</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500" dirty="0">
                          <a:solidFill>
                            <a:srgbClr val="1F1A33"/>
                          </a:solidFill>
                          <a:latin typeface="Calibri" pitchFamily="34" charset="0"/>
                          <a:ea typeface="Calibri" pitchFamily="34" charset="-122"/>
                          <a:cs typeface="Calibri" pitchFamily="34" charset="-120"/>
                        </a:rPr>
                        <a:t>42.3</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bl>
          </a:graphicData>
        </a:graphic>
      </p:graphicFrame>
      <p:sp>
        <p:nvSpPr>
          <p:cNvPr id="7" name="Text 4"/>
          <p:cNvSpPr/>
          <p:nvPr/>
        </p:nvSpPr>
        <p:spPr>
          <a:xfrm>
            <a:off x="457200" y="5577840"/>
            <a:ext cx="7223760" cy="274320"/>
          </a:xfrm>
          <a:prstGeom prst="rect">
            <a:avLst/>
          </a:prstGeom>
          <a:noFill/>
          <a:ln/>
        </p:spPr>
        <p:txBody>
          <a:bodyPr wrap="square" lIns="0" tIns="0" rIns="0" bIns="0" rtlCol="0" anchor="ctr"/>
          <a:lstStyle/>
          <a:p>
            <a:pPr indent="0" marL="0">
              <a:buNone/>
            </a:pPr>
            <a:r>
              <a:rPr lang="en-US" sz="1200" i="1" dirty="0">
                <a:solidFill>
                  <a:srgbClr val="6B4FA3"/>
                </a:solidFill>
                <a:latin typeface="Calibri" pitchFamily="34" charset="0"/>
                <a:ea typeface="Calibri" pitchFamily="34" charset="-122"/>
                <a:cs typeface="Calibri" pitchFamily="34" charset="-120"/>
              </a:rPr>
              <a:t>Mean of all 8 images.</a:t>
            </a:r>
            <a:endParaRPr lang="en-US" sz="1200" dirty="0"/>
          </a:p>
        </p:txBody>
      </p:sp>
      <p:sp>
        <p:nvSpPr>
          <p:cNvPr id="8" name="Shape 5"/>
          <p:cNvSpPr/>
          <p:nvPr/>
        </p:nvSpPr>
        <p:spPr>
          <a:xfrm>
            <a:off x="7909560" y="1280160"/>
            <a:ext cx="3840480" cy="4572000"/>
          </a:xfrm>
          <a:prstGeom prst="roundRect">
            <a:avLst>
              <a:gd name="adj" fmla="val 1905"/>
            </a:avLst>
          </a:prstGeom>
          <a:solidFill>
            <a:srgbClr val="F5F1FB"/>
          </a:solidFill>
          <a:ln w="12700">
            <a:solidFill>
              <a:srgbClr val="F5F1FB"/>
            </a:solidFill>
            <a:prstDash val="solid"/>
          </a:ln>
        </p:spPr>
      </p:sp>
      <p:sp>
        <p:nvSpPr>
          <p:cNvPr id="9" name="Text 6"/>
          <p:cNvSpPr/>
          <p:nvPr/>
        </p:nvSpPr>
        <p:spPr>
          <a:xfrm>
            <a:off x="8001000" y="1371600"/>
            <a:ext cx="3657600" cy="4389120"/>
          </a:xfrm>
          <a:prstGeom prst="rect">
            <a:avLst/>
          </a:prstGeom>
          <a:noFill/>
          <a:ln/>
        </p:spPr>
        <p:txBody>
          <a:bodyPr wrap="square" lIns="1016" tIns="1016" rIns="1016" bIns="1016" rtlCol="0" anchor="t"/>
          <a:lstStyle/>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Karp–Flatt estimates the serial fraction of the program from the measured speedup.</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LBG: about 0.04 for P ≥ 8; the serial fraction stays small and does not grow with P.</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Total: about 0.105 (gray ≈ 0.14, color ≈ 0.08); the sequential coding and reconstruction stages dominate.</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This explains why the total speedup (5.00× gray, 6.84× color) is lower than the LBG speedup (9.19×).</a:t>
            </a:r>
            <a:endParaRPr lang="en-US" sz="15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103120" cy="502920"/>
          </a:xfrm>
          <a:prstGeom prst="roundRect">
            <a:avLst>
              <a:gd name="adj" fmla="val 18182"/>
            </a:avLst>
          </a:prstGeom>
          <a:solidFill>
            <a:srgbClr val="2E2055"/>
          </a:solidFill>
          <a:ln w="12700">
            <a:solidFill>
              <a:srgbClr val="2E2055"/>
            </a:solidFill>
            <a:prstDash val="solid"/>
          </a:ln>
        </p:spPr>
      </p:sp>
      <p:sp>
        <p:nvSpPr>
          <p:cNvPr id="3" name="Text 1"/>
          <p:cNvSpPr/>
          <p:nvPr/>
        </p:nvSpPr>
        <p:spPr>
          <a:xfrm>
            <a:off x="457200" y="320040"/>
            <a:ext cx="21031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Conclusion</a:t>
            </a:r>
            <a:endParaRPr lang="en-US" sz="1600" dirty="0"/>
          </a:p>
        </p:txBody>
      </p:sp>
      <p:sp>
        <p:nvSpPr>
          <p:cNvPr id="4" name="Text 2"/>
          <p:cNvSpPr/>
          <p:nvPr/>
        </p:nvSpPr>
        <p:spPr>
          <a:xfrm>
            <a:off x="2743200" y="274320"/>
            <a:ext cx="941832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Conclusion</a:t>
            </a:r>
            <a:endParaRPr lang="en-US" sz="2800" dirty="0"/>
          </a:p>
        </p:txBody>
      </p:sp>
      <p:sp>
        <p:nvSpPr>
          <p:cNvPr id="5" name="Shape 3"/>
          <p:cNvSpPr/>
          <p:nvPr/>
        </p:nvSpPr>
        <p:spPr>
          <a:xfrm>
            <a:off x="457200" y="960120"/>
            <a:ext cx="11274552" cy="36576"/>
          </a:xfrm>
          <a:prstGeom prst="rect">
            <a:avLst/>
          </a:prstGeom>
          <a:solidFill>
            <a:srgbClr val="2E2055"/>
          </a:solidFill>
          <a:ln w="12700">
            <a:solidFill>
              <a:srgbClr val="2E2055"/>
            </a:solidFill>
            <a:prstDash val="solid"/>
          </a:ln>
        </p:spPr>
      </p:sp>
      <p:sp>
        <p:nvSpPr>
          <p:cNvPr id="6" name="Shape 4"/>
          <p:cNvSpPr/>
          <p:nvPr/>
        </p:nvSpPr>
        <p:spPr>
          <a:xfrm>
            <a:off x="640080" y="1280160"/>
            <a:ext cx="10927080" cy="5029200"/>
          </a:xfrm>
          <a:prstGeom prst="roundRect">
            <a:avLst>
              <a:gd name="adj" fmla="val 1455"/>
            </a:avLst>
          </a:prstGeom>
          <a:solidFill>
            <a:srgbClr val="F5F1FB"/>
          </a:solidFill>
          <a:ln w="12700">
            <a:solidFill>
              <a:srgbClr val="F5F1FB"/>
            </a:solidFill>
            <a:prstDash val="solid"/>
          </a:ln>
        </p:spPr>
      </p:sp>
      <p:sp>
        <p:nvSpPr>
          <p:cNvPr id="7" name="Text 5"/>
          <p:cNvSpPr/>
          <p:nvPr/>
        </p:nvSpPr>
        <p:spPr>
          <a:xfrm>
            <a:off x="777240" y="1371600"/>
            <a:ext cx="10652760" cy="4846320"/>
          </a:xfrm>
          <a:prstGeom prst="rect">
            <a:avLst/>
          </a:prstGeom>
          <a:noFill/>
          <a:ln/>
        </p:spPr>
        <p:txBody>
          <a:bodyPr wrap="square" lIns="1016" tIns="1016" rIns="1016" bIns="1016" rtlCol="0" anchor="t"/>
          <a:lstStyle/>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A hybrid image compression framework was implemented: LBG vector quantization, delta coding and Huffman coding.</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LBG training was parallelized with MPI: 9.19× speedup on 14 processes (efficiency ≈ 66%); total speedup 5.00× (gray) and 6.84× (color).</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The speed-aware (Adaptive) distribution reduced LBG time by 17.2–28.3% compared with Equal distribution (P = 8 to 14).</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The parallel results were identical to the sequential ones: same reconstructed images and quality metrics.</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Quality: mean PSNR 29.49 dB and SSIM 0.8266 (gray); 28.80 dB and 0.7654 (color), at a compression ratio of ___ (gray) and ___ (color).</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The total speedup is limited by the sequential coding and reconstruction stages.</a:t>
            </a:r>
            <a:endParaRPr lang="en-US" sz="1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103120" cy="502920"/>
          </a:xfrm>
          <a:prstGeom prst="roundRect">
            <a:avLst>
              <a:gd name="adj" fmla="val 18182"/>
            </a:avLst>
          </a:prstGeom>
          <a:solidFill>
            <a:srgbClr val="2E2055"/>
          </a:solidFill>
          <a:ln w="12700">
            <a:solidFill>
              <a:srgbClr val="2E2055"/>
            </a:solidFill>
            <a:prstDash val="solid"/>
          </a:ln>
        </p:spPr>
      </p:sp>
      <p:sp>
        <p:nvSpPr>
          <p:cNvPr id="3" name="Text 1"/>
          <p:cNvSpPr/>
          <p:nvPr/>
        </p:nvSpPr>
        <p:spPr>
          <a:xfrm>
            <a:off x="457200" y="320040"/>
            <a:ext cx="21031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Future Work</a:t>
            </a:r>
            <a:endParaRPr lang="en-US" sz="1600" dirty="0"/>
          </a:p>
        </p:txBody>
      </p:sp>
      <p:sp>
        <p:nvSpPr>
          <p:cNvPr id="4" name="Text 2"/>
          <p:cNvSpPr/>
          <p:nvPr/>
        </p:nvSpPr>
        <p:spPr>
          <a:xfrm>
            <a:off x="2743200" y="274320"/>
            <a:ext cx="941832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Future Work</a:t>
            </a:r>
            <a:endParaRPr lang="en-US" sz="2800" dirty="0"/>
          </a:p>
        </p:txBody>
      </p:sp>
      <p:sp>
        <p:nvSpPr>
          <p:cNvPr id="5" name="Shape 3"/>
          <p:cNvSpPr/>
          <p:nvPr/>
        </p:nvSpPr>
        <p:spPr>
          <a:xfrm>
            <a:off x="457200" y="960120"/>
            <a:ext cx="11274552" cy="36576"/>
          </a:xfrm>
          <a:prstGeom prst="rect">
            <a:avLst/>
          </a:prstGeom>
          <a:solidFill>
            <a:srgbClr val="2E2055"/>
          </a:solidFill>
          <a:ln w="12700">
            <a:solidFill>
              <a:srgbClr val="2E2055"/>
            </a:solidFill>
            <a:prstDash val="solid"/>
          </a:ln>
        </p:spPr>
      </p:sp>
      <p:sp>
        <p:nvSpPr>
          <p:cNvPr id="6" name="Shape 4"/>
          <p:cNvSpPr/>
          <p:nvPr/>
        </p:nvSpPr>
        <p:spPr>
          <a:xfrm>
            <a:off x="640080" y="1280160"/>
            <a:ext cx="10927080" cy="5029200"/>
          </a:xfrm>
          <a:prstGeom prst="roundRect">
            <a:avLst>
              <a:gd name="adj" fmla="val 1455"/>
            </a:avLst>
          </a:prstGeom>
          <a:solidFill>
            <a:srgbClr val="F5F1FB"/>
          </a:solidFill>
          <a:ln w="12700">
            <a:solidFill>
              <a:srgbClr val="F5F1FB"/>
            </a:solidFill>
            <a:prstDash val="solid"/>
          </a:ln>
        </p:spPr>
      </p:sp>
      <p:sp>
        <p:nvSpPr>
          <p:cNvPr id="7" name="Text 5"/>
          <p:cNvSpPr/>
          <p:nvPr/>
        </p:nvSpPr>
        <p:spPr>
          <a:xfrm>
            <a:off x="777240" y="1371600"/>
            <a:ext cx="10652760" cy="4846320"/>
          </a:xfrm>
          <a:prstGeom prst="rect">
            <a:avLst/>
          </a:prstGeom>
          <a:noFill/>
          <a:ln/>
        </p:spPr>
        <p:txBody>
          <a:bodyPr wrap="square" lIns="1016" tIns="1016" rIns="1016" bIns="1016" rtlCol="0" anchor="t"/>
          <a:lstStyle/>
          <a:p>
            <a:pPr marL="342900" indent="-342900">
              <a:spcAft>
                <a:spcPts val="1000"/>
              </a:spcAft>
              <a:buSzPct val="100000"/>
              <a:buChar char="■"/>
            </a:pPr>
            <a:r>
              <a:rPr lang="en-US" sz="2100" dirty="0">
                <a:solidFill>
                  <a:srgbClr val="1F1A33"/>
                </a:solidFill>
                <a:latin typeface="Calibri" pitchFamily="34" charset="0"/>
                <a:ea typeface="Calibri" pitchFamily="34" charset="-122"/>
                <a:cs typeface="Calibri" pitchFamily="34" charset="-120"/>
              </a:rPr>
              <a:t>Parallelize the delta coding, Huffman coding and reconstruction stages.</a:t>
            </a:r>
            <a:endParaRPr lang="en-US" sz="2100" dirty="0"/>
          </a:p>
          <a:p>
            <a:pPr marL="342900" indent="-342900">
              <a:spcAft>
                <a:spcPts val="1000"/>
              </a:spcAft>
              <a:buSzPct val="100000"/>
              <a:buChar char="■"/>
            </a:pPr>
            <a:r>
              <a:rPr lang="en-US" sz="2100" dirty="0">
                <a:solidFill>
                  <a:srgbClr val="1F1A33"/>
                </a:solidFill>
                <a:latin typeface="Calibri" pitchFamily="34" charset="0"/>
                <a:ea typeface="Calibri" pitchFamily="34" charset="-122"/>
                <a:cs typeface="Calibri" pitchFamily="34" charset="-120"/>
              </a:rPr>
              <a:t>Evaluate other block sizes, codebook sizes and larger images.</a:t>
            </a:r>
            <a:endParaRPr lang="en-US" sz="2100" dirty="0"/>
          </a:p>
          <a:p>
            <a:pPr marL="342900" indent="-342900">
              <a:spcAft>
                <a:spcPts val="1000"/>
              </a:spcAft>
              <a:buSzPct val="100000"/>
              <a:buChar char="■"/>
            </a:pPr>
            <a:r>
              <a:rPr lang="en-US" sz="2100" dirty="0">
                <a:solidFill>
                  <a:srgbClr val="1F1A33"/>
                </a:solidFill>
                <a:latin typeface="Calibri" pitchFamily="34" charset="0"/>
                <a:ea typeface="Calibri" pitchFamily="34" charset="-122"/>
                <a:cs typeface="Calibri" pitchFamily="34" charset="-120"/>
              </a:rPr>
              <a:t>Define an efficiency measure that accounts for the different speeds of P-cores and E-cores.</a:t>
            </a:r>
            <a:endParaRPr lang="en-US" sz="2100" dirty="0"/>
          </a:p>
          <a:p>
            <a:pPr marL="342900" indent="-342900">
              <a:spcAft>
                <a:spcPts val="1000"/>
              </a:spcAft>
              <a:buSzPct val="100000"/>
              <a:buChar char="■"/>
            </a:pPr>
            <a:r>
              <a:rPr lang="en-US" sz="2100" dirty="0">
                <a:solidFill>
                  <a:srgbClr val="1F1A33"/>
                </a:solidFill>
                <a:latin typeface="Calibri" pitchFamily="34" charset="0"/>
                <a:ea typeface="Calibri" pitchFamily="34" charset="-122"/>
                <a:cs typeface="Calibri" pitchFamily="34" charset="-120"/>
              </a:rPr>
              <a:t>Implement a complete container file format (stored Huffman table and header) with a stand-alone decoder; the current program only accounts the compressed size.</a:t>
            </a:r>
            <a:endParaRPr lang="en-US" sz="2100" dirty="0"/>
          </a:p>
          <a:p>
            <a:pPr marL="342900" indent="-342900">
              <a:spcAft>
                <a:spcPts val="1000"/>
              </a:spcAft>
              <a:buSzPct val="100000"/>
              <a:buChar char="■"/>
            </a:pPr>
            <a:r>
              <a:rPr lang="en-US" sz="2100" dirty="0">
                <a:solidFill>
                  <a:srgbClr val="1F1A33"/>
                </a:solidFill>
                <a:latin typeface="Calibri" pitchFamily="34" charset="0"/>
                <a:ea typeface="Calibri" pitchFamily="34" charset="-122"/>
                <a:cs typeface="Calibri" pitchFamily="34" charset="-120"/>
              </a:rPr>
              <a:t>Extend the study to other hybrid CPUs and to hybrid MPI + OpenMP implementations.</a:t>
            </a:r>
            <a:endParaRPr lang="en-US" sz="2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103120" cy="502920"/>
          </a:xfrm>
          <a:prstGeom prst="roundRect">
            <a:avLst>
              <a:gd name="adj" fmla="val 18182"/>
            </a:avLst>
          </a:prstGeom>
          <a:solidFill>
            <a:srgbClr val="2E2055"/>
          </a:solidFill>
          <a:ln w="12700">
            <a:solidFill>
              <a:srgbClr val="2E2055"/>
            </a:solidFill>
            <a:prstDash val="solid"/>
          </a:ln>
        </p:spPr>
      </p:sp>
      <p:sp>
        <p:nvSpPr>
          <p:cNvPr id="3" name="Text 1"/>
          <p:cNvSpPr/>
          <p:nvPr/>
        </p:nvSpPr>
        <p:spPr>
          <a:xfrm>
            <a:off x="457200" y="320040"/>
            <a:ext cx="21031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References</a:t>
            </a:r>
            <a:endParaRPr lang="en-US" sz="1600" dirty="0"/>
          </a:p>
        </p:txBody>
      </p:sp>
      <p:sp>
        <p:nvSpPr>
          <p:cNvPr id="4" name="Text 2"/>
          <p:cNvSpPr/>
          <p:nvPr/>
        </p:nvSpPr>
        <p:spPr>
          <a:xfrm>
            <a:off x="2743200" y="274320"/>
            <a:ext cx="941832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References</a:t>
            </a:r>
            <a:endParaRPr lang="en-US" sz="2800" dirty="0"/>
          </a:p>
        </p:txBody>
      </p:sp>
      <p:sp>
        <p:nvSpPr>
          <p:cNvPr id="5" name="Shape 3"/>
          <p:cNvSpPr/>
          <p:nvPr/>
        </p:nvSpPr>
        <p:spPr>
          <a:xfrm>
            <a:off x="457200" y="960120"/>
            <a:ext cx="11274552" cy="36576"/>
          </a:xfrm>
          <a:prstGeom prst="rect">
            <a:avLst/>
          </a:prstGeom>
          <a:solidFill>
            <a:srgbClr val="2E2055"/>
          </a:solidFill>
          <a:ln w="12700">
            <a:solidFill>
              <a:srgbClr val="2E2055"/>
            </a:solidFill>
            <a:prstDash val="solid"/>
          </a:ln>
        </p:spPr>
      </p:sp>
      <p:sp>
        <p:nvSpPr>
          <p:cNvPr id="6" name="Shape 4"/>
          <p:cNvSpPr/>
          <p:nvPr/>
        </p:nvSpPr>
        <p:spPr>
          <a:xfrm>
            <a:off x="640080" y="1280160"/>
            <a:ext cx="10927080" cy="5029200"/>
          </a:xfrm>
          <a:prstGeom prst="roundRect">
            <a:avLst>
              <a:gd name="adj" fmla="val 1455"/>
            </a:avLst>
          </a:prstGeom>
          <a:solidFill>
            <a:srgbClr val="F5F1FB"/>
          </a:solidFill>
          <a:ln w="12700">
            <a:solidFill>
              <a:srgbClr val="F5F1FB"/>
            </a:solidFill>
            <a:prstDash val="solid"/>
          </a:ln>
        </p:spPr>
      </p:sp>
      <p:sp>
        <p:nvSpPr>
          <p:cNvPr id="7" name="Text 5"/>
          <p:cNvSpPr/>
          <p:nvPr/>
        </p:nvSpPr>
        <p:spPr>
          <a:xfrm>
            <a:off x="777240" y="1371600"/>
            <a:ext cx="10652760" cy="4846320"/>
          </a:xfrm>
          <a:prstGeom prst="rect">
            <a:avLst/>
          </a:prstGeom>
          <a:noFill/>
          <a:ln/>
        </p:spPr>
        <p:txBody>
          <a:bodyPr wrap="square" lIns="1016" tIns="1016" rIns="1016" bIns="1016" rtlCol="0" anchor="t"/>
          <a:lstStyle/>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[6] Thomas, S., Krishna, A., Govind, S., Sahu, A.K. (2025). A novel image compression method using wavelet coefficients and Huffman coding. J. Eng. Res., 13(1): 361-370.</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[16] Ranjan, R., Kumar, P. (2023). An improved image compression algorithm using 2D DWT and PCA with canonical Huffman encoding. Entropy, 25(10): 1382.</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[17] Bilal, M., Ullah, Z., Mujahid, O., Fouzder, T. (2024). Fast Linde–Buzo–Gray (FLBG) algorithm for image compression through rescaling using bilinear interpolation. J. Imaging, 10(5): 124.</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Linde, Y., Buzo, A., Gray, R.M. (1980). An algorithm for vector quantizer design. IEEE Trans. Commun., 28(1): 84-95.</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Tanović, A. et al. (2024). ZINC 2024.  Papakyriakou, D. et al. (2025). Int. J. Comput. Appl.  Bystrov, O. et al. (2023). Proc. 7th Int. Conf. on Parallel, Distributed, GPU and Cloud Computing for Engineering.  Paul, R.K. et al. (2024).  Zangana, H.M. (2025).</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2026-10-16T08:24:58Z</dcterms:created>
  <dcterms:modified xsi:type="dcterms:W3CDTF">2026-10-16T08:24:58Z</dcterms:modified>
</cp:coreProperties>
</file>