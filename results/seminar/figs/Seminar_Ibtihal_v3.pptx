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E20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B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MSc SEMINAR  |  University of Babylon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146304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Parallel Image Compression Using High-Performance Computing Strategies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22960" y="33832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vector quantization, delta coding and Huffman coding with speed-aware MPI on a hybrid P/E-core CPU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22960" y="484632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9B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 </a:t>
            </a:r>
            <a:pPr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MSc. Student Ibtihal Hussien</a:t>
            </a:r>
            <a:endParaRPr lang="en-US" sz="20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9B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Supervised by  </a:t>
            </a:r>
            <a:pPr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Ahmed Badri  ·  Dr. Esraa Hadi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9202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Outline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5603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Outline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32588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508760"/>
            <a:ext cx="640080" cy="640080"/>
          </a:xfrm>
          <a:prstGeom prst="ellipse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508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645920" y="132588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6309360" y="132588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92240" y="1508760"/>
            <a:ext cx="640080" cy="640080"/>
          </a:xfrm>
          <a:prstGeom prst="ellipse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1508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7315200" y="132588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Literature Review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640080" y="260604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E0457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2788920"/>
            <a:ext cx="640080" cy="64008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2788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645920" y="260604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6309360" y="260604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E0457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92240" y="2788920"/>
            <a:ext cx="640080" cy="64008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92240" y="2788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7315200" y="260604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Thesis Objectives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640080" y="388620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2960" y="4069080"/>
            <a:ext cx="640080" cy="640080"/>
          </a:xfrm>
          <a:prstGeom prst="ellipse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4069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1645920" y="388620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Proposed Work</a:t>
            </a:r>
            <a:endParaRPr lang="en-US" sz="2400" dirty="0"/>
          </a:p>
        </p:txBody>
      </p:sp>
      <p:sp>
        <p:nvSpPr>
          <p:cNvPr id="26" name="Shape 24"/>
          <p:cNvSpPr/>
          <p:nvPr/>
        </p:nvSpPr>
        <p:spPr>
          <a:xfrm>
            <a:off x="6309360" y="388620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92240" y="406908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92240" y="4069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7315200" y="388620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Experimental Results</a:t>
            </a:r>
            <a:endParaRPr lang="en-US" sz="2400" dirty="0"/>
          </a:p>
        </p:txBody>
      </p:sp>
      <p:sp>
        <p:nvSpPr>
          <p:cNvPr id="30" name="Shape 28"/>
          <p:cNvSpPr/>
          <p:nvPr/>
        </p:nvSpPr>
        <p:spPr>
          <a:xfrm>
            <a:off x="640080" y="516636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2E205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22960" y="5349240"/>
            <a:ext cx="640080" cy="640080"/>
          </a:xfrm>
          <a:prstGeom prst="ellipse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2960" y="5349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1645920" y="516636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2400" dirty="0"/>
          </a:p>
        </p:txBody>
      </p:sp>
      <p:sp>
        <p:nvSpPr>
          <p:cNvPr id="34" name="Shape 32"/>
          <p:cNvSpPr/>
          <p:nvPr/>
        </p:nvSpPr>
        <p:spPr>
          <a:xfrm>
            <a:off x="6309360" y="516636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2E205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492240" y="5349240"/>
            <a:ext cx="640080" cy="640080"/>
          </a:xfrm>
          <a:prstGeom prst="ellipse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92240" y="5349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7315200" y="516636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Work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9202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5603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Image Compression?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371600"/>
            <a:ext cx="352044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22225">
            <a:solidFill>
              <a:srgbClr val="6B4F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389888"/>
            <a:ext cx="109728" cy="3255264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417320"/>
            <a:ext cx="3108960" cy="3200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image collections require a large amount of storage space.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4343400" y="1371600"/>
            <a:ext cx="352044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22225">
            <a:solidFill>
              <a:srgbClr val="E0457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61688" y="1389888"/>
            <a:ext cx="109728" cy="3255264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17720" y="1417320"/>
            <a:ext cx="3108960" cy="3200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Transmission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Smaller images reach the receiver sooner and use less network bandwidth.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8046720" y="1371600"/>
            <a:ext cx="352044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22225">
            <a:solidFill>
              <a:srgbClr val="2A9D8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65008" y="1389888"/>
            <a:ext cx="109728" cy="32552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21040" y="1417320"/>
            <a:ext cx="3108960" cy="3200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Computation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good compression ratio needs complex methods, so the compression itself must stay fast.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40080" y="50749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 compression reduces the amount of data needed to represent an image.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9202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5603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Lossless and Lossy Compression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371600"/>
            <a:ext cx="53949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22225">
            <a:solidFill>
              <a:srgbClr val="2A9D8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389888"/>
            <a:ext cx="109728" cy="298094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417320"/>
            <a:ext cx="4983480" cy="2926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Lossless</a:t>
            </a:r>
            <a:endParaRPr lang="en-US" sz="2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original image is recovered exactly. Examples: RLE, Huffman, LZW.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6172200" y="1371600"/>
            <a:ext cx="53949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22225">
            <a:solidFill>
              <a:srgbClr val="E07B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90488" y="1389888"/>
            <a:ext cx="109728" cy="2980944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1417320"/>
            <a:ext cx="4983480" cy="2926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Lossy</a:t>
            </a:r>
            <a:endParaRPr lang="en-US" sz="2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information is discarded to reach a higher compression ratio. Examples: VQ, DCT, DWT.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640080" y="4709160"/>
            <a:ext cx="10927080" cy="1188720"/>
          </a:xfrm>
          <a:prstGeom prst="roundRect">
            <a:avLst>
              <a:gd name="adj" fmla="val 7692"/>
            </a:avLst>
          </a:prstGeom>
          <a:solidFill>
            <a:srgbClr val="F5F1FB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4709160"/>
            <a:ext cx="10561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work: </a:t>
            </a:r>
            <a:pPr indent="0" marL="0">
              <a:buNone/>
            </a:pPr>
            <a:r>
              <a:rPr lang="en-US" sz="21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lossy LBG vector quantization, followed by lossless delta coding and Huffman coding.</a:t>
            </a:r>
            <a:endParaRPr lang="en-US" sz="2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9202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5603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Parallel Processing in Image Compression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28016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Parallel processing improves processing speed and efficiency when handling large data.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640080" y="2468880"/>
            <a:ext cx="352044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22225">
            <a:solidFill>
              <a:srgbClr val="E07B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8368" y="2487168"/>
            <a:ext cx="109728" cy="3072384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514600"/>
            <a:ext cx="3108960" cy="3017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training dominates</a:t>
            </a:r>
            <a:endParaRPr lang="en-US" sz="2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sequential program it takes about 77% (gray) and 81% (color) of the total time.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43400" y="2468880"/>
            <a:ext cx="352044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22225">
            <a:solidFill>
              <a:srgbClr val="6B4FA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61688" y="2487168"/>
            <a:ext cx="109728" cy="3072384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17720" y="2514600"/>
            <a:ext cx="3108960" cy="3017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Data-parallel</a:t>
            </a:r>
            <a:endParaRPr lang="en-US" sz="2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training vector is assigned to its nearest codeword independently, so the work can be split across processes.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046720" y="2468880"/>
            <a:ext cx="352044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22225">
            <a:solidFill>
              <a:srgbClr val="2A9D8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65008" y="2487168"/>
            <a:ext cx="109728" cy="307238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21040" y="2514600"/>
            <a:ext cx="3108960" cy="3017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CPU</a:t>
            </a:r>
            <a:endParaRPr lang="en-US" sz="2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P-cores and E-cores have different speeds, so an equal split can leave fast cores waiting.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017520" y="27432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Related Work: Compression Quality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234440"/>
          <a:ext cx="1088136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645920"/>
                <a:gridCol w="3108960"/>
                <a:gridCol w="1371600"/>
                <a:gridCol w="2011680"/>
                <a:gridCol w="182880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PSNR (dB)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ratio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[6]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Thomas et al.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54.28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[16]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Ranjan and Kumar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34.78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work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29.67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9.21×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[6]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Boat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Thomas et al.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54.07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work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9.22×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[17]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Cameraman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Bilal et al.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25.3–26.8*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2.61×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work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29.75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9.10×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40080" y="50749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Bilal et al.: PSNR range at bit rates up to 0.625 bpp; time ratio = LBG / FLBG training time (single core). This work: time ratio = sequential / parallel LBG time at P = 14. Thomas et al. is near-lossless (CR ≈ 1.5).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40080" y="58521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Higher compression ratio at an acceptable PSNR, with a faster training stage.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017520" y="27432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Related Work: Parallel Speedup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234440"/>
          <a:ext cx="108813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468880"/>
                <a:gridCol w="2651760"/>
                <a:gridCol w="1280160"/>
                <a:gridCol w="210312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Application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Resources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Speedup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Tanović et al. (2024)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k-means, image classification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cores (OpenMP + MPI)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stated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to 10.2×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Papakyriakou et al. (2025)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k-means, 75 M synthetic points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2–48 MPI processes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processes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10.05×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Bystrov et al. (2023)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Discrete-element simulation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heterogeneous containers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Sequential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to 6.0×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work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6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LBG image compression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6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 MPI processes (6 P + 8 E cores)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Sequential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9.19× (LBG); 5.00× / 6.84× (total, gray / color)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6F6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4754880"/>
            <a:ext cx="10881360" cy="1417320"/>
          </a:xfrm>
          <a:prstGeom prst="roundRect">
            <a:avLst>
              <a:gd name="adj" fmla="val 6452"/>
            </a:avLst>
          </a:prstGeom>
          <a:solidFill>
            <a:srgbClr val="F5F1FB"/>
          </a:solidFill>
          <a:ln w="25400">
            <a:solidFill>
              <a:srgbClr val="E0457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4754880"/>
            <a:ext cx="10515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gap  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parallel studies target k-means or other applications. To our knowledge, none of the reviewed studies evaluates MPI-parallel LBG for image compression on a hybrid P/E-core CPU.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286000" cy="502920"/>
          </a:xfrm>
          <a:prstGeom prst="roundRect">
            <a:avLst>
              <a:gd name="adj" fmla="val 18182"/>
            </a:avLst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926080" y="274320"/>
            <a:ext cx="9235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463040"/>
            <a:ext cx="685800" cy="68580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4630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554480" y="1280160"/>
            <a:ext cx="9966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Transmitting and storing uncompressed images consumes bandwidth and storage capacity.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40080" y="2697480"/>
            <a:ext cx="685800" cy="68580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974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554480" y="2514600"/>
            <a:ext cx="9966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vector quantization gives a compact representation, but codebook training is computationally expensive: it repeatedly computes distances between training vectors and codewords (about 77% of the sequential time, gray images).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40080" y="3931920"/>
            <a:ext cx="685800" cy="68580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9319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554480" y="3749040"/>
            <a:ext cx="9966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hybrid CPU, an equal distribution of training vectors causes workload imbalance: the faster P-cores finish early and wait for the slower E-cores at synchronization points.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40080" y="5074920"/>
            <a:ext cx="10927080" cy="1280160"/>
          </a:xfrm>
          <a:prstGeom prst="roundRect">
            <a:avLst>
              <a:gd name="adj" fmla="val 7143"/>
            </a:avLst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5074920"/>
            <a:ext cx="10469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LBG training and total compression time through speed-aware workload distribution, while preserving the compression ratio and the reconstruction quality of the sequential implementation.</a:t>
            </a:r>
            <a:endParaRPr lang="en-US" sz="1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286000" cy="502920"/>
          </a:xfrm>
          <a:prstGeom prst="roundRect">
            <a:avLst>
              <a:gd name="adj" fmla="val 18182"/>
            </a:avLst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926080" y="274320"/>
            <a:ext cx="9235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Thesis Objectives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234440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6B4F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252728"/>
            <a:ext cx="109728" cy="1106424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280160"/>
            <a:ext cx="10515600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Image Compression Framework Development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compress grayscale and color images by combining LBG vector quantization, delta coding, and Huffman coding.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40080" y="2514600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E07B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2532888"/>
            <a:ext cx="109728" cy="1106424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560320"/>
            <a:ext cx="10515600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LBG Execution-Time Reduction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reduce codebook-training time by parallelizing the computationally intensive operations of LBG using MPI.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640080" y="3794760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2A9D8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3813048"/>
            <a:ext cx="109728" cy="110642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3840480"/>
            <a:ext cx="10515600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Workload Distribution Improvement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distribute the training vectors according to the measured throughput of each MPI process on the P-cores and E-cores, and to improve performance compared with equal distribution.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640080" y="5074920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E0457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368" y="5093208"/>
            <a:ext cx="109728" cy="1106424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5120640"/>
            <a:ext cx="10515600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Performance Evaluation and Result Verification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evaluate compression, reconstruction quality and parallel performance, and to verify that the parallel results match the sequential implementation.</a:t>
            </a:r>
            <a:endParaRPr lang="en-US" sz="1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82880"/>
            <a:ext cx="11503152" cy="1417320"/>
          </a:xfrm>
          <a:prstGeom prst="roundRect">
            <a:avLst>
              <a:gd name="adj" fmla="val 6452"/>
            </a:avLst>
          </a:prstGeom>
          <a:solidFill>
            <a:srgbClr val="E3EEFA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228600"/>
            <a:ext cx="2240280" cy="1325880"/>
          </a:xfrm>
          <a:prstGeom prst="roundRect">
            <a:avLst>
              <a:gd name="adj" fmla="val 5517"/>
            </a:avLst>
          </a:prstGeom>
          <a:solidFill>
            <a:srgbClr val="2F6FB5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28600"/>
            <a:ext cx="2240280" cy="1325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88920" y="320040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F6FB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88920" y="320040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Input image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512×512,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 / color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828032" y="772668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74920" y="320040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F6FB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74920" y="320040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4×4 blocks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non-overlapping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114032" y="772668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60920" y="320040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F6FB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60920" y="320040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Training vectors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16-D,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16,384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355080" y="1591056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16,384 training vectors (16-D)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989320" y="1609344"/>
            <a:ext cx="237744" cy="192024"/>
          </a:xfrm>
          <a:prstGeom prst="down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" y="1810512"/>
            <a:ext cx="11503152" cy="1417320"/>
          </a:xfrm>
          <a:prstGeom prst="roundRect">
            <a:avLst>
              <a:gd name="adj" fmla="val 6452"/>
            </a:avLst>
          </a:prstGeom>
          <a:solidFill>
            <a:srgbClr val="FDEBD9"/>
          </a:solidFill>
          <a:ln w="31750">
            <a:solidFill>
              <a:srgbClr val="E07B22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365760" y="1856232"/>
            <a:ext cx="2240280" cy="1325880"/>
          </a:xfrm>
          <a:prstGeom prst="roundRect">
            <a:avLst>
              <a:gd name="adj" fmla="val 5517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1856232"/>
            <a:ext cx="2240280" cy="1325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LBG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(MPI)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2788920" y="1947672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88920" y="1947672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Distribute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MPI_Scatterv: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/ Adaptive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828032" y="2400300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74920" y="1947672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74920" y="1947672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Assign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nearest codeword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each rank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7114032" y="2400300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360920" y="1947672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60920" y="1947672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Combine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Allreduce: sums,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counts, distortion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9400032" y="2400300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646920" y="1947672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646920" y="1947672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Refine and split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level,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until K = 64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355080" y="3218688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codebook C + index array L (gathered on Rank 0)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5989320" y="3236976"/>
            <a:ext cx="237744" cy="192024"/>
          </a:xfrm>
          <a:prstGeom prst="down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0040" y="3438144"/>
            <a:ext cx="11503152" cy="1417320"/>
          </a:xfrm>
          <a:prstGeom prst="roundRect">
            <a:avLst>
              <a:gd name="adj" fmla="val 6452"/>
            </a:avLst>
          </a:prstGeom>
          <a:solidFill>
            <a:srgbClr val="DDF3F0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65760" y="3483864"/>
            <a:ext cx="2240280" cy="1325880"/>
          </a:xfrm>
          <a:prstGeom prst="roundRect">
            <a:avLst>
              <a:gd name="adj" fmla="val 5517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83864"/>
            <a:ext cx="2240280" cy="1325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Lossless Index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Coding (Rank 0)</a:t>
            </a:r>
            <a:endParaRPr lang="en-US" sz="2200" dirty="0"/>
          </a:p>
        </p:txBody>
      </p:sp>
      <p:sp>
        <p:nvSpPr>
          <p:cNvPr id="34" name="Shape 32"/>
          <p:cNvSpPr/>
          <p:nvPr/>
        </p:nvSpPr>
        <p:spPr>
          <a:xfrm>
            <a:off x="2788920" y="3575304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788920" y="3575304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Delta coding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differences of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VQ indices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4828032" y="4027932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074920" y="3575304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074920" y="3575304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Huffman coding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variable-length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codes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7114032" y="4027932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360920" y="3575304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360920" y="3575304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Compressed data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codebook + Huffman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+ coded indices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6355080" y="4846320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compressed data: codebook + Huffman table + coded indices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5989320" y="4864608"/>
            <a:ext cx="237744" cy="192024"/>
          </a:xfrm>
          <a:prstGeom prst="down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20040" y="5065776"/>
            <a:ext cx="11503152" cy="1417320"/>
          </a:xfrm>
          <a:prstGeom prst="roundRect">
            <a:avLst>
              <a:gd name="adj" fmla="val 6452"/>
            </a:avLst>
          </a:prstGeom>
          <a:solidFill>
            <a:srgbClr val="ECE6F6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65760" y="5111496"/>
            <a:ext cx="2240280" cy="1325880"/>
          </a:xfrm>
          <a:prstGeom prst="roundRect">
            <a:avLst>
              <a:gd name="adj" fmla="val 5517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5111496"/>
            <a:ext cx="2240280" cy="1325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4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Decoding and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2200" dirty="0"/>
          </a:p>
        </p:txBody>
      </p:sp>
      <p:sp>
        <p:nvSpPr>
          <p:cNvPr id="47" name="Shape 45"/>
          <p:cNvSpPr/>
          <p:nvPr/>
        </p:nvSpPr>
        <p:spPr>
          <a:xfrm>
            <a:off x="2788920" y="5202936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788920" y="5202936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Huffman decoding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0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4828032" y="5655564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074920" y="5202936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074920" y="5202936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Inverse delta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VQ indices</a:t>
            </a:r>
            <a:endParaRPr lang="en-US" sz="1600" dirty="0"/>
          </a:p>
        </p:txBody>
      </p:sp>
      <p:sp>
        <p:nvSpPr>
          <p:cNvPr id="52" name="Shape 50"/>
          <p:cNvSpPr/>
          <p:nvPr/>
        </p:nvSpPr>
        <p:spPr>
          <a:xfrm>
            <a:off x="7114032" y="5655564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360920" y="5202936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360920" y="5202936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Reconstruction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codebook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lookup</a:t>
            </a:r>
            <a:endParaRPr lang="en-US" sz="1600" dirty="0"/>
          </a:p>
        </p:txBody>
      </p:sp>
      <p:sp>
        <p:nvSpPr>
          <p:cNvPr id="55" name="Shape 53"/>
          <p:cNvSpPr/>
          <p:nvPr/>
        </p:nvSpPr>
        <p:spPr>
          <a:xfrm>
            <a:off x="9400032" y="5655564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9646920" y="5202936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9646920" y="5202936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Metrics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CR, BPP, MSE,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PSNR; parallel SSIM</a:t>
            </a:r>
            <a:endParaRPr lang="en-US" sz="1600" dirty="0"/>
          </a:p>
        </p:txBody>
      </p:sp>
      <p:sp>
        <p:nvSpPr>
          <p:cNvPr id="58" name="Text 56"/>
          <p:cNvSpPr/>
          <p:nvPr/>
        </p:nvSpPr>
        <p:spPr>
          <a:xfrm>
            <a:off x="365760" y="6492240"/>
            <a:ext cx="1143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Parallel: LBG training and SSIM   |   Rank 0: index coding, decoding, reconstruction, and remaining metrics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2F6FB5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Block Formation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F6FB5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315200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5875">
            <a:solidFill>
              <a:srgbClr val="2F6FB5"/>
            </a:solidFill>
            <a:prstDash val="solid"/>
          </a:ln>
        </p:spPr>
      </p:sp>
      <p:pic>
        <p:nvPicPr>
          <p:cNvPr id="7" name="Image 0" descr="assets/ch3_fig3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29857"/>
            <a:ext cx="7132320" cy="319264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2453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Block-based vector quantization (illustrative)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8001000" y="1234440"/>
            <a:ext cx="3749040" cy="4983480"/>
          </a:xfrm>
          <a:prstGeom prst="roundRect">
            <a:avLst>
              <a:gd name="adj" fmla="val 19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092440" y="1325880"/>
            <a:ext cx="3566160" cy="4800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image is divided into non-overlapping 4 × 4 blocks.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block becomes a 16-dimensional vector.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512 × 512 image gives N = 16,384 training vectors.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images: the R, G and B channels are processed independently.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LBG Codebook Training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315200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5875">
            <a:solidFill>
              <a:srgbClr val="E07B22"/>
            </a:solidFill>
            <a:prstDash val="solid"/>
          </a:ln>
        </p:spPr>
      </p:sp>
      <p:pic>
        <p:nvPicPr>
          <p:cNvPr id="7" name="Image 0" descr="assets/lbg_flow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477" y="1325880"/>
            <a:ext cx="6730646" cy="48006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001000" y="1234440"/>
            <a:ext cx="3749040" cy="4983480"/>
          </a:xfrm>
          <a:prstGeom prst="roundRect">
            <a:avLst>
              <a:gd name="adj" fmla="val 19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92440" y="1325880"/>
            <a:ext cx="3566160" cy="4800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from the global mean as the first codeword.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splitting (δ = 0.01) doubles the codebook size.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Lloyd refinement: assign each vector to its nearest codeword, then update the centroids.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at ΔD ≤ ε or 100 iterations; repeat until K = 64.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Parallel LBG Training (MPI)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143000"/>
            <a:ext cx="11274552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5875">
            <a:solidFill>
              <a:srgbClr val="E07B22"/>
            </a:solidFill>
            <a:prstDash val="solid"/>
          </a:ln>
        </p:spPr>
      </p:sp>
      <p:pic>
        <p:nvPicPr>
          <p:cNvPr id="7" name="Image 0" descr="figs/parallel_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5179" y="1234440"/>
            <a:ext cx="9898594" cy="40233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5440680"/>
            <a:ext cx="5559552" cy="1234440"/>
          </a:xfrm>
          <a:prstGeom prst="roundRect">
            <a:avLst>
              <a:gd name="adj" fmla="val 5926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" y="5532120"/>
            <a:ext cx="5376672" cy="1051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SPMD: every rank runs the same program on its own chunk of vectors.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Nearest-codeword assignment is local: about 77% of the sequential time (gray).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172200" y="5440680"/>
            <a:ext cx="5559552" cy="1234440"/>
          </a:xfrm>
          <a:prstGeom prst="roundRect">
            <a:avLst>
              <a:gd name="adj" fmla="val 5926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263640" y="5532120"/>
            <a:ext cx="5376672" cy="1051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Allreduce combines sums, counts and distortion; every rank updates the same codebook.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Gatherv collects the final indices on Rank 0.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Equal and Adaptive Workload Distribution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315200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5875">
            <a:solidFill>
              <a:srgbClr val="E07B22"/>
            </a:solidFill>
            <a:prstDash val="solid"/>
          </a:ln>
        </p:spPr>
      </p:sp>
      <p:pic>
        <p:nvPicPr>
          <p:cNvPr id="7" name="Image 0" descr="assets/ch3_fig3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18744"/>
            <a:ext cx="7132320" cy="421487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001000" y="1234440"/>
            <a:ext cx="3749040" cy="4983480"/>
          </a:xfrm>
          <a:prstGeom prst="roundRect">
            <a:avLst>
              <a:gd name="adj" fmla="val 19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92440" y="1325880"/>
            <a:ext cx="3566160" cy="4800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(default, P ≤ 4): each rank gets N/P vectors (rounded down or up).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(P &gt; 4): speed measured by calibration (3 trials, the first is a warm-up).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q_r = N · s_r / Σ s_j: faster cores receive more vectors.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reduces LBG time by 17–28% compared with Equal (P = 8 to 14).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Delta Coding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315200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7" name="Image 0" descr="assets/ch3_fig3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17794"/>
            <a:ext cx="7132320" cy="3216773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001000" y="1234440"/>
            <a:ext cx="3749040" cy="4983480"/>
          </a:xfrm>
          <a:prstGeom prst="roundRect">
            <a:avLst>
              <a:gd name="adj" fmla="val 19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92440" y="1325880"/>
            <a:ext cx="3566160" cy="4800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the difference between successive VQ indices (offset 128).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Neighbouring blocks are correlated, so the differences cluster around the offset.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(Lena): entropy falls from 5.39 to 4.67 bits per symbol.</a:t>
            </a:r>
            <a:endParaRPr lang="en-US" sz="1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Huffman Coding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11274552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7" name="Image 0" descr="assets/ch3_fig3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6490"/>
            <a:ext cx="11091672" cy="11818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3154680"/>
            <a:ext cx="11274552" cy="3063240"/>
          </a:xfrm>
          <a:prstGeom prst="roundRect">
            <a:avLst>
              <a:gd name="adj" fmla="val 2388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" y="3246120"/>
            <a:ext cx="11091672" cy="28803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Frequent symbols receive shorter codewords, rare symbols longer ones (lossless).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Huffman table (header) and the encoded bitstream.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Compressed size = codebook (K × 16 bytes) + Huffman table + Huffman-coded data.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table is accounted as 5 bytes per used symbol (1 byte symbol + 4 bytes frequency) plus 10 bytes of fixed metadata.</a:t>
            </a:r>
            <a:endParaRPr lang="en-US" sz="1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4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Decoding and Evaluation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2468880" cy="731520"/>
          </a:xfrm>
          <a:prstGeom prst="roundRect">
            <a:avLst>
              <a:gd name="adj" fmla="val 10000"/>
            </a:avLst>
          </a:prstGeom>
          <a:solidFill>
            <a:srgbClr val="ECE6F6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23444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Huffman decoding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953512" y="1481328"/>
            <a:ext cx="31089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91840" y="1234440"/>
            <a:ext cx="2468880" cy="731520"/>
          </a:xfrm>
          <a:prstGeom prst="roundRect">
            <a:avLst>
              <a:gd name="adj" fmla="val 10000"/>
            </a:avLst>
          </a:prstGeom>
          <a:solidFill>
            <a:srgbClr val="ECE6F6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91840" y="123444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Inverse delta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788152" y="1481328"/>
            <a:ext cx="31089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26480" y="1234440"/>
            <a:ext cx="2468880" cy="731520"/>
          </a:xfrm>
          <a:prstGeom prst="roundRect">
            <a:avLst>
              <a:gd name="adj" fmla="val 10000"/>
            </a:avLst>
          </a:prstGeom>
          <a:solidFill>
            <a:srgbClr val="ECE6F6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26480" y="123444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Codebook lookup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622792" y="1481328"/>
            <a:ext cx="31089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961120" y="1234440"/>
            <a:ext cx="2468880" cy="731520"/>
          </a:xfrm>
          <a:prstGeom prst="roundRect">
            <a:avLst>
              <a:gd name="adj" fmla="val 10000"/>
            </a:avLst>
          </a:prstGeom>
          <a:solidFill>
            <a:srgbClr val="ECE6F6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961120" y="123444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 image</a:t>
            </a:r>
            <a:endParaRPr lang="en-US" sz="1600" dirty="0"/>
          </a:p>
        </p:txBody>
      </p:sp>
      <p:pic>
        <p:nvPicPr>
          <p:cNvPr id="17" name="Image 0" descr="assets/cam_or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331720"/>
            <a:ext cx="2926080" cy="2926080"/>
          </a:xfrm>
          <a:prstGeom prst="rect">
            <a:avLst/>
          </a:prstGeom>
        </p:spPr>
      </p:pic>
      <p:pic>
        <p:nvPicPr>
          <p:cNvPr id="18" name="Image 1" descr="assets/cam_re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1880" y="2331720"/>
            <a:ext cx="2926080" cy="292608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457200" y="52852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3611880" y="52852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457200" y="5623560"/>
            <a:ext cx="6080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Cameraman: PSNR 29.75 dB, SSIM 0.8855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858000" y="2331720"/>
            <a:ext cx="4892040" cy="3886200"/>
          </a:xfrm>
          <a:prstGeom prst="roundRect">
            <a:avLst>
              <a:gd name="adj" fmla="val 1882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6949440" y="2423160"/>
            <a:ext cx="4709160" cy="3703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Decoding and reconstruction run on Rank 0.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Quality: MSE, PSNR and SSIM (SSIM is computed in parallel); size: CR and BPP.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performance: time, speedup, efficiency, throughput, Karp–Flatt.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Verification: the reconstructed image (MD5) and the metrics are identical for the sequential run, P = 4, and P = 14 (Adaptive and Equal).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301752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Results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657600" y="27432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Experimental Setup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32588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6B4F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344168"/>
            <a:ext cx="109728" cy="1426464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37160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 Core i7-13650HX: 6 P-cores and 8 E-cores (14 cores in total).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172200" y="132588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E07B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90488" y="1344168"/>
            <a:ext cx="109728" cy="1426464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137160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Ubuntu 24.04, GCC 13.3 (-O2), Open MPI 4.1.6, written in C.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40080" y="297180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2A9D8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2990088"/>
            <a:ext cx="109728" cy="14264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301752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of 5 runs; governor set to performance; processes bound to cores, P-cores first.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172200" y="297180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E0457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90488" y="2990088"/>
            <a:ext cx="109728" cy="1426464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46520" y="301752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standard 512 × 512 images: 4 grayscale and 4 color.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640080" y="461772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2E205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8368" y="4636008"/>
            <a:ext cx="109728" cy="1426464"/>
          </a:xfrm>
          <a:prstGeom prst="rect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466344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settings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× 4 blocks, K = 64 codewords, δ = 0.01, convergence threshold ε, at most 100 iterations per level.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6172200" y="461772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F2B13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190488" y="4636008"/>
            <a:ext cx="109728" cy="1426464"/>
          </a:xfrm>
          <a:prstGeom prst="rect">
            <a:avLst/>
          </a:prstGeom>
          <a:solidFill>
            <a:srgbClr val="F2B134"/>
          </a:solidFill>
          <a:ln w="12700">
            <a:solidFill>
              <a:srgbClr val="F2B13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46520" y="466344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Strategies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(default for P ≤ 4) and Adaptive speed-aware (P &gt; 4).</a:t>
            </a:r>
            <a:endParaRPr lang="en-US" sz="2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301752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Results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657600" y="27432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Evaluation Metrics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325880"/>
          <a:ext cx="1092708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023360"/>
                <a:gridCol w="1920240"/>
                <a:gridCol w="352044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Formula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Performance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7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Formula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7B2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A9D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S_orig / S_comp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07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Execution time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 (median of 5 runs)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A9D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BPP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compressed bits / pixels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07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Speedup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 = T_seq / T_P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A9D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(I − Î)²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07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Efficiency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 = S / 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A9D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PSNR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10·log10(255² / MSE)  dB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07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Throughput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I_size / T_total  (MiB/s)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A9D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SSIM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 × 11 Gaussian window, σ = 1.5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8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07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Karp–Flatt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 = (1/S − 1/P) / (1 − 1/P)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6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40080" y="5120640"/>
            <a:ext cx="10927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S_comp = codebook (K × 16 bytes) + Huffman table + Huffman-coded data. The table is accounted as 5 bytes per used symbol (1 byte symbol + 4 bytes frequency) plus 10 bytes of fixed metadata. For color images, MSE and PSNR are computed over RGB and SSIM is the mean of the channels.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Images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1430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Grayscale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508760"/>
            <a:ext cx="2286000" cy="228600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457200" y="1508760"/>
            <a:ext cx="2286000" cy="228600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38130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291840" y="1508760"/>
            <a:ext cx="2286000" cy="228600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3291840" y="1508760"/>
            <a:ext cx="2286000" cy="228600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291840" y="38130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26480" y="1508760"/>
            <a:ext cx="2286000" cy="228600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6126480" y="1508760"/>
            <a:ext cx="2286000" cy="228600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126480" y="38130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Cameraman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961120" y="1508760"/>
            <a:ext cx="2286000" cy="228600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8961120" y="1508760"/>
            <a:ext cx="2286000" cy="228600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961120" y="38130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Peppers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" y="3886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457200" y="4251960"/>
            <a:ext cx="2286000" cy="228600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" y="4251960"/>
            <a:ext cx="2286000" cy="228600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" y="65562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3291840" y="4251960"/>
            <a:ext cx="2286000" cy="228600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3291840" y="4251960"/>
            <a:ext cx="2286000" cy="228600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291840" y="65562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Peppers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126480" y="4251960"/>
            <a:ext cx="2286000" cy="228600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6126480" y="4251960"/>
            <a:ext cx="2286000" cy="228600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126480" y="65562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F16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8961120" y="4251960"/>
            <a:ext cx="2286000" cy="228600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8961120" y="4251960"/>
            <a:ext cx="2286000" cy="228600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961120" y="65562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Hill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Reconstruction Results: Grayscale Images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417320"/>
            <a:ext cx="10972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11480" y="3840480"/>
            <a:ext cx="10972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60020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60020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160020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60020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160020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50876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= ___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29.67 dB   SSIM 0.8190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06908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06908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406908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06908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406908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97764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= ___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29.11 dB   SSIM 0.8394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3796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Cameraman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53796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653796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53796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653796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4652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= ___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29.75 dB   SSIM 0.8855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00684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Peppers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900684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900684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900684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900684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91540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= ___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29.41 dB   SSIM 0.7624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Reconstruction Results: Color Images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417320"/>
            <a:ext cx="10972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11480" y="3840480"/>
            <a:ext cx="10972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60020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60020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160020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60020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160020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50876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= ___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28.91 dB   SSIM 0.7594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06908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Peppers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06908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406908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06908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406908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97764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= ___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28.35 dB   SSIM 0.6964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3796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F16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53796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653796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53796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653796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4652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= ___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29.47 dB   SSIM 0.8539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00684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Hill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900684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900684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900684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900684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91540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= ___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28.45 dB   SSIM 0.7520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Compression Results (4 × 4 blocks, K = 64)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188720"/>
          <a:ext cx="10515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97280"/>
                <a:gridCol w="1371600"/>
                <a:gridCol w="1371600"/>
                <a:gridCol w="1371600"/>
                <a:gridCol w="1554480"/>
                <a:gridCol w="1371600"/>
              </a:tblGrid>
              <a:tr h="3931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BPP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PSNR (dB)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SSIM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70.13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29.67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0.8190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Boat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79.88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0.8394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Cameraman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68.84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29.75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0.8855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Peppers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74.47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(gray)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73.33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0.8266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83.60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0.7594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Peppers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28.35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0.6964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73.41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0.8539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Gold Hill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92.97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28.45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0.7520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(color)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28.80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0.7654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images: MSE and PSNR are computed over the RGB channels; SSIM is the mean of the channel-wise values. CR = original size / (codebook + Huffman table + Huffman-coded data).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Speedup and Efficiency of LBG Training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498080" cy="5029200"/>
          </a:xfrm>
          <a:prstGeom prst="roundRect">
            <a:avLst>
              <a:gd name="adj" fmla="val 1455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7" name="Image 0" descr="assets/speedup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67016"/>
            <a:ext cx="7498080" cy="4564049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speedup reaches 9.19× on 14 processes (efficiency ≈ 66%).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Near-linear for P ≤ 6, where only P-cores are used.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slope drops once the slower E-cores join.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Karp–Flatt ≈ 0.04 for P ≥ 8: the serial fraction of LBG stays small.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time: 5.00× (gray) and 6.84× (color), because coding and reconstruction remain sequential.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Equal vs Adaptive Workload Distribution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498080" cy="5029200"/>
          </a:xfrm>
          <a:prstGeom prst="roundRect">
            <a:avLst>
              <a:gd name="adj" fmla="val 1455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7" name="Image 0" descr="assets/eqad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67016"/>
            <a:ext cx="7498080" cy="4564049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Equal distribution, the faster P-cores finish early and wait for the E-cores: 7.61× at P = 14.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distribution reaches 9.19× at P = 14.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time is reduced by 28.3%, 23.6%, 19.8% and 17.2% at P = 8, 10, 12 and 14.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time is reduced by 17.9% to 8.8%.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P ≤ 6 (P-cores only) the two strategies are equivalent.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reconstructed images are identical in both cases.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Throughput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498080" cy="5029200"/>
          </a:xfrm>
          <a:prstGeom prst="roundRect">
            <a:avLst>
              <a:gd name="adj" fmla="val 1455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7" name="Image 0" descr="assets/throughput_ch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69906"/>
            <a:ext cx="7498080" cy="495826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 = original image size / total execution time (MiB/s).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Grayscale: 1.30 → 3.35 MiB/s from P = 2 to P = 14.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Color: 1.42 → 4.54 MiB/s.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images hold three times more data, but their total time grows by only about 2.2× at P = 14, so their throughput is higher.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Shaded bands: minimum to maximum over the images.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Karp–Flatt Metric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722376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554480"/>
                <a:gridCol w="1645920"/>
                <a:gridCol w="1645920"/>
                <a:gridCol w="155448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LBG: Karp–Flatt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LBG: efficiency (%)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Total: Karp–Flatt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Total: efficiency (%)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5577840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of all 8 images.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909560" y="1280160"/>
            <a:ext cx="3840480" cy="4572000"/>
          </a:xfrm>
          <a:prstGeom prst="roundRect">
            <a:avLst>
              <a:gd name="adj" fmla="val 1905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01000" y="1371600"/>
            <a:ext cx="3657600" cy="43891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Karp–Flatt estimates the serial fraction of the program from the measured speedup.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LBG: about 0.04 for P ≥ 8; the serial fraction stays small and does not grow with P.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about 0.105 (gray ≈ 0.14, color ≈ 0.08); the sequential coding and reconstruction stages dominate.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explains why the total speedup (5.00× gray, 6.84× color) is lower than the LBG speedup (9.19×).</a:t>
            </a:r>
            <a:endParaRPr lang="en-US" sz="1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103120" cy="502920"/>
          </a:xfrm>
          <a:prstGeom prst="roundRect">
            <a:avLst>
              <a:gd name="adj" fmla="val 18182"/>
            </a:avLst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743200" y="274320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280160"/>
            <a:ext cx="10927080" cy="5029200"/>
          </a:xfrm>
          <a:prstGeom prst="roundRect">
            <a:avLst>
              <a:gd name="adj" fmla="val 1455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371600"/>
            <a:ext cx="1065276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hybrid image compression framework was implemented: LBG vector quantization, delta coding and Huffman coding.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training was parallelized with MPI: 9.19× speedup on 14 processes (efficiency ≈ 66%); total speedup 5.00× (gray) and 6.84× (color).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speed-aware (Adaptive) distribution reduced LBG time by 17.2–28.3% compared with Equal distribution (P = 8 to 14).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parallel results were identical to the sequential ones: same reconstructed images and quality metrics.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Quality: mean PSNR 29.49 dB and SSIM 0.8266 (gray); 28.80 dB and 0.7654 (color), at a compression ratio of ___ (gray) and ___ (color).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total speedup is limited by the sequential coding and reconstruction stages.</a:t>
            </a:r>
            <a:endParaRPr lang="en-US" sz="1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103120" cy="502920"/>
          </a:xfrm>
          <a:prstGeom prst="roundRect">
            <a:avLst>
              <a:gd name="adj" fmla="val 18182"/>
            </a:avLst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743200" y="274320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Work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280160"/>
            <a:ext cx="10927080" cy="5029200"/>
          </a:xfrm>
          <a:prstGeom prst="roundRect">
            <a:avLst>
              <a:gd name="adj" fmla="val 1455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371600"/>
            <a:ext cx="1065276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1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Parallelize the delta coding, Huffman coding and reconstruction stages.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1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other block sizes, codebook sizes and larger images.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1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an efficiency measure that accounts for the different speeds of P-cores and E-cores.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1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a complete container file format with a stored Huffman header and a stand-alone decoder.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1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the study to other hybrid CPUs and to hybrid MPI + OpenMP implementations.</a:t>
            </a:r>
            <a:endParaRPr lang="en-US" sz="2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103120" cy="502920"/>
          </a:xfrm>
          <a:prstGeom prst="roundRect">
            <a:avLst>
              <a:gd name="adj" fmla="val 18182"/>
            </a:avLst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743200" y="274320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280160"/>
            <a:ext cx="10927080" cy="5029200"/>
          </a:xfrm>
          <a:prstGeom prst="roundRect">
            <a:avLst>
              <a:gd name="adj" fmla="val 1455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371600"/>
            <a:ext cx="1065276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Linde, Buzo and Gray (1980): the LBG algorithm.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Thomas et al. (2025);  Ranjan and Kumar (2023);  Bilal et al. (2024);  Paul et al. (2024).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Tanović et al. (2024);  Papakyriakou et al. (2025);  Bystrov et al. (2023);  Zangana (2025).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(Replace this slide with the full reference list from the thesis, in the same numbering.)</a:t>
            </a:r>
            <a:endParaRPr lang="en-US" sz="1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2026-10-15T21:28:40Z</dcterms:created>
  <dcterms:modified xsi:type="dcterms:W3CDTF">2026-10-15T21:28:40Z</dcterms:modified>
</cp:coreProperties>
</file>