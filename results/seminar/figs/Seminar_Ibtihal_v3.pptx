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6" name="Text 4"/>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7" name="Shape 5"/>
          <p:cNvSpPr/>
          <p:nvPr/>
        </p:nvSpPr>
        <p:spPr>
          <a:xfrm>
            <a:off x="4828032" y="772668"/>
            <a:ext cx="219456" cy="237744"/>
          </a:xfrm>
          <a:prstGeom prst="rightArrow">
            <a:avLst/>
          </a:prstGeom>
          <a:solidFill>
            <a:srgbClr val="1F1A33"/>
          </a:solidFill>
          <a:ln w="12700">
            <a:solidFill>
              <a:srgbClr val="1F1A33"/>
            </a:solidFill>
            <a:prstDash val="solid"/>
          </a:ln>
        </p:spPr>
      </p:sp>
      <p:sp>
        <p:nvSpPr>
          <p:cNvPr id="8" name="Shape 6"/>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9" name="Text 7"/>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0" name="Shape 8"/>
          <p:cNvSpPr/>
          <p:nvPr/>
        </p:nvSpPr>
        <p:spPr>
          <a:xfrm>
            <a:off x="7114032" y="772668"/>
            <a:ext cx="219456" cy="237744"/>
          </a:xfrm>
          <a:prstGeom prst="rightArrow">
            <a:avLst/>
          </a:prstGeom>
          <a:solidFill>
            <a:srgbClr val="1F1A33"/>
          </a:solidFill>
          <a:ln w="12700">
            <a:solidFill>
              <a:srgbClr val="1F1A33"/>
            </a:solidFill>
            <a:prstDash val="solid"/>
          </a:ln>
        </p:spPr>
      </p:sp>
      <p:sp>
        <p:nvSpPr>
          <p:cNvPr id="11" name="Shape 9"/>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2" name="Text 10"/>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3" name="Text 11"/>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4" name="Shape 12"/>
          <p:cNvSpPr/>
          <p:nvPr/>
        </p:nvSpPr>
        <p:spPr>
          <a:xfrm>
            <a:off x="5989320" y="1609344"/>
            <a:ext cx="237744" cy="192024"/>
          </a:xfrm>
          <a:prstGeom prst="downArrow">
            <a:avLst/>
          </a:prstGeom>
          <a:solidFill>
            <a:srgbClr val="1F1A33"/>
          </a:solidFill>
          <a:ln w="12700">
            <a:solidFill>
              <a:srgbClr val="1F1A33"/>
            </a:solidFill>
            <a:prstDash val="solid"/>
          </a:ln>
        </p:spPr>
      </p:sp>
      <p:sp>
        <p:nvSpPr>
          <p:cNvPr id="15" name="Shape 13"/>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6" name="Shape 14"/>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7" name="Text 15"/>
          <p:cNvSpPr/>
          <p:nvPr/>
        </p:nvSpPr>
        <p:spPr>
          <a:xfrm>
            <a:off x="365760" y="1856232"/>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18" name="Shape 16"/>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19" name="Text 17"/>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0" name="Shape 18"/>
          <p:cNvSpPr/>
          <p:nvPr/>
        </p:nvSpPr>
        <p:spPr>
          <a:xfrm>
            <a:off x="4828032" y="2400300"/>
            <a:ext cx="219456" cy="237744"/>
          </a:xfrm>
          <a:prstGeom prst="rightArrow">
            <a:avLst/>
          </a:prstGeom>
          <a:solidFill>
            <a:srgbClr val="1F1A33"/>
          </a:solidFill>
          <a:ln w="12700">
            <a:solidFill>
              <a:srgbClr val="1F1A33"/>
            </a:solidFill>
            <a:prstDash val="solid"/>
          </a:ln>
        </p:spPr>
      </p:sp>
      <p:sp>
        <p:nvSpPr>
          <p:cNvPr id="21" name="Shape 19"/>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2" name="Text 20"/>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3" name="Shape 21"/>
          <p:cNvSpPr/>
          <p:nvPr/>
        </p:nvSpPr>
        <p:spPr>
          <a:xfrm>
            <a:off x="7114032" y="2400300"/>
            <a:ext cx="219456" cy="237744"/>
          </a:xfrm>
          <a:prstGeom prst="rightArrow">
            <a:avLst/>
          </a:prstGeom>
          <a:solidFill>
            <a:srgbClr val="1F1A33"/>
          </a:solidFill>
          <a:ln w="12700">
            <a:solidFill>
              <a:srgbClr val="1F1A33"/>
            </a:solidFill>
            <a:prstDash val="solid"/>
          </a:ln>
        </p:spPr>
      </p:sp>
      <p:sp>
        <p:nvSpPr>
          <p:cNvPr id="24" name="Shape 22"/>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5" name="Text 23"/>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26" name="Shape 24"/>
          <p:cNvSpPr/>
          <p:nvPr/>
        </p:nvSpPr>
        <p:spPr>
          <a:xfrm>
            <a:off x="9400032" y="2400300"/>
            <a:ext cx="219456" cy="237744"/>
          </a:xfrm>
          <a:prstGeom prst="rightArrow">
            <a:avLst/>
          </a:prstGeom>
          <a:solidFill>
            <a:srgbClr val="1F1A33"/>
          </a:solidFill>
          <a:ln w="12700">
            <a:solidFill>
              <a:srgbClr val="1F1A33"/>
            </a:solidFill>
            <a:prstDash val="solid"/>
          </a:ln>
        </p:spPr>
      </p:sp>
      <p:sp>
        <p:nvSpPr>
          <p:cNvPr id="27" name="Shape 25"/>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28" name="Text 26"/>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29" name="Text 27"/>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0" name="Shape 28"/>
          <p:cNvSpPr/>
          <p:nvPr/>
        </p:nvSpPr>
        <p:spPr>
          <a:xfrm>
            <a:off x="5989320" y="3236976"/>
            <a:ext cx="237744" cy="192024"/>
          </a:xfrm>
          <a:prstGeom prst="downArrow">
            <a:avLst/>
          </a:prstGeom>
          <a:solidFill>
            <a:srgbClr val="1F1A33"/>
          </a:solidFill>
          <a:ln w="12700">
            <a:solidFill>
              <a:srgbClr val="1F1A33"/>
            </a:solidFill>
            <a:prstDash val="solid"/>
          </a:ln>
        </p:spPr>
      </p:sp>
      <p:sp>
        <p:nvSpPr>
          <p:cNvPr id="31" name="Shape 29"/>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2" name="Shape 30"/>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3" name="Text 31"/>
          <p:cNvSpPr/>
          <p:nvPr/>
        </p:nvSpPr>
        <p:spPr>
          <a:xfrm>
            <a:off x="365760" y="3483864"/>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 (Rank 0)</a:t>
            </a:r>
            <a:endParaRPr lang="en-US" sz="2200" dirty="0"/>
          </a:p>
        </p:txBody>
      </p:sp>
      <p:sp>
        <p:nvSpPr>
          <p:cNvPr id="34" name="Shape 32"/>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35" name="Text 33"/>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36" name="Shape 34"/>
          <p:cNvSpPr/>
          <p:nvPr/>
        </p:nvSpPr>
        <p:spPr>
          <a:xfrm>
            <a:off x="4828032" y="4027932"/>
            <a:ext cx="219456" cy="237744"/>
          </a:xfrm>
          <a:prstGeom prst="rightArrow">
            <a:avLst/>
          </a:prstGeom>
          <a:solidFill>
            <a:srgbClr val="1F1A33"/>
          </a:solidFill>
          <a:ln w="12700">
            <a:solidFill>
              <a:srgbClr val="1F1A33"/>
            </a:solidFill>
            <a:prstDash val="solid"/>
          </a:ln>
        </p:spPr>
      </p:sp>
      <p:sp>
        <p:nvSpPr>
          <p:cNvPr id="37" name="Shape 35"/>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38" name="Text 36"/>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39" name="Shape 37"/>
          <p:cNvSpPr/>
          <p:nvPr/>
        </p:nvSpPr>
        <p:spPr>
          <a:xfrm>
            <a:off x="7114032" y="4027932"/>
            <a:ext cx="219456" cy="237744"/>
          </a:xfrm>
          <a:prstGeom prst="rightArrow">
            <a:avLst/>
          </a:prstGeom>
          <a:solidFill>
            <a:srgbClr val="1F1A33"/>
          </a:solidFill>
          <a:ln w="12700">
            <a:solidFill>
              <a:srgbClr val="1F1A33"/>
            </a:solidFill>
            <a:prstDash val="solid"/>
          </a:ln>
        </p:spPr>
      </p:sp>
      <p:sp>
        <p:nvSpPr>
          <p:cNvPr id="40" name="Shape 38"/>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2" name="Text 40"/>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3" name="Shape 41"/>
          <p:cNvSpPr/>
          <p:nvPr/>
        </p:nvSpPr>
        <p:spPr>
          <a:xfrm>
            <a:off x="5989320" y="4864608"/>
            <a:ext cx="237744" cy="192024"/>
          </a:xfrm>
          <a:prstGeom prst="downArrow">
            <a:avLst/>
          </a:prstGeom>
          <a:solidFill>
            <a:srgbClr val="1F1A33"/>
          </a:solidFill>
          <a:ln w="12700">
            <a:solidFill>
              <a:srgbClr val="1F1A33"/>
            </a:solidFill>
            <a:prstDash val="solid"/>
          </a:ln>
        </p:spPr>
      </p:sp>
      <p:sp>
        <p:nvSpPr>
          <p:cNvPr id="44" name="Shape 42"/>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45" name="Shape 43"/>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46" name="Text 44"/>
          <p:cNvSpPr/>
          <p:nvPr/>
        </p:nvSpPr>
        <p:spPr>
          <a:xfrm>
            <a:off x="365760" y="5111496"/>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47" name="Shape 45"/>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48" name="Text 46"/>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p:txBody>
      </p:sp>
      <p:sp>
        <p:nvSpPr>
          <p:cNvPr id="49" name="Shape 47"/>
          <p:cNvSpPr/>
          <p:nvPr/>
        </p:nvSpPr>
        <p:spPr>
          <a:xfrm>
            <a:off x="4828032" y="5655564"/>
            <a:ext cx="219456" cy="237744"/>
          </a:xfrm>
          <a:prstGeom prst="rightArrow">
            <a:avLst/>
          </a:prstGeom>
          <a:solidFill>
            <a:srgbClr val="1F1A33"/>
          </a:solidFill>
          <a:ln w="12700">
            <a:solidFill>
              <a:srgbClr val="1F1A33"/>
            </a:solidFill>
            <a:prstDash val="solid"/>
          </a:ln>
        </p:spPr>
      </p:sp>
      <p:sp>
        <p:nvSpPr>
          <p:cNvPr id="50" name="Shape 48"/>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1" name="Text 49"/>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52" name="Shape 50"/>
          <p:cNvSpPr/>
          <p:nvPr/>
        </p:nvSpPr>
        <p:spPr>
          <a:xfrm>
            <a:off x="7114032" y="5655564"/>
            <a:ext cx="219456" cy="237744"/>
          </a:xfrm>
          <a:prstGeom prst="rightArrow">
            <a:avLst/>
          </a:prstGeom>
          <a:solidFill>
            <a:srgbClr val="1F1A33"/>
          </a:solidFill>
          <a:ln w="12700">
            <a:solidFill>
              <a:srgbClr val="1F1A33"/>
            </a:solidFill>
            <a:prstDash val="solid"/>
          </a:ln>
        </p:spPr>
      </p:sp>
      <p:sp>
        <p:nvSpPr>
          <p:cNvPr id="53" name="Shape 51"/>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54" name="Text 52"/>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55" name="Shape 53"/>
          <p:cNvSpPr/>
          <p:nvPr/>
        </p:nvSpPr>
        <p:spPr>
          <a:xfrm>
            <a:off x="9400032" y="5655564"/>
            <a:ext cx="219456" cy="237744"/>
          </a:xfrm>
          <a:prstGeom prst="rightArrow">
            <a:avLst/>
          </a:prstGeom>
          <a:solidFill>
            <a:srgbClr val="1F1A33"/>
          </a:solidFill>
          <a:ln w="12700">
            <a:solidFill>
              <a:srgbClr val="1F1A33"/>
            </a:solidFill>
            <a:prstDash val="solid"/>
          </a:ln>
        </p:spPr>
      </p:sp>
      <p:sp>
        <p:nvSpPr>
          <p:cNvPr id="56" name="Shape 54"/>
          <p:cNvSpPr/>
          <p:nvPr/>
        </p:nvSpPr>
        <p:spPr>
          <a:xfrm>
            <a:off x="9646920" y="5202936"/>
            <a:ext cx="2011680" cy="1143000"/>
          </a:xfrm>
          <a:prstGeom prst="roundRect">
            <a:avLst>
              <a:gd name="adj" fmla="val 6400"/>
            </a:avLst>
          </a:prstGeom>
          <a:solidFill>
            <a:srgbClr val="FFFFFF"/>
          </a:solidFill>
          <a:ln w="19050">
            <a:solidFill>
              <a:srgbClr val="6B4FA3"/>
            </a:solidFill>
            <a:prstDash val="solid"/>
          </a:ln>
        </p:spPr>
      </p:sp>
      <p:sp>
        <p:nvSpPr>
          <p:cNvPr id="57" name="Text 55"/>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PSNR; parallel SSIM</a:t>
            </a:r>
            <a:endParaRPr lang="en-US" sz="1600" dirty="0"/>
          </a:p>
        </p:txBody>
      </p:sp>
      <p:sp>
        <p:nvSpPr>
          <p:cNvPr id="58" name="Text 56"/>
          <p:cNvSpPr/>
          <p:nvPr/>
        </p:nvSpPr>
        <p:spPr>
          <a:xfrm>
            <a:off x="365760" y="6492240"/>
            <a:ext cx="1143000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Parallel: LBG training and SSIM   |   Rank 0: index coding, decoding, reconstruction, and remaining metrics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10⁻⁴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1430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508760"/>
            <a:ext cx="2286000" cy="2286000"/>
          </a:xfrm>
          <a:prstGeom prst="rect">
            <a:avLst/>
          </a:prstGeom>
          <a:solidFill>
            <a:srgbClr val="F5F1FB"/>
          </a:solidFill>
          <a:ln w="19050">
            <a:solidFill>
              <a:srgbClr val="6B4FA3"/>
            </a:solidFill>
            <a:prstDash val="dash"/>
          </a:ln>
        </p:spPr>
      </p:sp>
      <p:sp>
        <p:nvSpPr>
          <p:cNvPr id="8" name="Text 6"/>
          <p:cNvSpPr/>
          <p:nvPr/>
        </p:nvSpPr>
        <p:spPr>
          <a:xfrm>
            <a:off x="45720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508760"/>
            <a:ext cx="2286000" cy="2286000"/>
          </a:xfrm>
          <a:prstGeom prst="rect">
            <a:avLst/>
          </a:prstGeom>
          <a:solidFill>
            <a:srgbClr val="F5F1FB"/>
          </a:solidFill>
          <a:ln w="19050">
            <a:solidFill>
              <a:srgbClr val="6B4FA3"/>
            </a:solidFill>
            <a:prstDash val="dash"/>
          </a:ln>
        </p:spPr>
      </p:sp>
      <p:sp>
        <p:nvSpPr>
          <p:cNvPr id="11" name="Text 9"/>
          <p:cNvSpPr/>
          <p:nvPr/>
        </p:nvSpPr>
        <p:spPr>
          <a:xfrm>
            <a:off x="329184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508760"/>
            <a:ext cx="2286000" cy="2286000"/>
          </a:xfrm>
          <a:prstGeom prst="rect">
            <a:avLst/>
          </a:prstGeom>
          <a:solidFill>
            <a:srgbClr val="F5F1FB"/>
          </a:solidFill>
          <a:ln w="19050">
            <a:solidFill>
              <a:srgbClr val="6B4FA3"/>
            </a:solidFill>
            <a:prstDash val="dash"/>
          </a:ln>
        </p:spPr>
      </p:sp>
      <p:sp>
        <p:nvSpPr>
          <p:cNvPr id="14" name="Text 12"/>
          <p:cNvSpPr/>
          <p:nvPr/>
        </p:nvSpPr>
        <p:spPr>
          <a:xfrm>
            <a:off x="612648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508760"/>
            <a:ext cx="2286000" cy="2286000"/>
          </a:xfrm>
          <a:prstGeom prst="rect">
            <a:avLst/>
          </a:prstGeom>
          <a:solidFill>
            <a:srgbClr val="F5F1FB"/>
          </a:solidFill>
          <a:ln w="19050">
            <a:solidFill>
              <a:srgbClr val="6B4FA3"/>
            </a:solidFill>
            <a:prstDash val="dash"/>
          </a:ln>
        </p:spPr>
      </p:sp>
      <p:sp>
        <p:nvSpPr>
          <p:cNvPr id="17" name="Text 15"/>
          <p:cNvSpPr/>
          <p:nvPr/>
        </p:nvSpPr>
        <p:spPr>
          <a:xfrm>
            <a:off x="896112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51960"/>
            <a:ext cx="2286000" cy="2286000"/>
          </a:xfrm>
          <a:prstGeom prst="rect">
            <a:avLst/>
          </a:prstGeom>
          <a:solidFill>
            <a:srgbClr val="F5F1FB"/>
          </a:solidFill>
          <a:ln w="19050">
            <a:solidFill>
              <a:srgbClr val="6B4FA3"/>
            </a:solidFill>
            <a:prstDash val="dash"/>
          </a:ln>
        </p:spPr>
      </p:sp>
      <p:sp>
        <p:nvSpPr>
          <p:cNvPr id="21" name="Text 19"/>
          <p:cNvSpPr/>
          <p:nvPr/>
        </p:nvSpPr>
        <p:spPr>
          <a:xfrm>
            <a:off x="45720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51960"/>
            <a:ext cx="2286000" cy="2286000"/>
          </a:xfrm>
          <a:prstGeom prst="rect">
            <a:avLst/>
          </a:prstGeom>
          <a:solidFill>
            <a:srgbClr val="F5F1FB"/>
          </a:solidFill>
          <a:ln w="19050">
            <a:solidFill>
              <a:srgbClr val="6B4FA3"/>
            </a:solidFill>
            <a:prstDash val="dash"/>
          </a:ln>
        </p:spPr>
      </p:sp>
      <p:sp>
        <p:nvSpPr>
          <p:cNvPr id="24" name="Text 22"/>
          <p:cNvSpPr/>
          <p:nvPr/>
        </p:nvSpPr>
        <p:spPr>
          <a:xfrm>
            <a:off x="329184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51960"/>
            <a:ext cx="2286000" cy="2286000"/>
          </a:xfrm>
          <a:prstGeom prst="rect">
            <a:avLst/>
          </a:prstGeom>
          <a:solidFill>
            <a:srgbClr val="F5F1FB"/>
          </a:solidFill>
          <a:ln w="19050">
            <a:solidFill>
              <a:srgbClr val="6B4FA3"/>
            </a:solidFill>
            <a:prstDash val="dash"/>
          </a:ln>
        </p:spPr>
      </p:sp>
      <p:sp>
        <p:nvSpPr>
          <p:cNvPr id="27" name="Text 25"/>
          <p:cNvSpPr/>
          <p:nvPr/>
        </p:nvSpPr>
        <p:spPr>
          <a:xfrm>
            <a:off x="612648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51960"/>
            <a:ext cx="2286000" cy="2286000"/>
          </a:xfrm>
          <a:prstGeom prst="rect">
            <a:avLst/>
          </a:prstGeom>
          <a:solidFill>
            <a:srgbClr val="F5F1FB"/>
          </a:solidFill>
          <a:ln w="19050">
            <a:solidFill>
              <a:srgbClr val="6B4FA3"/>
            </a:solidFill>
            <a:prstDash val="dash"/>
          </a:ln>
        </p:spPr>
      </p:sp>
      <p:sp>
        <p:nvSpPr>
          <p:cNvPr id="30" name="Text 28"/>
          <p:cNvSpPr/>
          <p:nvPr/>
        </p:nvSpPr>
        <p:spPr>
          <a:xfrm>
            <a:off x="896112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Total time: 5.00× (gray) and 6.84× (color), because coding and reconstruction remain sequential.</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223760" cy="914400"/>
        </p:xfrm>
        <a:graphic>
          <a:graphicData uri="http://schemas.openxmlformats.org/drawingml/2006/table">
            <a:tbl>
              <a:tblPr/>
              <a:tblGrid>
                <a:gridCol w="822960"/>
                <a:gridCol w="1554480"/>
                <a:gridCol w="1645920"/>
                <a:gridCol w="1645920"/>
                <a:gridCol w="1554480"/>
              </a:tblGrid>
              <a:tr h="50292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96.8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0.018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94.8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80.5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0.022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70.4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78.8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56.5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73.6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50.6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68.6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45.9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65.7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223760" cy="2743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Mean of all 8 images.</a:t>
            </a:r>
            <a:endParaRPr lang="en-US" sz="1200" dirty="0"/>
          </a:p>
        </p:txBody>
      </p:sp>
      <p:sp>
        <p:nvSpPr>
          <p:cNvPr id="8" name="Shape 5"/>
          <p:cNvSpPr/>
          <p:nvPr/>
        </p:nvSpPr>
        <p:spPr>
          <a:xfrm>
            <a:off x="7909560" y="1280160"/>
            <a:ext cx="3840480" cy="4572000"/>
          </a:xfrm>
          <a:prstGeom prst="roundRect">
            <a:avLst>
              <a:gd name="adj" fmla="val 1905"/>
            </a:avLst>
          </a:prstGeom>
          <a:solidFill>
            <a:srgbClr val="F5F1FB"/>
          </a:solidFill>
          <a:ln w="12700">
            <a:solidFill>
              <a:srgbClr val="F5F1FB"/>
            </a:solidFill>
            <a:prstDash val="solid"/>
          </a:ln>
        </p:spPr>
      </p:sp>
      <p:sp>
        <p:nvSpPr>
          <p:cNvPr id="9" name="Text 6"/>
          <p:cNvSpPr/>
          <p:nvPr/>
        </p:nvSpPr>
        <p:spPr>
          <a:xfrm>
            <a:off x="8001000" y="1371600"/>
            <a:ext cx="3657600" cy="43891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Total: about 0.105 (gray ≈ 0.14, color ≈ 0.08); the sequential coding and reconstruction stages dominate.</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This explains why the total speedup (5.00× gray, 6.84× color) is lower than the LBG speedup (9.19×).</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2026-10-15T21:48:39Z</dcterms:created>
  <dcterms:modified xsi:type="dcterms:W3CDTF">2026-10-15T21:48:39Z</dcterms:modified>
</cp:coreProperties>
</file>