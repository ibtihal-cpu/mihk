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82880"/>
            <a:ext cx="11503152" cy="1417320"/>
          </a:xfrm>
          <a:prstGeom prst="roundRect">
            <a:avLst>
              <a:gd name="adj" fmla="val 6452"/>
            </a:avLst>
          </a:prstGeom>
          <a:solidFill>
            <a:srgbClr val="E3EEFA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2860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28600"/>
            <a:ext cx="22402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88920" y="3200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F6F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320040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Input image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512×512,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/ color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28032" y="772668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0" y="3200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F6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320040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4×4 blocks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non-overlapping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14032" y="772668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60920" y="32004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F6F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320040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Training vectors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16-D,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16,384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1591056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16,384 training vectors (16-D)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89320" y="1609344"/>
            <a:ext cx="237744" cy="192024"/>
          </a:xfrm>
          <a:prstGeom prst="down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810512"/>
            <a:ext cx="11503152" cy="1417320"/>
          </a:xfrm>
          <a:prstGeom prst="roundRect">
            <a:avLst>
              <a:gd name="adj" fmla="val 6452"/>
            </a:avLst>
          </a:prstGeom>
          <a:solidFill>
            <a:srgbClr val="FDEBD9"/>
          </a:solidFill>
          <a:ln w="31750">
            <a:solidFill>
              <a:srgbClr val="E07B2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65760" y="1856232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856232"/>
            <a:ext cx="22402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LBG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(MPI)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788920" y="1947672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E07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1947672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Distribute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MPI_Scatterv: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/ Adaptive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28032" y="2400300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1947672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E07B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1947672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Assign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codeword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rank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114032" y="2400300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1947672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E07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1947672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Combine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Allreduce: sums,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counts, distortion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00032" y="2400300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46920" y="1947672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E07B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6920" y="1947672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7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Refine and split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level,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K = 64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5080" y="321868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 C + index array L (gathered on Rank 0)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989320" y="3236976"/>
            <a:ext cx="237744" cy="192024"/>
          </a:xfrm>
          <a:prstGeom prst="down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438144"/>
            <a:ext cx="11503152" cy="1417320"/>
          </a:xfrm>
          <a:prstGeom prst="roundRect">
            <a:avLst>
              <a:gd name="adj" fmla="val 6452"/>
            </a:avLst>
          </a:prstGeom>
          <a:solidFill>
            <a:srgbClr val="DDF3F0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483864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83864"/>
            <a:ext cx="22402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Index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(Rank 0)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2788920" y="3575304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88920" y="3575304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Delta coding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of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 indices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28032" y="4027932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74920" y="3575304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74920" y="3575304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Huffman coding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variable-length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114032" y="4027932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60920" y="3575304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60920" y="3575304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Compressed data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 + Huffman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+ coded indices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55080" y="48463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data: codebook + Huffman table + coded indices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989320" y="4864608"/>
            <a:ext cx="237744" cy="192024"/>
          </a:xfrm>
          <a:prstGeom prst="down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" y="5065776"/>
            <a:ext cx="11503152" cy="1417320"/>
          </a:xfrm>
          <a:prstGeom prst="roundRect">
            <a:avLst>
              <a:gd name="adj" fmla="val 6452"/>
            </a:avLst>
          </a:prstGeom>
          <a:solidFill>
            <a:srgbClr val="ECE6F6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5111496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5111496"/>
            <a:ext cx="224028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and</a:t>
            </a:r>
            <a:endParaRPr lang="en-US" sz="22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2788920" y="5202936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88920" y="5202936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Huffman decoding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0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828032" y="5655564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74920" y="5202936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74920" y="5202936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Inverse delta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 indices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114032" y="5655564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60920" y="5202936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60920" y="5202936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Reconstruction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9400032" y="5655564"/>
            <a:ext cx="21945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46920" y="5202936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646920" y="5202936"/>
            <a:ext cx="201168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Metrics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CR, BPP, MSE,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PSNR; parallel SSIM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LBG training and SSIM   |   Rank 0: index coding, decoding, reconstruction, and remaining metrics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 Formation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F6FB5"/>
          </a:solidFill>
          <a:ln w="12700">
            <a:solidFill>
              <a:srgbClr val="2F6F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5875">
            <a:solidFill>
              <a:srgbClr val="2F6FB5"/>
            </a:solidFill>
            <a:prstDash val="solid"/>
          </a:ln>
        </p:spPr>
      </p:sp>
      <p:pic>
        <p:nvPicPr>
          <p:cNvPr id="7" name="Image 0" descr="assets/ch3_fig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29857"/>
            <a:ext cx="7132320" cy="31926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245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Block-based vector quantization (illustrative)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01000" y="1234440"/>
            <a:ext cx="3749040" cy="4983480"/>
          </a:xfrm>
          <a:prstGeom prst="roundRect">
            <a:avLst>
              <a:gd name="adj" fmla="val 19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92440" y="1325880"/>
            <a:ext cx="3566160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is divided into non-overlapping 4 × 4 blocks.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becomes a 16-dimensional vector.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512 × 512 image gives N = 16,384 training vectors.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images: the R, G and B channels are processed independently.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LBG Codebook Training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5875">
            <a:solidFill>
              <a:srgbClr val="E07B22"/>
            </a:solidFill>
            <a:prstDash val="solid"/>
          </a:ln>
        </p:spPr>
      </p:sp>
      <p:pic>
        <p:nvPicPr>
          <p:cNvPr id="7" name="Image 0" descr="assets/lbg_flow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477" y="1325880"/>
            <a:ext cx="6730646" cy="4800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1234440"/>
            <a:ext cx="3749040" cy="4983480"/>
          </a:xfrm>
          <a:prstGeom prst="roundRect">
            <a:avLst>
              <a:gd name="adj" fmla="val 19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325880"/>
            <a:ext cx="3566160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global mean as the first codeword.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splitting (δ = 0.01) doubles the codebook size.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 refinement: assign each vector to its nearest codeword, then update the centroids.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ΔD ≤ ε or 100 iterations; repeat until K = 64.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LBG Training (MPI)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11274552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5875">
            <a:solidFill>
              <a:srgbClr val="E07B22"/>
            </a:solidFill>
            <a:prstDash val="solid"/>
          </a:ln>
        </p:spPr>
      </p:sp>
      <p:pic>
        <p:nvPicPr>
          <p:cNvPr id="7" name="Image 0" descr="figs/parallel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179" y="1234440"/>
            <a:ext cx="9898594" cy="4023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5440680"/>
            <a:ext cx="5559552" cy="1234440"/>
          </a:xfrm>
          <a:prstGeom prst="roundRect">
            <a:avLst>
              <a:gd name="adj" fmla="val 5926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532120"/>
            <a:ext cx="5376672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SPMD: every rank runs the same program on its own chunk of vectors.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Nearest-codeword assignment is local: about 77% of the sequential time (gray).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5440680"/>
            <a:ext cx="5559552" cy="1234440"/>
          </a:xfrm>
          <a:prstGeom prst="roundRect">
            <a:avLst>
              <a:gd name="adj" fmla="val 5926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5532120"/>
            <a:ext cx="5376672" cy="10515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Allreduce combines sums, counts and distortion; every rank updates the same codebook.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4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Gatherv collects the final indices on Rank 0.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and Adaptive Workload Distribution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E07B22"/>
          </a:solidFill>
          <a:ln w="12700">
            <a:solidFill>
              <a:srgbClr val="E07B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5875">
            <a:solidFill>
              <a:srgbClr val="E07B22"/>
            </a:solidFill>
            <a:prstDash val="solid"/>
          </a:ln>
        </p:spPr>
      </p:sp>
      <p:pic>
        <p:nvPicPr>
          <p:cNvPr id="7" name="Image 0" descr="assets/ch3_fig3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18744"/>
            <a:ext cx="7132320" cy="4214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1234440"/>
            <a:ext cx="3749040" cy="4983480"/>
          </a:xfrm>
          <a:prstGeom prst="roundRect">
            <a:avLst>
              <a:gd name="adj" fmla="val 19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325880"/>
            <a:ext cx="3566160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(default, P ≤ 4): each rank gets N/P vectors (rounded down or up).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(P &gt; 4): speed measured by calibration (3 trials, the first is a warm-up).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q_r = N · s_r / Σ s_j: faster cores receive more vectors.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reduces LBG time by 17–28% compared with Equal (P = 8 to 14).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Delta Coding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7315200" cy="4983480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7" name="Image 0" descr="assets/ch3_fig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17794"/>
            <a:ext cx="7132320" cy="321677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01000" y="1234440"/>
            <a:ext cx="3749040" cy="4983480"/>
          </a:xfrm>
          <a:prstGeom prst="roundRect">
            <a:avLst>
              <a:gd name="adj" fmla="val 1951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92440" y="1325880"/>
            <a:ext cx="3566160" cy="4800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difference between successive VQ indices (offset 128).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Neighbouring blocks are correlated, so the differences cluster around the offset.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7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(Lena): entropy falls from 5.39 to 4.67 bits per symbol.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Huffman Coding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127455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</p:spPr>
      </p:sp>
      <p:pic>
        <p:nvPicPr>
          <p:cNvPr id="7" name="Image 0" descr="assets/ch3_fig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6490"/>
            <a:ext cx="11091672" cy="11818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3154680"/>
            <a:ext cx="11274552" cy="3063240"/>
          </a:xfrm>
          <a:prstGeom prst="roundRect">
            <a:avLst>
              <a:gd name="adj" fmla="val 2388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246120"/>
            <a:ext cx="11091672" cy="28803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symbols receive shorter codewords, rare symbols longer ones (lossless).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Huffman table (header) and the encoded bitstream.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size = codebook (K × 16 bytes) + Huffman table + Huffman-coded data.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9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table is accounted as 5 bytes per used symbol (1 byte symbol + 4 bytes frequency) plus 10 bytes of fixed metadata.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103120" y="27432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Decoding and Evaluation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6B4FA3"/>
          </a:solidFill>
          <a:ln w="12700">
            <a:solidFill>
              <a:srgbClr val="6B4F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CE6F6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Huffman decoding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53512" y="1481328"/>
            <a:ext cx="31089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2344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CE6F6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delta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88152" y="1481328"/>
            <a:ext cx="31089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2344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CE6F6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Codebook lookup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22792" y="1481328"/>
            <a:ext cx="310896" cy="237744"/>
          </a:xfrm>
          <a:prstGeom prst="rightArrow">
            <a:avLst/>
          </a:prstGeom>
          <a:solidFill>
            <a:srgbClr val="1F1A33"/>
          </a:solidFill>
          <a:ln w="12700">
            <a:solidFill>
              <a:srgbClr val="1F1A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0" y="1234440"/>
            <a:ext cx="2468880" cy="731520"/>
          </a:xfrm>
          <a:prstGeom prst="roundRect">
            <a:avLst>
              <a:gd name="adj" fmla="val 10000"/>
            </a:avLst>
          </a:prstGeom>
          <a:solidFill>
            <a:srgbClr val="ECE6F6"/>
          </a:solidFill>
          <a:ln w="19050">
            <a:solidFill>
              <a:srgbClr val="6B4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0" y="1234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image</a:t>
            </a:r>
            <a:endParaRPr lang="en-US" sz="1600" dirty="0"/>
          </a:p>
        </p:txBody>
      </p:sp>
      <p:pic>
        <p:nvPicPr>
          <p:cNvPr id="17" name="Image 0" descr="assets/cam_or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31720"/>
            <a:ext cx="2926080" cy="2926080"/>
          </a:xfrm>
          <a:prstGeom prst="rect">
            <a:avLst/>
          </a:prstGeom>
        </p:spPr>
      </p:pic>
      <p:pic>
        <p:nvPicPr>
          <p:cNvPr id="18" name="Image 1" descr="assets/cam_re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33172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" y="5285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611880" y="5285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57200" y="562356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Cameraman: PSNR 29.75 dB, SSIM 0.8855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858000" y="2331720"/>
            <a:ext cx="4892040" cy="3886200"/>
          </a:xfrm>
          <a:prstGeom prst="roundRect">
            <a:avLst>
              <a:gd name="adj" fmla="val 1882"/>
            </a:avLst>
          </a:prstGeom>
          <a:solidFill>
            <a:srgbClr val="F5F1FB"/>
          </a:solidFill>
          <a:ln w="12700">
            <a:solidFill>
              <a:srgbClr val="F5F1F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949440" y="2423160"/>
            <a:ext cx="4709160" cy="3703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and reconstruction run on Rank 0.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MSE, PSNR and SSIM (SSIM is computed in parallel); size: CR and BPP.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performance: time, speedup, efficiency, throughput, Karp–Flatt.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the reconstructed image (MD5) and the metrics are identical for the sequential run, P = 4, and P = 14 (Adaptive and Equal).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2026-10-15T17:46:28Z</dcterms:created>
  <dcterms:modified xsi:type="dcterms:W3CDTF">2026-10-15T17:46:28Z</dcterms:modified>
</cp:coreProperties>
</file>