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Lst>
  <p:notesMasterIdLst>
    <p:notesMasterId r:id="rId3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notesMaster" Target="notesMasters/notesMaster1.xml"/><Relationship Id="rId35" Type="http://schemas.openxmlformats.org/officeDocument/2006/relationships/presProps" Target="presProps.xml"/><Relationship Id="rId36" Type="http://schemas.openxmlformats.org/officeDocument/2006/relationships/viewProps" Target="viewProps.xml"/><Relationship Id="rId37" Type="http://schemas.openxmlformats.org/officeDocument/2006/relationships/theme" Target="theme/theme1.xml"/><Relationship Id="rId3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E2055"/>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2E2055"/>
          </a:solidFill>
          <a:ln w="12700">
            <a:solidFill>
              <a:srgbClr val="2E2055"/>
            </a:solidFill>
            <a:prstDash val="solid"/>
          </a:ln>
        </p:spPr>
      </p:sp>
      <p:sp>
        <p:nvSpPr>
          <p:cNvPr id="3" name="Shape 1"/>
          <p:cNvSpPr/>
          <p:nvPr/>
        </p:nvSpPr>
        <p:spPr>
          <a:xfrm>
            <a:off x="0" y="0"/>
            <a:ext cx="320040" cy="6858000"/>
          </a:xfrm>
          <a:prstGeom prst="rect">
            <a:avLst/>
          </a:prstGeom>
          <a:solidFill>
            <a:srgbClr val="E0457B"/>
          </a:solidFill>
          <a:ln w="12700">
            <a:solidFill>
              <a:srgbClr val="E0457B"/>
            </a:solidFill>
            <a:prstDash val="solid"/>
          </a:ln>
        </p:spPr>
      </p:sp>
      <p:sp>
        <p:nvSpPr>
          <p:cNvPr id="4" name="Text 2"/>
          <p:cNvSpPr/>
          <p:nvPr/>
        </p:nvSpPr>
        <p:spPr>
          <a:xfrm>
            <a:off x="822960" y="640080"/>
            <a:ext cx="10515600" cy="457200"/>
          </a:xfrm>
          <a:prstGeom prst="rect">
            <a:avLst/>
          </a:prstGeom>
          <a:noFill/>
          <a:ln/>
        </p:spPr>
        <p:txBody>
          <a:bodyPr wrap="square" lIns="0" tIns="0" rIns="0" bIns="0" rtlCol="0" anchor="ctr"/>
          <a:lstStyle/>
          <a:p>
            <a:pPr indent="0" marL="0">
              <a:buNone/>
            </a:pPr>
            <a:r>
              <a:rPr lang="en-US" sz="1800" b="1" dirty="0">
                <a:solidFill>
                  <a:srgbClr val="C9BDE8"/>
                </a:solidFill>
                <a:latin typeface="Calibri" pitchFamily="34" charset="0"/>
                <a:ea typeface="Calibri" pitchFamily="34" charset="-122"/>
                <a:cs typeface="Calibri" pitchFamily="34" charset="-120"/>
              </a:rPr>
              <a:t>MSc SEMINAR  |  University of Babylon</a:t>
            </a:r>
            <a:endParaRPr lang="en-US" sz="1800" dirty="0"/>
          </a:p>
        </p:txBody>
      </p:sp>
      <p:sp>
        <p:nvSpPr>
          <p:cNvPr id="5" name="Text 3"/>
          <p:cNvSpPr/>
          <p:nvPr/>
        </p:nvSpPr>
        <p:spPr>
          <a:xfrm>
            <a:off x="822960" y="1463040"/>
            <a:ext cx="10515600" cy="17373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Parallel Image Compression Using High-Performance Computing Strategies</a:t>
            </a:r>
            <a:endParaRPr lang="en-US" sz="4000" dirty="0"/>
          </a:p>
        </p:txBody>
      </p:sp>
      <p:sp>
        <p:nvSpPr>
          <p:cNvPr id="6" name="Text 4"/>
          <p:cNvSpPr/>
          <p:nvPr/>
        </p:nvSpPr>
        <p:spPr>
          <a:xfrm>
            <a:off x="822960" y="3383280"/>
            <a:ext cx="10515600" cy="822960"/>
          </a:xfrm>
          <a:prstGeom prst="rect">
            <a:avLst/>
          </a:prstGeom>
          <a:noFill/>
          <a:ln/>
        </p:spPr>
        <p:txBody>
          <a:bodyPr wrap="square" lIns="0" tIns="0" rIns="0" bIns="0" rtlCol="0" anchor="ctr"/>
          <a:lstStyle/>
          <a:p>
            <a:pPr indent="0" marL="0">
              <a:buNone/>
            </a:pPr>
            <a:r>
              <a:rPr lang="en-US" sz="2000" dirty="0">
                <a:solidFill>
                  <a:srgbClr val="E8DFF7"/>
                </a:solidFill>
                <a:latin typeface="Calibri" pitchFamily="34" charset="0"/>
                <a:ea typeface="Calibri" pitchFamily="34" charset="-122"/>
                <a:cs typeface="Calibri" pitchFamily="34" charset="-120"/>
              </a:rPr>
              <a:t>LBG vector quantization, delta coding and Huffman coding with speed-aware MPI on a hybrid P/E-core CPU</a:t>
            </a:r>
            <a:endParaRPr lang="en-US" sz="2000" dirty="0"/>
          </a:p>
        </p:txBody>
      </p:sp>
      <p:sp>
        <p:nvSpPr>
          <p:cNvPr id="7" name="Text 5"/>
          <p:cNvSpPr/>
          <p:nvPr/>
        </p:nvSpPr>
        <p:spPr>
          <a:xfrm>
            <a:off x="822960" y="4846320"/>
            <a:ext cx="10515600" cy="1097280"/>
          </a:xfrm>
          <a:prstGeom prst="rect">
            <a:avLst/>
          </a:prstGeom>
          <a:noFill/>
          <a:ln/>
        </p:spPr>
        <p:txBody>
          <a:bodyPr wrap="square" lIns="0" tIns="0" rIns="0" bIns="0" rtlCol="0" anchor="ctr"/>
          <a:lstStyle/>
          <a:p>
            <a:pPr indent="0" marL="0">
              <a:spcAft>
                <a:spcPts val="800"/>
              </a:spcAft>
              <a:buNone/>
            </a:pPr>
            <a:r>
              <a:rPr lang="en-US" sz="2000" dirty="0">
                <a:solidFill>
                  <a:srgbClr val="C9BDE8"/>
                </a:solidFill>
                <a:latin typeface="Calibri" pitchFamily="34" charset="0"/>
                <a:ea typeface="Calibri" pitchFamily="34" charset="-122"/>
                <a:cs typeface="Calibri" pitchFamily="34" charset="-120"/>
              </a:rPr>
              <a:t>Presented by  </a:t>
            </a:r>
            <a:pPr indent="0" marL="0">
              <a:spcAft>
                <a:spcPts val="800"/>
              </a:spcAft>
              <a:buNone/>
            </a:pPr>
            <a:r>
              <a:rPr lang="en-US" sz="2000" b="1" dirty="0">
                <a:solidFill>
                  <a:srgbClr val="FFFFFF"/>
                </a:solidFill>
                <a:latin typeface="Calibri" pitchFamily="34" charset="0"/>
                <a:ea typeface="Calibri" pitchFamily="34" charset="-122"/>
                <a:cs typeface="Calibri" pitchFamily="34" charset="-120"/>
              </a:rPr>
              <a:t>MSc. Student Ibtihal Hussien</a:t>
            </a:r>
            <a:endParaRPr lang="en-US" sz="2000" dirty="0"/>
          </a:p>
          <a:p>
            <a:pPr indent="0" marL="0">
              <a:spcAft>
                <a:spcPts val="800"/>
              </a:spcAft>
              <a:buNone/>
            </a:pPr>
            <a:r>
              <a:rPr lang="en-US" sz="2000" dirty="0">
                <a:solidFill>
                  <a:srgbClr val="C9BDE8"/>
                </a:solidFill>
                <a:latin typeface="Calibri" pitchFamily="34" charset="0"/>
                <a:ea typeface="Calibri" pitchFamily="34" charset="-122"/>
                <a:cs typeface="Calibri" pitchFamily="34" charset="-120"/>
              </a:rPr>
              <a:t>Supervised by  </a:t>
            </a:r>
            <a:pPr indent="0" marL="0">
              <a:spcAft>
                <a:spcPts val="800"/>
              </a:spcAft>
              <a:buNone/>
            </a:pPr>
            <a:r>
              <a:rPr lang="en-US" sz="2000" b="1" dirty="0">
                <a:solidFill>
                  <a:srgbClr val="FFFFFF"/>
                </a:solidFill>
                <a:latin typeface="Calibri" pitchFamily="34" charset="0"/>
                <a:ea typeface="Calibri" pitchFamily="34" charset="-122"/>
                <a:cs typeface="Calibri" pitchFamily="34" charset="-120"/>
              </a:rPr>
              <a:t>Dr. Ahmed Badri  ·  Dr. Esraa Hadi</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Outline</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Outline</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640080" y="1325880"/>
            <a:ext cx="5303520" cy="1005840"/>
          </a:xfrm>
          <a:prstGeom prst="roundRect">
            <a:avLst>
              <a:gd name="adj" fmla="val 9091"/>
            </a:avLst>
          </a:prstGeom>
          <a:solidFill>
            <a:srgbClr val="F5F1FB"/>
          </a:solidFill>
          <a:ln w="19050">
            <a:solidFill>
              <a:srgbClr val="6B4FA3"/>
            </a:solidFill>
            <a:prstDash val="solid"/>
          </a:ln>
        </p:spPr>
      </p:sp>
      <p:sp>
        <p:nvSpPr>
          <p:cNvPr id="7" name="Shape 5"/>
          <p:cNvSpPr/>
          <p:nvPr/>
        </p:nvSpPr>
        <p:spPr>
          <a:xfrm>
            <a:off x="822960" y="1508760"/>
            <a:ext cx="640080" cy="640080"/>
          </a:xfrm>
          <a:prstGeom prst="ellipse">
            <a:avLst/>
          </a:prstGeom>
          <a:solidFill>
            <a:srgbClr val="6B4FA3"/>
          </a:solidFill>
          <a:ln w="12700">
            <a:solidFill>
              <a:srgbClr val="6B4FA3"/>
            </a:solidFill>
            <a:prstDash val="solid"/>
          </a:ln>
        </p:spPr>
      </p:sp>
      <p:sp>
        <p:nvSpPr>
          <p:cNvPr id="8" name="Text 6"/>
          <p:cNvSpPr/>
          <p:nvPr/>
        </p:nvSpPr>
        <p:spPr>
          <a:xfrm>
            <a:off x="822960" y="15087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1</a:t>
            </a:r>
            <a:endParaRPr lang="en-US" sz="2200" dirty="0"/>
          </a:p>
        </p:txBody>
      </p:sp>
      <p:sp>
        <p:nvSpPr>
          <p:cNvPr id="9" name="Text 7"/>
          <p:cNvSpPr/>
          <p:nvPr/>
        </p:nvSpPr>
        <p:spPr>
          <a:xfrm>
            <a:off x="1645920" y="132588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Introduction</a:t>
            </a:r>
            <a:endParaRPr lang="en-US" sz="2400" dirty="0"/>
          </a:p>
        </p:txBody>
      </p:sp>
      <p:sp>
        <p:nvSpPr>
          <p:cNvPr id="10" name="Shape 8"/>
          <p:cNvSpPr/>
          <p:nvPr/>
        </p:nvSpPr>
        <p:spPr>
          <a:xfrm>
            <a:off x="6309360" y="1325880"/>
            <a:ext cx="5303520" cy="1005840"/>
          </a:xfrm>
          <a:prstGeom prst="roundRect">
            <a:avLst>
              <a:gd name="adj" fmla="val 9091"/>
            </a:avLst>
          </a:prstGeom>
          <a:solidFill>
            <a:srgbClr val="F5F1FB"/>
          </a:solidFill>
          <a:ln w="19050">
            <a:solidFill>
              <a:srgbClr val="6B4FA3"/>
            </a:solidFill>
            <a:prstDash val="solid"/>
          </a:ln>
        </p:spPr>
      </p:sp>
      <p:sp>
        <p:nvSpPr>
          <p:cNvPr id="11" name="Shape 9"/>
          <p:cNvSpPr/>
          <p:nvPr/>
        </p:nvSpPr>
        <p:spPr>
          <a:xfrm>
            <a:off x="6492240" y="1508760"/>
            <a:ext cx="640080" cy="640080"/>
          </a:xfrm>
          <a:prstGeom prst="ellipse">
            <a:avLst/>
          </a:prstGeom>
          <a:solidFill>
            <a:srgbClr val="6B4FA3"/>
          </a:solidFill>
          <a:ln w="12700">
            <a:solidFill>
              <a:srgbClr val="6B4FA3"/>
            </a:solidFill>
            <a:prstDash val="solid"/>
          </a:ln>
        </p:spPr>
      </p:sp>
      <p:sp>
        <p:nvSpPr>
          <p:cNvPr id="12" name="Text 10"/>
          <p:cNvSpPr/>
          <p:nvPr/>
        </p:nvSpPr>
        <p:spPr>
          <a:xfrm>
            <a:off x="6492240" y="150876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2</a:t>
            </a:r>
            <a:endParaRPr lang="en-US" sz="2200" dirty="0"/>
          </a:p>
        </p:txBody>
      </p:sp>
      <p:sp>
        <p:nvSpPr>
          <p:cNvPr id="13" name="Text 11"/>
          <p:cNvSpPr/>
          <p:nvPr/>
        </p:nvSpPr>
        <p:spPr>
          <a:xfrm>
            <a:off x="7315200" y="132588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Literature Review</a:t>
            </a:r>
            <a:endParaRPr lang="en-US" sz="2400" dirty="0"/>
          </a:p>
        </p:txBody>
      </p:sp>
      <p:sp>
        <p:nvSpPr>
          <p:cNvPr id="14" name="Shape 12"/>
          <p:cNvSpPr/>
          <p:nvPr/>
        </p:nvSpPr>
        <p:spPr>
          <a:xfrm>
            <a:off x="640080" y="2606040"/>
            <a:ext cx="5303520" cy="1005840"/>
          </a:xfrm>
          <a:prstGeom prst="roundRect">
            <a:avLst>
              <a:gd name="adj" fmla="val 9091"/>
            </a:avLst>
          </a:prstGeom>
          <a:solidFill>
            <a:srgbClr val="F5F1FB"/>
          </a:solidFill>
          <a:ln w="19050">
            <a:solidFill>
              <a:srgbClr val="E0457B"/>
            </a:solidFill>
            <a:prstDash val="solid"/>
          </a:ln>
        </p:spPr>
      </p:sp>
      <p:sp>
        <p:nvSpPr>
          <p:cNvPr id="15" name="Shape 13"/>
          <p:cNvSpPr/>
          <p:nvPr/>
        </p:nvSpPr>
        <p:spPr>
          <a:xfrm>
            <a:off x="822960" y="2788920"/>
            <a:ext cx="640080" cy="640080"/>
          </a:xfrm>
          <a:prstGeom prst="ellipse">
            <a:avLst/>
          </a:prstGeom>
          <a:solidFill>
            <a:srgbClr val="E0457B"/>
          </a:solidFill>
          <a:ln w="12700">
            <a:solidFill>
              <a:srgbClr val="E0457B"/>
            </a:solidFill>
            <a:prstDash val="solid"/>
          </a:ln>
        </p:spPr>
      </p:sp>
      <p:sp>
        <p:nvSpPr>
          <p:cNvPr id="16" name="Text 14"/>
          <p:cNvSpPr/>
          <p:nvPr/>
        </p:nvSpPr>
        <p:spPr>
          <a:xfrm>
            <a:off x="822960" y="278892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3</a:t>
            </a:r>
            <a:endParaRPr lang="en-US" sz="2200" dirty="0"/>
          </a:p>
        </p:txBody>
      </p:sp>
      <p:sp>
        <p:nvSpPr>
          <p:cNvPr id="17" name="Text 15"/>
          <p:cNvSpPr/>
          <p:nvPr/>
        </p:nvSpPr>
        <p:spPr>
          <a:xfrm>
            <a:off x="1645920" y="260604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Problem Statement</a:t>
            </a:r>
            <a:endParaRPr lang="en-US" sz="2400" dirty="0"/>
          </a:p>
        </p:txBody>
      </p:sp>
      <p:sp>
        <p:nvSpPr>
          <p:cNvPr id="18" name="Shape 16"/>
          <p:cNvSpPr/>
          <p:nvPr/>
        </p:nvSpPr>
        <p:spPr>
          <a:xfrm>
            <a:off x="6309360" y="2606040"/>
            <a:ext cx="5303520" cy="1005840"/>
          </a:xfrm>
          <a:prstGeom prst="roundRect">
            <a:avLst>
              <a:gd name="adj" fmla="val 9091"/>
            </a:avLst>
          </a:prstGeom>
          <a:solidFill>
            <a:srgbClr val="F5F1FB"/>
          </a:solidFill>
          <a:ln w="19050">
            <a:solidFill>
              <a:srgbClr val="E0457B"/>
            </a:solidFill>
            <a:prstDash val="solid"/>
          </a:ln>
        </p:spPr>
      </p:sp>
      <p:sp>
        <p:nvSpPr>
          <p:cNvPr id="19" name="Shape 17"/>
          <p:cNvSpPr/>
          <p:nvPr/>
        </p:nvSpPr>
        <p:spPr>
          <a:xfrm>
            <a:off x="6492240" y="2788920"/>
            <a:ext cx="640080" cy="640080"/>
          </a:xfrm>
          <a:prstGeom prst="ellipse">
            <a:avLst/>
          </a:prstGeom>
          <a:solidFill>
            <a:srgbClr val="E0457B"/>
          </a:solidFill>
          <a:ln w="12700">
            <a:solidFill>
              <a:srgbClr val="E0457B"/>
            </a:solidFill>
            <a:prstDash val="solid"/>
          </a:ln>
        </p:spPr>
      </p:sp>
      <p:sp>
        <p:nvSpPr>
          <p:cNvPr id="20" name="Text 18"/>
          <p:cNvSpPr/>
          <p:nvPr/>
        </p:nvSpPr>
        <p:spPr>
          <a:xfrm>
            <a:off x="6492240" y="278892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4</a:t>
            </a:r>
            <a:endParaRPr lang="en-US" sz="2200" dirty="0"/>
          </a:p>
        </p:txBody>
      </p:sp>
      <p:sp>
        <p:nvSpPr>
          <p:cNvPr id="21" name="Text 19"/>
          <p:cNvSpPr/>
          <p:nvPr/>
        </p:nvSpPr>
        <p:spPr>
          <a:xfrm>
            <a:off x="7315200" y="260604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Thesis Objectives</a:t>
            </a:r>
            <a:endParaRPr lang="en-US" sz="2400" dirty="0"/>
          </a:p>
        </p:txBody>
      </p:sp>
      <p:sp>
        <p:nvSpPr>
          <p:cNvPr id="22" name="Shape 20"/>
          <p:cNvSpPr/>
          <p:nvPr/>
        </p:nvSpPr>
        <p:spPr>
          <a:xfrm>
            <a:off x="640080" y="3886200"/>
            <a:ext cx="5303520" cy="1005840"/>
          </a:xfrm>
          <a:prstGeom prst="roundRect">
            <a:avLst>
              <a:gd name="adj" fmla="val 9091"/>
            </a:avLst>
          </a:prstGeom>
          <a:solidFill>
            <a:srgbClr val="F5F1FB"/>
          </a:solidFill>
          <a:ln w="19050">
            <a:solidFill>
              <a:srgbClr val="E07B22"/>
            </a:solidFill>
            <a:prstDash val="solid"/>
          </a:ln>
        </p:spPr>
      </p:sp>
      <p:sp>
        <p:nvSpPr>
          <p:cNvPr id="23" name="Shape 21"/>
          <p:cNvSpPr/>
          <p:nvPr/>
        </p:nvSpPr>
        <p:spPr>
          <a:xfrm>
            <a:off x="822960" y="4069080"/>
            <a:ext cx="640080" cy="640080"/>
          </a:xfrm>
          <a:prstGeom prst="ellipse">
            <a:avLst/>
          </a:prstGeom>
          <a:solidFill>
            <a:srgbClr val="E07B22"/>
          </a:solidFill>
          <a:ln w="12700">
            <a:solidFill>
              <a:srgbClr val="E07B22"/>
            </a:solidFill>
            <a:prstDash val="solid"/>
          </a:ln>
        </p:spPr>
      </p:sp>
      <p:sp>
        <p:nvSpPr>
          <p:cNvPr id="24" name="Text 22"/>
          <p:cNvSpPr/>
          <p:nvPr/>
        </p:nvSpPr>
        <p:spPr>
          <a:xfrm>
            <a:off x="822960" y="40690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5</a:t>
            </a:r>
            <a:endParaRPr lang="en-US" sz="2200" dirty="0"/>
          </a:p>
        </p:txBody>
      </p:sp>
      <p:sp>
        <p:nvSpPr>
          <p:cNvPr id="25" name="Text 23"/>
          <p:cNvSpPr/>
          <p:nvPr/>
        </p:nvSpPr>
        <p:spPr>
          <a:xfrm>
            <a:off x="1645920" y="388620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Proposed Work</a:t>
            </a:r>
            <a:endParaRPr lang="en-US" sz="2400" dirty="0"/>
          </a:p>
        </p:txBody>
      </p:sp>
      <p:sp>
        <p:nvSpPr>
          <p:cNvPr id="26" name="Shape 24"/>
          <p:cNvSpPr/>
          <p:nvPr/>
        </p:nvSpPr>
        <p:spPr>
          <a:xfrm>
            <a:off x="6309360" y="3886200"/>
            <a:ext cx="5303520" cy="1005840"/>
          </a:xfrm>
          <a:prstGeom prst="roundRect">
            <a:avLst>
              <a:gd name="adj" fmla="val 9091"/>
            </a:avLst>
          </a:prstGeom>
          <a:solidFill>
            <a:srgbClr val="F5F1FB"/>
          </a:solidFill>
          <a:ln w="19050">
            <a:solidFill>
              <a:srgbClr val="2A9D8F"/>
            </a:solidFill>
            <a:prstDash val="solid"/>
          </a:ln>
        </p:spPr>
      </p:sp>
      <p:sp>
        <p:nvSpPr>
          <p:cNvPr id="27" name="Shape 25"/>
          <p:cNvSpPr/>
          <p:nvPr/>
        </p:nvSpPr>
        <p:spPr>
          <a:xfrm>
            <a:off x="6492240" y="4069080"/>
            <a:ext cx="640080" cy="640080"/>
          </a:xfrm>
          <a:prstGeom prst="ellipse">
            <a:avLst/>
          </a:prstGeom>
          <a:solidFill>
            <a:srgbClr val="2A9D8F"/>
          </a:solidFill>
          <a:ln w="12700">
            <a:solidFill>
              <a:srgbClr val="2A9D8F"/>
            </a:solidFill>
            <a:prstDash val="solid"/>
          </a:ln>
        </p:spPr>
      </p:sp>
      <p:sp>
        <p:nvSpPr>
          <p:cNvPr id="28" name="Text 26"/>
          <p:cNvSpPr/>
          <p:nvPr/>
        </p:nvSpPr>
        <p:spPr>
          <a:xfrm>
            <a:off x="6492240" y="406908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6</a:t>
            </a:r>
            <a:endParaRPr lang="en-US" sz="2200" dirty="0"/>
          </a:p>
        </p:txBody>
      </p:sp>
      <p:sp>
        <p:nvSpPr>
          <p:cNvPr id="29" name="Text 27"/>
          <p:cNvSpPr/>
          <p:nvPr/>
        </p:nvSpPr>
        <p:spPr>
          <a:xfrm>
            <a:off x="7315200" y="388620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Experimental Results</a:t>
            </a:r>
            <a:endParaRPr lang="en-US" sz="2400" dirty="0"/>
          </a:p>
        </p:txBody>
      </p:sp>
      <p:sp>
        <p:nvSpPr>
          <p:cNvPr id="30" name="Shape 28"/>
          <p:cNvSpPr/>
          <p:nvPr/>
        </p:nvSpPr>
        <p:spPr>
          <a:xfrm>
            <a:off x="640080" y="5166360"/>
            <a:ext cx="5303520" cy="1005840"/>
          </a:xfrm>
          <a:prstGeom prst="roundRect">
            <a:avLst>
              <a:gd name="adj" fmla="val 9091"/>
            </a:avLst>
          </a:prstGeom>
          <a:solidFill>
            <a:srgbClr val="F5F1FB"/>
          </a:solidFill>
          <a:ln w="19050">
            <a:solidFill>
              <a:srgbClr val="2E2055"/>
            </a:solidFill>
            <a:prstDash val="solid"/>
          </a:ln>
        </p:spPr>
      </p:sp>
      <p:sp>
        <p:nvSpPr>
          <p:cNvPr id="31" name="Shape 29"/>
          <p:cNvSpPr/>
          <p:nvPr/>
        </p:nvSpPr>
        <p:spPr>
          <a:xfrm>
            <a:off x="822960" y="5349240"/>
            <a:ext cx="640080" cy="640080"/>
          </a:xfrm>
          <a:prstGeom prst="ellipse">
            <a:avLst/>
          </a:prstGeom>
          <a:solidFill>
            <a:srgbClr val="2E2055"/>
          </a:solidFill>
          <a:ln w="12700">
            <a:solidFill>
              <a:srgbClr val="2E2055"/>
            </a:solidFill>
            <a:prstDash val="solid"/>
          </a:ln>
        </p:spPr>
      </p:sp>
      <p:sp>
        <p:nvSpPr>
          <p:cNvPr id="32" name="Text 30"/>
          <p:cNvSpPr/>
          <p:nvPr/>
        </p:nvSpPr>
        <p:spPr>
          <a:xfrm>
            <a:off x="822960" y="53492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7</a:t>
            </a:r>
            <a:endParaRPr lang="en-US" sz="2200" dirty="0"/>
          </a:p>
        </p:txBody>
      </p:sp>
      <p:sp>
        <p:nvSpPr>
          <p:cNvPr id="33" name="Text 31"/>
          <p:cNvSpPr/>
          <p:nvPr/>
        </p:nvSpPr>
        <p:spPr>
          <a:xfrm>
            <a:off x="1645920" y="516636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Conclusion</a:t>
            </a:r>
            <a:endParaRPr lang="en-US" sz="2400" dirty="0"/>
          </a:p>
        </p:txBody>
      </p:sp>
      <p:sp>
        <p:nvSpPr>
          <p:cNvPr id="34" name="Shape 32"/>
          <p:cNvSpPr/>
          <p:nvPr/>
        </p:nvSpPr>
        <p:spPr>
          <a:xfrm>
            <a:off x="6309360" y="5166360"/>
            <a:ext cx="5303520" cy="1005840"/>
          </a:xfrm>
          <a:prstGeom prst="roundRect">
            <a:avLst>
              <a:gd name="adj" fmla="val 9091"/>
            </a:avLst>
          </a:prstGeom>
          <a:solidFill>
            <a:srgbClr val="F5F1FB"/>
          </a:solidFill>
          <a:ln w="19050">
            <a:solidFill>
              <a:srgbClr val="2E2055"/>
            </a:solidFill>
            <a:prstDash val="solid"/>
          </a:ln>
        </p:spPr>
      </p:sp>
      <p:sp>
        <p:nvSpPr>
          <p:cNvPr id="35" name="Shape 33"/>
          <p:cNvSpPr/>
          <p:nvPr/>
        </p:nvSpPr>
        <p:spPr>
          <a:xfrm>
            <a:off x="6492240" y="5349240"/>
            <a:ext cx="640080" cy="640080"/>
          </a:xfrm>
          <a:prstGeom prst="ellipse">
            <a:avLst/>
          </a:prstGeom>
          <a:solidFill>
            <a:srgbClr val="2E2055"/>
          </a:solidFill>
          <a:ln w="12700">
            <a:solidFill>
              <a:srgbClr val="2E2055"/>
            </a:solidFill>
            <a:prstDash val="solid"/>
          </a:ln>
        </p:spPr>
      </p:sp>
      <p:sp>
        <p:nvSpPr>
          <p:cNvPr id="36" name="Text 34"/>
          <p:cNvSpPr/>
          <p:nvPr/>
        </p:nvSpPr>
        <p:spPr>
          <a:xfrm>
            <a:off x="6492240" y="5349240"/>
            <a:ext cx="64008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8</a:t>
            </a:r>
            <a:endParaRPr lang="en-US" sz="2200" dirty="0"/>
          </a:p>
        </p:txBody>
      </p:sp>
      <p:sp>
        <p:nvSpPr>
          <p:cNvPr id="37" name="Text 35"/>
          <p:cNvSpPr/>
          <p:nvPr/>
        </p:nvSpPr>
        <p:spPr>
          <a:xfrm>
            <a:off x="7315200" y="5166360"/>
            <a:ext cx="4114800" cy="1005840"/>
          </a:xfrm>
          <a:prstGeom prst="rect">
            <a:avLst/>
          </a:prstGeom>
          <a:noFill/>
          <a:ln/>
        </p:spPr>
        <p:txBody>
          <a:bodyPr wrap="square" lIns="0" tIns="0" rIns="0" bIns="0" rtlCol="0" anchor="ctr"/>
          <a:lstStyle/>
          <a:p>
            <a:pPr indent="0" marL="0">
              <a:buNone/>
            </a:pPr>
            <a:r>
              <a:rPr lang="en-US" sz="2400" b="1" dirty="0">
                <a:solidFill>
                  <a:srgbClr val="2E2055"/>
                </a:solidFill>
                <a:latin typeface="Cambria" pitchFamily="34" charset="0"/>
                <a:ea typeface="Cambria" pitchFamily="34" charset="-122"/>
                <a:cs typeface="Cambria" pitchFamily="34" charset="-120"/>
              </a:rPr>
              <a:t>Future Work</a:t>
            </a:r>
            <a:endParaRPr lang="en-US" sz="2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Introduction</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Why Image Compression?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640080" y="1371600"/>
            <a:ext cx="3520440" cy="3291840"/>
          </a:xfrm>
          <a:prstGeom prst="roundRect">
            <a:avLst>
              <a:gd name="adj" fmla="val 2778"/>
            </a:avLst>
          </a:prstGeom>
          <a:solidFill>
            <a:srgbClr val="FFFFFF"/>
          </a:solidFill>
          <a:ln w="22225">
            <a:solidFill>
              <a:srgbClr val="6B4FA3"/>
            </a:solidFill>
            <a:prstDash val="solid"/>
          </a:ln>
        </p:spPr>
      </p:sp>
      <p:sp>
        <p:nvSpPr>
          <p:cNvPr id="7" name="Shape 5"/>
          <p:cNvSpPr/>
          <p:nvPr/>
        </p:nvSpPr>
        <p:spPr>
          <a:xfrm>
            <a:off x="658368" y="1389888"/>
            <a:ext cx="109728" cy="3255264"/>
          </a:xfrm>
          <a:prstGeom prst="rect">
            <a:avLst/>
          </a:prstGeom>
          <a:solidFill>
            <a:srgbClr val="6B4FA3"/>
          </a:solidFill>
          <a:ln w="12700">
            <a:solidFill>
              <a:srgbClr val="6B4FA3"/>
            </a:solidFill>
            <a:prstDash val="solid"/>
          </a:ln>
        </p:spPr>
      </p:sp>
      <p:sp>
        <p:nvSpPr>
          <p:cNvPr id="8" name="Text 6"/>
          <p:cNvSpPr/>
          <p:nvPr/>
        </p:nvSpPr>
        <p:spPr>
          <a:xfrm>
            <a:off x="914400" y="1417320"/>
            <a:ext cx="3108960" cy="3200400"/>
          </a:xfrm>
          <a:prstGeom prst="rect">
            <a:avLst/>
          </a:prstGeom>
          <a:noFill/>
          <a:ln/>
        </p:spPr>
        <p:txBody>
          <a:bodyPr wrap="square" lIns="635" tIns="635" rIns="635" bIns="635" rtlCol="0" anchor="ctr"/>
          <a:lstStyle/>
          <a:p>
            <a:pPr indent="0" marL="0">
              <a:spcAft>
                <a:spcPts val="600"/>
              </a:spcAft>
              <a:buNone/>
            </a:pPr>
            <a:r>
              <a:rPr lang="en-US" sz="2400" b="1" dirty="0">
                <a:solidFill>
                  <a:srgbClr val="6B4FA3"/>
                </a:solidFill>
                <a:latin typeface="Calibri" pitchFamily="34" charset="0"/>
                <a:ea typeface="Calibri" pitchFamily="34" charset="-122"/>
                <a:cs typeface="Calibri" pitchFamily="34" charset="-120"/>
              </a:rPr>
              <a:t>Storage</a:t>
            </a:r>
            <a:endParaRPr lang="en-US" sz="2400" dirty="0"/>
          </a:p>
          <a:p>
            <a:pPr indent="0" marL="0">
              <a:spcAft>
                <a:spcPts val="600"/>
              </a:spcAft>
              <a:buNone/>
            </a:pPr>
            <a:r>
              <a:rPr lang="en-US" sz="1800" dirty="0">
                <a:solidFill>
                  <a:srgbClr val="1F1A33"/>
                </a:solidFill>
                <a:latin typeface="Calibri" pitchFamily="34" charset="0"/>
                <a:ea typeface="Calibri" pitchFamily="34" charset="-122"/>
                <a:cs typeface="Calibri" pitchFamily="34" charset="-120"/>
              </a:rPr>
              <a:t>Large image collections require a large amount of storage space.</a:t>
            </a:r>
            <a:endParaRPr lang="en-US" sz="2400" dirty="0"/>
          </a:p>
        </p:txBody>
      </p:sp>
      <p:sp>
        <p:nvSpPr>
          <p:cNvPr id="9" name="Shape 7"/>
          <p:cNvSpPr/>
          <p:nvPr/>
        </p:nvSpPr>
        <p:spPr>
          <a:xfrm>
            <a:off x="4343400" y="1371600"/>
            <a:ext cx="3520440" cy="3291840"/>
          </a:xfrm>
          <a:prstGeom prst="roundRect">
            <a:avLst>
              <a:gd name="adj" fmla="val 2778"/>
            </a:avLst>
          </a:prstGeom>
          <a:solidFill>
            <a:srgbClr val="FFFFFF"/>
          </a:solidFill>
          <a:ln w="22225">
            <a:solidFill>
              <a:srgbClr val="E0457B"/>
            </a:solidFill>
            <a:prstDash val="solid"/>
          </a:ln>
        </p:spPr>
      </p:sp>
      <p:sp>
        <p:nvSpPr>
          <p:cNvPr id="10" name="Shape 8"/>
          <p:cNvSpPr/>
          <p:nvPr/>
        </p:nvSpPr>
        <p:spPr>
          <a:xfrm>
            <a:off x="4361688" y="1389888"/>
            <a:ext cx="109728" cy="3255264"/>
          </a:xfrm>
          <a:prstGeom prst="rect">
            <a:avLst/>
          </a:prstGeom>
          <a:solidFill>
            <a:srgbClr val="E0457B"/>
          </a:solidFill>
          <a:ln w="12700">
            <a:solidFill>
              <a:srgbClr val="E0457B"/>
            </a:solidFill>
            <a:prstDash val="solid"/>
          </a:ln>
        </p:spPr>
      </p:sp>
      <p:sp>
        <p:nvSpPr>
          <p:cNvPr id="11" name="Text 9"/>
          <p:cNvSpPr/>
          <p:nvPr/>
        </p:nvSpPr>
        <p:spPr>
          <a:xfrm>
            <a:off x="4617720" y="1417320"/>
            <a:ext cx="3108960" cy="3200400"/>
          </a:xfrm>
          <a:prstGeom prst="rect">
            <a:avLst/>
          </a:prstGeom>
          <a:noFill/>
          <a:ln/>
        </p:spPr>
        <p:txBody>
          <a:bodyPr wrap="square" lIns="635" tIns="635" rIns="635" bIns="635" rtlCol="0" anchor="ctr"/>
          <a:lstStyle/>
          <a:p>
            <a:pPr indent="0" marL="0">
              <a:spcAft>
                <a:spcPts val="600"/>
              </a:spcAft>
              <a:buNone/>
            </a:pPr>
            <a:r>
              <a:rPr lang="en-US" sz="2400" b="1" dirty="0">
                <a:solidFill>
                  <a:srgbClr val="E0457B"/>
                </a:solidFill>
                <a:latin typeface="Calibri" pitchFamily="34" charset="0"/>
                <a:ea typeface="Calibri" pitchFamily="34" charset="-122"/>
                <a:cs typeface="Calibri" pitchFamily="34" charset="-120"/>
              </a:rPr>
              <a:t>Transmission</a:t>
            </a:r>
            <a:endParaRPr lang="en-US" sz="2400" dirty="0"/>
          </a:p>
          <a:p>
            <a:pPr indent="0" marL="0">
              <a:spcAft>
                <a:spcPts val="600"/>
              </a:spcAft>
              <a:buNone/>
            </a:pPr>
            <a:r>
              <a:rPr lang="en-US" sz="1800" dirty="0">
                <a:solidFill>
                  <a:srgbClr val="1F1A33"/>
                </a:solidFill>
                <a:latin typeface="Calibri" pitchFamily="34" charset="0"/>
                <a:ea typeface="Calibri" pitchFamily="34" charset="-122"/>
                <a:cs typeface="Calibri" pitchFamily="34" charset="-120"/>
              </a:rPr>
              <a:t>Smaller images reach the receiver sooner and use less network bandwidth.</a:t>
            </a:r>
            <a:endParaRPr lang="en-US" sz="2400" dirty="0"/>
          </a:p>
        </p:txBody>
      </p:sp>
      <p:sp>
        <p:nvSpPr>
          <p:cNvPr id="12" name="Shape 10"/>
          <p:cNvSpPr/>
          <p:nvPr/>
        </p:nvSpPr>
        <p:spPr>
          <a:xfrm>
            <a:off x="8046720" y="1371600"/>
            <a:ext cx="3520440" cy="3291840"/>
          </a:xfrm>
          <a:prstGeom prst="roundRect">
            <a:avLst>
              <a:gd name="adj" fmla="val 2778"/>
            </a:avLst>
          </a:prstGeom>
          <a:solidFill>
            <a:srgbClr val="FFFFFF"/>
          </a:solidFill>
          <a:ln w="22225">
            <a:solidFill>
              <a:srgbClr val="2A9D8F"/>
            </a:solidFill>
            <a:prstDash val="solid"/>
          </a:ln>
        </p:spPr>
      </p:sp>
      <p:sp>
        <p:nvSpPr>
          <p:cNvPr id="13" name="Shape 11"/>
          <p:cNvSpPr/>
          <p:nvPr/>
        </p:nvSpPr>
        <p:spPr>
          <a:xfrm>
            <a:off x="8065008" y="1389888"/>
            <a:ext cx="109728" cy="3255264"/>
          </a:xfrm>
          <a:prstGeom prst="rect">
            <a:avLst/>
          </a:prstGeom>
          <a:solidFill>
            <a:srgbClr val="2A9D8F"/>
          </a:solidFill>
          <a:ln w="12700">
            <a:solidFill>
              <a:srgbClr val="2A9D8F"/>
            </a:solidFill>
            <a:prstDash val="solid"/>
          </a:ln>
        </p:spPr>
      </p:sp>
      <p:sp>
        <p:nvSpPr>
          <p:cNvPr id="14" name="Text 12"/>
          <p:cNvSpPr/>
          <p:nvPr/>
        </p:nvSpPr>
        <p:spPr>
          <a:xfrm>
            <a:off x="8321040" y="1417320"/>
            <a:ext cx="3108960" cy="3200400"/>
          </a:xfrm>
          <a:prstGeom prst="rect">
            <a:avLst/>
          </a:prstGeom>
          <a:noFill/>
          <a:ln/>
        </p:spPr>
        <p:txBody>
          <a:bodyPr wrap="square" lIns="635" tIns="635" rIns="635" bIns="635" rtlCol="0" anchor="ctr"/>
          <a:lstStyle/>
          <a:p>
            <a:pPr indent="0" marL="0">
              <a:spcAft>
                <a:spcPts val="600"/>
              </a:spcAft>
              <a:buNone/>
            </a:pPr>
            <a:r>
              <a:rPr lang="en-US" sz="2400" b="1" dirty="0">
                <a:solidFill>
                  <a:srgbClr val="2A9D8F"/>
                </a:solidFill>
                <a:latin typeface="Calibri" pitchFamily="34" charset="0"/>
                <a:ea typeface="Calibri" pitchFamily="34" charset="-122"/>
                <a:cs typeface="Calibri" pitchFamily="34" charset="-120"/>
              </a:rPr>
              <a:t>Computation</a:t>
            </a:r>
            <a:endParaRPr lang="en-US" sz="2400" dirty="0"/>
          </a:p>
          <a:p>
            <a:pPr indent="0" marL="0">
              <a:spcAft>
                <a:spcPts val="600"/>
              </a:spcAft>
              <a:buNone/>
            </a:pPr>
            <a:r>
              <a:rPr lang="en-US" sz="1800" dirty="0">
                <a:solidFill>
                  <a:srgbClr val="1F1A33"/>
                </a:solidFill>
                <a:latin typeface="Calibri" pitchFamily="34" charset="0"/>
                <a:ea typeface="Calibri" pitchFamily="34" charset="-122"/>
                <a:cs typeface="Calibri" pitchFamily="34" charset="-120"/>
              </a:rPr>
              <a:t>A good compression ratio needs complex methods, so the compression itself must stay fast.</a:t>
            </a:r>
            <a:endParaRPr lang="en-US" sz="2400" dirty="0"/>
          </a:p>
        </p:txBody>
      </p:sp>
      <p:sp>
        <p:nvSpPr>
          <p:cNvPr id="15" name="Text 13"/>
          <p:cNvSpPr/>
          <p:nvPr/>
        </p:nvSpPr>
        <p:spPr>
          <a:xfrm>
            <a:off x="640080" y="5074920"/>
            <a:ext cx="10881360" cy="640080"/>
          </a:xfrm>
          <a:prstGeom prst="rect">
            <a:avLst/>
          </a:prstGeom>
          <a:noFill/>
          <a:ln/>
        </p:spPr>
        <p:txBody>
          <a:bodyPr wrap="square" lIns="0" tIns="0" rIns="0" bIns="0" rtlCol="0" anchor="ctr"/>
          <a:lstStyle/>
          <a:p>
            <a:pPr algn="ctr" indent="0" marL="0">
              <a:buNone/>
            </a:pPr>
            <a:r>
              <a:rPr lang="en-US" sz="2200" i="1" dirty="0">
                <a:solidFill>
                  <a:srgbClr val="2E2055"/>
                </a:solidFill>
                <a:latin typeface="Cambria" pitchFamily="34" charset="0"/>
                <a:ea typeface="Cambria" pitchFamily="34" charset="-122"/>
                <a:cs typeface="Cambria" pitchFamily="34" charset="-120"/>
              </a:rPr>
              <a:t>Image compression reduces the amount of data needed to represent an image.</a:t>
            </a:r>
            <a:endParaRPr lang="en-US" sz="2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Introduction</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Lossless and Lossy Compression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640080" y="1371600"/>
            <a:ext cx="5394960" cy="3017520"/>
          </a:xfrm>
          <a:prstGeom prst="roundRect">
            <a:avLst>
              <a:gd name="adj" fmla="val 3030"/>
            </a:avLst>
          </a:prstGeom>
          <a:solidFill>
            <a:srgbClr val="FFFFFF"/>
          </a:solidFill>
          <a:ln w="22225">
            <a:solidFill>
              <a:srgbClr val="2A9D8F"/>
            </a:solidFill>
            <a:prstDash val="solid"/>
          </a:ln>
        </p:spPr>
      </p:sp>
      <p:sp>
        <p:nvSpPr>
          <p:cNvPr id="7" name="Shape 5"/>
          <p:cNvSpPr/>
          <p:nvPr/>
        </p:nvSpPr>
        <p:spPr>
          <a:xfrm>
            <a:off x="658368" y="1389888"/>
            <a:ext cx="109728" cy="2980944"/>
          </a:xfrm>
          <a:prstGeom prst="rect">
            <a:avLst/>
          </a:prstGeom>
          <a:solidFill>
            <a:srgbClr val="2A9D8F"/>
          </a:solidFill>
          <a:ln w="12700">
            <a:solidFill>
              <a:srgbClr val="2A9D8F"/>
            </a:solidFill>
            <a:prstDash val="solid"/>
          </a:ln>
        </p:spPr>
      </p:sp>
      <p:sp>
        <p:nvSpPr>
          <p:cNvPr id="8" name="Text 6"/>
          <p:cNvSpPr/>
          <p:nvPr/>
        </p:nvSpPr>
        <p:spPr>
          <a:xfrm>
            <a:off x="914400" y="1417320"/>
            <a:ext cx="4983480" cy="2926080"/>
          </a:xfrm>
          <a:prstGeom prst="rect">
            <a:avLst/>
          </a:prstGeom>
          <a:noFill/>
          <a:ln/>
        </p:spPr>
        <p:txBody>
          <a:bodyPr wrap="square" lIns="635" tIns="635" rIns="635" bIns="635" rtlCol="0" anchor="ctr"/>
          <a:lstStyle/>
          <a:p>
            <a:pPr indent="0" marL="0">
              <a:spcAft>
                <a:spcPts val="600"/>
              </a:spcAft>
              <a:buNone/>
            </a:pPr>
            <a:r>
              <a:rPr lang="en-US" sz="2600" b="1" dirty="0">
                <a:solidFill>
                  <a:srgbClr val="2A9D8F"/>
                </a:solidFill>
                <a:latin typeface="Calibri" pitchFamily="34" charset="0"/>
                <a:ea typeface="Calibri" pitchFamily="34" charset="-122"/>
                <a:cs typeface="Calibri" pitchFamily="34" charset="-120"/>
              </a:rPr>
              <a:t>Lossless</a:t>
            </a:r>
            <a:endParaRPr lang="en-US" sz="2600" dirty="0"/>
          </a:p>
          <a:p>
            <a:pPr indent="0" marL="0">
              <a:spcAft>
                <a:spcPts val="600"/>
              </a:spcAft>
              <a:buNone/>
            </a:pPr>
            <a:r>
              <a:rPr lang="en-US" sz="1900" dirty="0">
                <a:solidFill>
                  <a:srgbClr val="1F1A33"/>
                </a:solidFill>
                <a:latin typeface="Calibri" pitchFamily="34" charset="0"/>
                <a:ea typeface="Calibri" pitchFamily="34" charset="-122"/>
                <a:cs typeface="Calibri" pitchFamily="34" charset="-120"/>
              </a:rPr>
              <a:t>The original image is recovered exactly. Examples: RLE, Huffman, LZW.</a:t>
            </a:r>
            <a:endParaRPr lang="en-US" sz="2600" dirty="0"/>
          </a:p>
        </p:txBody>
      </p:sp>
      <p:sp>
        <p:nvSpPr>
          <p:cNvPr id="9" name="Shape 7"/>
          <p:cNvSpPr/>
          <p:nvPr/>
        </p:nvSpPr>
        <p:spPr>
          <a:xfrm>
            <a:off x="6172200" y="1371600"/>
            <a:ext cx="5394960" cy="3017520"/>
          </a:xfrm>
          <a:prstGeom prst="roundRect">
            <a:avLst>
              <a:gd name="adj" fmla="val 3030"/>
            </a:avLst>
          </a:prstGeom>
          <a:solidFill>
            <a:srgbClr val="FFFFFF"/>
          </a:solidFill>
          <a:ln w="22225">
            <a:solidFill>
              <a:srgbClr val="E07B22"/>
            </a:solidFill>
            <a:prstDash val="solid"/>
          </a:ln>
        </p:spPr>
      </p:sp>
      <p:sp>
        <p:nvSpPr>
          <p:cNvPr id="10" name="Shape 8"/>
          <p:cNvSpPr/>
          <p:nvPr/>
        </p:nvSpPr>
        <p:spPr>
          <a:xfrm>
            <a:off x="6190488" y="1389888"/>
            <a:ext cx="109728" cy="2980944"/>
          </a:xfrm>
          <a:prstGeom prst="rect">
            <a:avLst/>
          </a:prstGeom>
          <a:solidFill>
            <a:srgbClr val="E07B22"/>
          </a:solidFill>
          <a:ln w="12700">
            <a:solidFill>
              <a:srgbClr val="E07B22"/>
            </a:solidFill>
            <a:prstDash val="solid"/>
          </a:ln>
        </p:spPr>
      </p:sp>
      <p:sp>
        <p:nvSpPr>
          <p:cNvPr id="11" name="Text 9"/>
          <p:cNvSpPr/>
          <p:nvPr/>
        </p:nvSpPr>
        <p:spPr>
          <a:xfrm>
            <a:off x="6446520" y="1417320"/>
            <a:ext cx="4983480" cy="2926080"/>
          </a:xfrm>
          <a:prstGeom prst="rect">
            <a:avLst/>
          </a:prstGeom>
          <a:noFill/>
          <a:ln/>
        </p:spPr>
        <p:txBody>
          <a:bodyPr wrap="square" lIns="635" tIns="635" rIns="635" bIns="635" rtlCol="0" anchor="ctr"/>
          <a:lstStyle/>
          <a:p>
            <a:pPr indent="0" marL="0">
              <a:spcAft>
                <a:spcPts val="600"/>
              </a:spcAft>
              <a:buNone/>
            </a:pPr>
            <a:r>
              <a:rPr lang="en-US" sz="2600" b="1" dirty="0">
                <a:solidFill>
                  <a:srgbClr val="E07B22"/>
                </a:solidFill>
                <a:latin typeface="Calibri" pitchFamily="34" charset="0"/>
                <a:ea typeface="Calibri" pitchFamily="34" charset="-122"/>
                <a:cs typeface="Calibri" pitchFamily="34" charset="-120"/>
              </a:rPr>
              <a:t>Lossy</a:t>
            </a:r>
            <a:endParaRPr lang="en-US" sz="2600" dirty="0"/>
          </a:p>
          <a:p>
            <a:pPr indent="0" marL="0">
              <a:spcAft>
                <a:spcPts val="600"/>
              </a:spcAft>
              <a:buNone/>
            </a:pPr>
            <a:r>
              <a:rPr lang="en-US" sz="1900" dirty="0">
                <a:solidFill>
                  <a:srgbClr val="1F1A33"/>
                </a:solidFill>
                <a:latin typeface="Calibri" pitchFamily="34" charset="0"/>
                <a:ea typeface="Calibri" pitchFamily="34" charset="-122"/>
                <a:cs typeface="Calibri" pitchFamily="34" charset="-120"/>
              </a:rPr>
              <a:t>Some information is discarded to reach a higher compression ratio. Examples: VQ, DCT, DWT.</a:t>
            </a:r>
            <a:endParaRPr lang="en-US" sz="2600" dirty="0"/>
          </a:p>
        </p:txBody>
      </p:sp>
      <p:sp>
        <p:nvSpPr>
          <p:cNvPr id="12" name="Shape 10"/>
          <p:cNvSpPr/>
          <p:nvPr/>
        </p:nvSpPr>
        <p:spPr>
          <a:xfrm>
            <a:off x="640080" y="4709160"/>
            <a:ext cx="10927080" cy="1188720"/>
          </a:xfrm>
          <a:prstGeom prst="roundRect">
            <a:avLst>
              <a:gd name="adj" fmla="val 7692"/>
            </a:avLst>
          </a:prstGeom>
          <a:solidFill>
            <a:srgbClr val="F5F1FB"/>
          </a:solidFill>
          <a:ln w="19050">
            <a:solidFill>
              <a:srgbClr val="6B4FA3"/>
            </a:solidFill>
            <a:prstDash val="solid"/>
          </a:ln>
        </p:spPr>
      </p:sp>
      <p:sp>
        <p:nvSpPr>
          <p:cNvPr id="13" name="Text 11"/>
          <p:cNvSpPr/>
          <p:nvPr/>
        </p:nvSpPr>
        <p:spPr>
          <a:xfrm>
            <a:off x="822960" y="4709160"/>
            <a:ext cx="10561320" cy="1188720"/>
          </a:xfrm>
          <a:prstGeom prst="rect">
            <a:avLst/>
          </a:prstGeom>
          <a:noFill/>
          <a:ln/>
        </p:spPr>
        <p:txBody>
          <a:bodyPr wrap="square" lIns="0" tIns="0" rIns="0" bIns="0" rtlCol="0" anchor="ctr"/>
          <a:lstStyle/>
          <a:p>
            <a:pPr indent="0" marL="0">
              <a:buNone/>
            </a:pPr>
            <a:r>
              <a:rPr lang="en-US" sz="2100" b="1" dirty="0">
                <a:solidFill>
                  <a:srgbClr val="E0457B"/>
                </a:solidFill>
                <a:latin typeface="Calibri" pitchFamily="34" charset="0"/>
                <a:ea typeface="Calibri" pitchFamily="34" charset="-122"/>
                <a:cs typeface="Calibri" pitchFamily="34" charset="-120"/>
              </a:rPr>
              <a:t>This work: </a:t>
            </a:r>
            <a:pPr indent="0" marL="0">
              <a:buNone/>
            </a:pPr>
            <a:r>
              <a:rPr lang="en-US" sz="2100" dirty="0">
                <a:solidFill>
                  <a:srgbClr val="1F1A33"/>
                </a:solidFill>
                <a:latin typeface="Calibri" pitchFamily="34" charset="0"/>
                <a:ea typeface="Calibri" pitchFamily="34" charset="-122"/>
                <a:cs typeface="Calibri" pitchFamily="34" charset="-120"/>
              </a:rPr>
              <a:t>lossy LBG vector quantization, followed by lossless delta coding and Huffman coding.</a:t>
            </a:r>
            <a:endParaRPr lang="en-US" sz="2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9202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9202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Introduction</a:t>
            </a:r>
            <a:endParaRPr lang="en-US" sz="1600" dirty="0"/>
          </a:p>
        </p:txBody>
      </p:sp>
      <p:sp>
        <p:nvSpPr>
          <p:cNvPr id="4" name="Text 2"/>
          <p:cNvSpPr/>
          <p:nvPr/>
        </p:nvSpPr>
        <p:spPr>
          <a:xfrm>
            <a:off x="25603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Parallel Processing in Image Compression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Text 4"/>
          <p:cNvSpPr/>
          <p:nvPr/>
        </p:nvSpPr>
        <p:spPr>
          <a:xfrm>
            <a:off x="640080" y="1280160"/>
            <a:ext cx="10881360" cy="914400"/>
          </a:xfrm>
          <a:prstGeom prst="rect">
            <a:avLst/>
          </a:prstGeom>
          <a:noFill/>
          <a:ln/>
        </p:spPr>
        <p:txBody>
          <a:bodyPr wrap="square" lIns="0" tIns="0" rIns="0" bIns="0" rtlCol="0" anchor="ctr"/>
          <a:lstStyle/>
          <a:p>
            <a:pPr indent="0" marL="0">
              <a:buNone/>
            </a:pPr>
            <a:r>
              <a:rPr lang="en-US" sz="2400" i="1" dirty="0">
                <a:solidFill>
                  <a:srgbClr val="2E2055"/>
                </a:solidFill>
                <a:latin typeface="Cambria" pitchFamily="34" charset="0"/>
                <a:ea typeface="Cambria" pitchFamily="34" charset="-122"/>
                <a:cs typeface="Cambria" pitchFamily="34" charset="-120"/>
              </a:rPr>
              <a:t>Parallel processing improves processing speed and efficiency when handling large data.</a:t>
            </a:r>
            <a:endParaRPr lang="en-US" sz="2400" dirty="0"/>
          </a:p>
        </p:txBody>
      </p:sp>
      <p:sp>
        <p:nvSpPr>
          <p:cNvPr id="7" name="Shape 5"/>
          <p:cNvSpPr/>
          <p:nvPr/>
        </p:nvSpPr>
        <p:spPr>
          <a:xfrm>
            <a:off x="640080" y="2468880"/>
            <a:ext cx="3520440" cy="3108960"/>
          </a:xfrm>
          <a:prstGeom prst="roundRect">
            <a:avLst>
              <a:gd name="adj" fmla="val 2941"/>
            </a:avLst>
          </a:prstGeom>
          <a:solidFill>
            <a:srgbClr val="FFFFFF"/>
          </a:solidFill>
          <a:ln w="22225">
            <a:solidFill>
              <a:srgbClr val="E07B22"/>
            </a:solidFill>
            <a:prstDash val="solid"/>
          </a:ln>
        </p:spPr>
      </p:sp>
      <p:sp>
        <p:nvSpPr>
          <p:cNvPr id="8" name="Shape 6"/>
          <p:cNvSpPr/>
          <p:nvPr/>
        </p:nvSpPr>
        <p:spPr>
          <a:xfrm>
            <a:off x="658368" y="2487168"/>
            <a:ext cx="109728" cy="3072384"/>
          </a:xfrm>
          <a:prstGeom prst="rect">
            <a:avLst/>
          </a:prstGeom>
          <a:solidFill>
            <a:srgbClr val="E07B22"/>
          </a:solidFill>
          <a:ln w="12700">
            <a:solidFill>
              <a:srgbClr val="E07B22"/>
            </a:solidFill>
            <a:prstDash val="solid"/>
          </a:ln>
        </p:spPr>
      </p:sp>
      <p:sp>
        <p:nvSpPr>
          <p:cNvPr id="9" name="Text 7"/>
          <p:cNvSpPr/>
          <p:nvPr/>
        </p:nvSpPr>
        <p:spPr>
          <a:xfrm>
            <a:off x="914400" y="2514600"/>
            <a:ext cx="3108960" cy="3017520"/>
          </a:xfrm>
          <a:prstGeom prst="rect">
            <a:avLst/>
          </a:prstGeom>
          <a:noFill/>
          <a:ln/>
        </p:spPr>
        <p:txBody>
          <a:bodyPr wrap="square" lIns="635" tIns="635" rIns="635" bIns="635" rtlCol="0" anchor="ctr"/>
          <a:lstStyle/>
          <a:p>
            <a:pPr indent="0" marL="0">
              <a:spcAft>
                <a:spcPts val="600"/>
              </a:spcAft>
              <a:buNone/>
            </a:pPr>
            <a:r>
              <a:rPr lang="en-US" sz="2200" b="1" dirty="0">
                <a:solidFill>
                  <a:srgbClr val="E07B22"/>
                </a:solidFill>
                <a:latin typeface="Calibri" pitchFamily="34" charset="0"/>
                <a:ea typeface="Calibri" pitchFamily="34" charset="-122"/>
                <a:cs typeface="Calibri" pitchFamily="34" charset="-120"/>
              </a:rPr>
              <a:t>LBG training dominates</a:t>
            </a:r>
            <a:endParaRPr lang="en-US" sz="2200" dirty="0"/>
          </a:p>
          <a:p>
            <a:pPr indent="0" marL="0">
              <a:spcAft>
                <a:spcPts val="600"/>
              </a:spcAft>
              <a:buNone/>
            </a:pPr>
            <a:r>
              <a:rPr lang="en-US" sz="1700" dirty="0">
                <a:solidFill>
                  <a:srgbClr val="1F1A33"/>
                </a:solidFill>
                <a:latin typeface="Calibri" pitchFamily="34" charset="0"/>
                <a:ea typeface="Calibri" pitchFamily="34" charset="-122"/>
                <a:cs typeface="Calibri" pitchFamily="34" charset="-120"/>
              </a:rPr>
              <a:t>In the sequential program it takes about 77% (gray) and 81% (color) of the total time.</a:t>
            </a:r>
            <a:endParaRPr lang="en-US" sz="2200" dirty="0"/>
          </a:p>
        </p:txBody>
      </p:sp>
      <p:sp>
        <p:nvSpPr>
          <p:cNvPr id="10" name="Shape 8"/>
          <p:cNvSpPr/>
          <p:nvPr/>
        </p:nvSpPr>
        <p:spPr>
          <a:xfrm>
            <a:off x="4343400" y="2468880"/>
            <a:ext cx="3520440" cy="3108960"/>
          </a:xfrm>
          <a:prstGeom prst="roundRect">
            <a:avLst>
              <a:gd name="adj" fmla="val 2941"/>
            </a:avLst>
          </a:prstGeom>
          <a:solidFill>
            <a:srgbClr val="FFFFFF"/>
          </a:solidFill>
          <a:ln w="22225">
            <a:solidFill>
              <a:srgbClr val="6B4FA3"/>
            </a:solidFill>
            <a:prstDash val="solid"/>
          </a:ln>
        </p:spPr>
      </p:sp>
      <p:sp>
        <p:nvSpPr>
          <p:cNvPr id="11" name="Shape 9"/>
          <p:cNvSpPr/>
          <p:nvPr/>
        </p:nvSpPr>
        <p:spPr>
          <a:xfrm>
            <a:off x="4361688" y="2487168"/>
            <a:ext cx="109728" cy="3072384"/>
          </a:xfrm>
          <a:prstGeom prst="rect">
            <a:avLst/>
          </a:prstGeom>
          <a:solidFill>
            <a:srgbClr val="6B4FA3"/>
          </a:solidFill>
          <a:ln w="12700">
            <a:solidFill>
              <a:srgbClr val="6B4FA3"/>
            </a:solidFill>
            <a:prstDash val="solid"/>
          </a:ln>
        </p:spPr>
      </p:sp>
      <p:sp>
        <p:nvSpPr>
          <p:cNvPr id="12" name="Text 10"/>
          <p:cNvSpPr/>
          <p:nvPr/>
        </p:nvSpPr>
        <p:spPr>
          <a:xfrm>
            <a:off x="4617720" y="2514600"/>
            <a:ext cx="3108960" cy="3017520"/>
          </a:xfrm>
          <a:prstGeom prst="rect">
            <a:avLst/>
          </a:prstGeom>
          <a:noFill/>
          <a:ln/>
        </p:spPr>
        <p:txBody>
          <a:bodyPr wrap="square" lIns="635" tIns="635" rIns="635" bIns="635" rtlCol="0" anchor="ctr"/>
          <a:lstStyle/>
          <a:p>
            <a:pPr indent="0" marL="0">
              <a:spcAft>
                <a:spcPts val="600"/>
              </a:spcAft>
              <a:buNone/>
            </a:pPr>
            <a:r>
              <a:rPr lang="en-US" sz="2200" b="1" dirty="0">
                <a:solidFill>
                  <a:srgbClr val="6B4FA3"/>
                </a:solidFill>
                <a:latin typeface="Calibri" pitchFamily="34" charset="0"/>
                <a:ea typeface="Calibri" pitchFamily="34" charset="-122"/>
                <a:cs typeface="Calibri" pitchFamily="34" charset="-120"/>
              </a:rPr>
              <a:t>Data-parallel</a:t>
            </a:r>
            <a:endParaRPr lang="en-US" sz="2200" dirty="0"/>
          </a:p>
          <a:p>
            <a:pPr indent="0" marL="0">
              <a:spcAft>
                <a:spcPts val="600"/>
              </a:spcAft>
              <a:buNone/>
            </a:pPr>
            <a:r>
              <a:rPr lang="en-US" sz="1700" dirty="0">
                <a:solidFill>
                  <a:srgbClr val="1F1A33"/>
                </a:solidFill>
                <a:latin typeface="Calibri" pitchFamily="34" charset="0"/>
                <a:ea typeface="Calibri" pitchFamily="34" charset="-122"/>
                <a:cs typeface="Calibri" pitchFamily="34" charset="-120"/>
              </a:rPr>
              <a:t>Each training vector is assigned to its nearest codeword independently, so the work can be split across processes.</a:t>
            </a:r>
            <a:endParaRPr lang="en-US" sz="2200" dirty="0"/>
          </a:p>
        </p:txBody>
      </p:sp>
      <p:sp>
        <p:nvSpPr>
          <p:cNvPr id="13" name="Shape 11"/>
          <p:cNvSpPr/>
          <p:nvPr/>
        </p:nvSpPr>
        <p:spPr>
          <a:xfrm>
            <a:off x="8046720" y="2468880"/>
            <a:ext cx="3520440" cy="3108960"/>
          </a:xfrm>
          <a:prstGeom prst="roundRect">
            <a:avLst>
              <a:gd name="adj" fmla="val 2941"/>
            </a:avLst>
          </a:prstGeom>
          <a:solidFill>
            <a:srgbClr val="FFFFFF"/>
          </a:solidFill>
          <a:ln w="22225">
            <a:solidFill>
              <a:srgbClr val="2A9D8F"/>
            </a:solidFill>
            <a:prstDash val="solid"/>
          </a:ln>
        </p:spPr>
      </p:sp>
      <p:sp>
        <p:nvSpPr>
          <p:cNvPr id="14" name="Shape 12"/>
          <p:cNvSpPr/>
          <p:nvPr/>
        </p:nvSpPr>
        <p:spPr>
          <a:xfrm>
            <a:off x="8065008" y="2487168"/>
            <a:ext cx="109728" cy="3072384"/>
          </a:xfrm>
          <a:prstGeom prst="rect">
            <a:avLst/>
          </a:prstGeom>
          <a:solidFill>
            <a:srgbClr val="2A9D8F"/>
          </a:solidFill>
          <a:ln w="12700">
            <a:solidFill>
              <a:srgbClr val="2A9D8F"/>
            </a:solidFill>
            <a:prstDash val="solid"/>
          </a:ln>
        </p:spPr>
      </p:sp>
      <p:sp>
        <p:nvSpPr>
          <p:cNvPr id="15" name="Text 13"/>
          <p:cNvSpPr/>
          <p:nvPr/>
        </p:nvSpPr>
        <p:spPr>
          <a:xfrm>
            <a:off x="8321040" y="2514600"/>
            <a:ext cx="3108960" cy="3017520"/>
          </a:xfrm>
          <a:prstGeom prst="rect">
            <a:avLst/>
          </a:prstGeom>
          <a:noFill/>
          <a:ln/>
        </p:spPr>
        <p:txBody>
          <a:bodyPr wrap="square" lIns="635" tIns="635" rIns="635" bIns="635" rtlCol="0" anchor="ctr"/>
          <a:lstStyle/>
          <a:p>
            <a:pPr indent="0" marL="0">
              <a:spcAft>
                <a:spcPts val="600"/>
              </a:spcAft>
              <a:buNone/>
            </a:pPr>
            <a:r>
              <a:rPr lang="en-US" sz="2200" b="1" dirty="0">
                <a:solidFill>
                  <a:srgbClr val="2A9D8F"/>
                </a:solidFill>
                <a:latin typeface="Calibri" pitchFamily="34" charset="0"/>
                <a:ea typeface="Calibri" pitchFamily="34" charset="-122"/>
                <a:cs typeface="Calibri" pitchFamily="34" charset="-120"/>
              </a:rPr>
              <a:t>Hybrid CPU</a:t>
            </a:r>
            <a:endParaRPr lang="en-US" sz="2200" dirty="0"/>
          </a:p>
          <a:p>
            <a:pPr indent="0" marL="0">
              <a:spcAft>
                <a:spcPts val="600"/>
              </a:spcAft>
              <a:buNone/>
            </a:pPr>
            <a:r>
              <a:rPr lang="en-US" sz="1700" dirty="0">
                <a:solidFill>
                  <a:srgbClr val="1F1A33"/>
                </a:solidFill>
                <a:latin typeface="Calibri" pitchFamily="34" charset="0"/>
                <a:ea typeface="Calibri" pitchFamily="34" charset="-122"/>
                <a:cs typeface="Calibri" pitchFamily="34" charset="-120"/>
              </a:rPr>
              <a:t>P-cores and E-cores have different speeds, so an equal split can leave fast cores waiting.</a:t>
            </a:r>
            <a:endParaRPr lang="en-US" sz="2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3774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23774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Literature Review</a:t>
            </a:r>
            <a:endParaRPr lang="en-US" sz="1600" dirty="0"/>
          </a:p>
        </p:txBody>
      </p:sp>
      <p:sp>
        <p:nvSpPr>
          <p:cNvPr id="4" name="Text 2"/>
          <p:cNvSpPr/>
          <p:nvPr/>
        </p:nvSpPr>
        <p:spPr>
          <a:xfrm>
            <a:off x="3017520" y="274320"/>
            <a:ext cx="91440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Related Work: Compression Quality</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1097280"/>
                <a:gridCol w="2011680"/>
                <a:gridCol w="3840480"/>
                <a:gridCol w="1828800"/>
                <a:gridCol w="2103120"/>
              </a:tblGrid>
              <a:tr h="457200">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Ref.</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Image</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Study</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CR</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PSNR (dB)</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Lena</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Thomas et 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1.52</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54.28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[16]</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Ranjan and Kumar</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4.41</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34.78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___</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29.67</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[6]</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Boat</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Thomas et 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1.41</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54.07</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___</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29.11</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r>
              <a:tr h="457200">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[17]</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F1A33"/>
                          </a:solidFill>
                          <a:latin typeface="Calibri" pitchFamily="34" charset="0"/>
                          <a:ea typeface="Calibri" pitchFamily="34" charset="-122"/>
                          <a:cs typeface="Calibri" pitchFamily="34" charset="-120"/>
                        </a:rPr>
                        <a:t>Cameraman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Bilal et 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25.3–26.8*</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457200">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___</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29.75</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1ECF9"/>
                    </a:solidFill>
                  </a:tcPr>
                </a:tc>
              </a:tr>
            </a:tbl>
          </a:graphicData>
        </a:graphic>
      </p:graphicFrame>
      <p:sp>
        <p:nvSpPr>
          <p:cNvPr id="7" name="Text 4"/>
          <p:cNvSpPr/>
          <p:nvPr/>
        </p:nvSpPr>
        <p:spPr>
          <a:xfrm>
            <a:off x="640080" y="5074920"/>
            <a:ext cx="10881360" cy="731520"/>
          </a:xfrm>
          <a:prstGeom prst="rect">
            <a:avLst/>
          </a:prstGeom>
          <a:noFill/>
          <a:ln/>
        </p:spPr>
        <p:txBody>
          <a:bodyPr wrap="square" lIns="0" tIns="0" rIns="0" bIns="0" rtlCol="0" anchor="ctr"/>
          <a:lstStyle/>
          <a:p>
            <a:pPr indent="0" marL="0">
              <a:buNone/>
            </a:pPr>
            <a:r>
              <a:rPr lang="en-US" sz="1200" i="1" dirty="0">
                <a:solidFill>
                  <a:srgbClr val="6B4FA3"/>
                </a:solidFill>
                <a:latin typeface="Calibri" pitchFamily="34" charset="0"/>
                <a:ea typeface="Calibri" pitchFamily="34" charset="-122"/>
                <a:cs typeface="Calibri" pitchFamily="34" charset="-120"/>
              </a:rPr>
              <a:t>* Bilal et al.: PSNR range at bit rates up to 0.625 bpp (CR not reported). Thomas et al. is a near-lossless scheme (CR ≈ 1.5).</a:t>
            </a:r>
            <a:endParaRPr lang="en-US" sz="1200" dirty="0"/>
          </a:p>
        </p:txBody>
      </p:sp>
      <p:sp>
        <p:nvSpPr>
          <p:cNvPr id="8" name="Text 5"/>
          <p:cNvSpPr/>
          <p:nvPr/>
        </p:nvSpPr>
        <p:spPr>
          <a:xfrm>
            <a:off x="640080" y="5852160"/>
            <a:ext cx="10881360" cy="548640"/>
          </a:xfrm>
          <a:prstGeom prst="rect">
            <a:avLst/>
          </a:prstGeom>
          <a:noFill/>
          <a:ln/>
        </p:spPr>
        <p:txBody>
          <a:bodyPr wrap="square" lIns="0" tIns="0" rIns="0" bIns="0" rtlCol="0" anchor="ctr"/>
          <a:lstStyle/>
          <a:p>
            <a:pPr indent="0" marL="0">
              <a:buNone/>
            </a:pPr>
            <a:r>
              <a:rPr lang="en-US" sz="1800" b="1" dirty="0">
                <a:solidFill>
                  <a:srgbClr val="2E2055"/>
                </a:solidFill>
                <a:latin typeface="Cambria" pitchFamily="34" charset="0"/>
                <a:ea typeface="Cambria" pitchFamily="34" charset="-122"/>
                <a:cs typeface="Cambria" pitchFamily="34" charset="-120"/>
              </a:rPr>
              <a:t>The proposed method provides substantially higher compression than the near-lossless method, with lower reconstruction fidelity.</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3774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23774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Literature Review</a:t>
            </a:r>
            <a:endParaRPr lang="en-US" sz="1600" dirty="0"/>
          </a:p>
        </p:txBody>
      </p:sp>
      <p:sp>
        <p:nvSpPr>
          <p:cNvPr id="4" name="Text 2"/>
          <p:cNvSpPr/>
          <p:nvPr/>
        </p:nvSpPr>
        <p:spPr>
          <a:xfrm>
            <a:off x="3017520" y="274320"/>
            <a:ext cx="91440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Related Work: Parallel Speedup</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1234440"/>
          <a:ext cx="10881360" cy="914400"/>
        </p:xfrm>
        <a:graphic>
          <a:graphicData uri="http://schemas.openxmlformats.org/drawingml/2006/table">
            <a:tbl>
              <a:tblPr/>
              <a:tblGrid>
                <a:gridCol w="2377440"/>
                <a:gridCol w="2468880"/>
                <a:gridCol w="2651760"/>
                <a:gridCol w="1280160"/>
                <a:gridCol w="2103120"/>
              </a:tblGrid>
              <a:tr h="640080">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Study</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Application</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Resources</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Baseline</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c>
                  <a:txBody>
                    <a:bodyPr/>
                    <a:lstStyle/>
                    <a:p>
                      <a:pPr algn="ctr" indent="0" marL="0">
                        <a:buNone/>
                      </a:pPr>
                      <a:r>
                        <a:rPr lang="en-US" sz="1400" b="1" dirty="0">
                          <a:solidFill>
                            <a:srgbClr val="FFFFFF"/>
                          </a:solidFill>
                          <a:latin typeface="Calibri" pitchFamily="34" charset="0"/>
                          <a:ea typeface="Calibri" pitchFamily="34" charset="-122"/>
                          <a:cs typeface="Calibri" pitchFamily="34" charset="-120"/>
                        </a:rPr>
                        <a:t>Speedup</a:t>
                      </a:r>
                      <a:endParaRPr lang="en-US" sz="14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6B4FA3"/>
                    </a:solidFill>
                  </a:tcPr>
                </a:tc>
              </a:tr>
              <a:tr h="640080">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Tanović et al. (2024)</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k-means, image classification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12 cores (OpenMP + MPI)</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Not stated</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Up to 10.2×</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r>
              <a:tr h="640080">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Papakyriakou et al. (2025)</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k-means, 75 M synthetic points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2–48 MPI processes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2 processes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 10.05×</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FFFFF"/>
                    </a:solidFill>
                  </a:tcPr>
                </a:tc>
              </a:tr>
              <a:tr h="640080">
                <a:tc>
                  <a:txBody>
                    <a:bodyPr/>
                    <a:lstStyle/>
                    <a:p>
                      <a:pPr algn="l" indent="0" marL="0">
                        <a:buNone/>
                      </a:pPr>
                      <a:r>
                        <a:rPr lang="en-US" sz="1300" b="1" dirty="0">
                          <a:solidFill>
                            <a:srgbClr val="1F1A33"/>
                          </a:solidFill>
                          <a:latin typeface="Calibri" pitchFamily="34" charset="0"/>
                          <a:ea typeface="Calibri" pitchFamily="34" charset="-122"/>
                          <a:cs typeface="Calibri" pitchFamily="34" charset="-120"/>
                        </a:rPr>
                        <a:t>Bystrov et al. (2023)</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Discrete-element simulation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l" indent="0" marL="0">
                        <a:buNone/>
                      </a:pPr>
                      <a:r>
                        <a:rPr lang="en-US" sz="1300" dirty="0">
                          <a:solidFill>
                            <a:srgbClr val="1F1A33"/>
                          </a:solidFill>
                          <a:latin typeface="Calibri" pitchFamily="34" charset="0"/>
                          <a:ea typeface="Calibri" pitchFamily="34" charset="-122"/>
                          <a:cs typeface="Calibri" pitchFamily="34" charset="-120"/>
                        </a:rPr>
                        <a:t>8 heterogeneous containers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Sequential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c>
                  <a:txBody>
                    <a:bodyPr/>
                    <a:lstStyle/>
                    <a:p>
                      <a:pPr algn="ctr" indent="0" marL="0">
                        <a:buNone/>
                      </a:pPr>
                      <a:r>
                        <a:rPr lang="en-US" sz="1300" dirty="0">
                          <a:solidFill>
                            <a:srgbClr val="1F1A33"/>
                          </a:solidFill>
                          <a:latin typeface="Calibri" pitchFamily="34" charset="0"/>
                          <a:ea typeface="Calibri" pitchFamily="34" charset="-122"/>
                          <a:cs typeface="Calibri" pitchFamily="34" charset="-120"/>
                        </a:rPr>
                        <a:t>Up to 6.0×</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F7F3FC"/>
                    </a:solidFill>
                  </a:tcPr>
                </a:tc>
              </a:tr>
              <a:tr h="640080">
                <a:tc>
                  <a:txBody>
                    <a:bodyPr/>
                    <a:lstStyle/>
                    <a:p>
                      <a:pPr algn="l" indent="0" marL="0">
                        <a:buNone/>
                      </a:pPr>
                      <a:r>
                        <a:rPr lang="en-US" sz="1300" b="1" dirty="0">
                          <a:solidFill>
                            <a:srgbClr val="E0457B"/>
                          </a:solidFill>
                          <a:latin typeface="Calibri" pitchFamily="34" charset="0"/>
                          <a:ea typeface="Calibri" pitchFamily="34" charset="-122"/>
                          <a:cs typeface="Calibri" pitchFamily="34" charset="-120"/>
                        </a:rPr>
                        <a:t>This work</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l" indent="0" marL="0">
                        <a:buNone/>
                      </a:pPr>
                      <a:r>
                        <a:rPr lang="en-US" sz="1300" b="1" dirty="0">
                          <a:solidFill>
                            <a:srgbClr val="E0457B"/>
                          </a:solidFill>
                          <a:latin typeface="Calibri" pitchFamily="34" charset="0"/>
                          <a:ea typeface="Calibri" pitchFamily="34" charset="-122"/>
                          <a:cs typeface="Calibri" pitchFamily="34" charset="-120"/>
                        </a:rPr>
                        <a:t>LBG image compression</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l" indent="0" marL="0">
                        <a:buNone/>
                      </a:pPr>
                      <a:r>
                        <a:rPr lang="en-US" sz="1300" b="1" dirty="0">
                          <a:solidFill>
                            <a:srgbClr val="E0457B"/>
                          </a:solidFill>
                          <a:latin typeface="Calibri" pitchFamily="34" charset="0"/>
                          <a:ea typeface="Calibri" pitchFamily="34" charset="-122"/>
                          <a:cs typeface="Calibri" pitchFamily="34" charset="-120"/>
                        </a:rPr>
                        <a:t>14 MPI processes (6 P + 8 E cores)</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Sequential</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c>
                  <a:txBody>
                    <a:bodyPr/>
                    <a:lstStyle/>
                    <a:p>
                      <a:pPr algn="ctr" indent="0" marL="0">
                        <a:buNone/>
                      </a:pPr>
                      <a:r>
                        <a:rPr lang="en-US" sz="1300" b="1" dirty="0">
                          <a:solidFill>
                            <a:srgbClr val="E0457B"/>
                          </a:solidFill>
                          <a:latin typeface="Calibri" pitchFamily="34" charset="0"/>
                          <a:ea typeface="Calibri" pitchFamily="34" charset="-122"/>
                          <a:cs typeface="Calibri" pitchFamily="34" charset="-120"/>
                        </a:rPr>
                        <a:t>9.19× (LBG); 5.00× / 6.84× (total, gray / color)</a:t>
                      </a:r>
                      <a:endParaRPr lang="en-US" sz="1300" dirty="0">
                        <a:latin typeface="Calibri" charset="0"/>
                        <a:ea typeface="Calibri" charset="0"/>
                        <a:cs typeface="Calibri" charset="0"/>
                      </a:endParaRPr>
                    </a:p>
                  </a:txBody>
                  <a:tcPr marL="91440" marR="91440" marT="45720" marB="45720" anchor="ctr">
                    <a:lnL w="12700" cap="flat" cmpd="sng" algn="ctr">
                      <a:solidFill>
                        <a:srgbClr val="E2D9F3"/>
                      </a:solidFill>
                      <a:prstDash val="solid"/>
                      <a:round/>
                      <a:headEnd type="none" w="med" len="med"/>
                      <a:tailEnd type="none" w="med" len="med"/>
                    </a:lnL>
                    <a:lnR w="12700" cap="flat" cmpd="sng" algn="ctr">
                      <a:solidFill>
                        <a:srgbClr val="E2D9F3"/>
                      </a:solidFill>
                      <a:prstDash val="solid"/>
                      <a:round/>
                      <a:headEnd type="none" w="med" len="med"/>
                      <a:tailEnd type="none" w="med" len="med"/>
                    </a:lnR>
                    <a:lnT w="12700" cap="flat" cmpd="sng" algn="ctr">
                      <a:solidFill>
                        <a:srgbClr val="E2D9F3"/>
                      </a:solidFill>
                      <a:prstDash val="solid"/>
                      <a:round/>
                      <a:headEnd type="none" w="med" len="med"/>
                      <a:tailEnd type="none" w="med" len="med"/>
                    </a:lnT>
                    <a:lnB w="12700" cap="flat" cmpd="sng" algn="ctr">
                      <a:solidFill>
                        <a:srgbClr val="E2D9F3"/>
                      </a:solidFill>
                      <a:prstDash val="solid"/>
                      <a:round/>
                      <a:headEnd type="none" w="med" len="med"/>
                      <a:tailEnd type="none" w="med" len="med"/>
                    </a:lnB>
                    <a:solidFill>
                      <a:srgbClr val="ECE6F6"/>
                    </a:solidFill>
                  </a:tcPr>
                </a:tc>
              </a:tr>
            </a:tbl>
          </a:graphicData>
        </a:graphic>
      </p:graphicFrame>
      <p:sp>
        <p:nvSpPr>
          <p:cNvPr id="7" name="Shape 4"/>
          <p:cNvSpPr/>
          <p:nvPr/>
        </p:nvSpPr>
        <p:spPr>
          <a:xfrm>
            <a:off x="640080" y="4754880"/>
            <a:ext cx="10881360" cy="1417320"/>
          </a:xfrm>
          <a:prstGeom prst="roundRect">
            <a:avLst>
              <a:gd name="adj" fmla="val 6452"/>
            </a:avLst>
          </a:prstGeom>
          <a:solidFill>
            <a:srgbClr val="F5F1FB"/>
          </a:solidFill>
          <a:ln w="25400">
            <a:solidFill>
              <a:srgbClr val="E0457B"/>
            </a:solidFill>
            <a:prstDash val="solid"/>
          </a:ln>
        </p:spPr>
      </p:sp>
      <p:sp>
        <p:nvSpPr>
          <p:cNvPr id="8" name="Text 5"/>
          <p:cNvSpPr/>
          <p:nvPr/>
        </p:nvSpPr>
        <p:spPr>
          <a:xfrm>
            <a:off x="822960" y="4754880"/>
            <a:ext cx="10515600" cy="1417320"/>
          </a:xfrm>
          <a:prstGeom prst="rect">
            <a:avLst/>
          </a:prstGeom>
          <a:noFill/>
          <a:ln/>
        </p:spPr>
        <p:txBody>
          <a:bodyPr wrap="square" lIns="0" tIns="0" rIns="0" bIns="0" rtlCol="0" anchor="ctr"/>
          <a:lstStyle/>
          <a:p>
            <a:pPr indent="0" marL="0">
              <a:buNone/>
            </a:pPr>
            <a:r>
              <a:rPr lang="en-US" sz="1800" b="1" dirty="0">
                <a:solidFill>
                  <a:srgbClr val="E0457B"/>
                </a:solidFill>
                <a:latin typeface="Calibri" pitchFamily="34" charset="0"/>
                <a:ea typeface="Calibri" pitchFamily="34" charset="-122"/>
                <a:cs typeface="Calibri" pitchFamily="34" charset="-120"/>
              </a:rPr>
              <a:t>Research gap  </a:t>
            </a:r>
            <a:endParaRPr lang="en-US" sz="1800" dirty="0"/>
          </a:p>
          <a:p>
            <a:pPr indent="0" marL="0">
              <a:buNone/>
            </a:pPr>
            <a:r>
              <a:rPr lang="en-US" sz="1800" dirty="0">
                <a:solidFill>
                  <a:srgbClr val="1F1A33"/>
                </a:solidFill>
                <a:latin typeface="Calibri" pitchFamily="34" charset="0"/>
                <a:ea typeface="Calibri" pitchFamily="34" charset="-122"/>
                <a:cs typeface="Calibri" pitchFamily="34" charset="-120"/>
              </a:rPr>
              <a:t>Existing parallel studies target k-means or other applications. To our knowledge, none of the reviewed studies evaluates MPI-parallel LBG for image compression on a hybrid P/E-core CPU.</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286000" cy="502920"/>
          </a:xfrm>
          <a:prstGeom prst="roundRect">
            <a:avLst>
              <a:gd name="adj" fmla="val 18182"/>
            </a:avLst>
          </a:prstGeom>
          <a:solidFill>
            <a:srgbClr val="E0457B"/>
          </a:solidFill>
          <a:ln w="12700">
            <a:solidFill>
              <a:srgbClr val="E0457B"/>
            </a:solidFill>
            <a:prstDash val="solid"/>
          </a:ln>
        </p:spPr>
      </p:sp>
      <p:sp>
        <p:nvSpPr>
          <p:cNvPr id="3" name="Text 1"/>
          <p:cNvSpPr/>
          <p:nvPr/>
        </p:nvSpPr>
        <p:spPr>
          <a:xfrm>
            <a:off x="457200" y="320040"/>
            <a:ext cx="228600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Problem Statement</a:t>
            </a:r>
            <a:endParaRPr lang="en-US" sz="1600" dirty="0"/>
          </a:p>
        </p:txBody>
      </p:sp>
      <p:sp>
        <p:nvSpPr>
          <p:cNvPr id="4" name="Text 2"/>
          <p:cNvSpPr/>
          <p:nvPr/>
        </p:nvSpPr>
        <p:spPr>
          <a:xfrm>
            <a:off x="2926080" y="274320"/>
            <a:ext cx="923544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Problem Statement</a:t>
            </a:r>
            <a:endParaRPr lang="en-US" sz="2800" dirty="0"/>
          </a:p>
        </p:txBody>
      </p:sp>
      <p:sp>
        <p:nvSpPr>
          <p:cNvPr id="5" name="Shape 3"/>
          <p:cNvSpPr/>
          <p:nvPr/>
        </p:nvSpPr>
        <p:spPr>
          <a:xfrm>
            <a:off x="457200" y="960120"/>
            <a:ext cx="11274552" cy="36576"/>
          </a:xfrm>
          <a:prstGeom prst="rect">
            <a:avLst/>
          </a:prstGeom>
          <a:solidFill>
            <a:srgbClr val="E0457B"/>
          </a:solidFill>
          <a:ln w="12700">
            <a:solidFill>
              <a:srgbClr val="E0457B"/>
            </a:solidFill>
            <a:prstDash val="solid"/>
          </a:ln>
        </p:spPr>
      </p:sp>
      <p:sp>
        <p:nvSpPr>
          <p:cNvPr id="6" name="Shape 4"/>
          <p:cNvSpPr/>
          <p:nvPr/>
        </p:nvSpPr>
        <p:spPr>
          <a:xfrm>
            <a:off x="640080" y="1463040"/>
            <a:ext cx="685800" cy="685800"/>
          </a:xfrm>
          <a:prstGeom prst="ellipse">
            <a:avLst/>
          </a:prstGeom>
          <a:solidFill>
            <a:srgbClr val="E0457B"/>
          </a:solidFill>
          <a:ln w="12700">
            <a:solidFill>
              <a:srgbClr val="E0457B"/>
            </a:solidFill>
            <a:prstDash val="solid"/>
          </a:ln>
        </p:spPr>
      </p:sp>
      <p:sp>
        <p:nvSpPr>
          <p:cNvPr id="7" name="Text 5"/>
          <p:cNvSpPr/>
          <p:nvPr/>
        </p:nvSpPr>
        <p:spPr>
          <a:xfrm>
            <a:off x="640080" y="146304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1</a:t>
            </a:r>
            <a:endParaRPr lang="en-US" sz="2400" dirty="0"/>
          </a:p>
        </p:txBody>
      </p:sp>
      <p:sp>
        <p:nvSpPr>
          <p:cNvPr id="8" name="Text 6"/>
          <p:cNvSpPr/>
          <p:nvPr/>
        </p:nvSpPr>
        <p:spPr>
          <a:xfrm>
            <a:off x="1554480" y="1280160"/>
            <a:ext cx="9966960" cy="1097280"/>
          </a:xfrm>
          <a:prstGeom prst="rect">
            <a:avLst/>
          </a:prstGeom>
          <a:noFill/>
          <a:ln/>
        </p:spPr>
        <p:txBody>
          <a:bodyPr wrap="square" lIns="0" tIns="0" rIns="0" bIns="0" rtlCol="0" anchor="ctr"/>
          <a:lstStyle/>
          <a:p>
            <a:pPr indent="0" marL="0">
              <a:buNone/>
            </a:pPr>
            <a:r>
              <a:rPr lang="en-US" sz="1800" dirty="0">
                <a:solidFill>
                  <a:srgbClr val="1F1A33"/>
                </a:solidFill>
                <a:latin typeface="Calibri" pitchFamily="34" charset="0"/>
                <a:ea typeface="Calibri" pitchFamily="34" charset="-122"/>
                <a:cs typeface="Calibri" pitchFamily="34" charset="-120"/>
              </a:rPr>
              <a:t>Transmitting and storing uncompressed images consumes bandwidth and storage capacity.</a:t>
            </a:r>
            <a:endParaRPr lang="en-US" sz="1800" dirty="0"/>
          </a:p>
        </p:txBody>
      </p:sp>
      <p:sp>
        <p:nvSpPr>
          <p:cNvPr id="9" name="Shape 7"/>
          <p:cNvSpPr/>
          <p:nvPr/>
        </p:nvSpPr>
        <p:spPr>
          <a:xfrm>
            <a:off x="640080" y="2697480"/>
            <a:ext cx="685800" cy="685800"/>
          </a:xfrm>
          <a:prstGeom prst="ellipse">
            <a:avLst/>
          </a:prstGeom>
          <a:solidFill>
            <a:srgbClr val="E0457B"/>
          </a:solidFill>
          <a:ln w="12700">
            <a:solidFill>
              <a:srgbClr val="E0457B"/>
            </a:solidFill>
            <a:prstDash val="solid"/>
          </a:ln>
        </p:spPr>
      </p:sp>
      <p:sp>
        <p:nvSpPr>
          <p:cNvPr id="10" name="Text 8"/>
          <p:cNvSpPr/>
          <p:nvPr/>
        </p:nvSpPr>
        <p:spPr>
          <a:xfrm>
            <a:off x="640080" y="269748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2</a:t>
            </a:r>
            <a:endParaRPr lang="en-US" sz="2400" dirty="0"/>
          </a:p>
        </p:txBody>
      </p:sp>
      <p:sp>
        <p:nvSpPr>
          <p:cNvPr id="11" name="Text 9"/>
          <p:cNvSpPr/>
          <p:nvPr/>
        </p:nvSpPr>
        <p:spPr>
          <a:xfrm>
            <a:off x="1554480" y="2514600"/>
            <a:ext cx="9966960" cy="1097280"/>
          </a:xfrm>
          <a:prstGeom prst="rect">
            <a:avLst/>
          </a:prstGeom>
          <a:noFill/>
          <a:ln/>
        </p:spPr>
        <p:txBody>
          <a:bodyPr wrap="square" lIns="0" tIns="0" rIns="0" bIns="0" rtlCol="0" anchor="ctr"/>
          <a:lstStyle/>
          <a:p>
            <a:pPr indent="0" marL="0">
              <a:buNone/>
            </a:pPr>
            <a:r>
              <a:rPr lang="en-US" sz="1800" dirty="0">
                <a:solidFill>
                  <a:srgbClr val="1F1A33"/>
                </a:solidFill>
                <a:latin typeface="Calibri" pitchFamily="34" charset="0"/>
                <a:ea typeface="Calibri" pitchFamily="34" charset="-122"/>
                <a:cs typeface="Calibri" pitchFamily="34" charset="-120"/>
              </a:rPr>
              <a:t>LBG vector quantization gives a compact representation, but codebook training is computationally expensive: it repeatedly computes distances between training vectors and codewords (about 77% of the sequential time, gray images).</a:t>
            </a:r>
            <a:endParaRPr lang="en-US" sz="1800" dirty="0"/>
          </a:p>
        </p:txBody>
      </p:sp>
      <p:sp>
        <p:nvSpPr>
          <p:cNvPr id="12" name="Shape 10"/>
          <p:cNvSpPr/>
          <p:nvPr/>
        </p:nvSpPr>
        <p:spPr>
          <a:xfrm>
            <a:off x="640080" y="3931920"/>
            <a:ext cx="685800" cy="685800"/>
          </a:xfrm>
          <a:prstGeom prst="ellipse">
            <a:avLst/>
          </a:prstGeom>
          <a:solidFill>
            <a:srgbClr val="E0457B"/>
          </a:solidFill>
          <a:ln w="12700">
            <a:solidFill>
              <a:srgbClr val="E0457B"/>
            </a:solidFill>
            <a:prstDash val="solid"/>
          </a:ln>
        </p:spPr>
      </p:sp>
      <p:sp>
        <p:nvSpPr>
          <p:cNvPr id="13" name="Text 11"/>
          <p:cNvSpPr/>
          <p:nvPr/>
        </p:nvSpPr>
        <p:spPr>
          <a:xfrm>
            <a:off x="640080" y="3931920"/>
            <a:ext cx="685800" cy="685800"/>
          </a:xfrm>
          <a:prstGeom prst="rect">
            <a:avLst/>
          </a:prstGeom>
          <a:noFill/>
          <a:ln/>
        </p:spPr>
        <p:txBody>
          <a:bodyPr wrap="square" lIns="0" tIns="0" rIns="0" bIns="0" rtlCol="0" anchor="ctr"/>
          <a:lstStyle/>
          <a:p>
            <a:pPr algn="ctr" indent="0" marL="0">
              <a:buNone/>
            </a:pPr>
            <a:r>
              <a:rPr lang="en-US" sz="2400" b="1" dirty="0">
                <a:solidFill>
                  <a:srgbClr val="FFFFFF"/>
                </a:solidFill>
                <a:latin typeface="Calibri" pitchFamily="34" charset="0"/>
                <a:ea typeface="Calibri" pitchFamily="34" charset="-122"/>
                <a:cs typeface="Calibri" pitchFamily="34" charset="-120"/>
              </a:rPr>
              <a:t>3</a:t>
            </a:r>
            <a:endParaRPr lang="en-US" sz="2400" dirty="0"/>
          </a:p>
        </p:txBody>
      </p:sp>
      <p:sp>
        <p:nvSpPr>
          <p:cNvPr id="14" name="Text 12"/>
          <p:cNvSpPr/>
          <p:nvPr/>
        </p:nvSpPr>
        <p:spPr>
          <a:xfrm>
            <a:off x="1554480" y="3749040"/>
            <a:ext cx="9966960" cy="1097280"/>
          </a:xfrm>
          <a:prstGeom prst="rect">
            <a:avLst/>
          </a:prstGeom>
          <a:noFill/>
          <a:ln/>
        </p:spPr>
        <p:txBody>
          <a:bodyPr wrap="square" lIns="0" tIns="0" rIns="0" bIns="0" rtlCol="0" anchor="ctr"/>
          <a:lstStyle/>
          <a:p>
            <a:pPr indent="0" marL="0">
              <a:buNone/>
            </a:pPr>
            <a:r>
              <a:rPr lang="en-US" sz="1800" dirty="0">
                <a:solidFill>
                  <a:srgbClr val="1F1A33"/>
                </a:solidFill>
                <a:latin typeface="Calibri" pitchFamily="34" charset="0"/>
                <a:ea typeface="Calibri" pitchFamily="34" charset="-122"/>
                <a:cs typeface="Calibri" pitchFamily="34" charset="-120"/>
              </a:rPr>
              <a:t>On a hybrid CPU, an equal distribution of training vectors causes workload imbalance: the faster P-cores finish early and wait for the slower E-cores at synchronization points.</a:t>
            </a:r>
            <a:endParaRPr lang="en-US" sz="1800" dirty="0"/>
          </a:p>
        </p:txBody>
      </p:sp>
      <p:sp>
        <p:nvSpPr>
          <p:cNvPr id="15" name="Shape 13"/>
          <p:cNvSpPr/>
          <p:nvPr/>
        </p:nvSpPr>
        <p:spPr>
          <a:xfrm>
            <a:off x="640080" y="5074920"/>
            <a:ext cx="10927080" cy="1280160"/>
          </a:xfrm>
          <a:prstGeom prst="roundRect">
            <a:avLst>
              <a:gd name="adj" fmla="val 7143"/>
            </a:avLst>
          </a:prstGeom>
          <a:solidFill>
            <a:srgbClr val="E0457B"/>
          </a:solidFill>
          <a:ln w="12700">
            <a:solidFill>
              <a:srgbClr val="E0457B"/>
            </a:solidFill>
            <a:prstDash val="solid"/>
          </a:ln>
        </p:spPr>
      </p:sp>
      <p:sp>
        <p:nvSpPr>
          <p:cNvPr id="16" name="Text 14"/>
          <p:cNvSpPr/>
          <p:nvPr/>
        </p:nvSpPr>
        <p:spPr>
          <a:xfrm>
            <a:off x="868680" y="5074920"/>
            <a:ext cx="10469880" cy="1280160"/>
          </a:xfrm>
          <a:prstGeom prst="rect">
            <a:avLst/>
          </a:prstGeom>
          <a:noFill/>
          <a:ln/>
        </p:spPr>
        <p:txBody>
          <a:bodyPr wrap="square" lIns="0" tIns="0" rIns="0" bIns="0" rtlCol="0" anchor="ctr"/>
          <a:lstStyle/>
          <a:p>
            <a:pPr indent="0" marL="0">
              <a:buNone/>
            </a:pPr>
            <a:r>
              <a:rPr lang="en-US" sz="1900" b="1" dirty="0">
                <a:solidFill>
                  <a:srgbClr val="FFFFFF"/>
                </a:solidFill>
                <a:latin typeface="Calibri" pitchFamily="34" charset="0"/>
                <a:ea typeface="Calibri" pitchFamily="34" charset="-122"/>
                <a:cs typeface="Calibri" pitchFamily="34" charset="-120"/>
              </a:rPr>
              <a:t>Reduce LBG training and total compression time through speed-aware workload distribution, while preserving the compression ratio and the reconstruction quality of the sequential implementation.</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286000" cy="502920"/>
          </a:xfrm>
          <a:prstGeom prst="roundRect">
            <a:avLst>
              <a:gd name="adj" fmla="val 18182"/>
            </a:avLst>
          </a:prstGeom>
          <a:solidFill>
            <a:srgbClr val="E0457B"/>
          </a:solidFill>
          <a:ln w="12700">
            <a:solidFill>
              <a:srgbClr val="E0457B"/>
            </a:solidFill>
            <a:prstDash val="solid"/>
          </a:ln>
        </p:spPr>
      </p:sp>
      <p:sp>
        <p:nvSpPr>
          <p:cNvPr id="3" name="Text 1"/>
          <p:cNvSpPr/>
          <p:nvPr/>
        </p:nvSpPr>
        <p:spPr>
          <a:xfrm>
            <a:off x="457200" y="320040"/>
            <a:ext cx="228600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Objectives</a:t>
            </a:r>
            <a:endParaRPr lang="en-US" sz="1600" dirty="0"/>
          </a:p>
        </p:txBody>
      </p:sp>
      <p:sp>
        <p:nvSpPr>
          <p:cNvPr id="4" name="Text 2"/>
          <p:cNvSpPr/>
          <p:nvPr/>
        </p:nvSpPr>
        <p:spPr>
          <a:xfrm>
            <a:off x="2926080" y="274320"/>
            <a:ext cx="923544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Thesis Objectives</a:t>
            </a:r>
            <a:endParaRPr lang="en-US" sz="2800" dirty="0"/>
          </a:p>
        </p:txBody>
      </p:sp>
      <p:sp>
        <p:nvSpPr>
          <p:cNvPr id="5" name="Shape 3"/>
          <p:cNvSpPr/>
          <p:nvPr/>
        </p:nvSpPr>
        <p:spPr>
          <a:xfrm>
            <a:off x="457200" y="960120"/>
            <a:ext cx="11274552" cy="36576"/>
          </a:xfrm>
          <a:prstGeom prst="rect">
            <a:avLst/>
          </a:prstGeom>
          <a:solidFill>
            <a:srgbClr val="E0457B"/>
          </a:solidFill>
          <a:ln w="12700">
            <a:solidFill>
              <a:srgbClr val="E0457B"/>
            </a:solidFill>
            <a:prstDash val="solid"/>
          </a:ln>
        </p:spPr>
      </p:sp>
      <p:sp>
        <p:nvSpPr>
          <p:cNvPr id="6" name="Shape 4"/>
          <p:cNvSpPr/>
          <p:nvPr/>
        </p:nvSpPr>
        <p:spPr>
          <a:xfrm>
            <a:off x="640080" y="1234440"/>
            <a:ext cx="10927080" cy="1143000"/>
          </a:xfrm>
          <a:prstGeom prst="roundRect">
            <a:avLst>
              <a:gd name="adj" fmla="val 8000"/>
            </a:avLst>
          </a:prstGeom>
          <a:solidFill>
            <a:srgbClr val="FFFFFF"/>
          </a:solidFill>
          <a:ln w="22225">
            <a:solidFill>
              <a:srgbClr val="6B4FA3"/>
            </a:solidFill>
            <a:prstDash val="solid"/>
          </a:ln>
        </p:spPr>
      </p:sp>
      <p:sp>
        <p:nvSpPr>
          <p:cNvPr id="7" name="Shape 5"/>
          <p:cNvSpPr/>
          <p:nvPr/>
        </p:nvSpPr>
        <p:spPr>
          <a:xfrm>
            <a:off x="658368" y="1252728"/>
            <a:ext cx="109728" cy="1106424"/>
          </a:xfrm>
          <a:prstGeom prst="rect">
            <a:avLst/>
          </a:prstGeom>
          <a:solidFill>
            <a:srgbClr val="6B4FA3"/>
          </a:solidFill>
          <a:ln w="12700">
            <a:solidFill>
              <a:srgbClr val="6B4FA3"/>
            </a:solidFill>
            <a:prstDash val="solid"/>
          </a:ln>
        </p:spPr>
      </p:sp>
      <p:sp>
        <p:nvSpPr>
          <p:cNvPr id="8" name="Text 6"/>
          <p:cNvSpPr/>
          <p:nvPr/>
        </p:nvSpPr>
        <p:spPr>
          <a:xfrm>
            <a:off x="914400" y="128016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6B4FA3"/>
                </a:solidFill>
                <a:latin typeface="Calibri" pitchFamily="34" charset="0"/>
                <a:ea typeface="Calibri" pitchFamily="34" charset="-122"/>
                <a:cs typeface="Calibri" pitchFamily="34" charset="-120"/>
              </a:rPr>
              <a:t>1. Image Compression Framework Development</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compress grayscale and color images by combining LBG vector quantization, delta coding, and Huffman coding.</a:t>
            </a:r>
            <a:endParaRPr lang="en-US" sz="1900" dirty="0"/>
          </a:p>
        </p:txBody>
      </p:sp>
      <p:sp>
        <p:nvSpPr>
          <p:cNvPr id="9" name="Shape 7"/>
          <p:cNvSpPr/>
          <p:nvPr/>
        </p:nvSpPr>
        <p:spPr>
          <a:xfrm>
            <a:off x="640080" y="2514600"/>
            <a:ext cx="10927080" cy="1143000"/>
          </a:xfrm>
          <a:prstGeom prst="roundRect">
            <a:avLst>
              <a:gd name="adj" fmla="val 8000"/>
            </a:avLst>
          </a:prstGeom>
          <a:solidFill>
            <a:srgbClr val="FFFFFF"/>
          </a:solidFill>
          <a:ln w="22225">
            <a:solidFill>
              <a:srgbClr val="E07B22"/>
            </a:solidFill>
            <a:prstDash val="solid"/>
          </a:ln>
        </p:spPr>
      </p:sp>
      <p:sp>
        <p:nvSpPr>
          <p:cNvPr id="10" name="Shape 8"/>
          <p:cNvSpPr/>
          <p:nvPr/>
        </p:nvSpPr>
        <p:spPr>
          <a:xfrm>
            <a:off x="658368" y="2532888"/>
            <a:ext cx="109728" cy="1106424"/>
          </a:xfrm>
          <a:prstGeom prst="rect">
            <a:avLst/>
          </a:prstGeom>
          <a:solidFill>
            <a:srgbClr val="E07B22"/>
          </a:solidFill>
          <a:ln w="12700">
            <a:solidFill>
              <a:srgbClr val="E07B22"/>
            </a:solidFill>
            <a:prstDash val="solid"/>
          </a:ln>
        </p:spPr>
      </p:sp>
      <p:sp>
        <p:nvSpPr>
          <p:cNvPr id="11" name="Text 9"/>
          <p:cNvSpPr/>
          <p:nvPr/>
        </p:nvSpPr>
        <p:spPr>
          <a:xfrm>
            <a:off x="914400" y="256032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E07B22"/>
                </a:solidFill>
                <a:latin typeface="Calibri" pitchFamily="34" charset="0"/>
                <a:ea typeface="Calibri" pitchFamily="34" charset="-122"/>
                <a:cs typeface="Calibri" pitchFamily="34" charset="-120"/>
              </a:rPr>
              <a:t>2. LBG Execution-Time Reduction</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reduce codebook-training time by parallelizing the computationally intensive operations of LBG using MPI.</a:t>
            </a:r>
            <a:endParaRPr lang="en-US" sz="1900" dirty="0"/>
          </a:p>
        </p:txBody>
      </p:sp>
      <p:sp>
        <p:nvSpPr>
          <p:cNvPr id="12" name="Shape 10"/>
          <p:cNvSpPr/>
          <p:nvPr/>
        </p:nvSpPr>
        <p:spPr>
          <a:xfrm>
            <a:off x="640080" y="3794760"/>
            <a:ext cx="10927080" cy="1143000"/>
          </a:xfrm>
          <a:prstGeom prst="roundRect">
            <a:avLst>
              <a:gd name="adj" fmla="val 8000"/>
            </a:avLst>
          </a:prstGeom>
          <a:solidFill>
            <a:srgbClr val="FFFFFF"/>
          </a:solidFill>
          <a:ln w="22225">
            <a:solidFill>
              <a:srgbClr val="2A9D8F"/>
            </a:solidFill>
            <a:prstDash val="solid"/>
          </a:ln>
        </p:spPr>
      </p:sp>
      <p:sp>
        <p:nvSpPr>
          <p:cNvPr id="13" name="Shape 11"/>
          <p:cNvSpPr/>
          <p:nvPr/>
        </p:nvSpPr>
        <p:spPr>
          <a:xfrm>
            <a:off x="658368" y="3813048"/>
            <a:ext cx="109728" cy="1106424"/>
          </a:xfrm>
          <a:prstGeom prst="rect">
            <a:avLst/>
          </a:prstGeom>
          <a:solidFill>
            <a:srgbClr val="2A9D8F"/>
          </a:solidFill>
          <a:ln w="12700">
            <a:solidFill>
              <a:srgbClr val="2A9D8F"/>
            </a:solidFill>
            <a:prstDash val="solid"/>
          </a:ln>
        </p:spPr>
      </p:sp>
      <p:sp>
        <p:nvSpPr>
          <p:cNvPr id="14" name="Text 12"/>
          <p:cNvSpPr/>
          <p:nvPr/>
        </p:nvSpPr>
        <p:spPr>
          <a:xfrm>
            <a:off x="914400" y="384048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2A9D8F"/>
                </a:solidFill>
                <a:latin typeface="Calibri" pitchFamily="34" charset="0"/>
                <a:ea typeface="Calibri" pitchFamily="34" charset="-122"/>
                <a:cs typeface="Calibri" pitchFamily="34" charset="-120"/>
              </a:rPr>
              <a:t>3. Workload Distribution Improvement</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distribute the training vectors according to the measured throughput of each MPI process on the P-cores and E-cores, and to improve performance compared with equal distribution.</a:t>
            </a:r>
            <a:endParaRPr lang="en-US" sz="1900" dirty="0"/>
          </a:p>
        </p:txBody>
      </p:sp>
      <p:sp>
        <p:nvSpPr>
          <p:cNvPr id="15" name="Shape 13"/>
          <p:cNvSpPr/>
          <p:nvPr/>
        </p:nvSpPr>
        <p:spPr>
          <a:xfrm>
            <a:off x="640080" y="5074920"/>
            <a:ext cx="10927080" cy="1143000"/>
          </a:xfrm>
          <a:prstGeom prst="roundRect">
            <a:avLst>
              <a:gd name="adj" fmla="val 8000"/>
            </a:avLst>
          </a:prstGeom>
          <a:solidFill>
            <a:srgbClr val="FFFFFF"/>
          </a:solidFill>
          <a:ln w="22225">
            <a:solidFill>
              <a:srgbClr val="E0457B"/>
            </a:solidFill>
            <a:prstDash val="solid"/>
          </a:ln>
        </p:spPr>
      </p:sp>
      <p:sp>
        <p:nvSpPr>
          <p:cNvPr id="16" name="Shape 14"/>
          <p:cNvSpPr/>
          <p:nvPr/>
        </p:nvSpPr>
        <p:spPr>
          <a:xfrm>
            <a:off x="658368" y="5093208"/>
            <a:ext cx="109728" cy="1106424"/>
          </a:xfrm>
          <a:prstGeom prst="rect">
            <a:avLst/>
          </a:prstGeom>
          <a:solidFill>
            <a:srgbClr val="E0457B"/>
          </a:solidFill>
          <a:ln w="12700">
            <a:solidFill>
              <a:srgbClr val="E0457B"/>
            </a:solidFill>
            <a:prstDash val="solid"/>
          </a:ln>
        </p:spPr>
      </p:sp>
      <p:sp>
        <p:nvSpPr>
          <p:cNvPr id="17" name="Text 15"/>
          <p:cNvSpPr/>
          <p:nvPr/>
        </p:nvSpPr>
        <p:spPr>
          <a:xfrm>
            <a:off x="914400" y="5120640"/>
            <a:ext cx="10515600" cy="1051560"/>
          </a:xfrm>
          <a:prstGeom prst="rect">
            <a:avLst/>
          </a:prstGeom>
          <a:noFill/>
          <a:ln/>
        </p:spPr>
        <p:txBody>
          <a:bodyPr wrap="square" lIns="635" tIns="635" rIns="635" bIns="635" rtlCol="0" anchor="ctr"/>
          <a:lstStyle/>
          <a:p>
            <a:pPr indent="0" marL="0">
              <a:spcAft>
                <a:spcPts val="600"/>
              </a:spcAft>
              <a:buNone/>
            </a:pPr>
            <a:r>
              <a:rPr lang="en-US" sz="1900" b="1" dirty="0">
                <a:solidFill>
                  <a:srgbClr val="E0457B"/>
                </a:solidFill>
                <a:latin typeface="Calibri" pitchFamily="34" charset="0"/>
                <a:ea typeface="Calibri" pitchFamily="34" charset="-122"/>
                <a:cs typeface="Calibri" pitchFamily="34" charset="-120"/>
              </a:rPr>
              <a:t>4. Performance Evaluation and Result Verification</a:t>
            </a:r>
            <a:endParaRPr lang="en-US" sz="19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To evaluate compression, reconstruction quality and parallel performance, and to verify that the parallel results match the sequential implementation.</a:t>
            </a:r>
            <a:endParaRPr lang="en-US" sz="1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320040" y="182880"/>
            <a:ext cx="11503152" cy="1417320"/>
          </a:xfrm>
          <a:prstGeom prst="roundRect">
            <a:avLst>
              <a:gd name="adj" fmla="val 6452"/>
            </a:avLst>
          </a:prstGeom>
          <a:solidFill>
            <a:srgbClr val="E3EEFA"/>
          </a:solidFill>
          <a:ln w="12700">
            <a:solidFill>
              <a:srgbClr val="2F6FB5"/>
            </a:solidFill>
            <a:prstDash val="solid"/>
          </a:ln>
        </p:spPr>
      </p:sp>
      <p:sp>
        <p:nvSpPr>
          <p:cNvPr id="3" name="Shape 1"/>
          <p:cNvSpPr/>
          <p:nvPr/>
        </p:nvSpPr>
        <p:spPr>
          <a:xfrm>
            <a:off x="365760" y="228600"/>
            <a:ext cx="2240280" cy="1325880"/>
          </a:xfrm>
          <a:prstGeom prst="roundRect">
            <a:avLst>
              <a:gd name="adj" fmla="val 5517"/>
            </a:avLst>
          </a:prstGeom>
          <a:solidFill>
            <a:srgbClr val="2F6FB5"/>
          </a:solidFill>
          <a:ln w="12700">
            <a:solidFill>
              <a:srgbClr val="2F6FB5"/>
            </a:solidFill>
            <a:prstDash val="solid"/>
          </a:ln>
        </p:spPr>
      </p:sp>
      <p:sp>
        <p:nvSpPr>
          <p:cNvPr id="4" name="Text 2"/>
          <p:cNvSpPr/>
          <p:nvPr/>
        </p:nvSpPr>
        <p:spPr>
          <a:xfrm>
            <a:off x="365760" y="228600"/>
            <a:ext cx="2240280" cy="100584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1</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Block</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Formation</a:t>
            </a:r>
            <a:endParaRPr lang="en-US" sz="2200" dirty="0"/>
          </a:p>
        </p:txBody>
      </p:sp>
      <p:sp>
        <p:nvSpPr>
          <p:cNvPr id="5" name="Shape 3"/>
          <p:cNvSpPr/>
          <p:nvPr/>
        </p:nvSpPr>
        <p:spPr>
          <a:xfrm>
            <a:off x="475488" y="1188720"/>
            <a:ext cx="2020824" cy="292608"/>
          </a:xfrm>
          <a:prstGeom prst="roundRect">
            <a:avLst>
              <a:gd name="adj" fmla="val 50000"/>
            </a:avLst>
          </a:prstGeom>
          <a:solidFill>
            <a:srgbClr val="FFFFFF"/>
          </a:solidFill>
          <a:ln w="12700">
            <a:solidFill>
              <a:srgbClr val="FFFFFF"/>
            </a:solidFill>
            <a:prstDash val="solid"/>
          </a:ln>
        </p:spPr>
      </p:sp>
      <p:sp>
        <p:nvSpPr>
          <p:cNvPr id="6" name="Text 4"/>
          <p:cNvSpPr/>
          <p:nvPr/>
        </p:nvSpPr>
        <p:spPr>
          <a:xfrm>
            <a:off x="475488" y="1188720"/>
            <a:ext cx="2020824" cy="292608"/>
          </a:xfrm>
          <a:prstGeom prst="rect">
            <a:avLst/>
          </a:prstGeom>
          <a:noFill/>
          <a:ln/>
        </p:spPr>
        <p:txBody>
          <a:bodyPr wrap="square" lIns="0" tIns="0" rIns="0" bIns="0" rtlCol="0" anchor="ctr"/>
          <a:lstStyle/>
          <a:p>
            <a:pPr algn="ctr" indent="0" marL="0">
              <a:buNone/>
            </a:pPr>
            <a:r>
              <a:rPr lang="en-US" sz="1200" b="1" dirty="0">
                <a:solidFill>
                  <a:srgbClr val="5B6770"/>
                </a:solidFill>
                <a:latin typeface="Calibri" pitchFamily="34" charset="0"/>
                <a:ea typeface="Calibri" pitchFamily="34" charset="-122"/>
                <a:cs typeface="Calibri" pitchFamily="34" charset="-120"/>
              </a:rPr>
              <a:t>SEQUENTIAL: Rank 0</a:t>
            </a:r>
            <a:endParaRPr lang="en-US" sz="1200" dirty="0"/>
          </a:p>
        </p:txBody>
      </p:sp>
      <p:sp>
        <p:nvSpPr>
          <p:cNvPr id="7" name="Shape 5"/>
          <p:cNvSpPr/>
          <p:nvPr/>
        </p:nvSpPr>
        <p:spPr>
          <a:xfrm>
            <a:off x="2788920" y="320040"/>
            <a:ext cx="2011680" cy="1143000"/>
          </a:xfrm>
          <a:prstGeom prst="roundRect">
            <a:avLst>
              <a:gd name="adj" fmla="val 6400"/>
            </a:avLst>
          </a:prstGeom>
          <a:solidFill>
            <a:srgbClr val="FFFFFF"/>
          </a:solidFill>
          <a:ln w="19050">
            <a:solidFill>
              <a:srgbClr val="2F6FB5"/>
            </a:solidFill>
            <a:prstDash val="solid"/>
          </a:ln>
        </p:spPr>
      </p:sp>
      <p:sp>
        <p:nvSpPr>
          <p:cNvPr id="8" name="Text 6"/>
          <p:cNvSpPr/>
          <p:nvPr/>
        </p:nvSpPr>
        <p:spPr>
          <a:xfrm>
            <a:off x="2788920" y="320040"/>
            <a:ext cx="2011680" cy="1143000"/>
          </a:xfrm>
          <a:prstGeom prst="rect">
            <a:avLst/>
          </a:prstGeom>
          <a:noFill/>
          <a:ln/>
        </p:spPr>
        <p:txBody>
          <a:bodyPr wrap="square" lIns="635" tIns="635" rIns="635" bIns="635" rtlCol="0" anchor="ctr"/>
          <a:lstStyle/>
          <a:p>
            <a:pPr algn="ctr" indent="0" marL="0">
              <a:buNone/>
            </a:pPr>
            <a:r>
              <a:rPr lang="en-US" sz="1600" b="1" dirty="0">
                <a:solidFill>
                  <a:srgbClr val="2F6FB5"/>
                </a:solidFill>
                <a:latin typeface="Calibri" pitchFamily="34" charset="0"/>
                <a:ea typeface="Calibri" pitchFamily="34" charset="-122"/>
                <a:cs typeface="Calibri" pitchFamily="34" charset="-120"/>
              </a:rPr>
              <a:t>1. Input image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512×512,</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gray / color</a:t>
            </a:r>
            <a:endParaRPr lang="en-US" sz="1600" dirty="0"/>
          </a:p>
        </p:txBody>
      </p:sp>
      <p:sp>
        <p:nvSpPr>
          <p:cNvPr id="9" name="Shape 7"/>
          <p:cNvSpPr/>
          <p:nvPr/>
        </p:nvSpPr>
        <p:spPr>
          <a:xfrm>
            <a:off x="4828032" y="772668"/>
            <a:ext cx="219456" cy="237744"/>
          </a:xfrm>
          <a:prstGeom prst="rightArrow">
            <a:avLst/>
          </a:prstGeom>
          <a:solidFill>
            <a:srgbClr val="1F1A33"/>
          </a:solidFill>
          <a:ln w="12700">
            <a:solidFill>
              <a:srgbClr val="1F1A33"/>
            </a:solidFill>
            <a:prstDash val="solid"/>
          </a:ln>
        </p:spPr>
      </p:sp>
      <p:sp>
        <p:nvSpPr>
          <p:cNvPr id="10" name="Shape 8"/>
          <p:cNvSpPr/>
          <p:nvPr/>
        </p:nvSpPr>
        <p:spPr>
          <a:xfrm>
            <a:off x="5074920" y="320040"/>
            <a:ext cx="2011680" cy="1143000"/>
          </a:xfrm>
          <a:prstGeom prst="roundRect">
            <a:avLst>
              <a:gd name="adj" fmla="val 6400"/>
            </a:avLst>
          </a:prstGeom>
          <a:solidFill>
            <a:srgbClr val="FFFFFF"/>
          </a:solidFill>
          <a:ln w="19050">
            <a:solidFill>
              <a:srgbClr val="2F6FB5"/>
            </a:solidFill>
            <a:prstDash val="solid"/>
          </a:ln>
        </p:spPr>
      </p:sp>
      <p:sp>
        <p:nvSpPr>
          <p:cNvPr id="11" name="Text 9"/>
          <p:cNvSpPr/>
          <p:nvPr/>
        </p:nvSpPr>
        <p:spPr>
          <a:xfrm>
            <a:off x="5074920" y="320040"/>
            <a:ext cx="2011680" cy="1143000"/>
          </a:xfrm>
          <a:prstGeom prst="rect">
            <a:avLst/>
          </a:prstGeom>
          <a:noFill/>
          <a:ln/>
        </p:spPr>
        <p:txBody>
          <a:bodyPr wrap="square" lIns="635" tIns="635" rIns="635" bIns="635" rtlCol="0" anchor="ctr"/>
          <a:lstStyle/>
          <a:p>
            <a:pPr algn="ctr" indent="0" marL="0">
              <a:buNone/>
            </a:pPr>
            <a:r>
              <a:rPr lang="en-US" sz="1600" b="1" dirty="0">
                <a:solidFill>
                  <a:srgbClr val="2F6FB5"/>
                </a:solidFill>
                <a:latin typeface="Calibri" pitchFamily="34" charset="0"/>
                <a:ea typeface="Calibri" pitchFamily="34" charset="-122"/>
                <a:cs typeface="Calibri" pitchFamily="34" charset="-120"/>
              </a:rPr>
              <a:t>2. 4×4 blocks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non-overlapping</a:t>
            </a:r>
            <a:endParaRPr lang="en-US" sz="1600" dirty="0"/>
          </a:p>
        </p:txBody>
      </p:sp>
      <p:sp>
        <p:nvSpPr>
          <p:cNvPr id="12" name="Shape 10"/>
          <p:cNvSpPr/>
          <p:nvPr/>
        </p:nvSpPr>
        <p:spPr>
          <a:xfrm>
            <a:off x="7114032" y="772668"/>
            <a:ext cx="219456" cy="237744"/>
          </a:xfrm>
          <a:prstGeom prst="rightArrow">
            <a:avLst/>
          </a:prstGeom>
          <a:solidFill>
            <a:srgbClr val="1F1A33"/>
          </a:solidFill>
          <a:ln w="12700">
            <a:solidFill>
              <a:srgbClr val="1F1A33"/>
            </a:solidFill>
            <a:prstDash val="solid"/>
          </a:ln>
        </p:spPr>
      </p:sp>
      <p:sp>
        <p:nvSpPr>
          <p:cNvPr id="13" name="Shape 11"/>
          <p:cNvSpPr/>
          <p:nvPr/>
        </p:nvSpPr>
        <p:spPr>
          <a:xfrm>
            <a:off x="7360920" y="320040"/>
            <a:ext cx="2011680" cy="1143000"/>
          </a:xfrm>
          <a:prstGeom prst="roundRect">
            <a:avLst>
              <a:gd name="adj" fmla="val 6400"/>
            </a:avLst>
          </a:prstGeom>
          <a:solidFill>
            <a:srgbClr val="FFFFFF"/>
          </a:solidFill>
          <a:ln w="19050">
            <a:solidFill>
              <a:srgbClr val="2F6FB5"/>
            </a:solidFill>
            <a:prstDash val="solid"/>
          </a:ln>
        </p:spPr>
      </p:sp>
      <p:sp>
        <p:nvSpPr>
          <p:cNvPr id="14" name="Text 12"/>
          <p:cNvSpPr/>
          <p:nvPr/>
        </p:nvSpPr>
        <p:spPr>
          <a:xfrm>
            <a:off x="7360920" y="320040"/>
            <a:ext cx="2011680" cy="1143000"/>
          </a:xfrm>
          <a:prstGeom prst="rect">
            <a:avLst/>
          </a:prstGeom>
          <a:noFill/>
          <a:ln/>
        </p:spPr>
        <p:txBody>
          <a:bodyPr wrap="square" lIns="635" tIns="635" rIns="635" bIns="635" rtlCol="0" anchor="ctr"/>
          <a:lstStyle/>
          <a:p>
            <a:pPr algn="ctr" indent="0" marL="0">
              <a:buNone/>
            </a:pPr>
            <a:r>
              <a:rPr lang="en-US" sz="1600" b="1" dirty="0">
                <a:solidFill>
                  <a:srgbClr val="2F6FB5"/>
                </a:solidFill>
                <a:latin typeface="Calibri" pitchFamily="34" charset="0"/>
                <a:ea typeface="Calibri" pitchFamily="34" charset="-122"/>
                <a:cs typeface="Calibri" pitchFamily="34" charset="-120"/>
              </a:rPr>
              <a:t>3. Training vectors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16-D, N = 16,384</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per channel</a:t>
            </a:r>
            <a:endParaRPr lang="en-US" sz="1600" dirty="0"/>
          </a:p>
        </p:txBody>
      </p:sp>
      <p:sp>
        <p:nvSpPr>
          <p:cNvPr id="15" name="Text 13"/>
          <p:cNvSpPr/>
          <p:nvPr/>
        </p:nvSpPr>
        <p:spPr>
          <a:xfrm>
            <a:off x="6355080" y="1591056"/>
            <a:ext cx="5394960" cy="228600"/>
          </a:xfrm>
          <a:prstGeom prst="rect">
            <a:avLst/>
          </a:prstGeom>
          <a:noFill/>
          <a:ln/>
        </p:spPr>
        <p:txBody>
          <a:bodyPr wrap="square" lIns="0" tIns="0" rIns="0" bIns="0" rtlCol="0" anchor="ctr"/>
          <a:lstStyle/>
          <a:p>
            <a:pPr indent="0" marL="0">
              <a:buNone/>
            </a:pPr>
            <a:r>
              <a:rPr lang="en-US" sz="1300" b="1" i="1" dirty="0">
                <a:solidFill>
                  <a:srgbClr val="E0457B"/>
                </a:solidFill>
                <a:latin typeface="Calibri" pitchFamily="34" charset="0"/>
                <a:ea typeface="Calibri" pitchFamily="34" charset="-122"/>
                <a:cs typeface="Calibri" pitchFamily="34" charset="-120"/>
              </a:rPr>
              <a:t>16,384 training vectors per channel (16-D)</a:t>
            </a:r>
            <a:endParaRPr lang="en-US" sz="1300" dirty="0"/>
          </a:p>
        </p:txBody>
      </p:sp>
      <p:sp>
        <p:nvSpPr>
          <p:cNvPr id="16" name="Shape 14"/>
          <p:cNvSpPr/>
          <p:nvPr/>
        </p:nvSpPr>
        <p:spPr>
          <a:xfrm>
            <a:off x="5989320" y="1609344"/>
            <a:ext cx="237744" cy="192024"/>
          </a:xfrm>
          <a:prstGeom prst="downArrow">
            <a:avLst/>
          </a:prstGeom>
          <a:solidFill>
            <a:srgbClr val="1F1A33"/>
          </a:solidFill>
          <a:ln w="12700">
            <a:solidFill>
              <a:srgbClr val="1F1A33"/>
            </a:solidFill>
            <a:prstDash val="solid"/>
          </a:ln>
        </p:spPr>
      </p:sp>
      <p:sp>
        <p:nvSpPr>
          <p:cNvPr id="17" name="Shape 15"/>
          <p:cNvSpPr/>
          <p:nvPr/>
        </p:nvSpPr>
        <p:spPr>
          <a:xfrm>
            <a:off x="320040" y="1810512"/>
            <a:ext cx="11503152" cy="1417320"/>
          </a:xfrm>
          <a:prstGeom prst="roundRect">
            <a:avLst>
              <a:gd name="adj" fmla="val 6452"/>
            </a:avLst>
          </a:prstGeom>
          <a:solidFill>
            <a:srgbClr val="FDEBD9"/>
          </a:solidFill>
          <a:ln w="31750">
            <a:solidFill>
              <a:srgbClr val="E07B22"/>
            </a:solidFill>
            <a:prstDash val="dash"/>
          </a:ln>
        </p:spPr>
      </p:sp>
      <p:sp>
        <p:nvSpPr>
          <p:cNvPr id="18" name="Shape 16"/>
          <p:cNvSpPr/>
          <p:nvPr/>
        </p:nvSpPr>
        <p:spPr>
          <a:xfrm>
            <a:off x="365760" y="1856232"/>
            <a:ext cx="2240280" cy="1325880"/>
          </a:xfrm>
          <a:prstGeom prst="roundRect">
            <a:avLst>
              <a:gd name="adj" fmla="val 5517"/>
            </a:avLst>
          </a:prstGeom>
          <a:solidFill>
            <a:srgbClr val="E07B22"/>
          </a:solidFill>
          <a:ln w="12700">
            <a:solidFill>
              <a:srgbClr val="E07B22"/>
            </a:solidFill>
            <a:prstDash val="solid"/>
          </a:ln>
        </p:spPr>
      </p:sp>
      <p:sp>
        <p:nvSpPr>
          <p:cNvPr id="19" name="Text 17"/>
          <p:cNvSpPr/>
          <p:nvPr/>
        </p:nvSpPr>
        <p:spPr>
          <a:xfrm>
            <a:off x="365760" y="1856232"/>
            <a:ext cx="2240280" cy="100584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2</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Parallel LBG</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Training (MPI)</a:t>
            </a:r>
            <a:endParaRPr lang="en-US" sz="2200" dirty="0"/>
          </a:p>
        </p:txBody>
      </p:sp>
      <p:sp>
        <p:nvSpPr>
          <p:cNvPr id="20" name="Shape 18"/>
          <p:cNvSpPr/>
          <p:nvPr/>
        </p:nvSpPr>
        <p:spPr>
          <a:xfrm>
            <a:off x="475488" y="2816352"/>
            <a:ext cx="2020824" cy="292608"/>
          </a:xfrm>
          <a:prstGeom prst="roundRect">
            <a:avLst>
              <a:gd name="adj" fmla="val 50000"/>
            </a:avLst>
          </a:prstGeom>
          <a:solidFill>
            <a:srgbClr val="FFFFFF"/>
          </a:solidFill>
          <a:ln w="12700">
            <a:solidFill>
              <a:srgbClr val="FFFFFF"/>
            </a:solidFill>
            <a:prstDash val="solid"/>
          </a:ln>
        </p:spPr>
      </p:sp>
      <p:sp>
        <p:nvSpPr>
          <p:cNvPr id="21" name="Text 19"/>
          <p:cNvSpPr/>
          <p:nvPr/>
        </p:nvSpPr>
        <p:spPr>
          <a:xfrm>
            <a:off x="475488" y="2816352"/>
            <a:ext cx="2020824" cy="292608"/>
          </a:xfrm>
          <a:prstGeom prst="rect">
            <a:avLst/>
          </a:prstGeom>
          <a:noFill/>
          <a:ln/>
        </p:spPr>
        <p:txBody>
          <a:bodyPr wrap="square" lIns="0" tIns="0" rIns="0" bIns="0" rtlCol="0" anchor="ctr"/>
          <a:lstStyle/>
          <a:p>
            <a:pPr algn="ctr" indent="0" marL="0">
              <a:buNone/>
            </a:pPr>
            <a:r>
              <a:rPr lang="en-US" sz="1200" b="1" dirty="0">
                <a:solidFill>
                  <a:srgbClr val="E07B22"/>
                </a:solidFill>
                <a:latin typeface="Calibri" pitchFamily="34" charset="0"/>
                <a:ea typeface="Calibri" pitchFamily="34" charset="-122"/>
                <a:cs typeface="Calibri" pitchFamily="34" charset="-120"/>
              </a:rPr>
              <a:t>PARALLEL: all ranks</a:t>
            </a:r>
            <a:endParaRPr lang="en-US" sz="1200" dirty="0"/>
          </a:p>
        </p:txBody>
      </p:sp>
      <p:sp>
        <p:nvSpPr>
          <p:cNvPr id="22" name="Shape 20"/>
          <p:cNvSpPr/>
          <p:nvPr/>
        </p:nvSpPr>
        <p:spPr>
          <a:xfrm>
            <a:off x="2788920" y="1947672"/>
            <a:ext cx="2011680" cy="1143000"/>
          </a:xfrm>
          <a:prstGeom prst="roundRect">
            <a:avLst>
              <a:gd name="adj" fmla="val 6400"/>
            </a:avLst>
          </a:prstGeom>
          <a:solidFill>
            <a:srgbClr val="FFFFFF"/>
          </a:solidFill>
          <a:ln w="19050">
            <a:solidFill>
              <a:srgbClr val="E07B22"/>
            </a:solidFill>
            <a:prstDash val="solid"/>
          </a:ln>
        </p:spPr>
      </p:sp>
      <p:sp>
        <p:nvSpPr>
          <p:cNvPr id="23" name="Text 21"/>
          <p:cNvSpPr/>
          <p:nvPr/>
        </p:nvSpPr>
        <p:spPr>
          <a:xfrm>
            <a:off x="2788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1. Distribute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MPI_Scatterv:</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Equal / Adaptive</a:t>
            </a:r>
            <a:endParaRPr lang="en-US" sz="1600" dirty="0"/>
          </a:p>
        </p:txBody>
      </p:sp>
      <p:sp>
        <p:nvSpPr>
          <p:cNvPr id="24" name="Shape 22"/>
          <p:cNvSpPr/>
          <p:nvPr/>
        </p:nvSpPr>
        <p:spPr>
          <a:xfrm>
            <a:off x="4828032" y="2400300"/>
            <a:ext cx="219456" cy="237744"/>
          </a:xfrm>
          <a:prstGeom prst="rightArrow">
            <a:avLst/>
          </a:prstGeom>
          <a:solidFill>
            <a:srgbClr val="1F1A33"/>
          </a:solidFill>
          <a:ln w="12700">
            <a:solidFill>
              <a:srgbClr val="1F1A33"/>
            </a:solidFill>
            <a:prstDash val="solid"/>
          </a:ln>
        </p:spPr>
      </p:sp>
      <p:sp>
        <p:nvSpPr>
          <p:cNvPr id="25" name="Shape 23"/>
          <p:cNvSpPr/>
          <p:nvPr/>
        </p:nvSpPr>
        <p:spPr>
          <a:xfrm>
            <a:off x="5074920" y="1947672"/>
            <a:ext cx="2011680" cy="1143000"/>
          </a:xfrm>
          <a:prstGeom prst="roundRect">
            <a:avLst>
              <a:gd name="adj" fmla="val 6400"/>
            </a:avLst>
          </a:prstGeom>
          <a:solidFill>
            <a:srgbClr val="FFFFFF"/>
          </a:solidFill>
          <a:ln w="19050">
            <a:solidFill>
              <a:srgbClr val="E07B22"/>
            </a:solidFill>
            <a:prstDash val="solid"/>
          </a:ln>
        </p:spPr>
      </p:sp>
      <p:sp>
        <p:nvSpPr>
          <p:cNvPr id="26" name="Text 24"/>
          <p:cNvSpPr/>
          <p:nvPr/>
        </p:nvSpPr>
        <p:spPr>
          <a:xfrm>
            <a:off x="5074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2. Assign</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nearest codeword</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on each rank</a:t>
            </a:r>
            <a:endParaRPr lang="en-US" sz="1600" dirty="0"/>
          </a:p>
        </p:txBody>
      </p:sp>
      <p:sp>
        <p:nvSpPr>
          <p:cNvPr id="27" name="Shape 25"/>
          <p:cNvSpPr/>
          <p:nvPr/>
        </p:nvSpPr>
        <p:spPr>
          <a:xfrm>
            <a:off x="7114032" y="2400300"/>
            <a:ext cx="219456" cy="237744"/>
          </a:xfrm>
          <a:prstGeom prst="rightArrow">
            <a:avLst/>
          </a:prstGeom>
          <a:solidFill>
            <a:srgbClr val="1F1A33"/>
          </a:solidFill>
          <a:ln w="12700">
            <a:solidFill>
              <a:srgbClr val="1F1A33"/>
            </a:solidFill>
            <a:prstDash val="solid"/>
          </a:ln>
        </p:spPr>
      </p:sp>
      <p:sp>
        <p:nvSpPr>
          <p:cNvPr id="28" name="Shape 26"/>
          <p:cNvSpPr/>
          <p:nvPr/>
        </p:nvSpPr>
        <p:spPr>
          <a:xfrm>
            <a:off x="7360920" y="1947672"/>
            <a:ext cx="2011680" cy="1143000"/>
          </a:xfrm>
          <a:prstGeom prst="roundRect">
            <a:avLst>
              <a:gd name="adj" fmla="val 6400"/>
            </a:avLst>
          </a:prstGeom>
          <a:solidFill>
            <a:srgbClr val="FFFFFF"/>
          </a:solidFill>
          <a:ln w="19050">
            <a:solidFill>
              <a:srgbClr val="E07B22"/>
            </a:solidFill>
            <a:prstDash val="solid"/>
          </a:ln>
        </p:spPr>
      </p:sp>
      <p:sp>
        <p:nvSpPr>
          <p:cNvPr id="29" name="Text 27"/>
          <p:cNvSpPr/>
          <p:nvPr/>
        </p:nvSpPr>
        <p:spPr>
          <a:xfrm>
            <a:off x="7360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3. Combine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Allreduce: sums,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counts, distortion</a:t>
            </a:r>
            <a:endParaRPr lang="en-US" sz="1600" dirty="0"/>
          </a:p>
        </p:txBody>
      </p:sp>
      <p:sp>
        <p:nvSpPr>
          <p:cNvPr id="30" name="Shape 28"/>
          <p:cNvSpPr/>
          <p:nvPr/>
        </p:nvSpPr>
        <p:spPr>
          <a:xfrm>
            <a:off x="9400032" y="2400300"/>
            <a:ext cx="219456" cy="237744"/>
          </a:xfrm>
          <a:prstGeom prst="rightArrow">
            <a:avLst/>
          </a:prstGeom>
          <a:solidFill>
            <a:srgbClr val="1F1A33"/>
          </a:solidFill>
          <a:ln w="12700">
            <a:solidFill>
              <a:srgbClr val="1F1A33"/>
            </a:solidFill>
            <a:prstDash val="solid"/>
          </a:ln>
        </p:spPr>
      </p:sp>
      <p:sp>
        <p:nvSpPr>
          <p:cNvPr id="31" name="Shape 29"/>
          <p:cNvSpPr/>
          <p:nvPr/>
        </p:nvSpPr>
        <p:spPr>
          <a:xfrm>
            <a:off x="9646920" y="1947672"/>
            <a:ext cx="2011680" cy="1143000"/>
          </a:xfrm>
          <a:prstGeom prst="roundRect">
            <a:avLst>
              <a:gd name="adj" fmla="val 6400"/>
            </a:avLst>
          </a:prstGeom>
          <a:solidFill>
            <a:srgbClr val="FFFFFF"/>
          </a:solidFill>
          <a:ln w="19050">
            <a:solidFill>
              <a:srgbClr val="E07B22"/>
            </a:solidFill>
            <a:prstDash val="solid"/>
          </a:ln>
        </p:spPr>
      </p:sp>
      <p:sp>
        <p:nvSpPr>
          <p:cNvPr id="32" name="Text 30"/>
          <p:cNvSpPr/>
          <p:nvPr/>
        </p:nvSpPr>
        <p:spPr>
          <a:xfrm>
            <a:off x="9646920" y="1947672"/>
            <a:ext cx="2011680" cy="1143000"/>
          </a:xfrm>
          <a:prstGeom prst="rect">
            <a:avLst/>
          </a:prstGeom>
          <a:noFill/>
          <a:ln/>
        </p:spPr>
        <p:txBody>
          <a:bodyPr wrap="square" lIns="635" tIns="635" rIns="635" bIns="635" rtlCol="0" anchor="ctr"/>
          <a:lstStyle/>
          <a:p>
            <a:pPr algn="ctr" indent="0" marL="0">
              <a:buNone/>
            </a:pPr>
            <a:r>
              <a:rPr lang="en-US" sz="1600" b="1" dirty="0">
                <a:solidFill>
                  <a:srgbClr val="E07B22"/>
                </a:solidFill>
                <a:latin typeface="Calibri" pitchFamily="34" charset="0"/>
                <a:ea typeface="Calibri" pitchFamily="34" charset="-122"/>
                <a:cs typeface="Calibri" pitchFamily="34" charset="-120"/>
              </a:rPr>
              <a:t>4. Refine and split</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per level,</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until K = 64</a:t>
            </a:r>
            <a:endParaRPr lang="en-US" sz="1600" dirty="0"/>
          </a:p>
        </p:txBody>
      </p:sp>
      <p:sp>
        <p:nvSpPr>
          <p:cNvPr id="33" name="Text 31"/>
          <p:cNvSpPr/>
          <p:nvPr/>
        </p:nvSpPr>
        <p:spPr>
          <a:xfrm>
            <a:off x="6355080" y="3218688"/>
            <a:ext cx="5394960" cy="228600"/>
          </a:xfrm>
          <a:prstGeom prst="rect">
            <a:avLst/>
          </a:prstGeom>
          <a:noFill/>
          <a:ln/>
        </p:spPr>
        <p:txBody>
          <a:bodyPr wrap="square" lIns="0" tIns="0" rIns="0" bIns="0" rtlCol="0" anchor="ctr"/>
          <a:lstStyle/>
          <a:p>
            <a:pPr indent="0" marL="0">
              <a:buNone/>
            </a:pPr>
            <a:r>
              <a:rPr lang="en-US" sz="1300" b="1" i="1" dirty="0">
                <a:solidFill>
                  <a:srgbClr val="E0457B"/>
                </a:solidFill>
                <a:latin typeface="Calibri" pitchFamily="34" charset="0"/>
                <a:ea typeface="Calibri" pitchFamily="34" charset="-122"/>
                <a:cs typeface="Calibri" pitchFamily="34" charset="-120"/>
              </a:rPr>
              <a:t>codebook C + index array L (gathered on Rank 0)</a:t>
            </a:r>
            <a:endParaRPr lang="en-US" sz="1300" dirty="0"/>
          </a:p>
        </p:txBody>
      </p:sp>
      <p:sp>
        <p:nvSpPr>
          <p:cNvPr id="34" name="Shape 32"/>
          <p:cNvSpPr/>
          <p:nvPr/>
        </p:nvSpPr>
        <p:spPr>
          <a:xfrm>
            <a:off x="5989320" y="3236976"/>
            <a:ext cx="237744" cy="192024"/>
          </a:xfrm>
          <a:prstGeom prst="downArrow">
            <a:avLst/>
          </a:prstGeom>
          <a:solidFill>
            <a:srgbClr val="1F1A33"/>
          </a:solidFill>
          <a:ln w="12700">
            <a:solidFill>
              <a:srgbClr val="1F1A33"/>
            </a:solidFill>
            <a:prstDash val="solid"/>
          </a:ln>
        </p:spPr>
      </p:sp>
      <p:sp>
        <p:nvSpPr>
          <p:cNvPr id="35" name="Shape 33"/>
          <p:cNvSpPr/>
          <p:nvPr/>
        </p:nvSpPr>
        <p:spPr>
          <a:xfrm>
            <a:off x="320040" y="3438144"/>
            <a:ext cx="11503152" cy="1417320"/>
          </a:xfrm>
          <a:prstGeom prst="roundRect">
            <a:avLst>
              <a:gd name="adj" fmla="val 6452"/>
            </a:avLst>
          </a:prstGeom>
          <a:solidFill>
            <a:srgbClr val="DDF3F0"/>
          </a:solidFill>
          <a:ln w="12700">
            <a:solidFill>
              <a:srgbClr val="2A9D8F"/>
            </a:solidFill>
            <a:prstDash val="solid"/>
          </a:ln>
        </p:spPr>
      </p:sp>
      <p:sp>
        <p:nvSpPr>
          <p:cNvPr id="36" name="Shape 34"/>
          <p:cNvSpPr/>
          <p:nvPr/>
        </p:nvSpPr>
        <p:spPr>
          <a:xfrm>
            <a:off x="365760" y="3483864"/>
            <a:ext cx="2240280" cy="1325880"/>
          </a:xfrm>
          <a:prstGeom prst="roundRect">
            <a:avLst>
              <a:gd name="adj" fmla="val 5517"/>
            </a:avLst>
          </a:prstGeom>
          <a:solidFill>
            <a:srgbClr val="2A9D8F"/>
          </a:solidFill>
          <a:ln w="12700">
            <a:solidFill>
              <a:srgbClr val="2A9D8F"/>
            </a:solidFill>
            <a:prstDash val="solid"/>
          </a:ln>
        </p:spPr>
      </p:sp>
      <p:sp>
        <p:nvSpPr>
          <p:cNvPr id="37" name="Text 35"/>
          <p:cNvSpPr/>
          <p:nvPr/>
        </p:nvSpPr>
        <p:spPr>
          <a:xfrm>
            <a:off x="365760" y="3483864"/>
            <a:ext cx="2240280" cy="100584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3</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Lossless Index</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Coding</a:t>
            </a:r>
            <a:endParaRPr lang="en-US" sz="2200" dirty="0"/>
          </a:p>
        </p:txBody>
      </p:sp>
      <p:sp>
        <p:nvSpPr>
          <p:cNvPr id="38" name="Shape 36"/>
          <p:cNvSpPr/>
          <p:nvPr/>
        </p:nvSpPr>
        <p:spPr>
          <a:xfrm>
            <a:off x="475488" y="4443984"/>
            <a:ext cx="2020824" cy="292608"/>
          </a:xfrm>
          <a:prstGeom prst="roundRect">
            <a:avLst>
              <a:gd name="adj" fmla="val 50000"/>
            </a:avLst>
          </a:prstGeom>
          <a:solidFill>
            <a:srgbClr val="FFFFFF"/>
          </a:solidFill>
          <a:ln w="12700">
            <a:solidFill>
              <a:srgbClr val="FFFFFF"/>
            </a:solidFill>
            <a:prstDash val="solid"/>
          </a:ln>
        </p:spPr>
      </p:sp>
      <p:sp>
        <p:nvSpPr>
          <p:cNvPr id="39" name="Text 37"/>
          <p:cNvSpPr/>
          <p:nvPr/>
        </p:nvSpPr>
        <p:spPr>
          <a:xfrm>
            <a:off x="475488" y="4443984"/>
            <a:ext cx="2020824" cy="292608"/>
          </a:xfrm>
          <a:prstGeom prst="rect">
            <a:avLst/>
          </a:prstGeom>
          <a:noFill/>
          <a:ln/>
        </p:spPr>
        <p:txBody>
          <a:bodyPr wrap="square" lIns="0" tIns="0" rIns="0" bIns="0" rtlCol="0" anchor="ctr"/>
          <a:lstStyle/>
          <a:p>
            <a:pPr algn="ctr" indent="0" marL="0">
              <a:buNone/>
            </a:pPr>
            <a:r>
              <a:rPr lang="en-US" sz="1200" b="1" dirty="0">
                <a:solidFill>
                  <a:srgbClr val="5B6770"/>
                </a:solidFill>
                <a:latin typeface="Calibri" pitchFamily="34" charset="0"/>
                <a:ea typeface="Calibri" pitchFamily="34" charset="-122"/>
                <a:cs typeface="Calibri" pitchFamily="34" charset="-120"/>
              </a:rPr>
              <a:t>SEQUENTIAL: Rank 0</a:t>
            </a:r>
            <a:endParaRPr lang="en-US" sz="1200" dirty="0"/>
          </a:p>
        </p:txBody>
      </p:sp>
      <p:sp>
        <p:nvSpPr>
          <p:cNvPr id="40" name="Shape 38"/>
          <p:cNvSpPr/>
          <p:nvPr/>
        </p:nvSpPr>
        <p:spPr>
          <a:xfrm>
            <a:off x="2788920" y="3575304"/>
            <a:ext cx="2011680" cy="1143000"/>
          </a:xfrm>
          <a:prstGeom prst="roundRect">
            <a:avLst>
              <a:gd name="adj" fmla="val 6400"/>
            </a:avLst>
          </a:prstGeom>
          <a:solidFill>
            <a:srgbClr val="FFFFFF"/>
          </a:solidFill>
          <a:ln w="19050">
            <a:solidFill>
              <a:srgbClr val="2A9D8F"/>
            </a:solidFill>
            <a:prstDash val="solid"/>
          </a:ln>
        </p:spPr>
      </p:sp>
      <p:sp>
        <p:nvSpPr>
          <p:cNvPr id="41" name="Text 39"/>
          <p:cNvSpPr/>
          <p:nvPr/>
        </p:nvSpPr>
        <p:spPr>
          <a:xfrm>
            <a:off x="2788920" y="3575304"/>
            <a:ext cx="2011680" cy="1143000"/>
          </a:xfrm>
          <a:prstGeom prst="rect">
            <a:avLst/>
          </a:prstGeom>
          <a:noFill/>
          <a:ln/>
        </p:spPr>
        <p:txBody>
          <a:bodyPr wrap="square" lIns="635" tIns="635" rIns="635" bIns="635" rtlCol="0" anchor="ctr"/>
          <a:lstStyle/>
          <a:p>
            <a:pPr algn="ctr" indent="0" marL="0">
              <a:buNone/>
            </a:pPr>
            <a:r>
              <a:rPr lang="en-US" sz="1600" b="1" dirty="0">
                <a:solidFill>
                  <a:srgbClr val="2A9D8F"/>
                </a:solidFill>
                <a:latin typeface="Calibri" pitchFamily="34" charset="0"/>
                <a:ea typeface="Calibri" pitchFamily="34" charset="-122"/>
                <a:cs typeface="Calibri" pitchFamily="34" charset="-120"/>
              </a:rPr>
              <a:t>1. Delta coding</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differences of</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VQ indices</a:t>
            </a:r>
            <a:endParaRPr lang="en-US" sz="1600" dirty="0"/>
          </a:p>
        </p:txBody>
      </p:sp>
      <p:sp>
        <p:nvSpPr>
          <p:cNvPr id="42" name="Shape 40"/>
          <p:cNvSpPr/>
          <p:nvPr/>
        </p:nvSpPr>
        <p:spPr>
          <a:xfrm>
            <a:off x="4828032" y="4027932"/>
            <a:ext cx="219456" cy="237744"/>
          </a:xfrm>
          <a:prstGeom prst="rightArrow">
            <a:avLst/>
          </a:prstGeom>
          <a:solidFill>
            <a:srgbClr val="1F1A33"/>
          </a:solidFill>
          <a:ln w="12700">
            <a:solidFill>
              <a:srgbClr val="1F1A33"/>
            </a:solidFill>
            <a:prstDash val="solid"/>
          </a:ln>
        </p:spPr>
      </p:sp>
      <p:sp>
        <p:nvSpPr>
          <p:cNvPr id="43" name="Shape 41"/>
          <p:cNvSpPr/>
          <p:nvPr/>
        </p:nvSpPr>
        <p:spPr>
          <a:xfrm>
            <a:off x="5074920" y="3575304"/>
            <a:ext cx="2011680" cy="1143000"/>
          </a:xfrm>
          <a:prstGeom prst="roundRect">
            <a:avLst>
              <a:gd name="adj" fmla="val 6400"/>
            </a:avLst>
          </a:prstGeom>
          <a:solidFill>
            <a:srgbClr val="FFFFFF"/>
          </a:solidFill>
          <a:ln w="19050">
            <a:solidFill>
              <a:srgbClr val="2A9D8F"/>
            </a:solidFill>
            <a:prstDash val="solid"/>
          </a:ln>
        </p:spPr>
      </p:sp>
      <p:sp>
        <p:nvSpPr>
          <p:cNvPr id="44" name="Text 42"/>
          <p:cNvSpPr/>
          <p:nvPr/>
        </p:nvSpPr>
        <p:spPr>
          <a:xfrm>
            <a:off x="5074920" y="3575304"/>
            <a:ext cx="2011680" cy="1143000"/>
          </a:xfrm>
          <a:prstGeom prst="rect">
            <a:avLst/>
          </a:prstGeom>
          <a:noFill/>
          <a:ln/>
        </p:spPr>
        <p:txBody>
          <a:bodyPr wrap="square" lIns="635" tIns="635" rIns="635" bIns="635" rtlCol="0" anchor="ctr"/>
          <a:lstStyle/>
          <a:p>
            <a:pPr algn="ctr" indent="0" marL="0">
              <a:buNone/>
            </a:pPr>
            <a:r>
              <a:rPr lang="en-US" sz="1600" b="1" dirty="0">
                <a:solidFill>
                  <a:srgbClr val="2A9D8F"/>
                </a:solidFill>
                <a:latin typeface="Calibri" pitchFamily="34" charset="0"/>
                <a:ea typeface="Calibri" pitchFamily="34" charset="-122"/>
                <a:cs typeface="Calibri" pitchFamily="34" charset="-120"/>
              </a:rPr>
              <a:t>2. Huffman coding</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variable-length</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codes</a:t>
            </a:r>
            <a:endParaRPr lang="en-US" sz="1600" dirty="0"/>
          </a:p>
        </p:txBody>
      </p:sp>
      <p:sp>
        <p:nvSpPr>
          <p:cNvPr id="45" name="Shape 43"/>
          <p:cNvSpPr/>
          <p:nvPr/>
        </p:nvSpPr>
        <p:spPr>
          <a:xfrm>
            <a:off x="7114032" y="4027932"/>
            <a:ext cx="219456" cy="237744"/>
          </a:xfrm>
          <a:prstGeom prst="rightArrow">
            <a:avLst/>
          </a:prstGeom>
          <a:solidFill>
            <a:srgbClr val="1F1A33"/>
          </a:solidFill>
          <a:ln w="12700">
            <a:solidFill>
              <a:srgbClr val="1F1A33"/>
            </a:solidFill>
            <a:prstDash val="solid"/>
          </a:ln>
        </p:spPr>
      </p:sp>
      <p:sp>
        <p:nvSpPr>
          <p:cNvPr id="46" name="Shape 44"/>
          <p:cNvSpPr/>
          <p:nvPr/>
        </p:nvSpPr>
        <p:spPr>
          <a:xfrm>
            <a:off x="7360920" y="3575304"/>
            <a:ext cx="2011680" cy="1143000"/>
          </a:xfrm>
          <a:prstGeom prst="roundRect">
            <a:avLst>
              <a:gd name="adj" fmla="val 6400"/>
            </a:avLst>
          </a:prstGeom>
          <a:solidFill>
            <a:srgbClr val="FFFFFF"/>
          </a:solidFill>
          <a:ln w="19050">
            <a:solidFill>
              <a:srgbClr val="2A9D8F"/>
            </a:solidFill>
            <a:prstDash val="solid"/>
          </a:ln>
        </p:spPr>
      </p:sp>
      <p:sp>
        <p:nvSpPr>
          <p:cNvPr id="47" name="Text 45"/>
          <p:cNvSpPr/>
          <p:nvPr/>
        </p:nvSpPr>
        <p:spPr>
          <a:xfrm>
            <a:off x="7360920" y="3575304"/>
            <a:ext cx="2011680" cy="1143000"/>
          </a:xfrm>
          <a:prstGeom prst="rect">
            <a:avLst/>
          </a:prstGeom>
          <a:noFill/>
          <a:ln/>
        </p:spPr>
        <p:txBody>
          <a:bodyPr wrap="square" lIns="635" tIns="635" rIns="635" bIns="635" rtlCol="0" anchor="ctr"/>
          <a:lstStyle/>
          <a:p>
            <a:pPr algn="ctr" indent="0" marL="0">
              <a:buNone/>
            </a:pPr>
            <a:r>
              <a:rPr lang="en-US" sz="1600" b="1" dirty="0">
                <a:solidFill>
                  <a:srgbClr val="2A9D8F"/>
                </a:solidFill>
                <a:latin typeface="Calibri" pitchFamily="34" charset="0"/>
                <a:ea typeface="Calibri" pitchFamily="34" charset="-122"/>
                <a:cs typeface="Calibri" pitchFamily="34" charset="-120"/>
              </a:rPr>
              <a:t>3. Compressed size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codebook + Huffman table</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 coded indices</a:t>
            </a:r>
            <a:endParaRPr lang="en-US" sz="1600" dirty="0"/>
          </a:p>
        </p:txBody>
      </p:sp>
      <p:sp>
        <p:nvSpPr>
          <p:cNvPr id="48" name="Text 46"/>
          <p:cNvSpPr/>
          <p:nvPr/>
        </p:nvSpPr>
        <p:spPr>
          <a:xfrm>
            <a:off x="6355080" y="4846320"/>
            <a:ext cx="5394960" cy="228600"/>
          </a:xfrm>
          <a:prstGeom prst="rect">
            <a:avLst/>
          </a:prstGeom>
          <a:noFill/>
          <a:ln/>
        </p:spPr>
        <p:txBody>
          <a:bodyPr wrap="square" lIns="0" tIns="0" rIns="0" bIns="0" rtlCol="0" anchor="ctr"/>
          <a:lstStyle/>
          <a:p>
            <a:pPr indent="0" marL="0">
              <a:buNone/>
            </a:pPr>
            <a:r>
              <a:rPr lang="en-US" sz="1300" b="1" i="1" dirty="0">
                <a:solidFill>
                  <a:srgbClr val="E0457B"/>
                </a:solidFill>
                <a:latin typeface="Calibri" pitchFamily="34" charset="0"/>
                <a:ea typeface="Calibri" pitchFamily="34" charset="-122"/>
                <a:cs typeface="Calibri" pitchFamily="34" charset="-120"/>
              </a:rPr>
              <a:t>accounted size: codebook + Huffman table + coded indices</a:t>
            </a:r>
            <a:endParaRPr lang="en-US" sz="1300" dirty="0"/>
          </a:p>
        </p:txBody>
      </p:sp>
      <p:sp>
        <p:nvSpPr>
          <p:cNvPr id="49" name="Shape 47"/>
          <p:cNvSpPr/>
          <p:nvPr/>
        </p:nvSpPr>
        <p:spPr>
          <a:xfrm>
            <a:off x="5989320" y="4864608"/>
            <a:ext cx="237744" cy="192024"/>
          </a:xfrm>
          <a:prstGeom prst="downArrow">
            <a:avLst/>
          </a:prstGeom>
          <a:solidFill>
            <a:srgbClr val="1F1A33"/>
          </a:solidFill>
          <a:ln w="12700">
            <a:solidFill>
              <a:srgbClr val="1F1A33"/>
            </a:solidFill>
            <a:prstDash val="solid"/>
          </a:ln>
        </p:spPr>
      </p:sp>
      <p:sp>
        <p:nvSpPr>
          <p:cNvPr id="50" name="Shape 48"/>
          <p:cNvSpPr/>
          <p:nvPr/>
        </p:nvSpPr>
        <p:spPr>
          <a:xfrm>
            <a:off x="320040" y="5065776"/>
            <a:ext cx="11503152" cy="1417320"/>
          </a:xfrm>
          <a:prstGeom prst="roundRect">
            <a:avLst>
              <a:gd name="adj" fmla="val 6452"/>
            </a:avLst>
          </a:prstGeom>
          <a:solidFill>
            <a:srgbClr val="ECE6F6"/>
          </a:solidFill>
          <a:ln w="12700">
            <a:solidFill>
              <a:srgbClr val="6B4FA3"/>
            </a:solidFill>
            <a:prstDash val="solid"/>
          </a:ln>
        </p:spPr>
      </p:sp>
      <p:sp>
        <p:nvSpPr>
          <p:cNvPr id="51" name="Shape 49"/>
          <p:cNvSpPr/>
          <p:nvPr/>
        </p:nvSpPr>
        <p:spPr>
          <a:xfrm>
            <a:off x="365760" y="5111496"/>
            <a:ext cx="2240280" cy="1325880"/>
          </a:xfrm>
          <a:prstGeom prst="roundRect">
            <a:avLst>
              <a:gd name="adj" fmla="val 5517"/>
            </a:avLst>
          </a:prstGeom>
          <a:solidFill>
            <a:srgbClr val="6B4FA3"/>
          </a:solidFill>
          <a:ln w="12700">
            <a:solidFill>
              <a:srgbClr val="6B4FA3"/>
            </a:solidFill>
            <a:prstDash val="solid"/>
          </a:ln>
        </p:spPr>
      </p:sp>
      <p:sp>
        <p:nvSpPr>
          <p:cNvPr id="52" name="Text 50"/>
          <p:cNvSpPr/>
          <p:nvPr/>
        </p:nvSpPr>
        <p:spPr>
          <a:xfrm>
            <a:off x="365760" y="5111496"/>
            <a:ext cx="2240280" cy="1005840"/>
          </a:xfrm>
          <a:prstGeom prst="rect">
            <a:avLst/>
          </a:prstGeom>
          <a:noFill/>
          <a:ln/>
        </p:spPr>
        <p:txBody>
          <a:bodyPr wrap="square" lIns="762" tIns="762" rIns="762" bIns="762"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Stage 4</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Decoding and</a:t>
            </a:r>
            <a:endParaRPr lang="en-US" sz="2200" dirty="0"/>
          </a:p>
          <a:p>
            <a:pPr algn="ctr" indent="0" marL="0">
              <a:buNone/>
            </a:pPr>
            <a:r>
              <a:rPr lang="en-US" sz="1500" dirty="0">
                <a:solidFill>
                  <a:srgbClr val="FFFFFF"/>
                </a:solidFill>
                <a:latin typeface="Calibri" pitchFamily="34" charset="0"/>
                <a:ea typeface="Calibri" pitchFamily="34" charset="-122"/>
                <a:cs typeface="Calibri" pitchFamily="34" charset="-120"/>
              </a:rPr>
              <a:t>Evaluation</a:t>
            </a:r>
            <a:endParaRPr lang="en-US" sz="2200" dirty="0"/>
          </a:p>
        </p:txBody>
      </p:sp>
      <p:sp>
        <p:nvSpPr>
          <p:cNvPr id="53" name="Shape 51"/>
          <p:cNvSpPr/>
          <p:nvPr/>
        </p:nvSpPr>
        <p:spPr>
          <a:xfrm>
            <a:off x="475488" y="6071616"/>
            <a:ext cx="2020824" cy="292608"/>
          </a:xfrm>
          <a:prstGeom prst="roundRect">
            <a:avLst>
              <a:gd name="adj" fmla="val 50000"/>
            </a:avLst>
          </a:prstGeom>
          <a:solidFill>
            <a:srgbClr val="FFFFFF"/>
          </a:solidFill>
          <a:ln w="12700">
            <a:solidFill>
              <a:srgbClr val="FFFFFF"/>
            </a:solidFill>
            <a:prstDash val="solid"/>
          </a:ln>
        </p:spPr>
      </p:sp>
      <p:sp>
        <p:nvSpPr>
          <p:cNvPr id="54" name="Text 52"/>
          <p:cNvSpPr/>
          <p:nvPr/>
        </p:nvSpPr>
        <p:spPr>
          <a:xfrm>
            <a:off x="475488" y="6071616"/>
            <a:ext cx="2020824" cy="292608"/>
          </a:xfrm>
          <a:prstGeom prst="rect">
            <a:avLst/>
          </a:prstGeom>
          <a:noFill/>
          <a:ln/>
        </p:spPr>
        <p:txBody>
          <a:bodyPr wrap="square" lIns="0" tIns="0" rIns="0" bIns="0" rtlCol="0" anchor="ctr"/>
          <a:lstStyle/>
          <a:p>
            <a:pPr algn="ctr" indent="0" marL="0">
              <a:buNone/>
            </a:pPr>
            <a:r>
              <a:rPr lang="en-US" sz="1100" b="1" dirty="0">
                <a:solidFill>
                  <a:srgbClr val="5B6770"/>
                </a:solidFill>
                <a:latin typeface="Calibri" pitchFamily="34" charset="0"/>
                <a:ea typeface="Calibri" pitchFamily="34" charset="-122"/>
                <a:cs typeface="Calibri" pitchFamily="34" charset="-120"/>
              </a:rPr>
              <a:t>Rank 0 | Parallel: SSIM</a:t>
            </a:r>
            <a:endParaRPr lang="en-US" sz="1100" dirty="0"/>
          </a:p>
        </p:txBody>
      </p:sp>
      <p:sp>
        <p:nvSpPr>
          <p:cNvPr id="55" name="Shape 53"/>
          <p:cNvSpPr/>
          <p:nvPr/>
        </p:nvSpPr>
        <p:spPr>
          <a:xfrm>
            <a:off x="2788920" y="5202936"/>
            <a:ext cx="2011680" cy="1143000"/>
          </a:xfrm>
          <a:prstGeom prst="roundRect">
            <a:avLst>
              <a:gd name="adj" fmla="val 6400"/>
            </a:avLst>
          </a:prstGeom>
          <a:solidFill>
            <a:srgbClr val="FFFFFF"/>
          </a:solidFill>
          <a:ln w="19050">
            <a:solidFill>
              <a:srgbClr val="6B4FA3"/>
            </a:solidFill>
            <a:prstDash val="solid"/>
          </a:ln>
        </p:spPr>
      </p:sp>
      <p:sp>
        <p:nvSpPr>
          <p:cNvPr id="56" name="Text 54"/>
          <p:cNvSpPr/>
          <p:nvPr/>
        </p:nvSpPr>
        <p:spPr>
          <a:xfrm>
            <a:off x="2788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1. Huffman decoding</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bit stream to</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delta values</a:t>
            </a:r>
            <a:endParaRPr lang="en-US" sz="1600" dirty="0"/>
          </a:p>
        </p:txBody>
      </p:sp>
      <p:sp>
        <p:nvSpPr>
          <p:cNvPr id="57" name="Shape 55"/>
          <p:cNvSpPr/>
          <p:nvPr/>
        </p:nvSpPr>
        <p:spPr>
          <a:xfrm>
            <a:off x="4828032" y="5655564"/>
            <a:ext cx="219456" cy="237744"/>
          </a:xfrm>
          <a:prstGeom prst="rightArrow">
            <a:avLst/>
          </a:prstGeom>
          <a:solidFill>
            <a:srgbClr val="1F1A33"/>
          </a:solidFill>
          <a:ln w="12700">
            <a:solidFill>
              <a:srgbClr val="1F1A33"/>
            </a:solidFill>
            <a:prstDash val="solid"/>
          </a:ln>
        </p:spPr>
      </p:sp>
      <p:sp>
        <p:nvSpPr>
          <p:cNvPr id="58" name="Shape 56"/>
          <p:cNvSpPr/>
          <p:nvPr/>
        </p:nvSpPr>
        <p:spPr>
          <a:xfrm>
            <a:off x="5074920" y="5202936"/>
            <a:ext cx="2011680" cy="1143000"/>
          </a:xfrm>
          <a:prstGeom prst="roundRect">
            <a:avLst>
              <a:gd name="adj" fmla="val 6400"/>
            </a:avLst>
          </a:prstGeom>
          <a:solidFill>
            <a:srgbClr val="FFFFFF"/>
          </a:solidFill>
          <a:ln w="19050">
            <a:solidFill>
              <a:srgbClr val="6B4FA3"/>
            </a:solidFill>
            <a:prstDash val="solid"/>
          </a:ln>
        </p:spPr>
      </p:sp>
      <p:sp>
        <p:nvSpPr>
          <p:cNvPr id="59" name="Text 57"/>
          <p:cNvSpPr/>
          <p:nvPr/>
        </p:nvSpPr>
        <p:spPr>
          <a:xfrm>
            <a:off x="5074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2. Inverse delta</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recover</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VQ indices</a:t>
            </a:r>
            <a:endParaRPr lang="en-US" sz="1600" dirty="0"/>
          </a:p>
        </p:txBody>
      </p:sp>
      <p:sp>
        <p:nvSpPr>
          <p:cNvPr id="60" name="Shape 58"/>
          <p:cNvSpPr/>
          <p:nvPr/>
        </p:nvSpPr>
        <p:spPr>
          <a:xfrm>
            <a:off x="7114032" y="5655564"/>
            <a:ext cx="219456" cy="237744"/>
          </a:xfrm>
          <a:prstGeom prst="rightArrow">
            <a:avLst/>
          </a:prstGeom>
          <a:solidFill>
            <a:srgbClr val="1F1A33"/>
          </a:solidFill>
          <a:ln w="12700">
            <a:solidFill>
              <a:srgbClr val="1F1A33"/>
            </a:solidFill>
            <a:prstDash val="solid"/>
          </a:ln>
        </p:spPr>
      </p:sp>
      <p:sp>
        <p:nvSpPr>
          <p:cNvPr id="61" name="Shape 59"/>
          <p:cNvSpPr/>
          <p:nvPr/>
        </p:nvSpPr>
        <p:spPr>
          <a:xfrm>
            <a:off x="7360920" y="5202936"/>
            <a:ext cx="2011680" cy="1143000"/>
          </a:xfrm>
          <a:prstGeom prst="roundRect">
            <a:avLst>
              <a:gd name="adj" fmla="val 6400"/>
            </a:avLst>
          </a:prstGeom>
          <a:solidFill>
            <a:srgbClr val="FFFFFF"/>
          </a:solidFill>
          <a:ln w="19050">
            <a:solidFill>
              <a:srgbClr val="6B4FA3"/>
            </a:solidFill>
            <a:prstDash val="solid"/>
          </a:ln>
        </p:spPr>
      </p:sp>
      <p:sp>
        <p:nvSpPr>
          <p:cNvPr id="62" name="Text 60"/>
          <p:cNvSpPr/>
          <p:nvPr/>
        </p:nvSpPr>
        <p:spPr>
          <a:xfrm>
            <a:off x="7360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3. Reconstruction</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codebook</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lookup</a:t>
            </a:r>
            <a:endParaRPr lang="en-US" sz="1600" dirty="0"/>
          </a:p>
        </p:txBody>
      </p:sp>
      <p:sp>
        <p:nvSpPr>
          <p:cNvPr id="63" name="Shape 61"/>
          <p:cNvSpPr/>
          <p:nvPr/>
        </p:nvSpPr>
        <p:spPr>
          <a:xfrm>
            <a:off x="9400032" y="5655564"/>
            <a:ext cx="219456" cy="237744"/>
          </a:xfrm>
          <a:prstGeom prst="rightArrow">
            <a:avLst/>
          </a:prstGeom>
          <a:solidFill>
            <a:srgbClr val="1F1A33"/>
          </a:solidFill>
          <a:ln w="12700">
            <a:solidFill>
              <a:srgbClr val="1F1A33"/>
            </a:solidFill>
            <a:prstDash val="solid"/>
          </a:ln>
        </p:spPr>
      </p:sp>
      <p:sp>
        <p:nvSpPr>
          <p:cNvPr id="64" name="Shape 62"/>
          <p:cNvSpPr/>
          <p:nvPr/>
        </p:nvSpPr>
        <p:spPr>
          <a:xfrm>
            <a:off x="9646920" y="5202936"/>
            <a:ext cx="2011680" cy="1143000"/>
          </a:xfrm>
          <a:prstGeom prst="roundRect">
            <a:avLst>
              <a:gd name="adj" fmla="val 6400"/>
            </a:avLst>
          </a:prstGeom>
          <a:solidFill>
            <a:srgbClr val="FDEBD9"/>
          </a:solidFill>
          <a:ln w="31750">
            <a:solidFill>
              <a:srgbClr val="E07B22"/>
            </a:solidFill>
            <a:prstDash val="dash"/>
          </a:ln>
        </p:spPr>
      </p:sp>
      <p:sp>
        <p:nvSpPr>
          <p:cNvPr id="65" name="Text 63"/>
          <p:cNvSpPr/>
          <p:nvPr/>
        </p:nvSpPr>
        <p:spPr>
          <a:xfrm>
            <a:off x="9646920" y="5202936"/>
            <a:ext cx="2011680" cy="1143000"/>
          </a:xfrm>
          <a:prstGeom prst="rect">
            <a:avLst/>
          </a:prstGeom>
          <a:noFill/>
          <a:ln/>
        </p:spPr>
        <p:txBody>
          <a:bodyPr wrap="square" lIns="635" tIns="635" rIns="635" bIns="635"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4. Metrics</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CR, BPP, MSE, PSNR</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(Rank 0)</a:t>
            </a:r>
            <a:endParaRPr lang="en-US" sz="1600" dirty="0"/>
          </a:p>
          <a:p>
            <a:pPr algn="ctr" indent="0" marL="0">
              <a:buNone/>
            </a:pPr>
            <a:r>
              <a:rPr lang="en-US" sz="1300" dirty="0">
                <a:solidFill>
                  <a:srgbClr val="1F1A33"/>
                </a:solidFill>
                <a:latin typeface="Calibri" pitchFamily="34" charset="0"/>
                <a:ea typeface="Calibri" pitchFamily="34" charset="-122"/>
                <a:cs typeface="Calibri" pitchFamily="34" charset="-120"/>
              </a:rPr>
              <a:t>SSIM (parallel)</a:t>
            </a:r>
            <a:endParaRPr lang="en-US" sz="1600" dirty="0"/>
          </a:p>
        </p:txBody>
      </p:sp>
      <p:sp>
        <p:nvSpPr>
          <p:cNvPr id="66" name="Shape 64"/>
          <p:cNvSpPr/>
          <p:nvPr/>
        </p:nvSpPr>
        <p:spPr>
          <a:xfrm>
            <a:off x="2377440" y="6473952"/>
            <a:ext cx="457200" cy="219456"/>
          </a:xfrm>
          <a:prstGeom prst="roundRect">
            <a:avLst>
              <a:gd name="adj" fmla="val 50000"/>
            </a:avLst>
          </a:prstGeom>
          <a:solidFill>
            <a:srgbClr val="E07B22"/>
          </a:solidFill>
          <a:ln w="12700">
            <a:solidFill>
              <a:srgbClr val="FFFFFF"/>
            </a:solidFill>
            <a:prstDash val="solid"/>
          </a:ln>
        </p:spPr>
      </p:sp>
      <p:sp>
        <p:nvSpPr>
          <p:cNvPr id="67" name="Text 65"/>
          <p:cNvSpPr/>
          <p:nvPr/>
        </p:nvSpPr>
        <p:spPr>
          <a:xfrm>
            <a:off x="2926080" y="6455664"/>
            <a:ext cx="3840480" cy="256032"/>
          </a:xfrm>
          <a:prstGeom prst="rect">
            <a:avLst/>
          </a:prstGeom>
          <a:noFill/>
          <a:ln/>
        </p:spPr>
        <p:txBody>
          <a:bodyPr wrap="square" lIns="0" tIns="0" rIns="0" bIns="0" rtlCol="0" anchor="ctr"/>
          <a:lstStyle/>
          <a:p>
            <a:pPr indent="0" marL="0">
              <a:buNone/>
            </a:pPr>
            <a:r>
              <a:rPr lang="en-US" sz="1300" b="1" dirty="0">
                <a:solidFill>
                  <a:srgbClr val="1F1A33"/>
                </a:solidFill>
                <a:latin typeface="Calibri" pitchFamily="34" charset="0"/>
                <a:ea typeface="Calibri" pitchFamily="34" charset="-122"/>
                <a:cs typeface="Calibri" pitchFamily="34" charset="-120"/>
              </a:rPr>
              <a:t>Parallel: all MPI ranks work together</a:t>
            </a:r>
            <a:endParaRPr lang="en-US" sz="1300" dirty="0"/>
          </a:p>
        </p:txBody>
      </p:sp>
      <p:sp>
        <p:nvSpPr>
          <p:cNvPr id="68" name="Shape 66"/>
          <p:cNvSpPr/>
          <p:nvPr/>
        </p:nvSpPr>
        <p:spPr>
          <a:xfrm>
            <a:off x="6766560" y="6473952"/>
            <a:ext cx="457200" cy="219456"/>
          </a:xfrm>
          <a:prstGeom prst="roundRect">
            <a:avLst>
              <a:gd name="adj" fmla="val 50000"/>
            </a:avLst>
          </a:prstGeom>
          <a:solidFill>
            <a:srgbClr val="5B6770"/>
          </a:solidFill>
          <a:ln w="12700">
            <a:solidFill>
              <a:srgbClr val="FFFFFF"/>
            </a:solidFill>
            <a:prstDash val="solid"/>
          </a:ln>
        </p:spPr>
      </p:sp>
      <p:sp>
        <p:nvSpPr>
          <p:cNvPr id="69" name="Text 67"/>
          <p:cNvSpPr/>
          <p:nvPr/>
        </p:nvSpPr>
        <p:spPr>
          <a:xfrm>
            <a:off x="7315200" y="6455664"/>
            <a:ext cx="3840480" cy="256032"/>
          </a:xfrm>
          <a:prstGeom prst="rect">
            <a:avLst/>
          </a:prstGeom>
          <a:noFill/>
          <a:ln/>
        </p:spPr>
        <p:txBody>
          <a:bodyPr wrap="square" lIns="0" tIns="0" rIns="0" bIns="0" rtlCol="0" anchor="ctr"/>
          <a:lstStyle/>
          <a:p>
            <a:pPr indent="0" marL="0">
              <a:buNone/>
            </a:pPr>
            <a:r>
              <a:rPr lang="en-US" sz="1300" b="1" dirty="0">
                <a:solidFill>
                  <a:srgbClr val="1F1A33"/>
                </a:solidFill>
                <a:latin typeface="Calibri" pitchFamily="34" charset="0"/>
                <a:ea typeface="Calibri" pitchFamily="34" charset="-122"/>
                <a:cs typeface="Calibri" pitchFamily="34" charset="-120"/>
              </a:rPr>
              <a:t>Sequential: executed on Rank 0 only</a:t>
            </a:r>
            <a:endParaRPr lang="en-US" sz="13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F6FB5"/>
          </a:solidFill>
          <a:ln w="12700">
            <a:solidFill>
              <a:srgbClr val="2F6FB5"/>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1</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Block Formation</a:t>
            </a:r>
            <a:endParaRPr lang="en-US" sz="2800" dirty="0"/>
          </a:p>
        </p:txBody>
      </p:sp>
      <p:sp>
        <p:nvSpPr>
          <p:cNvPr id="5" name="Shape 3"/>
          <p:cNvSpPr/>
          <p:nvPr/>
        </p:nvSpPr>
        <p:spPr>
          <a:xfrm>
            <a:off x="457200" y="960120"/>
            <a:ext cx="11274552" cy="36576"/>
          </a:xfrm>
          <a:prstGeom prst="rect">
            <a:avLst/>
          </a:prstGeom>
          <a:solidFill>
            <a:srgbClr val="2F6FB5"/>
          </a:solidFill>
          <a:ln w="12700">
            <a:solidFill>
              <a:srgbClr val="2F6FB5"/>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2F6FB5"/>
            </a:solidFill>
            <a:prstDash val="solid"/>
          </a:ln>
        </p:spPr>
      </p:sp>
      <p:pic>
        <p:nvPicPr>
          <p:cNvPr id="7" name="Image 0" descr="assets/ch3_fig32.png">    </p:cNvPr>
          <p:cNvPicPr>
            <a:picLocks noChangeAspect="1"/>
          </p:cNvPicPr>
          <p:nvPr/>
        </p:nvPicPr>
        <p:blipFill>
          <a:blip r:embed="rId1"/>
          <a:stretch>
            <a:fillRect/>
          </a:stretch>
        </p:blipFill>
        <p:spPr>
          <a:xfrm>
            <a:off x="548640" y="2129857"/>
            <a:ext cx="7132320" cy="3192647"/>
          </a:xfrm>
          <a:prstGeom prst="rect">
            <a:avLst/>
          </a:prstGeom>
        </p:spPr>
      </p:pic>
      <p:sp>
        <p:nvSpPr>
          <p:cNvPr id="8" name="Text 5"/>
          <p:cNvSpPr/>
          <p:nvPr/>
        </p:nvSpPr>
        <p:spPr>
          <a:xfrm>
            <a:off x="457200" y="6245352"/>
            <a:ext cx="7315200" cy="274320"/>
          </a:xfrm>
          <a:prstGeom prst="rect">
            <a:avLst/>
          </a:prstGeom>
          <a:noFill/>
          <a:ln/>
        </p:spPr>
        <p:txBody>
          <a:bodyPr wrap="square" lIns="0" tIns="0" rIns="0" bIns="0" rtlCol="0" anchor="ctr"/>
          <a:lstStyle/>
          <a:p>
            <a:pPr algn="ctr" indent="0" marL="0">
              <a:buNone/>
            </a:pPr>
            <a:r>
              <a:rPr lang="en-US" sz="1200" i="1" dirty="0">
                <a:solidFill>
                  <a:srgbClr val="6B4FA3"/>
                </a:solidFill>
                <a:latin typeface="Calibri" pitchFamily="34" charset="0"/>
                <a:ea typeface="Calibri" pitchFamily="34" charset="-122"/>
                <a:cs typeface="Calibri" pitchFamily="34" charset="-120"/>
              </a:rPr>
              <a:t>Block-based vector quantization (illustrative)</a:t>
            </a:r>
            <a:endParaRPr lang="en-US" sz="1200" dirty="0"/>
          </a:p>
        </p:txBody>
      </p:sp>
      <p:sp>
        <p:nvSpPr>
          <p:cNvPr id="9" name="Shape 6"/>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10" name="Text 7"/>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The image is divided into non-overlapping 4 × 4 blocks.</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Each block becomes a 16-dimensional vector.</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A 512 × 512 image gives N = 16,384 training vectors.</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Color images: the R, G and B channels are processed independently.</a:t>
            </a:r>
            <a:endParaRPr lang="en-US" sz="1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E07B22"/>
          </a:solidFill>
          <a:ln w="12700">
            <a:solidFill>
              <a:srgbClr val="E07B22"/>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2</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LBG Codebook Training</a:t>
            </a:r>
            <a:endParaRPr lang="en-US" sz="2800" dirty="0"/>
          </a:p>
        </p:txBody>
      </p:sp>
      <p:sp>
        <p:nvSpPr>
          <p:cNvPr id="5" name="Shape 3"/>
          <p:cNvSpPr/>
          <p:nvPr/>
        </p:nvSpPr>
        <p:spPr>
          <a:xfrm>
            <a:off x="457200" y="960120"/>
            <a:ext cx="11274552" cy="36576"/>
          </a:xfrm>
          <a:prstGeom prst="rect">
            <a:avLst/>
          </a:prstGeom>
          <a:solidFill>
            <a:srgbClr val="E07B22"/>
          </a:solidFill>
          <a:ln w="12700">
            <a:solidFill>
              <a:srgbClr val="E07B22"/>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E07B22"/>
            </a:solidFill>
            <a:prstDash val="solid"/>
          </a:ln>
        </p:spPr>
      </p:sp>
      <p:pic>
        <p:nvPicPr>
          <p:cNvPr id="7" name="Image 0" descr="assets/lbg_flow_color.png">    </p:cNvPr>
          <p:cNvPicPr>
            <a:picLocks noChangeAspect="1"/>
          </p:cNvPicPr>
          <p:nvPr/>
        </p:nvPicPr>
        <p:blipFill>
          <a:blip r:embed="rId1"/>
          <a:stretch>
            <a:fillRect/>
          </a:stretch>
        </p:blipFill>
        <p:spPr>
          <a:xfrm>
            <a:off x="749477" y="1325880"/>
            <a:ext cx="6730646" cy="4800600"/>
          </a:xfrm>
          <a:prstGeom prst="rect">
            <a:avLst/>
          </a:prstGeom>
        </p:spPr>
      </p:pic>
      <p:sp>
        <p:nvSpPr>
          <p:cNvPr id="8" name="Shape 5"/>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9" name="Text 6"/>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Start from the global mean as the first codeword.</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Binary splitting (δ = 0.01) doubles the codebook size.</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Lloyd refinement: assign each vector to its nearest codeword, then update the centroids.</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Stop at ΔD ≤ ε or 100 iterations; repeat until K = 64.</a:t>
            </a:r>
            <a:endParaRPr lang="en-US" sz="1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E07B22"/>
          </a:solidFill>
          <a:ln w="12700">
            <a:solidFill>
              <a:srgbClr val="E07B22"/>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2</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Parallel LBG Training (MPI)</a:t>
            </a:r>
            <a:endParaRPr lang="en-US" sz="2800" dirty="0"/>
          </a:p>
        </p:txBody>
      </p:sp>
      <p:sp>
        <p:nvSpPr>
          <p:cNvPr id="5" name="Shape 3"/>
          <p:cNvSpPr/>
          <p:nvPr/>
        </p:nvSpPr>
        <p:spPr>
          <a:xfrm>
            <a:off x="457200" y="960120"/>
            <a:ext cx="11274552" cy="36576"/>
          </a:xfrm>
          <a:prstGeom prst="rect">
            <a:avLst/>
          </a:prstGeom>
          <a:solidFill>
            <a:srgbClr val="E07B22"/>
          </a:solidFill>
          <a:ln w="12700">
            <a:solidFill>
              <a:srgbClr val="E07B22"/>
            </a:solidFill>
            <a:prstDash val="solid"/>
          </a:ln>
        </p:spPr>
      </p:sp>
      <p:sp>
        <p:nvSpPr>
          <p:cNvPr id="6" name="Shape 4"/>
          <p:cNvSpPr/>
          <p:nvPr/>
        </p:nvSpPr>
        <p:spPr>
          <a:xfrm>
            <a:off x="457200" y="1143000"/>
            <a:ext cx="11274552" cy="4206240"/>
          </a:xfrm>
          <a:prstGeom prst="roundRect">
            <a:avLst>
              <a:gd name="adj" fmla="val 1739"/>
            </a:avLst>
          </a:prstGeom>
          <a:solidFill>
            <a:srgbClr val="FFFFFF"/>
          </a:solidFill>
          <a:ln w="15875">
            <a:solidFill>
              <a:srgbClr val="E07B22"/>
            </a:solidFill>
            <a:prstDash val="solid"/>
          </a:ln>
        </p:spPr>
      </p:sp>
      <p:pic>
        <p:nvPicPr>
          <p:cNvPr id="7" name="Image 0" descr="figs/parallel_overview.png">    </p:cNvPr>
          <p:cNvPicPr>
            <a:picLocks noChangeAspect="1"/>
          </p:cNvPicPr>
          <p:nvPr/>
        </p:nvPicPr>
        <p:blipFill>
          <a:blip r:embed="rId1"/>
          <a:stretch>
            <a:fillRect/>
          </a:stretch>
        </p:blipFill>
        <p:spPr>
          <a:xfrm>
            <a:off x="1145179" y="1234440"/>
            <a:ext cx="9898594" cy="4023360"/>
          </a:xfrm>
          <a:prstGeom prst="rect">
            <a:avLst/>
          </a:prstGeom>
        </p:spPr>
      </p:pic>
      <p:sp>
        <p:nvSpPr>
          <p:cNvPr id="8" name="Shape 5"/>
          <p:cNvSpPr/>
          <p:nvPr/>
        </p:nvSpPr>
        <p:spPr>
          <a:xfrm>
            <a:off x="457200" y="5440680"/>
            <a:ext cx="5559552" cy="1234440"/>
          </a:xfrm>
          <a:prstGeom prst="roundRect">
            <a:avLst>
              <a:gd name="adj" fmla="val 5926"/>
            </a:avLst>
          </a:prstGeom>
          <a:solidFill>
            <a:srgbClr val="F5F1FB"/>
          </a:solidFill>
          <a:ln w="12700">
            <a:solidFill>
              <a:srgbClr val="F5F1FB"/>
            </a:solidFill>
            <a:prstDash val="solid"/>
          </a:ln>
        </p:spPr>
      </p:sp>
      <p:sp>
        <p:nvSpPr>
          <p:cNvPr id="9" name="Text 6"/>
          <p:cNvSpPr/>
          <p:nvPr/>
        </p:nvSpPr>
        <p:spPr>
          <a:xfrm>
            <a:off x="548640" y="5532120"/>
            <a:ext cx="5376672" cy="1051560"/>
          </a:xfrm>
          <a:prstGeom prst="rect">
            <a:avLst/>
          </a:prstGeom>
          <a:noFill/>
          <a:ln/>
        </p:spPr>
        <p:txBody>
          <a:bodyPr wrap="square" lIns="1016" tIns="1016" rIns="1016" bIns="1016" rtlCol="0" anchor="t"/>
          <a:lstStyle/>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SPMD: every rank runs the same program on its own chunk of vectors.</a:t>
            </a:r>
            <a:endParaRPr lang="en-US" sz="1400" dirty="0"/>
          </a:p>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Nearest-codeword assignment is local and is the main cost of LBG, which takes about 77% of the sequential time (gray).</a:t>
            </a:r>
            <a:endParaRPr lang="en-US" sz="1400" dirty="0"/>
          </a:p>
        </p:txBody>
      </p:sp>
      <p:sp>
        <p:nvSpPr>
          <p:cNvPr id="10" name="Shape 7"/>
          <p:cNvSpPr/>
          <p:nvPr/>
        </p:nvSpPr>
        <p:spPr>
          <a:xfrm>
            <a:off x="6172200" y="5440680"/>
            <a:ext cx="5559552" cy="1234440"/>
          </a:xfrm>
          <a:prstGeom prst="roundRect">
            <a:avLst>
              <a:gd name="adj" fmla="val 5926"/>
            </a:avLst>
          </a:prstGeom>
          <a:solidFill>
            <a:srgbClr val="F5F1FB"/>
          </a:solidFill>
          <a:ln w="12700">
            <a:solidFill>
              <a:srgbClr val="F5F1FB"/>
            </a:solidFill>
            <a:prstDash val="solid"/>
          </a:ln>
        </p:spPr>
      </p:sp>
      <p:sp>
        <p:nvSpPr>
          <p:cNvPr id="11" name="Text 8"/>
          <p:cNvSpPr/>
          <p:nvPr/>
        </p:nvSpPr>
        <p:spPr>
          <a:xfrm>
            <a:off x="6263640" y="5532120"/>
            <a:ext cx="5376672" cy="1051560"/>
          </a:xfrm>
          <a:prstGeom prst="rect">
            <a:avLst/>
          </a:prstGeom>
          <a:noFill/>
          <a:ln/>
        </p:spPr>
        <p:txBody>
          <a:bodyPr wrap="square" lIns="1016" tIns="1016" rIns="1016" bIns="1016" rtlCol="0" anchor="t"/>
          <a:lstStyle/>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Allreduce combines sums, counts and distortion; every rank updates the same codebook.</a:t>
            </a:r>
            <a:endParaRPr lang="en-US" sz="1400" dirty="0"/>
          </a:p>
          <a:p>
            <a:pPr marL="342900" indent="-342900">
              <a:spcAft>
                <a:spcPts val="1000"/>
              </a:spcAft>
              <a:buSzPct val="100000"/>
              <a:buChar char="■"/>
            </a:pPr>
            <a:r>
              <a:rPr lang="en-US" sz="1400" dirty="0">
                <a:solidFill>
                  <a:srgbClr val="1F1A33"/>
                </a:solidFill>
                <a:latin typeface="Calibri" pitchFamily="34" charset="0"/>
                <a:ea typeface="Calibri" pitchFamily="34" charset="-122"/>
                <a:cs typeface="Calibri" pitchFamily="34" charset="-120"/>
              </a:rPr>
              <a:t>Gatherv collects the final indices on Rank 0.</a:t>
            </a:r>
            <a:endParaRPr lang="en-US" sz="14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E07B22"/>
          </a:solidFill>
          <a:ln w="12700">
            <a:solidFill>
              <a:srgbClr val="E07B22"/>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2</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Equal and Adaptive Workload Distribution</a:t>
            </a:r>
            <a:endParaRPr lang="en-US" sz="2800" dirty="0"/>
          </a:p>
        </p:txBody>
      </p:sp>
      <p:sp>
        <p:nvSpPr>
          <p:cNvPr id="5" name="Shape 3"/>
          <p:cNvSpPr/>
          <p:nvPr/>
        </p:nvSpPr>
        <p:spPr>
          <a:xfrm>
            <a:off x="457200" y="960120"/>
            <a:ext cx="11274552" cy="36576"/>
          </a:xfrm>
          <a:prstGeom prst="rect">
            <a:avLst/>
          </a:prstGeom>
          <a:solidFill>
            <a:srgbClr val="E07B22"/>
          </a:solidFill>
          <a:ln w="12700">
            <a:solidFill>
              <a:srgbClr val="E07B22"/>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E07B22"/>
            </a:solidFill>
            <a:prstDash val="solid"/>
          </a:ln>
        </p:spPr>
      </p:sp>
      <p:pic>
        <p:nvPicPr>
          <p:cNvPr id="7" name="Image 0" descr="assets/ch3_fig38.png">    </p:cNvPr>
          <p:cNvPicPr>
            <a:picLocks noChangeAspect="1"/>
          </p:cNvPicPr>
          <p:nvPr/>
        </p:nvPicPr>
        <p:blipFill>
          <a:blip r:embed="rId1"/>
          <a:stretch>
            <a:fillRect/>
          </a:stretch>
        </p:blipFill>
        <p:spPr>
          <a:xfrm>
            <a:off x="548640" y="1618744"/>
            <a:ext cx="7132320" cy="4214872"/>
          </a:xfrm>
          <a:prstGeom prst="rect">
            <a:avLst/>
          </a:prstGeom>
        </p:spPr>
      </p:pic>
      <p:sp>
        <p:nvSpPr>
          <p:cNvPr id="8" name="Shape 5"/>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9" name="Text 6"/>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Equal (default, P ≤ 4): each rank gets N/P vectors (rounded down or up).</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Adaptive (P &gt; 4): speed measured by calibration (3 trials, the first is a warm-up).</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q_r = N · s_r / Σ s_j: faster cores receive more vectors.</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Adaptive reduces LBG time by 17–28% compared with Equal (P = 8 to 14).</a:t>
            </a:r>
            <a:endParaRPr lang="en-US" sz="16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3</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Delta Coding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315200" cy="4983480"/>
          </a:xfrm>
          <a:prstGeom prst="roundRect">
            <a:avLst>
              <a:gd name="adj" fmla="val 1468"/>
            </a:avLst>
          </a:prstGeom>
          <a:solidFill>
            <a:srgbClr val="FFFFFF"/>
          </a:solidFill>
          <a:ln w="15875">
            <a:solidFill>
              <a:srgbClr val="2A9D8F"/>
            </a:solidFill>
            <a:prstDash val="solid"/>
          </a:ln>
        </p:spPr>
      </p:sp>
      <p:pic>
        <p:nvPicPr>
          <p:cNvPr id="7" name="Image 0" descr="assets/ch3_fig34.png">    </p:cNvPr>
          <p:cNvPicPr>
            <a:picLocks noChangeAspect="1"/>
          </p:cNvPicPr>
          <p:nvPr/>
        </p:nvPicPr>
        <p:blipFill>
          <a:blip r:embed="rId1"/>
          <a:stretch>
            <a:fillRect/>
          </a:stretch>
        </p:blipFill>
        <p:spPr>
          <a:xfrm>
            <a:off x="548640" y="2117794"/>
            <a:ext cx="7132320" cy="3216773"/>
          </a:xfrm>
          <a:prstGeom prst="rect">
            <a:avLst/>
          </a:prstGeom>
        </p:spPr>
      </p:pic>
      <p:sp>
        <p:nvSpPr>
          <p:cNvPr id="8" name="Shape 5"/>
          <p:cNvSpPr/>
          <p:nvPr/>
        </p:nvSpPr>
        <p:spPr>
          <a:xfrm>
            <a:off x="8001000" y="1234440"/>
            <a:ext cx="3749040" cy="4983480"/>
          </a:xfrm>
          <a:prstGeom prst="roundRect">
            <a:avLst>
              <a:gd name="adj" fmla="val 1951"/>
            </a:avLst>
          </a:prstGeom>
          <a:solidFill>
            <a:srgbClr val="F5F1FB"/>
          </a:solidFill>
          <a:ln w="12700">
            <a:solidFill>
              <a:srgbClr val="F5F1FB"/>
            </a:solidFill>
            <a:prstDash val="solid"/>
          </a:ln>
        </p:spPr>
      </p:sp>
      <p:sp>
        <p:nvSpPr>
          <p:cNvPr id="9" name="Text 6"/>
          <p:cNvSpPr/>
          <p:nvPr/>
        </p:nvSpPr>
        <p:spPr>
          <a:xfrm>
            <a:off x="8092440" y="1325880"/>
            <a:ext cx="3566160" cy="4800600"/>
          </a:xfrm>
          <a:prstGeom prst="rect">
            <a:avLst/>
          </a:prstGeom>
          <a:noFill/>
          <a:ln/>
        </p:spPr>
        <p:txBody>
          <a:bodyPr wrap="square" lIns="1016" tIns="1016" rIns="1016" bIns="1016" rtlCol="0" anchor="t"/>
          <a:lstStyle/>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Stores the difference between successive VQ indices (offset 128).</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Neighbouring blocks are correlated, so the differences cluster around the offset.</a:t>
            </a:r>
            <a:endParaRPr lang="en-US" sz="1700" dirty="0"/>
          </a:p>
          <a:p>
            <a:pPr marL="342900" indent="-342900">
              <a:spcAft>
                <a:spcPts val="1000"/>
              </a:spcAft>
              <a:buSzPct val="100000"/>
              <a:buChar char="■"/>
            </a:pPr>
            <a:r>
              <a:rPr lang="en-US" sz="1700" dirty="0">
                <a:solidFill>
                  <a:srgbClr val="1F1A33"/>
                </a:solidFill>
                <a:latin typeface="Calibri" pitchFamily="34" charset="0"/>
                <a:ea typeface="Calibri" pitchFamily="34" charset="-122"/>
                <a:cs typeface="Calibri" pitchFamily="34" charset="-120"/>
              </a:rPr>
              <a:t>Example (Lena): entropy falls from 5.39 to 4.67 bits per symbol.</a:t>
            </a:r>
            <a:endParaRPr lang="en-US" sz="17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3</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Huffman Coding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80160"/>
            <a:ext cx="11274552" cy="1554480"/>
          </a:xfrm>
          <a:prstGeom prst="roundRect">
            <a:avLst>
              <a:gd name="adj" fmla="val 4706"/>
            </a:avLst>
          </a:prstGeom>
          <a:solidFill>
            <a:srgbClr val="FFFFFF"/>
          </a:solidFill>
          <a:ln w="15875">
            <a:solidFill>
              <a:srgbClr val="2A9D8F"/>
            </a:solidFill>
            <a:prstDash val="solid"/>
          </a:ln>
        </p:spPr>
      </p:sp>
      <p:pic>
        <p:nvPicPr>
          <p:cNvPr id="7" name="Image 0" descr="assets/ch3_fig35.png">    </p:cNvPr>
          <p:cNvPicPr>
            <a:picLocks noChangeAspect="1"/>
          </p:cNvPicPr>
          <p:nvPr/>
        </p:nvPicPr>
        <p:blipFill>
          <a:blip r:embed="rId1"/>
          <a:stretch>
            <a:fillRect/>
          </a:stretch>
        </p:blipFill>
        <p:spPr>
          <a:xfrm>
            <a:off x="548640" y="1466490"/>
            <a:ext cx="11091672" cy="1181820"/>
          </a:xfrm>
          <a:prstGeom prst="rect">
            <a:avLst/>
          </a:prstGeom>
        </p:spPr>
      </p:pic>
      <p:sp>
        <p:nvSpPr>
          <p:cNvPr id="8" name="Shape 5"/>
          <p:cNvSpPr/>
          <p:nvPr/>
        </p:nvSpPr>
        <p:spPr>
          <a:xfrm>
            <a:off x="457200" y="3154680"/>
            <a:ext cx="11274552" cy="3063240"/>
          </a:xfrm>
          <a:prstGeom prst="roundRect">
            <a:avLst>
              <a:gd name="adj" fmla="val 2388"/>
            </a:avLst>
          </a:prstGeom>
          <a:solidFill>
            <a:srgbClr val="F5F1FB"/>
          </a:solidFill>
          <a:ln w="12700">
            <a:solidFill>
              <a:srgbClr val="F5F1FB"/>
            </a:solidFill>
            <a:prstDash val="solid"/>
          </a:ln>
        </p:spPr>
      </p:sp>
      <p:sp>
        <p:nvSpPr>
          <p:cNvPr id="9" name="Text 6"/>
          <p:cNvSpPr/>
          <p:nvPr/>
        </p:nvSpPr>
        <p:spPr>
          <a:xfrm>
            <a:off x="548640" y="3246120"/>
            <a:ext cx="11091672" cy="2880360"/>
          </a:xfrm>
          <a:prstGeom prst="rect">
            <a:avLst/>
          </a:prstGeom>
          <a:noFill/>
          <a:ln/>
        </p:spPr>
        <p:txBody>
          <a:bodyPr wrap="square" lIns="1016" tIns="1016" rIns="1016" bIns="1016" rtlCol="0" anchor="t"/>
          <a:lstStyle/>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Frequent symbols receive shorter codewords, rare symbols longer ones (lossless).</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Output: the Huffman codes and the encoded bitstream.</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Accounted compressed size = codebook (K × 16 bytes, one byte per codeword element) + Huffman table + Huffman-coded data.</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table is accounted as 5 bytes per used symbol (1 byte symbol + 4 bytes frequency) plus 10 bytes of fixed metadata. The program accounts this size; it does not write a stand-alone compressed file.</a:t>
            </a:r>
            <a:endParaRPr lang="en-US" sz="1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6B4FA3"/>
          </a:solidFill>
          <a:ln w="12700">
            <a:solidFill>
              <a:srgbClr val="6B4FA3"/>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Stage 4</a:t>
            </a:r>
            <a:endParaRPr lang="en-US" sz="1800" dirty="0"/>
          </a:p>
        </p:txBody>
      </p:sp>
      <p:sp>
        <p:nvSpPr>
          <p:cNvPr id="4" name="Text 2"/>
          <p:cNvSpPr/>
          <p:nvPr/>
        </p:nvSpPr>
        <p:spPr>
          <a:xfrm>
            <a:off x="2103120" y="274320"/>
            <a:ext cx="96012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Decoding and Evaluation</a:t>
            </a:r>
            <a:endParaRPr lang="en-US" sz="2800" dirty="0"/>
          </a:p>
        </p:txBody>
      </p:sp>
      <p:sp>
        <p:nvSpPr>
          <p:cNvPr id="5" name="Shape 3"/>
          <p:cNvSpPr/>
          <p:nvPr/>
        </p:nvSpPr>
        <p:spPr>
          <a:xfrm>
            <a:off x="457200" y="960120"/>
            <a:ext cx="11274552" cy="36576"/>
          </a:xfrm>
          <a:prstGeom prst="rect">
            <a:avLst/>
          </a:prstGeom>
          <a:solidFill>
            <a:srgbClr val="6B4FA3"/>
          </a:solidFill>
          <a:ln w="12700">
            <a:solidFill>
              <a:srgbClr val="6B4FA3"/>
            </a:solidFill>
            <a:prstDash val="solid"/>
          </a:ln>
        </p:spPr>
      </p:sp>
      <p:sp>
        <p:nvSpPr>
          <p:cNvPr id="6" name="Shape 4"/>
          <p:cNvSpPr/>
          <p:nvPr/>
        </p:nvSpPr>
        <p:spPr>
          <a:xfrm>
            <a:off x="457200" y="1234440"/>
            <a:ext cx="2468880" cy="731520"/>
          </a:xfrm>
          <a:prstGeom prst="roundRect">
            <a:avLst>
              <a:gd name="adj" fmla="val 10000"/>
            </a:avLst>
          </a:prstGeom>
          <a:solidFill>
            <a:srgbClr val="ECE6F6"/>
          </a:solidFill>
          <a:ln w="19050">
            <a:solidFill>
              <a:srgbClr val="6B4FA3"/>
            </a:solidFill>
            <a:prstDash val="solid"/>
          </a:ln>
        </p:spPr>
      </p:sp>
      <p:sp>
        <p:nvSpPr>
          <p:cNvPr id="7" name="Text 5"/>
          <p:cNvSpPr/>
          <p:nvPr/>
        </p:nvSpPr>
        <p:spPr>
          <a:xfrm>
            <a:off x="45720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Huffman decoding</a:t>
            </a:r>
            <a:endParaRPr lang="en-US" sz="1600" dirty="0"/>
          </a:p>
        </p:txBody>
      </p:sp>
      <p:sp>
        <p:nvSpPr>
          <p:cNvPr id="8" name="Shape 6"/>
          <p:cNvSpPr/>
          <p:nvPr/>
        </p:nvSpPr>
        <p:spPr>
          <a:xfrm>
            <a:off x="2953512" y="1481328"/>
            <a:ext cx="310896" cy="237744"/>
          </a:xfrm>
          <a:prstGeom prst="rightArrow">
            <a:avLst/>
          </a:prstGeom>
          <a:solidFill>
            <a:srgbClr val="1F1A33"/>
          </a:solidFill>
          <a:ln w="12700">
            <a:solidFill>
              <a:srgbClr val="1F1A33"/>
            </a:solidFill>
            <a:prstDash val="solid"/>
          </a:ln>
        </p:spPr>
      </p:sp>
      <p:sp>
        <p:nvSpPr>
          <p:cNvPr id="9" name="Shape 7"/>
          <p:cNvSpPr/>
          <p:nvPr/>
        </p:nvSpPr>
        <p:spPr>
          <a:xfrm>
            <a:off x="3291840" y="1234440"/>
            <a:ext cx="2468880" cy="731520"/>
          </a:xfrm>
          <a:prstGeom prst="roundRect">
            <a:avLst>
              <a:gd name="adj" fmla="val 10000"/>
            </a:avLst>
          </a:prstGeom>
          <a:solidFill>
            <a:srgbClr val="ECE6F6"/>
          </a:solidFill>
          <a:ln w="19050">
            <a:solidFill>
              <a:srgbClr val="6B4FA3"/>
            </a:solidFill>
            <a:prstDash val="solid"/>
          </a:ln>
        </p:spPr>
      </p:sp>
      <p:sp>
        <p:nvSpPr>
          <p:cNvPr id="10" name="Text 8"/>
          <p:cNvSpPr/>
          <p:nvPr/>
        </p:nvSpPr>
        <p:spPr>
          <a:xfrm>
            <a:off x="329184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Inverse delta</a:t>
            </a:r>
            <a:endParaRPr lang="en-US" sz="1600" dirty="0"/>
          </a:p>
        </p:txBody>
      </p:sp>
      <p:sp>
        <p:nvSpPr>
          <p:cNvPr id="11" name="Shape 9"/>
          <p:cNvSpPr/>
          <p:nvPr/>
        </p:nvSpPr>
        <p:spPr>
          <a:xfrm>
            <a:off x="5788152" y="1481328"/>
            <a:ext cx="310896" cy="237744"/>
          </a:xfrm>
          <a:prstGeom prst="rightArrow">
            <a:avLst/>
          </a:prstGeom>
          <a:solidFill>
            <a:srgbClr val="1F1A33"/>
          </a:solidFill>
          <a:ln w="12700">
            <a:solidFill>
              <a:srgbClr val="1F1A33"/>
            </a:solidFill>
            <a:prstDash val="solid"/>
          </a:ln>
        </p:spPr>
      </p:sp>
      <p:sp>
        <p:nvSpPr>
          <p:cNvPr id="12" name="Shape 10"/>
          <p:cNvSpPr/>
          <p:nvPr/>
        </p:nvSpPr>
        <p:spPr>
          <a:xfrm>
            <a:off x="6126480" y="1234440"/>
            <a:ext cx="2468880" cy="731520"/>
          </a:xfrm>
          <a:prstGeom prst="roundRect">
            <a:avLst>
              <a:gd name="adj" fmla="val 10000"/>
            </a:avLst>
          </a:prstGeom>
          <a:solidFill>
            <a:srgbClr val="ECE6F6"/>
          </a:solidFill>
          <a:ln w="19050">
            <a:solidFill>
              <a:srgbClr val="6B4FA3"/>
            </a:solidFill>
            <a:prstDash val="solid"/>
          </a:ln>
        </p:spPr>
      </p:sp>
      <p:sp>
        <p:nvSpPr>
          <p:cNvPr id="13" name="Text 11"/>
          <p:cNvSpPr/>
          <p:nvPr/>
        </p:nvSpPr>
        <p:spPr>
          <a:xfrm>
            <a:off x="612648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Codebook lookup</a:t>
            </a:r>
            <a:endParaRPr lang="en-US" sz="1600" dirty="0"/>
          </a:p>
        </p:txBody>
      </p:sp>
      <p:sp>
        <p:nvSpPr>
          <p:cNvPr id="14" name="Shape 12"/>
          <p:cNvSpPr/>
          <p:nvPr/>
        </p:nvSpPr>
        <p:spPr>
          <a:xfrm>
            <a:off x="8622792" y="1481328"/>
            <a:ext cx="310896" cy="237744"/>
          </a:xfrm>
          <a:prstGeom prst="rightArrow">
            <a:avLst/>
          </a:prstGeom>
          <a:solidFill>
            <a:srgbClr val="1F1A33"/>
          </a:solidFill>
          <a:ln w="12700">
            <a:solidFill>
              <a:srgbClr val="1F1A33"/>
            </a:solidFill>
            <a:prstDash val="solid"/>
          </a:ln>
        </p:spPr>
      </p:sp>
      <p:sp>
        <p:nvSpPr>
          <p:cNvPr id="15" name="Shape 13"/>
          <p:cNvSpPr/>
          <p:nvPr/>
        </p:nvSpPr>
        <p:spPr>
          <a:xfrm>
            <a:off x="8961120" y="1234440"/>
            <a:ext cx="2468880" cy="731520"/>
          </a:xfrm>
          <a:prstGeom prst="roundRect">
            <a:avLst>
              <a:gd name="adj" fmla="val 10000"/>
            </a:avLst>
          </a:prstGeom>
          <a:solidFill>
            <a:srgbClr val="ECE6F6"/>
          </a:solidFill>
          <a:ln w="19050">
            <a:solidFill>
              <a:srgbClr val="6B4FA3"/>
            </a:solidFill>
            <a:prstDash val="solid"/>
          </a:ln>
        </p:spPr>
      </p:sp>
      <p:sp>
        <p:nvSpPr>
          <p:cNvPr id="16" name="Text 14"/>
          <p:cNvSpPr/>
          <p:nvPr/>
        </p:nvSpPr>
        <p:spPr>
          <a:xfrm>
            <a:off x="8961120" y="1234440"/>
            <a:ext cx="2468880" cy="731520"/>
          </a:xfrm>
          <a:prstGeom prst="rect">
            <a:avLst/>
          </a:prstGeom>
          <a:noFill/>
          <a:ln/>
        </p:spPr>
        <p:txBody>
          <a:bodyPr wrap="square" lIns="0" tIns="0" rIns="0" bIns="0" rtlCol="0" anchor="ctr"/>
          <a:lstStyle/>
          <a:p>
            <a:pPr algn="ctr" indent="0" marL="0">
              <a:buNone/>
            </a:pPr>
            <a:r>
              <a:rPr lang="en-US" sz="1600" b="1" dirty="0">
                <a:solidFill>
                  <a:srgbClr val="6B4FA3"/>
                </a:solidFill>
                <a:latin typeface="Calibri" pitchFamily="34" charset="0"/>
                <a:ea typeface="Calibri" pitchFamily="34" charset="-122"/>
                <a:cs typeface="Calibri" pitchFamily="34" charset="-120"/>
              </a:rPr>
              <a:t>Reconstructed image</a:t>
            </a:r>
            <a:endParaRPr lang="en-US" sz="1600" dirty="0"/>
          </a:p>
        </p:txBody>
      </p:sp>
      <p:pic>
        <p:nvPicPr>
          <p:cNvPr id="17" name="Image 0" descr="assets/cam_orig.png">    </p:cNvPr>
          <p:cNvPicPr>
            <a:picLocks noChangeAspect="1"/>
          </p:cNvPicPr>
          <p:nvPr/>
        </p:nvPicPr>
        <p:blipFill>
          <a:blip r:embed="rId1"/>
          <a:stretch>
            <a:fillRect/>
          </a:stretch>
        </p:blipFill>
        <p:spPr>
          <a:xfrm>
            <a:off x="457200" y="2331720"/>
            <a:ext cx="2926080" cy="2926080"/>
          </a:xfrm>
          <a:prstGeom prst="rect">
            <a:avLst/>
          </a:prstGeom>
        </p:spPr>
      </p:pic>
      <p:pic>
        <p:nvPicPr>
          <p:cNvPr id="18" name="Image 1" descr="assets/cam_rec.png">    </p:cNvPr>
          <p:cNvPicPr>
            <a:picLocks noChangeAspect="1"/>
          </p:cNvPicPr>
          <p:nvPr/>
        </p:nvPicPr>
        <p:blipFill>
          <a:blip r:embed="rId2"/>
          <a:stretch>
            <a:fillRect/>
          </a:stretch>
        </p:blipFill>
        <p:spPr>
          <a:xfrm>
            <a:off x="3611880" y="2331720"/>
            <a:ext cx="2926080" cy="2926080"/>
          </a:xfrm>
          <a:prstGeom prst="rect">
            <a:avLst/>
          </a:prstGeom>
        </p:spPr>
      </p:pic>
      <p:sp>
        <p:nvSpPr>
          <p:cNvPr id="19" name="Text 15"/>
          <p:cNvSpPr/>
          <p:nvPr/>
        </p:nvSpPr>
        <p:spPr>
          <a:xfrm>
            <a:off x="457200" y="5285232"/>
            <a:ext cx="292608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Original</a:t>
            </a:r>
            <a:endParaRPr lang="en-US" sz="1400" dirty="0"/>
          </a:p>
        </p:txBody>
      </p:sp>
      <p:sp>
        <p:nvSpPr>
          <p:cNvPr id="20" name="Text 16"/>
          <p:cNvSpPr/>
          <p:nvPr/>
        </p:nvSpPr>
        <p:spPr>
          <a:xfrm>
            <a:off x="3611880" y="5285232"/>
            <a:ext cx="292608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Reconstructed</a:t>
            </a:r>
            <a:endParaRPr lang="en-US" sz="1400" dirty="0"/>
          </a:p>
        </p:txBody>
      </p:sp>
      <p:sp>
        <p:nvSpPr>
          <p:cNvPr id="21" name="Text 17"/>
          <p:cNvSpPr/>
          <p:nvPr/>
        </p:nvSpPr>
        <p:spPr>
          <a:xfrm>
            <a:off x="457200" y="5623560"/>
            <a:ext cx="6080760" cy="274320"/>
          </a:xfrm>
          <a:prstGeom prst="rect">
            <a:avLst/>
          </a:prstGeom>
          <a:noFill/>
          <a:ln/>
        </p:spPr>
        <p:txBody>
          <a:bodyPr wrap="square" lIns="0" tIns="0" rIns="0" bIns="0" rtlCol="0" anchor="ctr"/>
          <a:lstStyle/>
          <a:p>
            <a:pPr algn="ctr" indent="0" marL="0">
              <a:buNone/>
            </a:pPr>
            <a:r>
              <a:rPr lang="en-US" sz="1300" i="1" dirty="0">
                <a:solidFill>
                  <a:srgbClr val="6B4FA3"/>
                </a:solidFill>
                <a:latin typeface="Calibri" pitchFamily="34" charset="0"/>
                <a:ea typeface="Calibri" pitchFamily="34" charset="-122"/>
                <a:cs typeface="Calibri" pitchFamily="34" charset="-120"/>
              </a:rPr>
              <a:t>Cameraman: PSNR 29.75 dB, SSIM 0.8855</a:t>
            </a:r>
            <a:endParaRPr lang="en-US" sz="1300" dirty="0"/>
          </a:p>
        </p:txBody>
      </p:sp>
      <p:sp>
        <p:nvSpPr>
          <p:cNvPr id="22" name="Shape 18"/>
          <p:cNvSpPr/>
          <p:nvPr/>
        </p:nvSpPr>
        <p:spPr>
          <a:xfrm>
            <a:off x="6858000" y="2331720"/>
            <a:ext cx="4892040" cy="3886200"/>
          </a:xfrm>
          <a:prstGeom prst="roundRect">
            <a:avLst>
              <a:gd name="adj" fmla="val 1882"/>
            </a:avLst>
          </a:prstGeom>
          <a:solidFill>
            <a:srgbClr val="F5F1FB"/>
          </a:solidFill>
          <a:ln w="12700">
            <a:solidFill>
              <a:srgbClr val="F5F1FB"/>
            </a:solidFill>
            <a:prstDash val="solid"/>
          </a:ln>
        </p:spPr>
      </p:sp>
      <p:sp>
        <p:nvSpPr>
          <p:cNvPr id="23" name="Text 19"/>
          <p:cNvSpPr/>
          <p:nvPr/>
        </p:nvSpPr>
        <p:spPr>
          <a:xfrm>
            <a:off x="6949440" y="2423160"/>
            <a:ext cx="4709160" cy="3703320"/>
          </a:xfrm>
          <a:prstGeom prst="rect">
            <a:avLst/>
          </a:prstGeom>
          <a:noFill/>
          <a:ln/>
        </p:spPr>
        <p:txBody>
          <a:bodyPr wrap="square" lIns="1016" tIns="1016" rIns="1016" bIns="1016" rtlCol="0" anchor="t"/>
          <a:lstStyle/>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Decoding and reconstruction run on Rank 0.</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Quality: MSE, PSNR and SSIM (SSIM is computed in parallel); size: CR and BPP.</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Parallel performance: time, speedup, efficiency, throughput, Karp–Flatt.</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Verification: the reconstructed image (MD5) and the metrics are identical for the sequential run, P = 4, and P = 14 (Adaptive and Equal).</a:t>
            </a:r>
            <a:endParaRPr lang="en-US" sz="16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301752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30175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Experimental Results</a:t>
            </a:r>
            <a:endParaRPr lang="en-US" sz="1600" dirty="0"/>
          </a:p>
        </p:txBody>
      </p:sp>
      <p:sp>
        <p:nvSpPr>
          <p:cNvPr id="4" name="Text 2"/>
          <p:cNvSpPr/>
          <p:nvPr/>
        </p:nvSpPr>
        <p:spPr>
          <a:xfrm>
            <a:off x="3657600" y="274320"/>
            <a:ext cx="85039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Experimental Setup</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640080" y="1325880"/>
            <a:ext cx="5394960" cy="1463040"/>
          </a:xfrm>
          <a:prstGeom prst="roundRect">
            <a:avLst>
              <a:gd name="adj" fmla="val 6250"/>
            </a:avLst>
          </a:prstGeom>
          <a:solidFill>
            <a:srgbClr val="FFFFFF"/>
          </a:solidFill>
          <a:ln w="22225">
            <a:solidFill>
              <a:srgbClr val="6B4FA3"/>
            </a:solidFill>
            <a:prstDash val="solid"/>
          </a:ln>
        </p:spPr>
      </p:sp>
      <p:sp>
        <p:nvSpPr>
          <p:cNvPr id="7" name="Shape 5"/>
          <p:cNvSpPr/>
          <p:nvPr/>
        </p:nvSpPr>
        <p:spPr>
          <a:xfrm>
            <a:off x="658368" y="1344168"/>
            <a:ext cx="109728" cy="1426464"/>
          </a:xfrm>
          <a:prstGeom prst="rect">
            <a:avLst/>
          </a:prstGeom>
          <a:solidFill>
            <a:srgbClr val="6B4FA3"/>
          </a:solidFill>
          <a:ln w="12700">
            <a:solidFill>
              <a:srgbClr val="6B4FA3"/>
            </a:solidFill>
            <a:prstDash val="solid"/>
          </a:ln>
        </p:spPr>
      </p:sp>
      <p:sp>
        <p:nvSpPr>
          <p:cNvPr id="8" name="Text 6"/>
          <p:cNvSpPr/>
          <p:nvPr/>
        </p:nvSpPr>
        <p:spPr>
          <a:xfrm>
            <a:off x="914400" y="137160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6B4FA3"/>
                </a:solidFill>
                <a:latin typeface="Calibri" pitchFamily="34" charset="0"/>
                <a:ea typeface="Calibri" pitchFamily="34" charset="-122"/>
                <a:cs typeface="Calibri" pitchFamily="34" charset="-120"/>
              </a:rPr>
              <a:t>Hardware</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Intel Core i7-13650HX: 6 P-cores and 8 E-cores (14 cores in total).</a:t>
            </a:r>
            <a:endParaRPr lang="en-US" sz="2000" dirty="0"/>
          </a:p>
        </p:txBody>
      </p:sp>
      <p:sp>
        <p:nvSpPr>
          <p:cNvPr id="9" name="Shape 7"/>
          <p:cNvSpPr/>
          <p:nvPr/>
        </p:nvSpPr>
        <p:spPr>
          <a:xfrm>
            <a:off x="6172200" y="1325880"/>
            <a:ext cx="5394960" cy="1463040"/>
          </a:xfrm>
          <a:prstGeom prst="roundRect">
            <a:avLst>
              <a:gd name="adj" fmla="val 6250"/>
            </a:avLst>
          </a:prstGeom>
          <a:solidFill>
            <a:srgbClr val="FFFFFF"/>
          </a:solidFill>
          <a:ln w="22225">
            <a:solidFill>
              <a:srgbClr val="E07B22"/>
            </a:solidFill>
            <a:prstDash val="solid"/>
          </a:ln>
        </p:spPr>
      </p:sp>
      <p:sp>
        <p:nvSpPr>
          <p:cNvPr id="10" name="Shape 8"/>
          <p:cNvSpPr/>
          <p:nvPr/>
        </p:nvSpPr>
        <p:spPr>
          <a:xfrm>
            <a:off x="6190488" y="1344168"/>
            <a:ext cx="109728" cy="1426464"/>
          </a:xfrm>
          <a:prstGeom prst="rect">
            <a:avLst/>
          </a:prstGeom>
          <a:solidFill>
            <a:srgbClr val="E07B22"/>
          </a:solidFill>
          <a:ln w="12700">
            <a:solidFill>
              <a:srgbClr val="E07B22"/>
            </a:solidFill>
            <a:prstDash val="solid"/>
          </a:ln>
        </p:spPr>
      </p:sp>
      <p:sp>
        <p:nvSpPr>
          <p:cNvPr id="11" name="Text 9"/>
          <p:cNvSpPr/>
          <p:nvPr/>
        </p:nvSpPr>
        <p:spPr>
          <a:xfrm>
            <a:off x="6446520" y="137160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E07B22"/>
                </a:solidFill>
                <a:latin typeface="Calibri" pitchFamily="34" charset="0"/>
                <a:ea typeface="Calibri" pitchFamily="34" charset="-122"/>
                <a:cs typeface="Calibri" pitchFamily="34" charset="-120"/>
              </a:rPr>
              <a:t>Software</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Ubuntu 24.04, GCC 13.3 (-O2), Open MPI 4.1.6, written in C.</a:t>
            </a:r>
            <a:endParaRPr lang="en-US" sz="2000" dirty="0"/>
          </a:p>
        </p:txBody>
      </p:sp>
      <p:sp>
        <p:nvSpPr>
          <p:cNvPr id="12" name="Shape 10"/>
          <p:cNvSpPr/>
          <p:nvPr/>
        </p:nvSpPr>
        <p:spPr>
          <a:xfrm>
            <a:off x="640080" y="2971800"/>
            <a:ext cx="5394960" cy="1463040"/>
          </a:xfrm>
          <a:prstGeom prst="roundRect">
            <a:avLst>
              <a:gd name="adj" fmla="val 6250"/>
            </a:avLst>
          </a:prstGeom>
          <a:solidFill>
            <a:srgbClr val="FFFFFF"/>
          </a:solidFill>
          <a:ln w="22225">
            <a:solidFill>
              <a:srgbClr val="2A9D8F"/>
            </a:solidFill>
            <a:prstDash val="solid"/>
          </a:ln>
        </p:spPr>
      </p:sp>
      <p:sp>
        <p:nvSpPr>
          <p:cNvPr id="13" name="Shape 11"/>
          <p:cNvSpPr/>
          <p:nvPr/>
        </p:nvSpPr>
        <p:spPr>
          <a:xfrm>
            <a:off x="658368" y="2990088"/>
            <a:ext cx="109728" cy="1426464"/>
          </a:xfrm>
          <a:prstGeom prst="rect">
            <a:avLst/>
          </a:prstGeom>
          <a:solidFill>
            <a:srgbClr val="2A9D8F"/>
          </a:solidFill>
          <a:ln w="12700">
            <a:solidFill>
              <a:srgbClr val="2A9D8F"/>
            </a:solidFill>
            <a:prstDash val="solid"/>
          </a:ln>
        </p:spPr>
      </p:sp>
      <p:sp>
        <p:nvSpPr>
          <p:cNvPr id="14" name="Text 12"/>
          <p:cNvSpPr/>
          <p:nvPr/>
        </p:nvSpPr>
        <p:spPr>
          <a:xfrm>
            <a:off x="914400" y="301752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2A9D8F"/>
                </a:solidFill>
                <a:latin typeface="Calibri" pitchFamily="34" charset="0"/>
                <a:ea typeface="Calibri" pitchFamily="34" charset="-122"/>
                <a:cs typeface="Calibri" pitchFamily="34" charset="-120"/>
              </a:rPr>
              <a:t>Protocol</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Median of 5 runs; governor set to performance; processes bound to cores, P-cores first.</a:t>
            </a:r>
            <a:endParaRPr lang="en-US" sz="2000" dirty="0"/>
          </a:p>
        </p:txBody>
      </p:sp>
      <p:sp>
        <p:nvSpPr>
          <p:cNvPr id="15" name="Shape 13"/>
          <p:cNvSpPr/>
          <p:nvPr/>
        </p:nvSpPr>
        <p:spPr>
          <a:xfrm>
            <a:off x="6172200" y="2971800"/>
            <a:ext cx="5394960" cy="1463040"/>
          </a:xfrm>
          <a:prstGeom prst="roundRect">
            <a:avLst>
              <a:gd name="adj" fmla="val 6250"/>
            </a:avLst>
          </a:prstGeom>
          <a:solidFill>
            <a:srgbClr val="FFFFFF"/>
          </a:solidFill>
          <a:ln w="22225">
            <a:solidFill>
              <a:srgbClr val="E0457B"/>
            </a:solidFill>
            <a:prstDash val="solid"/>
          </a:ln>
        </p:spPr>
      </p:sp>
      <p:sp>
        <p:nvSpPr>
          <p:cNvPr id="16" name="Shape 14"/>
          <p:cNvSpPr/>
          <p:nvPr/>
        </p:nvSpPr>
        <p:spPr>
          <a:xfrm>
            <a:off x="6190488" y="2990088"/>
            <a:ext cx="109728" cy="1426464"/>
          </a:xfrm>
          <a:prstGeom prst="rect">
            <a:avLst/>
          </a:prstGeom>
          <a:solidFill>
            <a:srgbClr val="E0457B"/>
          </a:solidFill>
          <a:ln w="12700">
            <a:solidFill>
              <a:srgbClr val="E0457B"/>
            </a:solidFill>
            <a:prstDash val="solid"/>
          </a:ln>
        </p:spPr>
      </p:sp>
      <p:sp>
        <p:nvSpPr>
          <p:cNvPr id="17" name="Text 15"/>
          <p:cNvSpPr/>
          <p:nvPr/>
        </p:nvSpPr>
        <p:spPr>
          <a:xfrm>
            <a:off x="6446520" y="301752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E0457B"/>
                </a:solidFill>
                <a:latin typeface="Calibri" pitchFamily="34" charset="0"/>
                <a:ea typeface="Calibri" pitchFamily="34" charset="-122"/>
                <a:cs typeface="Calibri" pitchFamily="34" charset="-120"/>
              </a:rPr>
              <a:t>Data</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8 standard 512 × 512 images: 4 grayscale and 4 color.</a:t>
            </a:r>
            <a:endParaRPr lang="en-US" sz="2000" dirty="0"/>
          </a:p>
        </p:txBody>
      </p:sp>
      <p:sp>
        <p:nvSpPr>
          <p:cNvPr id="18" name="Shape 16"/>
          <p:cNvSpPr/>
          <p:nvPr/>
        </p:nvSpPr>
        <p:spPr>
          <a:xfrm>
            <a:off x="640080" y="4617720"/>
            <a:ext cx="5394960" cy="1463040"/>
          </a:xfrm>
          <a:prstGeom prst="roundRect">
            <a:avLst>
              <a:gd name="adj" fmla="val 6250"/>
            </a:avLst>
          </a:prstGeom>
          <a:solidFill>
            <a:srgbClr val="FFFFFF"/>
          </a:solidFill>
          <a:ln w="22225">
            <a:solidFill>
              <a:srgbClr val="2E2055"/>
            </a:solidFill>
            <a:prstDash val="solid"/>
          </a:ln>
        </p:spPr>
      </p:sp>
      <p:sp>
        <p:nvSpPr>
          <p:cNvPr id="19" name="Shape 17"/>
          <p:cNvSpPr/>
          <p:nvPr/>
        </p:nvSpPr>
        <p:spPr>
          <a:xfrm>
            <a:off x="658368" y="4636008"/>
            <a:ext cx="109728" cy="1426464"/>
          </a:xfrm>
          <a:prstGeom prst="rect">
            <a:avLst/>
          </a:prstGeom>
          <a:solidFill>
            <a:srgbClr val="2E2055"/>
          </a:solidFill>
          <a:ln w="12700">
            <a:solidFill>
              <a:srgbClr val="2E2055"/>
            </a:solidFill>
            <a:prstDash val="solid"/>
          </a:ln>
        </p:spPr>
      </p:sp>
      <p:sp>
        <p:nvSpPr>
          <p:cNvPr id="20" name="Text 18"/>
          <p:cNvSpPr/>
          <p:nvPr/>
        </p:nvSpPr>
        <p:spPr>
          <a:xfrm>
            <a:off x="914400" y="466344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2E2055"/>
                </a:solidFill>
                <a:latin typeface="Calibri" pitchFamily="34" charset="0"/>
                <a:ea typeface="Calibri" pitchFamily="34" charset="-122"/>
                <a:cs typeface="Calibri" pitchFamily="34" charset="-120"/>
              </a:rPr>
              <a:t>LBG settings</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4 × 4 blocks, K = 64 codewords, δ = 0.01, ε = 0.0001 (relative improvement in distortion), at most 100 iterations per level.</a:t>
            </a:r>
            <a:endParaRPr lang="en-US" sz="2000" dirty="0"/>
          </a:p>
        </p:txBody>
      </p:sp>
      <p:sp>
        <p:nvSpPr>
          <p:cNvPr id="21" name="Shape 19"/>
          <p:cNvSpPr/>
          <p:nvPr/>
        </p:nvSpPr>
        <p:spPr>
          <a:xfrm>
            <a:off x="6172200" y="4617720"/>
            <a:ext cx="5394960" cy="1463040"/>
          </a:xfrm>
          <a:prstGeom prst="roundRect">
            <a:avLst>
              <a:gd name="adj" fmla="val 6250"/>
            </a:avLst>
          </a:prstGeom>
          <a:solidFill>
            <a:srgbClr val="FFFFFF"/>
          </a:solidFill>
          <a:ln w="22225">
            <a:solidFill>
              <a:srgbClr val="F2B134"/>
            </a:solidFill>
            <a:prstDash val="solid"/>
          </a:ln>
        </p:spPr>
      </p:sp>
      <p:sp>
        <p:nvSpPr>
          <p:cNvPr id="22" name="Shape 20"/>
          <p:cNvSpPr/>
          <p:nvPr/>
        </p:nvSpPr>
        <p:spPr>
          <a:xfrm>
            <a:off x="6190488" y="4636008"/>
            <a:ext cx="109728" cy="1426464"/>
          </a:xfrm>
          <a:prstGeom prst="rect">
            <a:avLst/>
          </a:prstGeom>
          <a:solidFill>
            <a:srgbClr val="F2B134"/>
          </a:solidFill>
          <a:ln w="12700">
            <a:solidFill>
              <a:srgbClr val="F2B134"/>
            </a:solidFill>
            <a:prstDash val="solid"/>
          </a:ln>
        </p:spPr>
      </p:sp>
      <p:sp>
        <p:nvSpPr>
          <p:cNvPr id="23" name="Text 21"/>
          <p:cNvSpPr/>
          <p:nvPr/>
        </p:nvSpPr>
        <p:spPr>
          <a:xfrm>
            <a:off x="6446520" y="4663440"/>
            <a:ext cx="4983480" cy="1371600"/>
          </a:xfrm>
          <a:prstGeom prst="rect">
            <a:avLst/>
          </a:prstGeom>
          <a:noFill/>
          <a:ln/>
        </p:spPr>
        <p:txBody>
          <a:bodyPr wrap="square" lIns="635" tIns="635" rIns="635" bIns="635" rtlCol="0" anchor="ctr"/>
          <a:lstStyle/>
          <a:p>
            <a:pPr indent="0" marL="0">
              <a:spcAft>
                <a:spcPts val="600"/>
              </a:spcAft>
              <a:buNone/>
            </a:pPr>
            <a:r>
              <a:rPr lang="en-US" sz="2000" b="1" dirty="0">
                <a:solidFill>
                  <a:srgbClr val="F2B134"/>
                </a:solidFill>
                <a:latin typeface="Calibri" pitchFamily="34" charset="0"/>
                <a:ea typeface="Calibri" pitchFamily="34" charset="-122"/>
                <a:cs typeface="Calibri" pitchFamily="34" charset="-120"/>
              </a:rPr>
              <a:t>Strategies</a:t>
            </a:r>
            <a:endParaRPr lang="en-US" sz="2000" dirty="0"/>
          </a:p>
          <a:p>
            <a:pPr indent="0" marL="0">
              <a:spcAft>
                <a:spcPts val="600"/>
              </a:spcAft>
              <a:buNone/>
            </a:pPr>
            <a:r>
              <a:rPr lang="en-US" sz="1500" dirty="0">
                <a:solidFill>
                  <a:srgbClr val="1F1A33"/>
                </a:solidFill>
                <a:latin typeface="Calibri" pitchFamily="34" charset="0"/>
                <a:ea typeface="Calibri" pitchFamily="34" charset="-122"/>
                <a:cs typeface="Calibri" pitchFamily="34" charset="-120"/>
              </a:rPr>
              <a:t>Equal (default for P ≤ 4) and Adaptive speed-aware (P &gt; 4).</a:t>
            </a:r>
            <a:endParaRPr lang="en-US" sz="20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46304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46304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Results</a:t>
            </a:r>
            <a:endParaRPr lang="en-US" sz="1600" dirty="0"/>
          </a:p>
        </p:txBody>
      </p:sp>
      <p:sp>
        <p:nvSpPr>
          <p:cNvPr id="4" name="Text 2"/>
          <p:cNvSpPr/>
          <p:nvPr/>
        </p:nvSpPr>
        <p:spPr>
          <a:xfrm>
            <a:off x="2103120" y="274320"/>
            <a:ext cx="1005840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Performance and Quality Evaluation Metrics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822960" y="1371600"/>
            <a:ext cx="5029200" cy="640080"/>
          </a:xfrm>
          <a:prstGeom prst="roundRect">
            <a:avLst>
              <a:gd name="adj" fmla="val 11429"/>
            </a:avLst>
          </a:prstGeom>
          <a:solidFill>
            <a:srgbClr val="2A9D8F"/>
          </a:solidFill>
          <a:ln w="12700">
            <a:solidFill>
              <a:srgbClr val="2A9D8F"/>
            </a:solidFill>
            <a:prstDash val="solid"/>
          </a:ln>
        </p:spPr>
      </p:sp>
      <p:sp>
        <p:nvSpPr>
          <p:cNvPr id="7" name="Text 5"/>
          <p:cNvSpPr/>
          <p:nvPr/>
        </p:nvSpPr>
        <p:spPr>
          <a:xfrm>
            <a:off x="822960" y="1371600"/>
            <a:ext cx="502920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Compression Quality</a:t>
            </a:r>
            <a:endParaRPr lang="en-US" sz="2200" dirty="0"/>
          </a:p>
        </p:txBody>
      </p:sp>
      <p:sp>
        <p:nvSpPr>
          <p:cNvPr id="8" name="Shape 6"/>
          <p:cNvSpPr/>
          <p:nvPr/>
        </p:nvSpPr>
        <p:spPr>
          <a:xfrm>
            <a:off x="822960" y="2103120"/>
            <a:ext cx="5029200" cy="3291840"/>
          </a:xfrm>
          <a:prstGeom prst="roundRect">
            <a:avLst>
              <a:gd name="adj" fmla="val 2222"/>
            </a:avLst>
          </a:prstGeom>
          <a:solidFill>
            <a:srgbClr val="EEF8F6"/>
          </a:solidFill>
          <a:ln w="15875">
            <a:solidFill>
              <a:srgbClr val="2A9D8F"/>
            </a:solidFill>
            <a:prstDash val="solid"/>
          </a:ln>
        </p:spPr>
      </p:sp>
      <p:sp>
        <p:nvSpPr>
          <p:cNvPr id="9" name="Text 7"/>
          <p:cNvSpPr/>
          <p:nvPr/>
        </p:nvSpPr>
        <p:spPr>
          <a:xfrm>
            <a:off x="1097280" y="2194560"/>
            <a:ext cx="4480560" cy="3108960"/>
          </a:xfrm>
          <a:prstGeom prst="rect">
            <a:avLst/>
          </a:prstGeom>
          <a:noFill/>
          <a:ln/>
        </p:spPr>
        <p:txBody>
          <a:bodyPr wrap="square" lIns="635" tIns="635" rIns="635" bIns="635" rtlCol="0" anchor="ctr"/>
          <a:lstStyle/>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Compression Ratio (CR)</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Bits Per Pixel (BPP)</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MSE</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PSNR</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SSIM</a:t>
            </a:r>
            <a:endParaRPr lang="en-US" sz="2200" dirty="0"/>
          </a:p>
        </p:txBody>
      </p:sp>
      <p:sp>
        <p:nvSpPr>
          <p:cNvPr id="10" name="Shape 8"/>
          <p:cNvSpPr/>
          <p:nvPr/>
        </p:nvSpPr>
        <p:spPr>
          <a:xfrm>
            <a:off x="6309360" y="1371600"/>
            <a:ext cx="5029200" cy="640080"/>
          </a:xfrm>
          <a:prstGeom prst="roundRect">
            <a:avLst>
              <a:gd name="adj" fmla="val 11429"/>
            </a:avLst>
          </a:prstGeom>
          <a:solidFill>
            <a:srgbClr val="E07B22"/>
          </a:solidFill>
          <a:ln w="12700">
            <a:solidFill>
              <a:srgbClr val="E07B22"/>
            </a:solidFill>
            <a:prstDash val="solid"/>
          </a:ln>
        </p:spPr>
      </p:sp>
      <p:sp>
        <p:nvSpPr>
          <p:cNvPr id="11" name="Text 9"/>
          <p:cNvSpPr/>
          <p:nvPr/>
        </p:nvSpPr>
        <p:spPr>
          <a:xfrm>
            <a:off x="6309360" y="1371600"/>
            <a:ext cx="5029200" cy="640080"/>
          </a:xfrm>
          <a:prstGeom prst="rect">
            <a:avLst/>
          </a:prstGeom>
          <a:noFill/>
          <a:ln/>
        </p:spPr>
        <p:txBody>
          <a:bodyPr wrap="square" lIns="0" tIns="0" rIns="0" bIns="0" rtlCol="0" anchor="ctr"/>
          <a:lstStyle/>
          <a:p>
            <a:pPr algn="ctr" indent="0" marL="0">
              <a:buNone/>
            </a:pPr>
            <a:r>
              <a:rPr lang="en-US" sz="2200" b="1" dirty="0">
                <a:solidFill>
                  <a:srgbClr val="FFFFFF"/>
                </a:solidFill>
                <a:latin typeface="Calibri" pitchFamily="34" charset="0"/>
                <a:ea typeface="Calibri" pitchFamily="34" charset="-122"/>
                <a:cs typeface="Calibri" pitchFamily="34" charset="-120"/>
              </a:rPr>
              <a:t>Parallel Performance</a:t>
            </a:r>
            <a:endParaRPr lang="en-US" sz="2200" dirty="0"/>
          </a:p>
        </p:txBody>
      </p:sp>
      <p:sp>
        <p:nvSpPr>
          <p:cNvPr id="12" name="Shape 10"/>
          <p:cNvSpPr/>
          <p:nvPr/>
        </p:nvSpPr>
        <p:spPr>
          <a:xfrm>
            <a:off x="6309360" y="2103120"/>
            <a:ext cx="5029200" cy="3291840"/>
          </a:xfrm>
          <a:prstGeom prst="roundRect">
            <a:avLst>
              <a:gd name="adj" fmla="val 2222"/>
            </a:avLst>
          </a:prstGeom>
          <a:solidFill>
            <a:srgbClr val="FDF1E6"/>
          </a:solidFill>
          <a:ln w="15875">
            <a:solidFill>
              <a:srgbClr val="E07B22"/>
            </a:solidFill>
            <a:prstDash val="solid"/>
          </a:ln>
        </p:spPr>
      </p:sp>
      <p:sp>
        <p:nvSpPr>
          <p:cNvPr id="13" name="Text 11"/>
          <p:cNvSpPr/>
          <p:nvPr/>
        </p:nvSpPr>
        <p:spPr>
          <a:xfrm>
            <a:off x="6583680" y="2194560"/>
            <a:ext cx="4480560" cy="3108960"/>
          </a:xfrm>
          <a:prstGeom prst="rect">
            <a:avLst/>
          </a:prstGeom>
          <a:noFill/>
          <a:ln/>
        </p:spPr>
        <p:txBody>
          <a:bodyPr wrap="square" lIns="635" tIns="635" rIns="635" bIns="635" rtlCol="0" anchor="ctr"/>
          <a:lstStyle/>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Execution Time</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Speedup</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Parallel Efficiency</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Throughput</a:t>
            </a:r>
            <a:endParaRPr lang="en-US" sz="2200" dirty="0"/>
          </a:p>
          <a:p>
            <a:pPr marL="342900" indent="-342900">
              <a:spcAft>
                <a:spcPts val="1000"/>
              </a:spcAft>
              <a:buSzPct val="100000"/>
              <a:buChar char="■"/>
            </a:pPr>
            <a:r>
              <a:rPr lang="en-US" sz="2200" dirty="0">
                <a:solidFill>
                  <a:srgbClr val="1F1A33"/>
                </a:solidFill>
                <a:latin typeface="Calibri" pitchFamily="34" charset="0"/>
                <a:ea typeface="Calibri" pitchFamily="34" charset="-122"/>
                <a:cs typeface="Calibri" pitchFamily="34" charset="-120"/>
              </a:rPr>
              <a:t>Karp–Flatt Metric</a:t>
            </a:r>
            <a:endParaRPr lang="en-US" sz="2200" dirty="0"/>
          </a:p>
        </p:txBody>
      </p:sp>
      <p:sp>
        <p:nvSpPr>
          <p:cNvPr id="14" name="Text 12"/>
          <p:cNvSpPr/>
          <p:nvPr/>
        </p:nvSpPr>
        <p:spPr>
          <a:xfrm>
            <a:off x="822960" y="5669280"/>
            <a:ext cx="10515600" cy="365760"/>
          </a:xfrm>
          <a:prstGeom prst="rect">
            <a:avLst/>
          </a:prstGeom>
          <a:noFill/>
          <a:ln/>
        </p:spPr>
        <p:txBody>
          <a:bodyPr wrap="square" lIns="0" tIns="0" rIns="0" bIns="0" rtlCol="0" anchor="ctr"/>
          <a:lstStyle/>
          <a:p>
            <a:pPr algn="ctr" indent="0" marL="0">
              <a:buNone/>
            </a:pPr>
            <a:r>
              <a:rPr lang="en-US" sz="1600" i="1" dirty="0">
                <a:solidFill>
                  <a:srgbClr val="6B4FA3"/>
                </a:solidFill>
                <a:latin typeface="Calibri" pitchFamily="34" charset="0"/>
                <a:ea typeface="Calibri" pitchFamily="34" charset="-122"/>
                <a:cs typeface="Calibri" pitchFamily="34" charset="-120"/>
              </a:rPr>
              <a:t>Each formula is shown next to the result it measures.</a:t>
            </a:r>
            <a:endParaRPr lang="en-US" sz="16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Test Images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Text 4"/>
          <p:cNvSpPr/>
          <p:nvPr/>
        </p:nvSpPr>
        <p:spPr>
          <a:xfrm>
            <a:off x="457200" y="1097280"/>
            <a:ext cx="5486400" cy="292608"/>
          </a:xfrm>
          <a:prstGeom prst="rect">
            <a:avLst/>
          </a:prstGeom>
          <a:noFill/>
          <a:ln/>
        </p:spPr>
        <p:txBody>
          <a:bodyPr wrap="square" lIns="0" tIns="0" rIns="0" bIns="0" rtlCol="0" anchor="ctr"/>
          <a:lstStyle/>
          <a:p>
            <a:pPr indent="0" marL="0">
              <a:buNone/>
            </a:pPr>
            <a:r>
              <a:rPr lang="en-US" sz="1800" b="1" dirty="0">
                <a:solidFill>
                  <a:srgbClr val="2A9D8F"/>
                </a:solidFill>
                <a:latin typeface="Calibri" pitchFamily="34" charset="0"/>
                <a:ea typeface="Calibri" pitchFamily="34" charset="-122"/>
                <a:cs typeface="Calibri" pitchFamily="34" charset="-120"/>
              </a:rPr>
              <a:t>Grayscale</a:t>
            </a:r>
            <a:endParaRPr lang="en-US" sz="1800" dirty="0"/>
          </a:p>
        </p:txBody>
      </p:sp>
      <p:sp>
        <p:nvSpPr>
          <p:cNvPr id="7" name="Shape 5"/>
          <p:cNvSpPr/>
          <p:nvPr/>
        </p:nvSpPr>
        <p:spPr>
          <a:xfrm>
            <a:off x="457200" y="1417320"/>
            <a:ext cx="2103120" cy="2103120"/>
          </a:xfrm>
          <a:prstGeom prst="rect">
            <a:avLst/>
          </a:prstGeom>
          <a:solidFill>
            <a:srgbClr val="F5F1FB"/>
          </a:solidFill>
          <a:ln w="19050">
            <a:solidFill>
              <a:srgbClr val="6B4FA3"/>
            </a:solidFill>
            <a:prstDash val="dash"/>
          </a:ln>
        </p:spPr>
      </p:sp>
      <p:sp>
        <p:nvSpPr>
          <p:cNvPr id="8" name="Text 6"/>
          <p:cNvSpPr/>
          <p:nvPr/>
        </p:nvSpPr>
        <p:spPr>
          <a:xfrm>
            <a:off x="457200" y="141732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9" name="Text 7"/>
          <p:cNvSpPr/>
          <p:nvPr/>
        </p:nvSpPr>
        <p:spPr>
          <a:xfrm>
            <a:off x="457200" y="354787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p>
        </p:txBody>
      </p:sp>
      <p:sp>
        <p:nvSpPr>
          <p:cNvPr id="10" name="Shape 8"/>
          <p:cNvSpPr/>
          <p:nvPr/>
        </p:nvSpPr>
        <p:spPr>
          <a:xfrm>
            <a:off x="3291840" y="1417320"/>
            <a:ext cx="2103120" cy="2103120"/>
          </a:xfrm>
          <a:prstGeom prst="rect">
            <a:avLst/>
          </a:prstGeom>
          <a:solidFill>
            <a:srgbClr val="F5F1FB"/>
          </a:solidFill>
          <a:ln w="19050">
            <a:solidFill>
              <a:srgbClr val="6B4FA3"/>
            </a:solidFill>
            <a:prstDash val="dash"/>
          </a:ln>
        </p:spPr>
      </p:sp>
      <p:sp>
        <p:nvSpPr>
          <p:cNvPr id="11" name="Text 9"/>
          <p:cNvSpPr/>
          <p:nvPr/>
        </p:nvSpPr>
        <p:spPr>
          <a:xfrm>
            <a:off x="3291840" y="141732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12" name="Text 10"/>
          <p:cNvSpPr/>
          <p:nvPr/>
        </p:nvSpPr>
        <p:spPr>
          <a:xfrm>
            <a:off x="3291840" y="354787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Boat</a:t>
            </a:r>
            <a:endParaRPr lang="en-US" sz="1400" dirty="0"/>
          </a:p>
        </p:txBody>
      </p:sp>
      <p:sp>
        <p:nvSpPr>
          <p:cNvPr id="13" name="Shape 11"/>
          <p:cNvSpPr/>
          <p:nvPr/>
        </p:nvSpPr>
        <p:spPr>
          <a:xfrm>
            <a:off x="6126480" y="1417320"/>
            <a:ext cx="2103120" cy="2103120"/>
          </a:xfrm>
          <a:prstGeom prst="rect">
            <a:avLst/>
          </a:prstGeom>
          <a:solidFill>
            <a:srgbClr val="F5F1FB"/>
          </a:solidFill>
          <a:ln w="19050">
            <a:solidFill>
              <a:srgbClr val="6B4FA3"/>
            </a:solidFill>
            <a:prstDash val="dash"/>
          </a:ln>
        </p:spPr>
      </p:sp>
      <p:sp>
        <p:nvSpPr>
          <p:cNvPr id="14" name="Text 12"/>
          <p:cNvSpPr/>
          <p:nvPr/>
        </p:nvSpPr>
        <p:spPr>
          <a:xfrm>
            <a:off x="6126480" y="141732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15" name="Text 13"/>
          <p:cNvSpPr/>
          <p:nvPr/>
        </p:nvSpPr>
        <p:spPr>
          <a:xfrm>
            <a:off x="6126480" y="354787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Cameraman</a:t>
            </a:r>
            <a:endParaRPr lang="en-US" sz="1400" dirty="0"/>
          </a:p>
        </p:txBody>
      </p:sp>
      <p:sp>
        <p:nvSpPr>
          <p:cNvPr id="16" name="Shape 14"/>
          <p:cNvSpPr/>
          <p:nvPr/>
        </p:nvSpPr>
        <p:spPr>
          <a:xfrm>
            <a:off x="8961120" y="1417320"/>
            <a:ext cx="2103120" cy="2103120"/>
          </a:xfrm>
          <a:prstGeom prst="rect">
            <a:avLst/>
          </a:prstGeom>
          <a:solidFill>
            <a:srgbClr val="F5F1FB"/>
          </a:solidFill>
          <a:ln w="19050">
            <a:solidFill>
              <a:srgbClr val="6B4FA3"/>
            </a:solidFill>
            <a:prstDash val="dash"/>
          </a:ln>
        </p:spPr>
      </p:sp>
      <p:sp>
        <p:nvSpPr>
          <p:cNvPr id="17" name="Text 15"/>
          <p:cNvSpPr/>
          <p:nvPr/>
        </p:nvSpPr>
        <p:spPr>
          <a:xfrm>
            <a:off x="8961120" y="141732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18" name="Text 16"/>
          <p:cNvSpPr/>
          <p:nvPr/>
        </p:nvSpPr>
        <p:spPr>
          <a:xfrm>
            <a:off x="8961120" y="354787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p>
        </p:txBody>
      </p:sp>
      <p:sp>
        <p:nvSpPr>
          <p:cNvPr id="19" name="Text 17"/>
          <p:cNvSpPr/>
          <p:nvPr/>
        </p:nvSpPr>
        <p:spPr>
          <a:xfrm>
            <a:off x="457200" y="3886200"/>
            <a:ext cx="5486400" cy="292608"/>
          </a:xfrm>
          <a:prstGeom prst="rect">
            <a:avLst/>
          </a:prstGeom>
          <a:noFill/>
          <a:ln/>
        </p:spPr>
        <p:txBody>
          <a:bodyPr wrap="square" lIns="0" tIns="0" rIns="0" bIns="0" rtlCol="0" anchor="ctr"/>
          <a:lstStyle/>
          <a:p>
            <a:pPr indent="0" marL="0">
              <a:buNone/>
            </a:pPr>
            <a:r>
              <a:rPr lang="en-US" sz="1800" b="1" dirty="0">
                <a:solidFill>
                  <a:srgbClr val="2A9D8F"/>
                </a:solidFill>
                <a:latin typeface="Calibri" pitchFamily="34" charset="0"/>
                <a:ea typeface="Calibri" pitchFamily="34" charset="-122"/>
                <a:cs typeface="Calibri" pitchFamily="34" charset="-120"/>
              </a:rPr>
              <a:t>Color</a:t>
            </a:r>
            <a:endParaRPr lang="en-US" sz="1800" dirty="0"/>
          </a:p>
        </p:txBody>
      </p:sp>
      <p:sp>
        <p:nvSpPr>
          <p:cNvPr id="20" name="Shape 18"/>
          <p:cNvSpPr/>
          <p:nvPr/>
        </p:nvSpPr>
        <p:spPr>
          <a:xfrm>
            <a:off x="457200" y="4206240"/>
            <a:ext cx="2103120" cy="2103120"/>
          </a:xfrm>
          <a:prstGeom prst="rect">
            <a:avLst/>
          </a:prstGeom>
          <a:solidFill>
            <a:srgbClr val="F5F1FB"/>
          </a:solidFill>
          <a:ln w="19050">
            <a:solidFill>
              <a:srgbClr val="6B4FA3"/>
            </a:solidFill>
            <a:prstDash val="dash"/>
          </a:ln>
        </p:spPr>
      </p:sp>
      <p:sp>
        <p:nvSpPr>
          <p:cNvPr id="21" name="Text 19"/>
          <p:cNvSpPr/>
          <p:nvPr/>
        </p:nvSpPr>
        <p:spPr>
          <a:xfrm>
            <a:off x="457200" y="420624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22" name="Text 20"/>
          <p:cNvSpPr/>
          <p:nvPr/>
        </p:nvSpPr>
        <p:spPr>
          <a:xfrm>
            <a:off x="457200" y="633679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p>
        </p:txBody>
      </p:sp>
      <p:sp>
        <p:nvSpPr>
          <p:cNvPr id="23" name="Shape 21"/>
          <p:cNvSpPr/>
          <p:nvPr/>
        </p:nvSpPr>
        <p:spPr>
          <a:xfrm>
            <a:off x="3291840" y="4206240"/>
            <a:ext cx="2103120" cy="2103120"/>
          </a:xfrm>
          <a:prstGeom prst="rect">
            <a:avLst/>
          </a:prstGeom>
          <a:solidFill>
            <a:srgbClr val="F5F1FB"/>
          </a:solidFill>
          <a:ln w="19050">
            <a:solidFill>
              <a:srgbClr val="6B4FA3"/>
            </a:solidFill>
            <a:prstDash val="dash"/>
          </a:ln>
        </p:spPr>
      </p:sp>
      <p:sp>
        <p:nvSpPr>
          <p:cNvPr id="24" name="Text 22"/>
          <p:cNvSpPr/>
          <p:nvPr/>
        </p:nvSpPr>
        <p:spPr>
          <a:xfrm>
            <a:off x="3291840" y="420624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25" name="Text 23"/>
          <p:cNvSpPr/>
          <p:nvPr/>
        </p:nvSpPr>
        <p:spPr>
          <a:xfrm>
            <a:off x="3291840" y="633679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p>
        </p:txBody>
      </p:sp>
      <p:sp>
        <p:nvSpPr>
          <p:cNvPr id="26" name="Shape 24"/>
          <p:cNvSpPr/>
          <p:nvPr/>
        </p:nvSpPr>
        <p:spPr>
          <a:xfrm>
            <a:off x="6126480" y="4206240"/>
            <a:ext cx="2103120" cy="2103120"/>
          </a:xfrm>
          <a:prstGeom prst="rect">
            <a:avLst/>
          </a:prstGeom>
          <a:solidFill>
            <a:srgbClr val="F5F1FB"/>
          </a:solidFill>
          <a:ln w="19050">
            <a:solidFill>
              <a:srgbClr val="6B4FA3"/>
            </a:solidFill>
            <a:prstDash val="dash"/>
          </a:ln>
        </p:spPr>
      </p:sp>
      <p:sp>
        <p:nvSpPr>
          <p:cNvPr id="27" name="Text 25"/>
          <p:cNvSpPr/>
          <p:nvPr/>
        </p:nvSpPr>
        <p:spPr>
          <a:xfrm>
            <a:off x="6126480" y="420624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28" name="Text 26"/>
          <p:cNvSpPr/>
          <p:nvPr/>
        </p:nvSpPr>
        <p:spPr>
          <a:xfrm>
            <a:off x="6126480" y="633679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F16</a:t>
            </a:r>
            <a:endParaRPr lang="en-US" sz="1400" dirty="0"/>
          </a:p>
        </p:txBody>
      </p:sp>
      <p:sp>
        <p:nvSpPr>
          <p:cNvPr id="29" name="Shape 27"/>
          <p:cNvSpPr/>
          <p:nvPr/>
        </p:nvSpPr>
        <p:spPr>
          <a:xfrm>
            <a:off x="8961120" y="4206240"/>
            <a:ext cx="2103120" cy="2103120"/>
          </a:xfrm>
          <a:prstGeom prst="rect">
            <a:avLst/>
          </a:prstGeom>
          <a:solidFill>
            <a:srgbClr val="F5F1FB"/>
          </a:solidFill>
          <a:ln w="19050">
            <a:solidFill>
              <a:srgbClr val="6B4FA3"/>
            </a:solidFill>
            <a:prstDash val="dash"/>
          </a:ln>
        </p:spPr>
      </p:sp>
      <p:sp>
        <p:nvSpPr>
          <p:cNvPr id="30" name="Text 28"/>
          <p:cNvSpPr/>
          <p:nvPr/>
        </p:nvSpPr>
        <p:spPr>
          <a:xfrm>
            <a:off x="8961120" y="4206240"/>
            <a:ext cx="2103120" cy="21031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Insert image</a:t>
            </a:r>
            <a:endParaRPr lang="en-US" sz="1400" dirty="0"/>
          </a:p>
        </p:txBody>
      </p:sp>
      <p:sp>
        <p:nvSpPr>
          <p:cNvPr id="31" name="Text 29"/>
          <p:cNvSpPr/>
          <p:nvPr/>
        </p:nvSpPr>
        <p:spPr>
          <a:xfrm>
            <a:off x="8961120" y="6336792"/>
            <a:ext cx="2103120" cy="274320"/>
          </a:xfrm>
          <a:prstGeom prst="rect">
            <a:avLst/>
          </a:prstGeom>
          <a:noFill/>
          <a:ln/>
        </p:spPr>
        <p:txBody>
          <a:bodyPr wrap="square" lIns="0" tIns="0" rIns="0" bIns="0" rtlCol="0" anchor="ctr"/>
          <a:lstStyle/>
          <a:p>
            <a:pPr algn="ctr" indent="0" marL="0">
              <a:buNone/>
            </a:pPr>
            <a:r>
              <a:rPr lang="en-US" sz="1400" b="1" dirty="0">
                <a:solidFill>
                  <a:srgbClr val="1F1A33"/>
                </a:solidFill>
                <a:latin typeface="Calibri" pitchFamily="34" charset="0"/>
                <a:ea typeface="Calibri" pitchFamily="34" charset="-122"/>
                <a:cs typeface="Calibri" pitchFamily="34" charset="-120"/>
              </a:rPr>
              <a:t>Gold Hill</a:t>
            </a:r>
            <a:endParaRPr lang="en-US" sz="14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Reconstruction Results: Grayscale Images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Text 4"/>
          <p:cNvSpPr/>
          <p:nvPr/>
        </p:nvSpPr>
        <p:spPr>
          <a:xfrm>
            <a:off x="411480" y="1417320"/>
            <a:ext cx="1097280" cy="2331720"/>
          </a:xfrm>
          <a:prstGeom prst="rect">
            <a:avLst/>
          </a:prstGeom>
          <a:noFill/>
          <a:ln/>
        </p:spPr>
        <p:txBody>
          <a:bodyPr wrap="square" lIns="0" tIns="0" rIns="0" bIns="0" rtlCol="0" anchor="ctr"/>
          <a:lstStyle/>
          <a:p>
            <a:pPr algn="ctr" indent="0" marL="0">
              <a:buNone/>
            </a:pPr>
            <a:r>
              <a:rPr lang="en-US" sz="1400" b="1" dirty="0">
                <a:solidFill>
                  <a:srgbClr val="2E2055"/>
                </a:solidFill>
                <a:latin typeface="Calibri" pitchFamily="34" charset="0"/>
                <a:ea typeface="Calibri" pitchFamily="34" charset="-122"/>
                <a:cs typeface="Calibri" pitchFamily="34" charset="-120"/>
              </a:rPr>
              <a:t>Original</a:t>
            </a:r>
            <a:endParaRPr lang="en-US" sz="1400" dirty="0"/>
          </a:p>
        </p:txBody>
      </p:sp>
      <p:sp>
        <p:nvSpPr>
          <p:cNvPr id="7" name="Text 5"/>
          <p:cNvSpPr/>
          <p:nvPr/>
        </p:nvSpPr>
        <p:spPr>
          <a:xfrm>
            <a:off x="320040" y="3840480"/>
            <a:ext cx="1234440" cy="2331720"/>
          </a:xfrm>
          <a:prstGeom prst="rect">
            <a:avLst/>
          </a:prstGeom>
          <a:noFill/>
          <a:ln/>
        </p:spPr>
        <p:txBody>
          <a:bodyPr wrap="square" lIns="0" tIns="0" rIns="0" bIns="0" rtlCol="0" anchor="ctr"/>
          <a:lstStyle/>
          <a:p>
            <a:pPr algn="ctr" indent="0" marL="0">
              <a:buNone/>
            </a:pPr>
            <a:r>
              <a:rPr lang="en-US" sz="1300" b="1" dirty="0">
                <a:solidFill>
                  <a:srgbClr val="2E2055"/>
                </a:solidFill>
                <a:latin typeface="Calibri" pitchFamily="34" charset="0"/>
                <a:ea typeface="Calibri" pitchFamily="34" charset="-122"/>
                <a:cs typeface="Calibri" pitchFamily="34" charset="-120"/>
              </a:rPr>
              <a:t>Reconstructed</a:t>
            </a:r>
            <a:endParaRPr lang="en-US" sz="1300" dirty="0"/>
          </a:p>
        </p:txBody>
      </p:sp>
      <p:sp>
        <p:nvSpPr>
          <p:cNvPr id="8" name="Text 6"/>
          <p:cNvSpPr/>
          <p:nvPr/>
        </p:nvSpPr>
        <p:spPr>
          <a:xfrm>
            <a:off x="160020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Lena</a:t>
            </a:r>
            <a:endParaRPr lang="en-US" sz="1700" dirty="0"/>
          </a:p>
        </p:txBody>
      </p:sp>
      <p:sp>
        <p:nvSpPr>
          <p:cNvPr id="9" name="Shape 7"/>
          <p:cNvSpPr/>
          <p:nvPr/>
        </p:nvSpPr>
        <p:spPr>
          <a:xfrm>
            <a:off x="1600200" y="1417320"/>
            <a:ext cx="2331720" cy="2331720"/>
          </a:xfrm>
          <a:prstGeom prst="rect">
            <a:avLst/>
          </a:prstGeom>
          <a:solidFill>
            <a:srgbClr val="F5F1FB"/>
          </a:solidFill>
          <a:ln w="19050">
            <a:solidFill>
              <a:srgbClr val="6B4FA3"/>
            </a:solidFill>
            <a:prstDash val="dash"/>
          </a:ln>
        </p:spPr>
      </p:sp>
      <p:sp>
        <p:nvSpPr>
          <p:cNvPr id="10" name="Text 8"/>
          <p:cNvSpPr/>
          <p:nvPr/>
        </p:nvSpPr>
        <p:spPr>
          <a:xfrm>
            <a:off x="160020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1" name="Shape 9"/>
          <p:cNvSpPr/>
          <p:nvPr/>
        </p:nvSpPr>
        <p:spPr>
          <a:xfrm>
            <a:off x="1600200" y="3840480"/>
            <a:ext cx="2331720" cy="2331720"/>
          </a:xfrm>
          <a:prstGeom prst="rect">
            <a:avLst/>
          </a:prstGeom>
          <a:solidFill>
            <a:srgbClr val="F5F1FB"/>
          </a:solidFill>
          <a:ln w="19050">
            <a:solidFill>
              <a:srgbClr val="6B4FA3"/>
            </a:solidFill>
            <a:prstDash val="dash"/>
          </a:ln>
        </p:spPr>
      </p:sp>
      <p:sp>
        <p:nvSpPr>
          <p:cNvPr id="12" name="Text 10"/>
          <p:cNvSpPr/>
          <p:nvPr/>
        </p:nvSpPr>
        <p:spPr>
          <a:xfrm>
            <a:off x="160020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3" name="Text 11"/>
          <p:cNvSpPr/>
          <p:nvPr/>
        </p:nvSpPr>
        <p:spPr>
          <a:xfrm>
            <a:off x="150876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29.67 dB   SSIM 0.8190</a:t>
            </a:r>
            <a:endParaRPr lang="en-US" sz="1300" dirty="0"/>
          </a:p>
        </p:txBody>
      </p:sp>
      <p:sp>
        <p:nvSpPr>
          <p:cNvPr id="14" name="Text 12"/>
          <p:cNvSpPr/>
          <p:nvPr/>
        </p:nvSpPr>
        <p:spPr>
          <a:xfrm>
            <a:off x="406908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Boat</a:t>
            </a:r>
            <a:endParaRPr lang="en-US" sz="1700" dirty="0"/>
          </a:p>
        </p:txBody>
      </p:sp>
      <p:sp>
        <p:nvSpPr>
          <p:cNvPr id="15" name="Shape 13"/>
          <p:cNvSpPr/>
          <p:nvPr/>
        </p:nvSpPr>
        <p:spPr>
          <a:xfrm>
            <a:off x="4069080" y="1417320"/>
            <a:ext cx="2331720" cy="2331720"/>
          </a:xfrm>
          <a:prstGeom prst="rect">
            <a:avLst/>
          </a:prstGeom>
          <a:solidFill>
            <a:srgbClr val="F5F1FB"/>
          </a:solidFill>
          <a:ln w="19050">
            <a:solidFill>
              <a:srgbClr val="6B4FA3"/>
            </a:solidFill>
            <a:prstDash val="dash"/>
          </a:ln>
        </p:spPr>
      </p:sp>
      <p:sp>
        <p:nvSpPr>
          <p:cNvPr id="16" name="Text 14"/>
          <p:cNvSpPr/>
          <p:nvPr/>
        </p:nvSpPr>
        <p:spPr>
          <a:xfrm>
            <a:off x="406908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7" name="Shape 15"/>
          <p:cNvSpPr/>
          <p:nvPr/>
        </p:nvSpPr>
        <p:spPr>
          <a:xfrm>
            <a:off x="4069080" y="3840480"/>
            <a:ext cx="2331720" cy="2331720"/>
          </a:xfrm>
          <a:prstGeom prst="rect">
            <a:avLst/>
          </a:prstGeom>
          <a:solidFill>
            <a:srgbClr val="F5F1FB"/>
          </a:solidFill>
          <a:ln w="19050">
            <a:solidFill>
              <a:srgbClr val="6B4FA3"/>
            </a:solidFill>
            <a:prstDash val="dash"/>
          </a:ln>
        </p:spPr>
      </p:sp>
      <p:sp>
        <p:nvSpPr>
          <p:cNvPr id="18" name="Text 16"/>
          <p:cNvSpPr/>
          <p:nvPr/>
        </p:nvSpPr>
        <p:spPr>
          <a:xfrm>
            <a:off x="406908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9" name="Text 17"/>
          <p:cNvSpPr/>
          <p:nvPr/>
        </p:nvSpPr>
        <p:spPr>
          <a:xfrm>
            <a:off x="397764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29.11 dB   SSIM 0.8394</a:t>
            </a:r>
            <a:endParaRPr lang="en-US" sz="1300" dirty="0"/>
          </a:p>
        </p:txBody>
      </p:sp>
      <p:sp>
        <p:nvSpPr>
          <p:cNvPr id="20" name="Text 18"/>
          <p:cNvSpPr/>
          <p:nvPr/>
        </p:nvSpPr>
        <p:spPr>
          <a:xfrm>
            <a:off x="653796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Cameraman</a:t>
            </a:r>
            <a:endParaRPr lang="en-US" sz="1700" dirty="0"/>
          </a:p>
        </p:txBody>
      </p:sp>
      <p:sp>
        <p:nvSpPr>
          <p:cNvPr id="21" name="Shape 19"/>
          <p:cNvSpPr/>
          <p:nvPr/>
        </p:nvSpPr>
        <p:spPr>
          <a:xfrm>
            <a:off x="6537960" y="1417320"/>
            <a:ext cx="2331720" cy="2331720"/>
          </a:xfrm>
          <a:prstGeom prst="rect">
            <a:avLst/>
          </a:prstGeom>
          <a:solidFill>
            <a:srgbClr val="F5F1FB"/>
          </a:solidFill>
          <a:ln w="19050">
            <a:solidFill>
              <a:srgbClr val="6B4FA3"/>
            </a:solidFill>
            <a:prstDash val="dash"/>
          </a:ln>
        </p:spPr>
      </p:sp>
      <p:sp>
        <p:nvSpPr>
          <p:cNvPr id="22" name="Text 20"/>
          <p:cNvSpPr/>
          <p:nvPr/>
        </p:nvSpPr>
        <p:spPr>
          <a:xfrm>
            <a:off x="653796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3" name="Shape 21"/>
          <p:cNvSpPr/>
          <p:nvPr/>
        </p:nvSpPr>
        <p:spPr>
          <a:xfrm>
            <a:off x="6537960" y="3840480"/>
            <a:ext cx="2331720" cy="2331720"/>
          </a:xfrm>
          <a:prstGeom prst="rect">
            <a:avLst/>
          </a:prstGeom>
          <a:solidFill>
            <a:srgbClr val="F5F1FB"/>
          </a:solidFill>
          <a:ln w="19050">
            <a:solidFill>
              <a:srgbClr val="6B4FA3"/>
            </a:solidFill>
            <a:prstDash val="dash"/>
          </a:ln>
        </p:spPr>
      </p:sp>
      <p:sp>
        <p:nvSpPr>
          <p:cNvPr id="24" name="Text 22"/>
          <p:cNvSpPr/>
          <p:nvPr/>
        </p:nvSpPr>
        <p:spPr>
          <a:xfrm>
            <a:off x="653796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25" name="Text 23"/>
          <p:cNvSpPr/>
          <p:nvPr/>
        </p:nvSpPr>
        <p:spPr>
          <a:xfrm>
            <a:off x="644652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29.75 dB   SSIM 0.8855</a:t>
            </a:r>
            <a:endParaRPr lang="en-US" sz="1300" dirty="0"/>
          </a:p>
        </p:txBody>
      </p:sp>
      <p:sp>
        <p:nvSpPr>
          <p:cNvPr id="26" name="Text 24"/>
          <p:cNvSpPr/>
          <p:nvPr/>
        </p:nvSpPr>
        <p:spPr>
          <a:xfrm>
            <a:off x="900684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Peppers</a:t>
            </a:r>
            <a:endParaRPr lang="en-US" sz="1700" dirty="0"/>
          </a:p>
        </p:txBody>
      </p:sp>
      <p:sp>
        <p:nvSpPr>
          <p:cNvPr id="27" name="Shape 25"/>
          <p:cNvSpPr/>
          <p:nvPr/>
        </p:nvSpPr>
        <p:spPr>
          <a:xfrm>
            <a:off x="9006840" y="1417320"/>
            <a:ext cx="2331720" cy="2331720"/>
          </a:xfrm>
          <a:prstGeom prst="rect">
            <a:avLst/>
          </a:prstGeom>
          <a:solidFill>
            <a:srgbClr val="F5F1FB"/>
          </a:solidFill>
          <a:ln w="19050">
            <a:solidFill>
              <a:srgbClr val="6B4FA3"/>
            </a:solidFill>
            <a:prstDash val="dash"/>
          </a:ln>
        </p:spPr>
      </p:sp>
      <p:sp>
        <p:nvSpPr>
          <p:cNvPr id="28" name="Text 26"/>
          <p:cNvSpPr/>
          <p:nvPr/>
        </p:nvSpPr>
        <p:spPr>
          <a:xfrm>
            <a:off x="900684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9" name="Shape 27"/>
          <p:cNvSpPr/>
          <p:nvPr/>
        </p:nvSpPr>
        <p:spPr>
          <a:xfrm>
            <a:off x="9006840" y="3840480"/>
            <a:ext cx="2331720" cy="2331720"/>
          </a:xfrm>
          <a:prstGeom prst="rect">
            <a:avLst/>
          </a:prstGeom>
          <a:solidFill>
            <a:srgbClr val="F5F1FB"/>
          </a:solidFill>
          <a:ln w="19050">
            <a:solidFill>
              <a:srgbClr val="6B4FA3"/>
            </a:solidFill>
            <a:prstDash val="dash"/>
          </a:ln>
        </p:spPr>
      </p:sp>
      <p:sp>
        <p:nvSpPr>
          <p:cNvPr id="30" name="Text 28"/>
          <p:cNvSpPr/>
          <p:nvPr/>
        </p:nvSpPr>
        <p:spPr>
          <a:xfrm>
            <a:off x="900684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31" name="Text 29"/>
          <p:cNvSpPr/>
          <p:nvPr/>
        </p:nvSpPr>
        <p:spPr>
          <a:xfrm>
            <a:off x="891540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29.41 dB   SSIM 0.7624</a:t>
            </a:r>
            <a:endParaRPr lang="en-US" sz="13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Reconstruction Results: Color Images</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Text 4"/>
          <p:cNvSpPr/>
          <p:nvPr/>
        </p:nvSpPr>
        <p:spPr>
          <a:xfrm>
            <a:off x="411480" y="1417320"/>
            <a:ext cx="1097280" cy="2331720"/>
          </a:xfrm>
          <a:prstGeom prst="rect">
            <a:avLst/>
          </a:prstGeom>
          <a:noFill/>
          <a:ln/>
        </p:spPr>
        <p:txBody>
          <a:bodyPr wrap="square" lIns="0" tIns="0" rIns="0" bIns="0" rtlCol="0" anchor="ctr"/>
          <a:lstStyle/>
          <a:p>
            <a:pPr algn="ctr" indent="0" marL="0">
              <a:buNone/>
            </a:pPr>
            <a:r>
              <a:rPr lang="en-US" sz="1400" b="1" dirty="0">
                <a:solidFill>
                  <a:srgbClr val="2E2055"/>
                </a:solidFill>
                <a:latin typeface="Calibri" pitchFamily="34" charset="0"/>
                <a:ea typeface="Calibri" pitchFamily="34" charset="-122"/>
                <a:cs typeface="Calibri" pitchFamily="34" charset="-120"/>
              </a:rPr>
              <a:t>Original</a:t>
            </a:r>
            <a:endParaRPr lang="en-US" sz="1400" dirty="0"/>
          </a:p>
        </p:txBody>
      </p:sp>
      <p:sp>
        <p:nvSpPr>
          <p:cNvPr id="7" name="Text 5"/>
          <p:cNvSpPr/>
          <p:nvPr/>
        </p:nvSpPr>
        <p:spPr>
          <a:xfrm>
            <a:off x="320040" y="3840480"/>
            <a:ext cx="1234440" cy="2331720"/>
          </a:xfrm>
          <a:prstGeom prst="rect">
            <a:avLst/>
          </a:prstGeom>
          <a:noFill/>
          <a:ln/>
        </p:spPr>
        <p:txBody>
          <a:bodyPr wrap="square" lIns="0" tIns="0" rIns="0" bIns="0" rtlCol="0" anchor="ctr"/>
          <a:lstStyle/>
          <a:p>
            <a:pPr algn="ctr" indent="0" marL="0">
              <a:buNone/>
            </a:pPr>
            <a:r>
              <a:rPr lang="en-US" sz="1300" b="1" dirty="0">
                <a:solidFill>
                  <a:srgbClr val="2E2055"/>
                </a:solidFill>
                <a:latin typeface="Calibri" pitchFamily="34" charset="0"/>
                <a:ea typeface="Calibri" pitchFamily="34" charset="-122"/>
                <a:cs typeface="Calibri" pitchFamily="34" charset="-120"/>
              </a:rPr>
              <a:t>Reconstructed</a:t>
            </a:r>
            <a:endParaRPr lang="en-US" sz="1300" dirty="0"/>
          </a:p>
        </p:txBody>
      </p:sp>
      <p:sp>
        <p:nvSpPr>
          <p:cNvPr id="8" name="Text 6"/>
          <p:cNvSpPr/>
          <p:nvPr/>
        </p:nvSpPr>
        <p:spPr>
          <a:xfrm>
            <a:off x="160020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Lena</a:t>
            </a:r>
            <a:endParaRPr lang="en-US" sz="1700" dirty="0"/>
          </a:p>
        </p:txBody>
      </p:sp>
      <p:sp>
        <p:nvSpPr>
          <p:cNvPr id="9" name="Shape 7"/>
          <p:cNvSpPr/>
          <p:nvPr/>
        </p:nvSpPr>
        <p:spPr>
          <a:xfrm>
            <a:off x="1600200" y="1417320"/>
            <a:ext cx="2331720" cy="2331720"/>
          </a:xfrm>
          <a:prstGeom prst="rect">
            <a:avLst/>
          </a:prstGeom>
          <a:solidFill>
            <a:srgbClr val="F5F1FB"/>
          </a:solidFill>
          <a:ln w="19050">
            <a:solidFill>
              <a:srgbClr val="6B4FA3"/>
            </a:solidFill>
            <a:prstDash val="dash"/>
          </a:ln>
        </p:spPr>
      </p:sp>
      <p:sp>
        <p:nvSpPr>
          <p:cNvPr id="10" name="Text 8"/>
          <p:cNvSpPr/>
          <p:nvPr/>
        </p:nvSpPr>
        <p:spPr>
          <a:xfrm>
            <a:off x="160020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1" name="Shape 9"/>
          <p:cNvSpPr/>
          <p:nvPr/>
        </p:nvSpPr>
        <p:spPr>
          <a:xfrm>
            <a:off x="1600200" y="3840480"/>
            <a:ext cx="2331720" cy="2331720"/>
          </a:xfrm>
          <a:prstGeom prst="rect">
            <a:avLst/>
          </a:prstGeom>
          <a:solidFill>
            <a:srgbClr val="F5F1FB"/>
          </a:solidFill>
          <a:ln w="19050">
            <a:solidFill>
              <a:srgbClr val="6B4FA3"/>
            </a:solidFill>
            <a:prstDash val="dash"/>
          </a:ln>
        </p:spPr>
      </p:sp>
      <p:sp>
        <p:nvSpPr>
          <p:cNvPr id="12" name="Text 10"/>
          <p:cNvSpPr/>
          <p:nvPr/>
        </p:nvSpPr>
        <p:spPr>
          <a:xfrm>
            <a:off x="160020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3" name="Text 11"/>
          <p:cNvSpPr/>
          <p:nvPr/>
        </p:nvSpPr>
        <p:spPr>
          <a:xfrm>
            <a:off x="150876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28.91 dB   SSIM 0.7594</a:t>
            </a:r>
            <a:endParaRPr lang="en-US" sz="1300" dirty="0"/>
          </a:p>
        </p:txBody>
      </p:sp>
      <p:sp>
        <p:nvSpPr>
          <p:cNvPr id="14" name="Text 12"/>
          <p:cNvSpPr/>
          <p:nvPr/>
        </p:nvSpPr>
        <p:spPr>
          <a:xfrm>
            <a:off x="406908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Peppers</a:t>
            </a:r>
            <a:endParaRPr lang="en-US" sz="1700" dirty="0"/>
          </a:p>
        </p:txBody>
      </p:sp>
      <p:sp>
        <p:nvSpPr>
          <p:cNvPr id="15" name="Shape 13"/>
          <p:cNvSpPr/>
          <p:nvPr/>
        </p:nvSpPr>
        <p:spPr>
          <a:xfrm>
            <a:off x="4069080" y="1417320"/>
            <a:ext cx="2331720" cy="2331720"/>
          </a:xfrm>
          <a:prstGeom prst="rect">
            <a:avLst/>
          </a:prstGeom>
          <a:solidFill>
            <a:srgbClr val="F5F1FB"/>
          </a:solidFill>
          <a:ln w="19050">
            <a:solidFill>
              <a:srgbClr val="6B4FA3"/>
            </a:solidFill>
            <a:prstDash val="dash"/>
          </a:ln>
        </p:spPr>
      </p:sp>
      <p:sp>
        <p:nvSpPr>
          <p:cNvPr id="16" name="Text 14"/>
          <p:cNvSpPr/>
          <p:nvPr/>
        </p:nvSpPr>
        <p:spPr>
          <a:xfrm>
            <a:off x="406908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17" name="Shape 15"/>
          <p:cNvSpPr/>
          <p:nvPr/>
        </p:nvSpPr>
        <p:spPr>
          <a:xfrm>
            <a:off x="4069080" y="3840480"/>
            <a:ext cx="2331720" cy="2331720"/>
          </a:xfrm>
          <a:prstGeom prst="rect">
            <a:avLst/>
          </a:prstGeom>
          <a:solidFill>
            <a:srgbClr val="F5F1FB"/>
          </a:solidFill>
          <a:ln w="19050">
            <a:solidFill>
              <a:srgbClr val="6B4FA3"/>
            </a:solidFill>
            <a:prstDash val="dash"/>
          </a:ln>
        </p:spPr>
      </p:sp>
      <p:sp>
        <p:nvSpPr>
          <p:cNvPr id="18" name="Text 16"/>
          <p:cNvSpPr/>
          <p:nvPr/>
        </p:nvSpPr>
        <p:spPr>
          <a:xfrm>
            <a:off x="406908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19" name="Text 17"/>
          <p:cNvSpPr/>
          <p:nvPr/>
        </p:nvSpPr>
        <p:spPr>
          <a:xfrm>
            <a:off x="397764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28.35 dB   SSIM 0.6964</a:t>
            </a:r>
            <a:endParaRPr lang="en-US" sz="1300" dirty="0"/>
          </a:p>
        </p:txBody>
      </p:sp>
      <p:sp>
        <p:nvSpPr>
          <p:cNvPr id="20" name="Text 18"/>
          <p:cNvSpPr/>
          <p:nvPr/>
        </p:nvSpPr>
        <p:spPr>
          <a:xfrm>
            <a:off x="653796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F16</a:t>
            </a:r>
            <a:endParaRPr lang="en-US" sz="1700" dirty="0"/>
          </a:p>
        </p:txBody>
      </p:sp>
      <p:sp>
        <p:nvSpPr>
          <p:cNvPr id="21" name="Shape 19"/>
          <p:cNvSpPr/>
          <p:nvPr/>
        </p:nvSpPr>
        <p:spPr>
          <a:xfrm>
            <a:off x="6537960" y="1417320"/>
            <a:ext cx="2331720" cy="2331720"/>
          </a:xfrm>
          <a:prstGeom prst="rect">
            <a:avLst/>
          </a:prstGeom>
          <a:solidFill>
            <a:srgbClr val="F5F1FB"/>
          </a:solidFill>
          <a:ln w="19050">
            <a:solidFill>
              <a:srgbClr val="6B4FA3"/>
            </a:solidFill>
            <a:prstDash val="dash"/>
          </a:ln>
        </p:spPr>
      </p:sp>
      <p:sp>
        <p:nvSpPr>
          <p:cNvPr id="22" name="Text 20"/>
          <p:cNvSpPr/>
          <p:nvPr/>
        </p:nvSpPr>
        <p:spPr>
          <a:xfrm>
            <a:off x="653796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3" name="Shape 21"/>
          <p:cNvSpPr/>
          <p:nvPr/>
        </p:nvSpPr>
        <p:spPr>
          <a:xfrm>
            <a:off x="6537960" y="3840480"/>
            <a:ext cx="2331720" cy="2331720"/>
          </a:xfrm>
          <a:prstGeom prst="rect">
            <a:avLst/>
          </a:prstGeom>
          <a:solidFill>
            <a:srgbClr val="F5F1FB"/>
          </a:solidFill>
          <a:ln w="19050">
            <a:solidFill>
              <a:srgbClr val="6B4FA3"/>
            </a:solidFill>
            <a:prstDash val="dash"/>
          </a:ln>
        </p:spPr>
      </p:sp>
      <p:sp>
        <p:nvSpPr>
          <p:cNvPr id="24" name="Text 22"/>
          <p:cNvSpPr/>
          <p:nvPr/>
        </p:nvSpPr>
        <p:spPr>
          <a:xfrm>
            <a:off x="653796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25" name="Text 23"/>
          <p:cNvSpPr/>
          <p:nvPr/>
        </p:nvSpPr>
        <p:spPr>
          <a:xfrm>
            <a:off x="644652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29.47 dB   SSIM 0.8539</a:t>
            </a:r>
            <a:endParaRPr lang="en-US" sz="1300" dirty="0"/>
          </a:p>
        </p:txBody>
      </p:sp>
      <p:sp>
        <p:nvSpPr>
          <p:cNvPr id="26" name="Text 24"/>
          <p:cNvSpPr/>
          <p:nvPr/>
        </p:nvSpPr>
        <p:spPr>
          <a:xfrm>
            <a:off x="9006840" y="1078992"/>
            <a:ext cx="2331720" cy="301752"/>
          </a:xfrm>
          <a:prstGeom prst="rect">
            <a:avLst/>
          </a:prstGeom>
          <a:noFill/>
          <a:ln/>
        </p:spPr>
        <p:txBody>
          <a:bodyPr wrap="square" lIns="0" tIns="0" rIns="0" bIns="0" rtlCol="0" anchor="ctr"/>
          <a:lstStyle/>
          <a:p>
            <a:pPr algn="ctr" indent="0" marL="0">
              <a:buNone/>
            </a:pPr>
            <a:r>
              <a:rPr lang="en-US" sz="1700" b="1" dirty="0">
                <a:solidFill>
                  <a:srgbClr val="2A9D8F"/>
                </a:solidFill>
                <a:latin typeface="Calibri" pitchFamily="34" charset="0"/>
                <a:ea typeface="Calibri" pitchFamily="34" charset="-122"/>
                <a:cs typeface="Calibri" pitchFamily="34" charset="-120"/>
              </a:rPr>
              <a:t>Gold Hill</a:t>
            </a:r>
            <a:endParaRPr lang="en-US" sz="1700" dirty="0"/>
          </a:p>
        </p:txBody>
      </p:sp>
      <p:sp>
        <p:nvSpPr>
          <p:cNvPr id="27" name="Shape 25"/>
          <p:cNvSpPr/>
          <p:nvPr/>
        </p:nvSpPr>
        <p:spPr>
          <a:xfrm>
            <a:off x="9006840" y="1417320"/>
            <a:ext cx="2331720" cy="2331720"/>
          </a:xfrm>
          <a:prstGeom prst="rect">
            <a:avLst/>
          </a:prstGeom>
          <a:solidFill>
            <a:srgbClr val="F5F1FB"/>
          </a:solidFill>
          <a:ln w="19050">
            <a:solidFill>
              <a:srgbClr val="6B4FA3"/>
            </a:solidFill>
            <a:prstDash val="dash"/>
          </a:ln>
        </p:spPr>
      </p:sp>
      <p:sp>
        <p:nvSpPr>
          <p:cNvPr id="28" name="Text 26"/>
          <p:cNvSpPr/>
          <p:nvPr/>
        </p:nvSpPr>
        <p:spPr>
          <a:xfrm>
            <a:off x="9006840" y="141732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Original</a:t>
            </a:r>
            <a:endParaRPr lang="en-US" sz="1400" dirty="0"/>
          </a:p>
        </p:txBody>
      </p:sp>
      <p:sp>
        <p:nvSpPr>
          <p:cNvPr id="29" name="Shape 27"/>
          <p:cNvSpPr/>
          <p:nvPr/>
        </p:nvSpPr>
        <p:spPr>
          <a:xfrm>
            <a:off x="9006840" y="3840480"/>
            <a:ext cx="2331720" cy="2331720"/>
          </a:xfrm>
          <a:prstGeom prst="rect">
            <a:avLst/>
          </a:prstGeom>
          <a:solidFill>
            <a:srgbClr val="F5F1FB"/>
          </a:solidFill>
          <a:ln w="19050">
            <a:solidFill>
              <a:srgbClr val="6B4FA3"/>
            </a:solidFill>
            <a:prstDash val="dash"/>
          </a:ln>
        </p:spPr>
      </p:sp>
      <p:sp>
        <p:nvSpPr>
          <p:cNvPr id="30" name="Text 28"/>
          <p:cNvSpPr/>
          <p:nvPr/>
        </p:nvSpPr>
        <p:spPr>
          <a:xfrm>
            <a:off x="9006840" y="3840480"/>
            <a:ext cx="2331720" cy="2331720"/>
          </a:xfrm>
          <a:prstGeom prst="rect">
            <a:avLst/>
          </a:prstGeom>
          <a:noFill/>
          <a:ln/>
        </p:spPr>
        <p:txBody>
          <a:bodyPr wrap="square" lIns="1270" tIns="1270" rIns="1270" bIns="1270" rtlCol="0" anchor="ctr"/>
          <a:lstStyle/>
          <a:p>
            <a:pPr algn="ctr" indent="0" marL="0">
              <a:buNone/>
            </a:pPr>
            <a:r>
              <a:rPr lang="en-US" sz="1400" i="1" dirty="0">
                <a:solidFill>
                  <a:srgbClr val="6B4FA3"/>
                </a:solidFill>
                <a:latin typeface="Calibri" pitchFamily="34" charset="0"/>
                <a:ea typeface="Calibri" pitchFamily="34" charset="-122"/>
                <a:cs typeface="Calibri" pitchFamily="34" charset="-120"/>
              </a:rPr>
              <a:t>Reconstructed</a:t>
            </a:r>
            <a:endParaRPr lang="en-US" sz="1400" dirty="0"/>
          </a:p>
        </p:txBody>
      </p:sp>
      <p:sp>
        <p:nvSpPr>
          <p:cNvPr id="31" name="Text 29"/>
          <p:cNvSpPr/>
          <p:nvPr/>
        </p:nvSpPr>
        <p:spPr>
          <a:xfrm>
            <a:off x="8915400" y="6199632"/>
            <a:ext cx="2514600" cy="457200"/>
          </a:xfrm>
          <a:prstGeom prst="rect">
            <a:avLst/>
          </a:prstGeom>
          <a:noFill/>
          <a:ln/>
        </p:spPr>
        <p:txBody>
          <a:bodyPr wrap="square" lIns="0" tIns="0" rIns="0" bIns="0" rtlCol="0" anchor="ctr"/>
          <a:lstStyle/>
          <a:p>
            <a:pPr algn="ctr" indent="0" marL="0">
              <a:buNone/>
            </a:pPr>
            <a:r>
              <a:rPr lang="en-US" sz="1300" b="1" dirty="0">
                <a:solidFill>
                  <a:srgbClr val="E0457B"/>
                </a:solidFill>
                <a:latin typeface="Calibri" pitchFamily="34" charset="0"/>
                <a:ea typeface="Calibri" pitchFamily="34" charset="-122"/>
                <a:cs typeface="Calibri" pitchFamily="34" charset="-120"/>
              </a:rPr>
              <a:t>CR = ___</a:t>
            </a:r>
            <a:endParaRPr lang="en-US" sz="1300" dirty="0"/>
          </a:p>
          <a:p>
            <a:pPr algn="ctr" indent="0" marL="0">
              <a:buNone/>
            </a:pPr>
            <a:r>
              <a:rPr lang="en-US" sz="1300" dirty="0">
                <a:solidFill>
                  <a:srgbClr val="1F1A33"/>
                </a:solidFill>
                <a:latin typeface="Calibri" pitchFamily="34" charset="0"/>
                <a:ea typeface="Calibri" pitchFamily="34" charset="-122"/>
                <a:cs typeface="Calibri" pitchFamily="34" charset="-120"/>
              </a:rPr>
              <a:t>PSNR 28.45 dB   SSIM 0.7520</a:t>
            </a:r>
            <a:endParaRPr lang="en-US" sz="13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Compression Results (4 × 4 blocks, K = 64)</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822960" y="1097280"/>
            <a:ext cx="10515600" cy="822960"/>
          </a:xfrm>
          <a:prstGeom prst="roundRect">
            <a:avLst>
              <a:gd name="adj" fmla="val 8889"/>
            </a:avLst>
          </a:prstGeom>
          <a:solidFill>
            <a:srgbClr val="FDF1E6"/>
          </a:solidFill>
          <a:ln w="15875">
            <a:solidFill>
              <a:srgbClr val="E07B22"/>
            </a:solidFill>
            <a:prstDash val="solid"/>
          </a:ln>
        </p:spPr>
      </p:sp>
      <p:sp>
        <p:nvSpPr>
          <p:cNvPr id="7" name="Text 5"/>
          <p:cNvSpPr/>
          <p:nvPr/>
        </p:nvSpPr>
        <p:spPr>
          <a:xfrm>
            <a:off x="822960" y="1097280"/>
            <a:ext cx="10515600" cy="822960"/>
          </a:xfrm>
          <a:prstGeom prst="rect">
            <a:avLst/>
          </a:prstGeom>
          <a:noFill/>
          <a:ln/>
        </p:spPr>
        <p:txBody>
          <a:bodyPr wrap="square" lIns="508" tIns="508" rIns="508" bIns="508" rtlCol="0" anchor="ctr"/>
          <a:lstStyle/>
          <a:p>
            <a:pPr algn="ctr" indent="0" marL="0">
              <a:buNone/>
            </a:pPr>
            <a:r>
              <a:rPr lang="en-US" sz="1700" b="1" dirty="0">
                <a:solidFill>
                  <a:srgbClr val="2E2055"/>
                </a:solidFill>
                <a:latin typeface="Cambria" pitchFamily="34" charset="0"/>
                <a:ea typeface="Cambria" pitchFamily="34" charset="-122"/>
                <a:cs typeface="Cambria" pitchFamily="34" charset="-120"/>
              </a:rPr>
              <a:t>CR = S_orig / S_comp        BPP = compressed bits / number of pixels</a:t>
            </a:r>
            <a:endParaRPr lang="en-US" sz="1700" dirty="0"/>
          </a:p>
          <a:p>
            <a:pPr algn="ctr" indent="0" marL="0">
              <a:buNone/>
            </a:pPr>
            <a:r>
              <a:rPr lang="en-US" sz="1700" b="1" dirty="0">
                <a:solidFill>
                  <a:srgbClr val="2E2055"/>
                </a:solidFill>
                <a:latin typeface="Cambria" pitchFamily="34" charset="0"/>
                <a:ea typeface="Cambria" pitchFamily="34" charset="-122"/>
                <a:cs typeface="Cambria" pitchFamily="34" charset="-120"/>
              </a:rPr>
              <a:t>MSE = mean (I − Î)²        PSNR = 10·log₁₀(255² / MSE)  dB        SSIM: 11 × 11 Gaussian window, σ = 1.5</a:t>
            </a:r>
            <a:endParaRPr lang="en-US" sz="1700" dirty="0"/>
          </a:p>
        </p:txBody>
      </p:sp>
      <p:graphicFrame>
        <p:nvGraphicFramePr>
          <p:cNvPr id="24" name="Table 0"/>
          <p:cNvGraphicFramePr>
            <a:graphicFrameLocks noGrp="1"/>
          </p:cNvGraphicFramePr>
          <p:nvPr>
            <p:extLst>
              <p:ext uri="{D42A27DB-BD31-4B8C-83A1-F6EECF244321}">
                <p14:modId xmlns:p14="http://schemas.microsoft.com/office/powerpoint/2010/main" val="1579011935"/>
              </p:ext>
            </p:extLst>
          </p:nvPr>
        </p:nvGraphicFramePr>
        <p:xfrm>
          <a:off x="822960" y="2011680"/>
          <a:ext cx="10515600" cy="914400"/>
        </p:xfrm>
        <a:graphic>
          <a:graphicData uri="http://schemas.openxmlformats.org/drawingml/2006/table">
            <a:tbl>
              <a:tblPr/>
              <a:tblGrid>
                <a:gridCol w="2377440"/>
                <a:gridCol w="1097280"/>
                <a:gridCol w="1371600"/>
                <a:gridCol w="1371600"/>
                <a:gridCol w="1371600"/>
                <a:gridCol w="1554480"/>
                <a:gridCol w="1371600"/>
              </a:tblGrid>
              <a:tr h="374904">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Image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Type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CR</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BPP</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MSE</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PSNR (dB)</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500" b="1" dirty="0">
                          <a:solidFill>
                            <a:srgbClr val="FFFFFF"/>
                          </a:solidFill>
                          <a:latin typeface="Calibri" pitchFamily="34" charset="0"/>
                          <a:ea typeface="Calibri" pitchFamily="34" charset="-122"/>
                          <a:cs typeface="Calibri" pitchFamily="34" charset="-120"/>
                        </a:rPr>
                        <a:t>SSIM</a:t>
                      </a:r>
                      <a:endParaRPr lang="en-US" sz="15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70.13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29.67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0.8190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Boat</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79.88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29.11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0.8394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Cameraman</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68.84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29.75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0.8855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74.47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29.41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0.7624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Mean (gray)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Gray</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73.33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29.49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0.8266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CFEAE6"/>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Lena</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83.60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28.91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0.7594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Peppers</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95.00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28.35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0.6964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F16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73.41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29.47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0.8539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Gold Hill</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92.97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28.45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0.7520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1ECF9"/>
                    </a:solidFill>
                  </a:tcPr>
                </a:tc>
              </a:tr>
              <a:tr h="374904">
                <a:tc>
                  <a:txBody>
                    <a:bodyPr/>
                    <a:lstStyle/>
                    <a:p>
                      <a:pPr algn="l" indent="0" marL="0">
                        <a:buNone/>
                      </a:pPr>
                      <a:r>
                        <a:rPr lang="en-US" sz="1400" b="1" dirty="0">
                          <a:solidFill>
                            <a:srgbClr val="1F1A33"/>
                          </a:solidFill>
                          <a:latin typeface="Calibri" pitchFamily="34" charset="0"/>
                          <a:ea typeface="Calibri" pitchFamily="34" charset="-122"/>
                          <a:cs typeface="Calibri" pitchFamily="34" charset="-120"/>
                        </a:rPr>
                        <a:t>Mean (color)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Color</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___</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86.25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28.80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0.7654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DDD2F0"/>
                    </a:solidFill>
                  </a:tcPr>
                </a:tc>
              </a:tr>
            </a:tbl>
          </a:graphicData>
        </a:graphic>
      </p:graphicFrame>
      <p:sp>
        <p:nvSpPr>
          <p:cNvPr id="9" name="Text 6"/>
          <p:cNvSpPr/>
          <p:nvPr/>
        </p:nvSpPr>
        <p:spPr>
          <a:xfrm>
            <a:off x="822960" y="6217920"/>
            <a:ext cx="10515600" cy="502920"/>
          </a:xfrm>
          <a:prstGeom prst="rect">
            <a:avLst/>
          </a:prstGeom>
          <a:noFill/>
          <a:ln/>
        </p:spPr>
        <p:txBody>
          <a:bodyPr wrap="square" lIns="0" tIns="0" rIns="0" bIns="0" rtlCol="0" anchor="ctr"/>
          <a:lstStyle/>
          <a:p>
            <a:pPr indent="0" marL="0">
              <a:buNone/>
            </a:pPr>
            <a:r>
              <a:rPr lang="en-US" sz="1200" i="1" dirty="0">
                <a:solidFill>
                  <a:srgbClr val="6B4FA3"/>
                </a:solidFill>
                <a:latin typeface="Calibri" pitchFamily="34" charset="0"/>
                <a:ea typeface="Calibri" pitchFamily="34" charset="-122"/>
                <a:cs typeface="Calibri" pitchFamily="34" charset="-120"/>
              </a:rPr>
              <a:t>Color images: MSE and PSNR are computed over the RGB channels; SSIM is the mean of the channel-wise values. CR = original size / (codebook + Huffman table + Huffman-coded data).</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Entropy and Delta–Huffman Coding Efficiency</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097280"/>
            <a:ext cx="7498080" cy="457200"/>
          </a:xfrm>
          <a:prstGeom prst="roundRect">
            <a:avLst>
              <a:gd name="adj" fmla="val 16000"/>
            </a:avLst>
          </a:prstGeom>
          <a:solidFill>
            <a:srgbClr val="FDF1E6"/>
          </a:solidFill>
          <a:ln w="15875">
            <a:solidFill>
              <a:srgbClr val="E07B22"/>
            </a:solidFill>
            <a:prstDash val="solid"/>
          </a:ln>
        </p:spPr>
      </p:sp>
      <p:sp>
        <p:nvSpPr>
          <p:cNvPr id="7" name="Text 5"/>
          <p:cNvSpPr/>
          <p:nvPr/>
        </p:nvSpPr>
        <p:spPr>
          <a:xfrm>
            <a:off x="457200" y="1097280"/>
            <a:ext cx="7498080" cy="457200"/>
          </a:xfrm>
          <a:prstGeom prst="rect">
            <a:avLst/>
          </a:prstGeom>
          <a:noFill/>
          <a:ln/>
        </p:spPr>
        <p:txBody>
          <a:bodyPr wrap="square" lIns="508" tIns="508" rIns="508" bIns="508" rtlCol="0" anchor="ctr"/>
          <a:lstStyle/>
          <a:p>
            <a:pPr algn="ctr" indent="0" marL="0">
              <a:buNone/>
            </a:pPr>
            <a:r>
              <a:rPr lang="en-US" sz="1900" b="1" dirty="0">
                <a:solidFill>
                  <a:srgbClr val="2E2055"/>
                </a:solidFill>
                <a:latin typeface="Cambria" pitchFamily="34" charset="0"/>
                <a:ea typeface="Cambria" pitchFamily="34" charset="-122"/>
                <a:cs typeface="Cambria" pitchFamily="34" charset="-120"/>
              </a:rPr>
              <a:t>H = −Σ p(s) · log₂ p(s)   (bits / symbol)</a:t>
            </a:r>
            <a:endParaRPr lang="en-US" sz="1900" dirty="0"/>
          </a:p>
        </p:txBody>
      </p:sp>
      <p:sp>
        <p:nvSpPr>
          <p:cNvPr id="8" name="Shape 6"/>
          <p:cNvSpPr/>
          <p:nvPr/>
        </p:nvSpPr>
        <p:spPr>
          <a:xfrm>
            <a:off x="457200" y="1645920"/>
            <a:ext cx="7498080" cy="4617720"/>
          </a:xfrm>
          <a:prstGeom prst="roundRect">
            <a:avLst>
              <a:gd name="adj" fmla="val 1584"/>
            </a:avLst>
          </a:prstGeom>
          <a:solidFill>
            <a:srgbClr val="FFFFFF"/>
          </a:solidFill>
          <a:ln w="15875">
            <a:solidFill>
              <a:srgbClr val="2A9D8F"/>
            </a:solidFill>
            <a:prstDash val="solid"/>
          </a:ln>
        </p:spPr>
      </p:sp>
      <p:pic>
        <p:nvPicPr>
          <p:cNvPr id="9" name="Image 0" descr="assets/entropy_chart.png">    </p:cNvPr>
          <p:cNvPicPr>
            <a:picLocks noChangeAspect="1"/>
          </p:cNvPicPr>
          <p:nvPr/>
        </p:nvPicPr>
        <p:blipFill>
          <a:blip r:embed="rId1"/>
          <a:stretch>
            <a:fillRect/>
          </a:stretch>
        </p:blipFill>
        <p:spPr>
          <a:xfrm>
            <a:off x="457200" y="1672756"/>
            <a:ext cx="7498080" cy="4564049"/>
          </a:xfrm>
          <a:prstGeom prst="rect">
            <a:avLst/>
          </a:prstGeom>
        </p:spPr>
      </p:pic>
      <p:sp>
        <p:nvSpPr>
          <p:cNvPr id="10" name="Shape 7"/>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11" name="Text 8"/>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Delta coding lowers the entropy of the index sequence from 5.30 to 4.19 bits on average (−1.10 bits).</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The reduction depends on the spatial correlation of the image: 0.73 bits (Lena) to 1.48 bits (Cameraman).</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The Huffman average code length (4.23 bits) is within 0.04 bits of the entropy after delta coding.</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Compared with 6-bit fixed-length indices, the index data is 21.5% to 38.3% smaller (mean 29.5%).</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Grayscale images, K = 64.</a:t>
            </a:r>
            <a:endParaRPr lang="en-US" sz="15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Speedup and Efficiency of LBG Training</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097280"/>
            <a:ext cx="7498080" cy="457200"/>
          </a:xfrm>
          <a:prstGeom prst="roundRect">
            <a:avLst>
              <a:gd name="adj" fmla="val 16000"/>
            </a:avLst>
          </a:prstGeom>
          <a:solidFill>
            <a:srgbClr val="FDF1E6"/>
          </a:solidFill>
          <a:ln w="15875">
            <a:solidFill>
              <a:srgbClr val="E07B22"/>
            </a:solidFill>
            <a:prstDash val="solid"/>
          </a:ln>
        </p:spPr>
      </p:sp>
      <p:sp>
        <p:nvSpPr>
          <p:cNvPr id="7" name="Text 5"/>
          <p:cNvSpPr/>
          <p:nvPr/>
        </p:nvSpPr>
        <p:spPr>
          <a:xfrm>
            <a:off x="457200" y="1097280"/>
            <a:ext cx="7498080" cy="457200"/>
          </a:xfrm>
          <a:prstGeom prst="rect">
            <a:avLst/>
          </a:prstGeom>
          <a:noFill/>
          <a:ln/>
        </p:spPr>
        <p:txBody>
          <a:bodyPr wrap="square" lIns="508" tIns="508" rIns="508" bIns="508" rtlCol="0" anchor="ctr"/>
          <a:lstStyle/>
          <a:p>
            <a:pPr algn="ctr" indent="0" marL="0">
              <a:buNone/>
            </a:pPr>
            <a:r>
              <a:rPr lang="en-US" sz="2000" b="1" dirty="0">
                <a:solidFill>
                  <a:srgbClr val="2E2055"/>
                </a:solidFill>
                <a:latin typeface="Cambria" pitchFamily="34" charset="0"/>
                <a:ea typeface="Cambria" pitchFamily="34" charset="-122"/>
                <a:cs typeface="Cambria" pitchFamily="34" charset="-120"/>
              </a:rPr>
              <a:t>S = T_seq / T_P          E = S / P</a:t>
            </a:r>
            <a:endParaRPr lang="en-US" sz="2000" dirty="0"/>
          </a:p>
        </p:txBody>
      </p:sp>
      <p:sp>
        <p:nvSpPr>
          <p:cNvPr id="8" name="Shape 6"/>
          <p:cNvSpPr/>
          <p:nvPr/>
        </p:nvSpPr>
        <p:spPr>
          <a:xfrm>
            <a:off x="457200" y="1645920"/>
            <a:ext cx="7498080" cy="4617720"/>
          </a:xfrm>
          <a:prstGeom prst="roundRect">
            <a:avLst>
              <a:gd name="adj" fmla="val 1584"/>
            </a:avLst>
          </a:prstGeom>
          <a:solidFill>
            <a:srgbClr val="FFFFFF"/>
          </a:solidFill>
          <a:ln w="15875">
            <a:solidFill>
              <a:srgbClr val="2A9D8F"/>
            </a:solidFill>
            <a:prstDash val="solid"/>
          </a:ln>
        </p:spPr>
      </p:sp>
      <p:pic>
        <p:nvPicPr>
          <p:cNvPr id="9" name="Image 0" descr="assets/speedup_chart.png">    </p:cNvPr>
          <p:cNvPicPr>
            <a:picLocks noChangeAspect="1"/>
          </p:cNvPicPr>
          <p:nvPr/>
        </p:nvPicPr>
        <p:blipFill>
          <a:blip r:embed="rId1"/>
          <a:stretch>
            <a:fillRect/>
          </a:stretch>
        </p:blipFill>
        <p:spPr>
          <a:xfrm>
            <a:off x="457200" y="1672756"/>
            <a:ext cx="7498080" cy="4564049"/>
          </a:xfrm>
          <a:prstGeom prst="rect">
            <a:avLst/>
          </a:prstGeom>
        </p:spPr>
      </p:pic>
      <p:sp>
        <p:nvSpPr>
          <p:cNvPr id="10" name="Shape 7"/>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11" name="Text 8"/>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LBG speedup reaches 9.19× on 14 processes (efficiency ≈ 66%).</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Near-linear for P ≤ 6, where only P-cores are used.</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The slope drops once the slower E-cores join.</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Karp–Flatt ≈ 0.04 for P ≥ 8: the serial fraction of LBG stays small.</a:t>
            </a:r>
            <a:endParaRPr lang="en-US" sz="1600" dirty="0"/>
          </a:p>
          <a:p>
            <a:pPr marL="342900" indent="-342900">
              <a:spcAft>
                <a:spcPts val="900"/>
              </a:spcAft>
              <a:buSzPct val="100000"/>
              <a:buChar char="■"/>
            </a:pPr>
            <a:r>
              <a:rPr lang="en-US" sz="1600" dirty="0">
                <a:solidFill>
                  <a:srgbClr val="1F1A33"/>
                </a:solidFill>
                <a:latin typeface="Calibri" pitchFamily="34" charset="0"/>
                <a:ea typeface="Calibri" pitchFamily="34" charset="-122"/>
                <a:cs typeface="Calibri" pitchFamily="34" charset="-120"/>
              </a:rPr>
              <a:t>This is the LBG stage (mean of the 8 images). The total speedup is shown separately for gray and color on the next slide.</a:t>
            </a:r>
            <a:endParaRPr lang="en-US" sz="16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Total Speedup: Grayscale and Color</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097280"/>
            <a:ext cx="7498080" cy="457200"/>
          </a:xfrm>
          <a:prstGeom prst="roundRect">
            <a:avLst>
              <a:gd name="adj" fmla="val 16000"/>
            </a:avLst>
          </a:prstGeom>
          <a:solidFill>
            <a:srgbClr val="FDF1E6"/>
          </a:solidFill>
          <a:ln w="15875">
            <a:solidFill>
              <a:srgbClr val="E07B22"/>
            </a:solidFill>
            <a:prstDash val="solid"/>
          </a:ln>
        </p:spPr>
      </p:sp>
      <p:sp>
        <p:nvSpPr>
          <p:cNvPr id="7" name="Text 5"/>
          <p:cNvSpPr/>
          <p:nvPr/>
        </p:nvSpPr>
        <p:spPr>
          <a:xfrm>
            <a:off x="457200" y="1097280"/>
            <a:ext cx="7498080" cy="457200"/>
          </a:xfrm>
          <a:prstGeom prst="rect">
            <a:avLst/>
          </a:prstGeom>
          <a:noFill/>
          <a:ln/>
        </p:spPr>
        <p:txBody>
          <a:bodyPr wrap="square" lIns="508" tIns="508" rIns="508" bIns="508" rtlCol="0" anchor="ctr"/>
          <a:lstStyle/>
          <a:p>
            <a:pPr algn="ctr" indent="0" marL="0">
              <a:buNone/>
            </a:pPr>
            <a:r>
              <a:rPr lang="en-US" sz="2000" b="1" dirty="0">
                <a:solidFill>
                  <a:srgbClr val="2E2055"/>
                </a:solidFill>
                <a:latin typeface="Cambria" pitchFamily="34" charset="0"/>
                <a:ea typeface="Cambria" pitchFamily="34" charset="-122"/>
                <a:cs typeface="Cambria" pitchFamily="34" charset="-120"/>
              </a:rPr>
              <a:t>S = T_seq / T_P          E = S / P</a:t>
            </a:r>
            <a:endParaRPr lang="en-US" sz="2000" dirty="0"/>
          </a:p>
        </p:txBody>
      </p:sp>
      <p:sp>
        <p:nvSpPr>
          <p:cNvPr id="8" name="Shape 6"/>
          <p:cNvSpPr/>
          <p:nvPr/>
        </p:nvSpPr>
        <p:spPr>
          <a:xfrm>
            <a:off x="457200" y="1645920"/>
            <a:ext cx="7498080" cy="4617720"/>
          </a:xfrm>
          <a:prstGeom prst="roundRect">
            <a:avLst>
              <a:gd name="adj" fmla="val 1584"/>
            </a:avLst>
          </a:prstGeom>
          <a:solidFill>
            <a:srgbClr val="FFFFFF"/>
          </a:solidFill>
          <a:ln w="15875">
            <a:solidFill>
              <a:srgbClr val="2A9D8F"/>
            </a:solidFill>
            <a:prstDash val="solid"/>
          </a:ln>
        </p:spPr>
      </p:sp>
      <p:pic>
        <p:nvPicPr>
          <p:cNvPr id="9" name="Image 0" descr="assets/total_speedup_chart.png">    </p:cNvPr>
          <p:cNvPicPr>
            <a:picLocks noChangeAspect="1"/>
          </p:cNvPicPr>
          <p:nvPr/>
        </p:nvPicPr>
        <p:blipFill>
          <a:blip r:embed="rId1"/>
          <a:stretch>
            <a:fillRect/>
          </a:stretch>
        </p:blipFill>
        <p:spPr>
          <a:xfrm>
            <a:off x="457200" y="1672756"/>
            <a:ext cx="7498080" cy="4564049"/>
          </a:xfrm>
          <a:prstGeom prst="rect">
            <a:avLst/>
          </a:prstGeom>
        </p:spPr>
      </p:pic>
      <p:sp>
        <p:nvSpPr>
          <p:cNvPr id="10" name="Shape 7"/>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11" name="Text 8"/>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Total speedup at P = 14: 5.00× (grayscale) and 6.84× (color); efficiency 35.7% and 48.9%.</a:t>
            </a:r>
            <a:endParaRPr lang="en-US" sz="1500" dirty="0"/>
          </a:p>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It is lower than the LBG speedup (9.19×) because the other stages (image reading, delta and Huffman coding, reconstruction) remain sequential.</a:t>
            </a:r>
            <a:endParaRPr lang="en-US" sz="1500" dirty="0"/>
          </a:p>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Color images gain more: LBG is 81% of their sequential time, against 77% for grayscale.</a:t>
            </a:r>
            <a:endParaRPr lang="en-US" sz="1500" dirty="0"/>
          </a:p>
          <a:p>
            <a:pPr marL="342900" indent="-342900">
              <a:spcAft>
                <a:spcPts val="1000"/>
              </a:spcAft>
              <a:buSzPct val="100000"/>
              <a:buChar char="■"/>
            </a:pPr>
            <a:r>
              <a:rPr lang="en-US" sz="1500" dirty="0">
                <a:solidFill>
                  <a:srgbClr val="1F1A33"/>
                </a:solidFill>
                <a:latin typeface="Calibri" pitchFamily="34" charset="0"/>
                <a:ea typeface="Calibri" pitchFamily="34" charset="-122"/>
                <a:cs typeface="Calibri" pitchFamily="34" charset="-120"/>
              </a:rPr>
              <a:t>Total time is the whole program execution; the shaded bands show the minimum to maximum over the images of each type.</a:t>
            </a:r>
            <a:endParaRPr lang="en-US" sz="15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Equal vs Adaptive Workload Distribution</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234440"/>
            <a:ext cx="7498080" cy="5029200"/>
          </a:xfrm>
          <a:prstGeom prst="roundRect">
            <a:avLst>
              <a:gd name="adj" fmla="val 1455"/>
            </a:avLst>
          </a:prstGeom>
          <a:solidFill>
            <a:srgbClr val="FFFFFF"/>
          </a:solidFill>
          <a:ln w="15875">
            <a:solidFill>
              <a:srgbClr val="2A9D8F"/>
            </a:solidFill>
            <a:prstDash val="solid"/>
          </a:ln>
        </p:spPr>
      </p:sp>
      <p:pic>
        <p:nvPicPr>
          <p:cNvPr id="7" name="Image 0" descr="assets/eqad_chart.png">    </p:cNvPr>
          <p:cNvPicPr>
            <a:picLocks noChangeAspect="1"/>
          </p:cNvPicPr>
          <p:nvPr/>
        </p:nvPicPr>
        <p:blipFill>
          <a:blip r:embed="rId1"/>
          <a:stretch>
            <a:fillRect/>
          </a:stretch>
        </p:blipFill>
        <p:spPr>
          <a:xfrm>
            <a:off x="457200" y="1467016"/>
            <a:ext cx="7498080" cy="4564049"/>
          </a:xfrm>
          <a:prstGeom prst="rect">
            <a:avLst/>
          </a:prstGeom>
        </p:spPr>
      </p:pic>
      <p:sp>
        <p:nvSpPr>
          <p:cNvPr id="8" name="Shape 5"/>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9" name="Text 6"/>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With Equal distribution, the faster P-cores finish early and wait for the E-cores: 7.61× at P = 14.</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Adaptive distribution reaches 9.19× at P = 14.</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LBG time is reduced by 28.3%, 23.6%, 19.8% and 17.2% at P = 8, 10, 12 and 14.</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Total time is reduced by 17.9% to 8.8%.</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No adaptive-distribution benefit was observed when only P-cores were used (P ≤ 6).</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The reconstructed images are identical in both cases.</a:t>
            </a:r>
            <a:endParaRPr lang="en-US" sz="1500" dirty="0"/>
          </a:p>
          <a:p>
            <a:pPr marL="342900" indent="-342900">
              <a:spcAft>
                <a:spcPts val="800"/>
              </a:spcAft>
              <a:buSzPct val="100000"/>
              <a:buChar char="■"/>
            </a:pPr>
            <a:r>
              <a:rPr lang="en-US" sz="1500" dirty="0">
                <a:solidFill>
                  <a:srgbClr val="1F1A33"/>
                </a:solidFill>
                <a:latin typeface="Calibri" pitchFamily="34" charset="0"/>
                <a:ea typeface="Calibri" pitchFamily="34" charset="-122"/>
                <a:cs typeface="Calibri" pitchFamily="34" charset="-120"/>
              </a:rPr>
              <a:t>Adaptive values here come from the Equal-vs-Adaptive runs, so they can differ by up to 0.02× from the main speedup runs.</a:t>
            </a:r>
            <a:endParaRPr lang="en-US" sz="15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Throughput</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097280"/>
            <a:ext cx="7498080" cy="457200"/>
          </a:xfrm>
          <a:prstGeom prst="roundRect">
            <a:avLst>
              <a:gd name="adj" fmla="val 16000"/>
            </a:avLst>
          </a:prstGeom>
          <a:solidFill>
            <a:srgbClr val="FDF1E6"/>
          </a:solidFill>
          <a:ln w="15875">
            <a:solidFill>
              <a:srgbClr val="E07B22"/>
            </a:solidFill>
            <a:prstDash val="solid"/>
          </a:ln>
        </p:spPr>
      </p:sp>
      <p:sp>
        <p:nvSpPr>
          <p:cNvPr id="7" name="Text 5"/>
          <p:cNvSpPr/>
          <p:nvPr/>
        </p:nvSpPr>
        <p:spPr>
          <a:xfrm>
            <a:off x="457200" y="1097280"/>
            <a:ext cx="7498080" cy="457200"/>
          </a:xfrm>
          <a:prstGeom prst="rect">
            <a:avLst/>
          </a:prstGeom>
          <a:noFill/>
          <a:ln/>
        </p:spPr>
        <p:txBody>
          <a:bodyPr wrap="square" lIns="508" tIns="508" rIns="508" bIns="508" rtlCol="0" anchor="ctr"/>
          <a:lstStyle/>
          <a:p>
            <a:pPr algn="ctr" indent="0" marL="0">
              <a:buNone/>
            </a:pPr>
            <a:r>
              <a:rPr lang="en-US" sz="1900" b="1" dirty="0">
                <a:solidFill>
                  <a:srgbClr val="2E2055"/>
                </a:solidFill>
                <a:latin typeface="Cambria" pitchFamily="34" charset="0"/>
                <a:ea typeface="Cambria" pitchFamily="34" charset="-122"/>
                <a:cs typeface="Cambria" pitchFamily="34" charset="-120"/>
              </a:rPr>
              <a:t>Throughput = I_size / T_total   (MiB/s)</a:t>
            </a:r>
            <a:endParaRPr lang="en-US" sz="1900" dirty="0"/>
          </a:p>
        </p:txBody>
      </p:sp>
      <p:sp>
        <p:nvSpPr>
          <p:cNvPr id="8" name="Shape 6"/>
          <p:cNvSpPr/>
          <p:nvPr/>
        </p:nvSpPr>
        <p:spPr>
          <a:xfrm>
            <a:off x="457200" y="1645920"/>
            <a:ext cx="7498080" cy="4617720"/>
          </a:xfrm>
          <a:prstGeom prst="roundRect">
            <a:avLst>
              <a:gd name="adj" fmla="val 1584"/>
            </a:avLst>
          </a:prstGeom>
          <a:solidFill>
            <a:srgbClr val="FFFFFF"/>
          </a:solidFill>
          <a:ln w="15875">
            <a:solidFill>
              <a:srgbClr val="2A9D8F"/>
            </a:solidFill>
            <a:prstDash val="solid"/>
          </a:ln>
        </p:spPr>
      </p:sp>
      <p:pic>
        <p:nvPicPr>
          <p:cNvPr id="9" name="Image 0" descr="assets/throughput_ch4.png">    </p:cNvPr>
          <p:cNvPicPr>
            <a:picLocks noChangeAspect="1"/>
          </p:cNvPicPr>
          <p:nvPr/>
        </p:nvPicPr>
        <p:blipFill>
          <a:blip r:embed="rId1"/>
          <a:stretch>
            <a:fillRect/>
          </a:stretch>
        </p:blipFill>
        <p:spPr>
          <a:xfrm>
            <a:off x="714695" y="1645920"/>
            <a:ext cx="6983091" cy="4617720"/>
          </a:xfrm>
          <a:prstGeom prst="rect">
            <a:avLst/>
          </a:prstGeom>
        </p:spPr>
      </p:pic>
      <p:sp>
        <p:nvSpPr>
          <p:cNvPr id="10" name="Shape 7"/>
          <p:cNvSpPr/>
          <p:nvPr/>
        </p:nvSpPr>
        <p:spPr>
          <a:xfrm>
            <a:off x="8183880" y="1234440"/>
            <a:ext cx="3566160" cy="5029200"/>
          </a:xfrm>
          <a:prstGeom prst="roundRect">
            <a:avLst>
              <a:gd name="adj" fmla="val 2051"/>
            </a:avLst>
          </a:prstGeom>
          <a:solidFill>
            <a:srgbClr val="F5F1FB"/>
          </a:solidFill>
          <a:ln w="12700">
            <a:solidFill>
              <a:srgbClr val="F5F1FB"/>
            </a:solidFill>
            <a:prstDash val="solid"/>
          </a:ln>
        </p:spPr>
      </p:sp>
      <p:sp>
        <p:nvSpPr>
          <p:cNvPr id="11" name="Text 8"/>
          <p:cNvSpPr/>
          <p:nvPr/>
        </p:nvSpPr>
        <p:spPr>
          <a:xfrm>
            <a:off x="8275320" y="1325880"/>
            <a:ext cx="3383280" cy="4846320"/>
          </a:xfrm>
          <a:prstGeom prst="rect">
            <a:avLst/>
          </a:prstGeom>
          <a:noFill/>
          <a:ln/>
        </p:spPr>
        <p:txBody>
          <a:bodyPr wrap="square" lIns="1016" tIns="1016" rIns="1016" bIns="1016" rtlCol="0" anchor="t"/>
          <a:lstStyle/>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Throughput = original image size / total execution time (MiB/s).</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Grayscale: 1.30 → 3.35 MiB/s from P = 2 to P = 14.</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Color: 1.42 → 4.54 MiB/s.</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Color images hold three times more data, but their total time grows by only about 2.2× at P = 14, so their throughput is higher.</a:t>
            </a:r>
            <a:endParaRPr lang="en-US" sz="1500" dirty="0"/>
          </a:p>
          <a:p>
            <a:pPr marL="342900" indent="-342900">
              <a:spcAft>
                <a:spcPts val="900"/>
              </a:spcAft>
              <a:buSzPct val="100000"/>
              <a:buChar char="■"/>
            </a:pPr>
            <a:r>
              <a:rPr lang="en-US" sz="1500" dirty="0">
                <a:solidFill>
                  <a:srgbClr val="1F1A33"/>
                </a:solidFill>
                <a:latin typeface="Calibri" pitchFamily="34" charset="0"/>
                <a:ea typeface="Calibri" pitchFamily="34" charset="-122"/>
                <a:cs typeface="Calibri" pitchFamily="34" charset="-120"/>
              </a:rPr>
              <a:t>Shaded bands: minimum to maximum over the images.</a:t>
            </a:r>
            <a:endParaRPr lang="en-US" sz="15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1737360" cy="502920"/>
          </a:xfrm>
          <a:prstGeom prst="roundRect">
            <a:avLst>
              <a:gd name="adj" fmla="val 18182"/>
            </a:avLst>
          </a:prstGeom>
          <a:solidFill>
            <a:srgbClr val="2A9D8F"/>
          </a:solidFill>
          <a:ln w="12700">
            <a:solidFill>
              <a:srgbClr val="2A9D8F"/>
            </a:solidFill>
            <a:prstDash val="solid"/>
          </a:ln>
        </p:spPr>
      </p:sp>
      <p:sp>
        <p:nvSpPr>
          <p:cNvPr id="3" name="Text 1"/>
          <p:cNvSpPr/>
          <p:nvPr/>
        </p:nvSpPr>
        <p:spPr>
          <a:xfrm>
            <a:off x="457200" y="320040"/>
            <a:ext cx="1737360" cy="502920"/>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Results</a:t>
            </a:r>
            <a:endParaRPr lang="en-US" sz="1800" dirty="0"/>
          </a:p>
        </p:txBody>
      </p:sp>
      <p:sp>
        <p:nvSpPr>
          <p:cNvPr id="4" name="Text 2"/>
          <p:cNvSpPr/>
          <p:nvPr/>
        </p:nvSpPr>
        <p:spPr>
          <a:xfrm>
            <a:off x="2377440" y="274320"/>
            <a:ext cx="932688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Karp–Flatt Metric</a:t>
            </a:r>
            <a:endParaRPr lang="en-US" sz="2800" dirty="0"/>
          </a:p>
        </p:txBody>
      </p:sp>
      <p:sp>
        <p:nvSpPr>
          <p:cNvPr id="5" name="Shape 3"/>
          <p:cNvSpPr/>
          <p:nvPr/>
        </p:nvSpPr>
        <p:spPr>
          <a:xfrm>
            <a:off x="457200" y="960120"/>
            <a:ext cx="11274552" cy="36576"/>
          </a:xfrm>
          <a:prstGeom prst="rect">
            <a:avLst/>
          </a:prstGeom>
          <a:solidFill>
            <a:srgbClr val="2A9D8F"/>
          </a:solidFill>
          <a:ln w="12700">
            <a:solidFill>
              <a:srgbClr val="2A9D8F"/>
            </a:solidFill>
            <a:prstDash val="solid"/>
          </a:ln>
        </p:spPr>
      </p:sp>
      <p:sp>
        <p:nvSpPr>
          <p:cNvPr id="6" name="Shape 4"/>
          <p:cNvSpPr/>
          <p:nvPr/>
        </p:nvSpPr>
        <p:spPr>
          <a:xfrm>
            <a:off x="457200" y="1143000"/>
            <a:ext cx="7772400" cy="457200"/>
          </a:xfrm>
          <a:prstGeom prst="roundRect">
            <a:avLst>
              <a:gd name="adj" fmla="val 16000"/>
            </a:avLst>
          </a:prstGeom>
          <a:solidFill>
            <a:srgbClr val="FDF1E6"/>
          </a:solidFill>
          <a:ln w="15875">
            <a:solidFill>
              <a:srgbClr val="E07B22"/>
            </a:solidFill>
            <a:prstDash val="solid"/>
          </a:ln>
        </p:spPr>
      </p:sp>
      <p:sp>
        <p:nvSpPr>
          <p:cNvPr id="7" name="Text 5"/>
          <p:cNvSpPr/>
          <p:nvPr/>
        </p:nvSpPr>
        <p:spPr>
          <a:xfrm>
            <a:off x="457200" y="1143000"/>
            <a:ext cx="7772400" cy="457200"/>
          </a:xfrm>
          <a:prstGeom prst="rect">
            <a:avLst/>
          </a:prstGeom>
          <a:noFill/>
          <a:ln/>
        </p:spPr>
        <p:txBody>
          <a:bodyPr wrap="square" lIns="508" tIns="508" rIns="508" bIns="508" rtlCol="0" anchor="ctr"/>
          <a:lstStyle/>
          <a:p>
            <a:pPr algn="ctr" indent="0" marL="0">
              <a:buNone/>
            </a:pPr>
            <a:r>
              <a:rPr lang="en-US" sz="2000" b="1" dirty="0">
                <a:solidFill>
                  <a:srgbClr val="2E2055"/>
                </a:solidFill>
                <a:latin typeface="Cambria" pitchFamily="34" charset="0"/>
                <a:ea typeface="Cambria" pitchFamily="34" charset="-122"/>
                <a:cs typeface="Cambria" pitchFamily="34" charset="-120"/>
              </a:rPr>
              <a:t>e = (1/S − 1/P) / (1 − 1/P)</a:t>
            </a:r>
            <a:endParaRPr lang="en-US" sz="2000" dirty="0"/>
          </a:p>
        </p:txBody>
      </p:sp>
      <p:graphicFrame>
        <p:nvGraphicFramePr>
          <p:cNvPr id="30" name="Table 0"/>
          <p:cNvGraphicFramePr>
            <a:graphicFrameLocks noGrp="1"/>
          </p:cNvGraphicFramePr>
          <p:nvPr>
            <p:extLst>
              <p:ext uri="{D42A27DB-BD31-4B8C-83A1-F6EECF244321}">
                <p14:modId xmlns:p14="http://schemas.microsoft.com/office/powerpoint/2010/main" val="1579011935"/>
              </p:ext>
            </p:extLst>
          </p:nvPr>
        </p:nvGraphicFramePr>
        <p:xfrm>
          <a:off x="457200" y="1737360"/>
          <a:ext cx="7772400" cy="914400"/>
        </p:xfrm>
        <a:graphic>
          <a:graphicData uri="http://schemas.openxmlformats.org/drawingml/2006/table">
            <a:tbl>
              <a:tblPr/>
              <a:tblGrid>
                <a:gridCol w="640080"/>
                <a:gridCol w="1005840"/>
                <a:gridCol w="1188720"/>
                <a:gridCol w="1188720"/>
                <a:gridCol w="1280160"/>
                <a:gridCol w="1188720"/>
                <a:gridCol w="1280160"/>
              </a:tblGrid>
              <a:tr h="502920">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P</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LBG: KF</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LBG: Eff. (%)</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gray: KF</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gray: Eff. (%)</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color: KF</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color: Eff. (%)</a:t>
                      </a:r>
                      <a:endParaRPr lang="en-US" sz="13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2A9D8F"/>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0.033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96.8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0.132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88.4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0.072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93.3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0.018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94.8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0.112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74.8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0.053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86.3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0.022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90.2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0.117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63.2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0.058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77.5</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0.038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78.8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0.143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50.1</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63.0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10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0.040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73.6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0.142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43.9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57.2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12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0.042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68.6</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0.140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39.3</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0.082</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52.4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FFFFFF"/>
                    </a:solidFill>
                  </a:tcPr>
                </a:tc>
              </a:tr>
              <a:tr h="502920">
                <a:tc>
                  <a:txBody>
                    <a:bodyPr/>
                    <a:lstStyle/>
                    <a:p>
                      <a:pPr algn="ctr" indent="0" marL="0">
                        <a:buNone/>
                      </a:pPr>
                      <a:r>
                        <a:rPr lang="en-US" sz="1400" b="1" dirty="0">
                          <a:solidFill>
                            <a:srgbClr val="1F1A33"/>
                          </a:solidFill>
                          <a:latin typeface="Calibri" pitchFamily="34" charset="0"/>
                          <a:ea typeface="Calibri" pitchFamily="34" charset="-122"/>
                          <a:cs typeface="Calibri" pitchFamily="34" charset="-120"/>
                        </a:rPr>
                        <a:t>14</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6B4FA3"/>
                          </a:solidFill>
                          <a:latin typeface="Calibri" pitchFamily="34" charset="0"/>
                          <a:ea typeface="Calibri" pitchFamily="34" charset="-122"/>
                          <a:cs typeface="Calibri" pitchFamily="34" charset="-120"/>
                        </a:rPr>
                        <a:t>0.040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65.7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0.138</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35.7</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b="1" dirty="0">
                          <a:solidFill>
                            <a:srgbClr val="E0457B"/>
                          </a:solidFill>
                          <a:latin typeface="Calibri" pitchFamily="34" charset="0"/>
                          <a:ea typeface="Calibri" pitchFamily="34" charset="-122"/>
                          <a:cs typeface="Calibri" pitchFamily="34" charset="-120"/>
                        </a:rPr>
                        <a:t>0.080</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c>
                  <a:txBody>
                    <a:bodyPr/>
                    <a:lstStyle/>
                    <a:p>
                      <a:pPr algn="ctr" indent="0" marL="0">
                        <a:buNone/>
                      </a:pPr>
                      <a:r>
                        <a:rPr lang="en-US" sz="1400" dirty="0">
                          <a:solidFill>
                            <a:srgbClr val="1F1A33"/>
                          </a:solidFill>
                          <a:latin typeface="Calibri" pitchFamily="34" charset="0"/>
                          <a:ea typeface="Calibri" pitchFamily="34" charset="-122"/>
                          <a:cs typeface="Calibri" pitchFamily="34" charset="-120"/>
                        </a:rPr>
                        <a:t>48.9</a:t>
                      </a:r>
                      <a:endParaRPr lang="en-US" sz="1400" dirty="0">
                        <a:latin typeface="Calibri" charset="0"/>
                        <a:ea typeface="Calibri" charset="0"/>
                        <a:cs typeface="Calibri" charset="0"/>
                      </a:endParaRPr>
                    </a:p>
                  </a:txBody>
                  <a:tcPr marL="91440" marR="91440" marT="45720" marB="45720" anchor="ctr">
                    <a:lnL w="19050" cap="flat" cmpd="sng" algn="ctr">
                      <a:solidFill>
                        <a:srgbClr val="FFFFFF"/>
                      </a:solidFill>
                      <a:prstDash val="solid"/>
                      <a:round/>
                      <a:headEnd type="none" w="med" len="med"/>
                      <a:tailEnd type="none" w="med" len="med"/>
                    </a:lnL>
                    <a:lnR w="19050" cap="flat" cmpd="sng" algn="ctr">
                      <a:solidFill>
                        <a:srgbClr val="FFFFFF"/>
                      </a:solidFill>
                      <a:prstDash val="solid"/>
                      <a:round/>
                      <a:headEnd type="none" w="med" len="med"/>
                      <a:tailEnd type="none" w="med" len="med"/>
                    </a:lnR>
                    <a:lnT w="19050" cap="flat" cmpd="sng" algn="ctr">
                      <a:solidFill>
                        <a:srgbClr val="FFFFFF"/>
                      </a:solidFill>
                      <a:prstDash val="solid"/>
                      <a:round/>
                      <a:headEnd type="none" w="med" len="med"/>
                      <a:tailEnd type="none" w="med" len="med"/>
                    </a:lnT>
                    <a:lnB w="19050" cap="flat" cmpd="sng" algn="ctr">
                      <a:solidFill>
                        <a:srgbClr val="FFFFFF"/>
                      </a:solidFill>
                      <a:prstDash val="solid"/>
                      <a:round/>
                      <a:headEnd type="none" w="med" len="med"/>
                      <a:tailEnd type="none" w="med" len="med"/>
                    </a:lnB>
                    <a:solidFill>
                      <a:srgbClr val="EAF6F4"/>
                    </a:solidFill>
                  </a:tcPr>
                </a:tc>
              </a:tr>
            </a:tbl>
          </a:graphicData>
        </a:graphic>
      </p:graphicFrame>
      <p:sp>
        <p:nvSpPr>
          <p:cNvPr id="9" name="Text 6"/>
          <p:cNvSpPr/>
          <p:nvPr/>
        </p:nvSpPr>
        <p:spPr>
          <a:xfrm>
            <a:off x="457200" y="5852160"/>
            <a:ext cx="7772400" cy="548640"/>
          </a:xfrm>
          <a:prstGeom prst="rect">
            <a:avLst/>
          </a:prstGeom>
          <a:noFill/>
          <a:ln/>
        </p:spPr>
        <p:txBody>
          <a:bodyPr wrap="square" lIns="0" tIns="0" rIns="0" bIns="0" rtlCol="0" anchor="ctr"/>
          <a:lstStyle/>
          <a:p>
            <a:pPr indent="0" marL="0">
              <a:buNone/>
            </a:pPr>
            <a:r>
              <a:rPr lang="en-US" sz="1200" i="1" dirty="0">
                <a:solidFill>
                  <a:srgbClr val="6B4FA3"/>
                </a:solidFill>
                <a:latin typeface="Calibri" pitchFamily="34" charset="0"/>
                <a:ea typeface="Calibri" pitchFamily="34" charset="-122"/>
                <a:cs typeface="Calibri" pitchFamily="34" charset="-120"/>
              </a:rPr>
              <a:t>LBG: mean of the 8 images. Total: mean of the 4 grayscale and of the 4 color images, separately. KF = Karp–Flatt, Eff. = efficiency.</a:t>
            </a:r>
            <a:endParaRPr lang="en-US" sz="1200" dirty="0"/>
          </a:p>
        </p:txBody>
      </p:sp>
      <p:sp>
        <p:nvSpPr>
          <p:cNvPr id="10" name="Shape 7"/>
          <p:cNvSpPr/>
          <p:nvPr/>
        </p:nvSpPr>
        <p:spPr>
          <a:xfrm>
            <a:off x="8458200" y="1280160"/>
            <a:ext cx="3291840" cy="4846320"/>
          </a:xfrm>
          <a:prstGeom prst="roundRect">
            <a:avLst>
              <a:gd name="adj" fmla="val 2222"/>
            </a:avLst>
          </a:prstGeom>
          <a:solidFill>
            <a:srgbClr val="F5F1FB"/>
          </a:solidFill>
          <a:ln w="12700">
            <a:solidFill>
              <a:srgbClr val="F5F1FB"/>
            </a:solidFill>
            <a:prstDash val="solid"/>
          </a:ln>
        </p:spPr>
      </p:sp>
      <p:sp>
        <p:nvSpPr>
          <p:cNvPr id="11" name="Text 8"/>
          <p:cNvSpPr/>
          <p:nvPr/>
        </p:nvSpPr>
        <p:spPr>
          <a:xfrm>
            <a:off x="8549640" y="1371600"/>
            <a:ext cx="3108960" cy="4663440"/>
          </a:xfrm>
          <a:prstGeom prst="rect">
            <a:avLst/>
          </a:prstGeom>
          <a:noFill/>
          <a:ln/>
        </p:spPr>
        <p:txBody>
          <a:bodyPr wrap="square" lIns="1016" tIns="1016" rIns="1016" bIns="1016" rtlCol="0" anchor="t"/>
          <a:lstStyle/>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Karp–Flatt estimates the serial fraction of the program from the measured speedup.</a:t>
            </a:r>
            <a:endParaRPr lang="en-US" sz="1400" dirty="0"/>
          </a:p>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LBG: about 0.04 for P ≥ 8; the serial fraction stays small and does not grow with P.</a:t>
            </a:r>
            <a:endParaRPr lang="en-US" sz="1400" dirty="0"/>
          </a:p>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Total: about 0.14 (gray) and 0.08 (color); the sequential coding and reconstruction stages dominate.</a:t>
            </a:r>
            <a:endParaRPr lang="en-US" sz="1400" dirty="0"/>
          </a:p>
          <a:p>
            <a:pPr marL="342900" indent="-342900">
              <a:spcAft>
                <a:spcPts val="900"/>
              </a:spcAft>
              <a:buSzPct val="100000"/>
              <a:buChar char="■"/>
            </a:pPr>
            <a:r>
              <a:rPr lang="en-US" sz="1400" dirty="0">
                <a:solidFill>
                  <a:srgbClr val="1F1A33"/>
                </a:solidFill>
                <a:latin typeface="Calibri" pitchFamily="34" charset="0"/>
                <a:ea typeface="Calibri" pitchFamily="34" charset="-122"/>
                <a:cs typeface="Calibri" pitchFamily="34" charset="-120"/>
              </a:rPr>
              <a:t>Color is lower because LBG is a larger share of its time (81% against 77%).</a:t>
            </a:r>
            <a:endParaRPr lang="en-US" sz="14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103120" cy="502920"/>
          </a:xfrm>
          <a:prstGeom prst="roundRect">
            <a:avLst>
              <a:gd name="adj" fmla="val 18182"/>
            </a:avLst>
          </a:prstGeom>
          <a:solidFill>
            <a:srgbClr val="2E2055"/>
          </a:solidFill>
          <a:ln w="12700">
            <a:solidFill>
              <a:srgbClr val="2E2055"/>
            </a:solidFill>
            <a:prstDash val="solid"/>
          </a:ln>
        </p:spPr>
      </p:sp>
      <p:sp>
        <p:nvSpPr>
          <p:cNvPr id="3" name="Text 1"/>
          <p:cNvSpPr/>
          <p:nvPr/>
        </p:nvSpPr>
        <p:spPr>
          <a:xfrm>
            <a:off x="457200" y="320040"/>
            <a:ext cx="21031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Conclusion</a:t>
            </a:r>
            <a:endParaRPr lang="en-US" sz="1600" dirty="0"/>
          </a:p>
        </p:txBody>
      </p:sp>
      <p:sp>
        <p:nvSpPr>
          <p:cNvPr id="4" name="Text 2"/>
          <p:cNvSpPr/>
          <p:nvPr/>
        </p:nvSpPr>
        <p:spPr>
          <a:xfrm>
            <a:off x="2743200" y="274320"/>
            <a:ext cx="94183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Conclusion</a:t>
            </a:r>
            <a:endParaRPr lang="en-US" sz="2800" dirty="0"/>
          </a:p>
        </p:txBody>
      </p:sp>
      <p:sp>
        <p:nvSpPr>
          <p:cNvPr id="5" name="Shape 3"/>
          <p:cNvSpPr/>
          <p:nvPr/>
        </p:nvSpPr>
        <p:spPr>
          <a:xfrm>
            <a:off x="457200" y="960120"/>
            <a:ext cx="11274552" cy="36576"/>
          </a:xfrm>
          <a:prstGeom prst="rect">
            <a:avLst/>
          </a:prstGeom>
          <a:solidFill>
            <a:srgbClr val="2E2055"/>
          </a:solidFill>
          <a:ln w="12700">
            <a:solidFill>
              <a:srgbClr val="2E2055"/>
            </a:solidFill>
            <a:prstDash val="solid"/>
          </a:ln>
        </p:spPr>
      </p:sp>
      <p:sp>
        <p:nvSpPr>
          <p:cNvPr id="6" name="Shape 4"/>
          <p:cNvSpPr/>
          <p:nvPr/>
        </p:nvSpPr>
        <p:spPr>
          <a:xfrm>
            <a:off x="640080" y="1280160"/>
            <a:ext cx="10927080" cy="5029200"/>
          </a:xfrm>
          <a:prstGeom prst="roundRect">
            <a:avLst>
              <a:gd name="adj" fmla="val 1455"/>
            </a:avLst>
          </a:prstGeom>
          <a:solidFill>
            <a:srgbClr val="F5F1FB"/>
          </a:solidFill>
          <a:ln w="12700">
            <a:solidFill>
              <a:srgbClr val="F5F1FB"/>
            </a:solidFill>
            <a:prstDash val="solid"/>
          </a:ln>
        </p:spPr>
      </p:sp>
      <p:sp>
        <p:nvSpPr>
          <p:cNvPr id="7" name="Text 5"/>
          <p:cNvSpPr/>
          <p:nvPr/>
        </p:nvSpPr>
        <p:spPr>
          <a:xfrm>
            <a:off x="777240" y="1371600"/>
            <a:ext cx="1065276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A hybrid image compression framework was implemented: LBG vector quantization, delta coding and Huffman coding.</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LBG training was parallelized with MPI: 9.19× speedup on 14 processes (efficiency ≈ 66%); total speedup 5.00× (gray) and 6.84× (color).</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speed-aware (Adaptive) distribution reduced LBG time by 17.2–28.3% compared with Equal distribution (P = 8 to 14).</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parallel results were identical to the sequential ones: same reconstructed images and quality metrics.</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Quality: mean PSNR 29.49 dB and SSIM 0.8266 (gray); 28.80 dB and 0.7654 (color), at a compression ratio of ___ (gray) and ___ (color).</a:t>
            </a:r>
            <a:endParaRPr lang="en-US" sz="1900" dirty="0"/>
          </a:p>
          <a:p>
            <a:pPr marL="342900" indent="-342900">
              <a:spcAft>
                <a:spcPts val="1000"/>
              </a:spcAft>
              <a:buSzPct val="100000"/>
              <a:buChar char="■"/>
            </a:pPr>
            <a:r>
              <a:rPr lang="en-US" sz="1900" dirty="0">
                <a:solidFill>
                  <a:srgbClr val="1F1A33"/>
                </a:solidFill>
                <a:latin typeface="Calibri" pitchFamily="34" charset="0"/>
                <a:ea typeface="Calibri" pitchFamily="34" charset="-122"/>
                <a:cs typeface="Calibri" pitchFamily="34" charset="-120"/>
              </a:rPr>
              <a:t>The total speedup is limited by the sequential coding and reconstruction stages.</a:t>
            </a:r>
            <a:endParaRPr lang="en-US" sz="19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103120" cy="502920"/>
          </a:xfrm>
          <a:prstGeom prst="roundRect">
            <a:avLst>
              <a:gd name="adj" fmla="val 18182"/>
            </a:avLst>
          </a:prstGeom>
          <a:solidFill>
            <a:srgbClr val="2E2055"/>
          </a:solidFill>
          <a:ln w="12700">
            <a:solidFill>
              <a:srgbClr val="2E2055"/>
            </a:solidFill>
            <a:prstDash val="solid"/>
          </a:ln>
        </p:spPr>
      </p:sp>
      <p:sp>
        <p:nvSpPr>
          <p:cNvPr id="3" name="Text 1"/>
          <p:cNvSpPr/>
          <p:nvPr/>
        </p:nvSpPr>
        <p:spPr>
          <a:xfrm>
            <a:off x="457200" y="320040"/>
            <a:ext cx="21031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Future Work</a:t>
            </a:r>
            <a:endParaRPr lang="en-US" sz="1600" dirty="0"/>
          </a:p>
        </p:txBody>
      </p:sp>
      <p:sp>
        <p:nvSpPr>
          <p:cNvPr id="4" name="Text 2"/>
          <p:cNvSpPr/>
          <p:nvPr/>
        </p:nvSpPr>
        <p:spPr>
          <a:xfrm>
            <a:off x="2743200" y="274320"/>
            <a:ext cx="94183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Future Work</a:t>
            </a:r>
            <a:endParaRPr lang="en-US" sz="2800" dirty="0"/>
          </a:p>
        </p:txBody>
      </p:sp>
      <p:sp>
        <p:nvSpPr>
          <p:cNvPr id="5" name="Shape 3"/>
          <p:cNvSpPr/>
          <p:nvPr/>
        </p:nvSpPr>
        <p:spPr>
          <a:xfrm>
            <a:off x="457200" y="960120"/>
            <a:ext cx="11274552" cy="36576"/>
          </a:xfrm>
          <a:prstGeom prst="rect">
            <a:avLst/>
          </a:prstGeom>
          <a:solidFill>
            <a:srgbClr val="2E2055"/>
          </a:solidFill>
          <a:ln w="12700">
            <a:solidFill>
              <a:srgbClr val="2E2055"/>
            </a:solidFill>
            <a:prstDash val="solid"/>
          </a:ln>
        </p:spPr>
      </p:sp>
      <p:sp>
        <p:nvSpPr>
          <p:cNvPr id="6" name="Shape 4"/>
          <p:cNvSpPr/>
          <p:nvPr/>
        </p:nvSpPr>
        <p:spPr>
          <a:xfrm>
            <a:off x="640080" y="1280160"/>
            <a:ext cx="10927080" cy="5029200"/>
          </a:xfrm>
          <a:prstGeom prst="roundRect">
            <a:avLst>
              <a:gd name="adj" fmla="val 1455"/>
            </a:avLst>
          </a:prstGeom>
          <a:solidFill>
            <a:srgbClr val="F5F1FB"/>
          </a:solidFill>
          <a:ln w="12700">
            <a:solidFill>
              <a:srgbClr val="F5F1FB"/>
            </a:solidFill>
            <a:prstDash val="solid"/>
          </a:ln>
        </p:spPr>
      </p:sp>
      <p:sp>
        <p:nvSpPr>
          <p:cNvPr id="7" name="Text 5"/>
          <p:cNvSpPr/>
          <p:nvPr/>
        </p:nvSpPr>
        <p:spPr>
          <a:xfrm>
            <a:off x="777240" y="1371600"/>
            <a:ext cx="1065276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Parallelize the delta coding, Huffman coding and reconstruction stages.</a:t>
            </a:r>
            <a:endParaRPr lang="en-US" sz="2100" dirty="0"/>
          </a:p>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Evaluate other block sizes, codebook sizes and larger images.</a:t>
            </a:r>
            <a:endParaRPr lang="en-US" sz="2100" dirty="0"/>
          </a:p>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Define an efficiency measure that accounts for the different speeds of P-cores and E-cores.</a:t>
            </a:r>
            <a:endParaRPr lang="en-US" sz="2100" dirty="0"/>
          </a:p>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Implement a complete container file format (stored Huffman table and header) with a stand-alone decoder; the current program only accounts the compressed size.</a:t>
            </a:r>
            <a:endParaRPr lang="en-US" sz="2100" dirty="0"/>
          </a:p>
          <a:p>
            <a:pPr marL="342900" indent="-342900">
              <a:spcAft>
                <a:spcPts val="1000"/>
              </a:spcAft>
              <a:buSzPct val="100000"/>
              <a:buChar char="■"/>
            </a:pPr>
            <a:r>
              <a:rPr lang="en-US" sz="2100" dirty="0">
                <a:solidFill>
                  <a:srgbClr val="1F1A33"/>
                </a:solidFill>
                <a:latin typeface="Calibri" pitchFamily="34" charset="0"/>
                <a:ea typeface="Calibri" pitchFamily="34" charset="-122"/>
                <a:cs typeface="Calibri" pitchFamily="34" charset="-120"/>
              </a:rPr>
              <a:t>Extend the study to other hybrid CPUs and to hybrid MPI + OpenMP implementations.</a:t>
            </a:r>
            <a:endParaRPr lang="en-US" sz="21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457200" y="320040"/>
            <a:ext cx="2103120" cy="502920"/>
          </a:xfrm>
          <a:prstGeom prst="roundRect">
            <a:avLst>
              <a:gd name="adj" fmla="val 18182"/>
            </a:avLst>
          </a:prstGeom>
          <a:solidFill>
            <a:srgbClr val="2E2055"/>
          </a:solidFill>
          <a:ln w="12700">
            <a:solidFill>
              <a:srgbClr val="2E2055"/>
            </a:solidFill>
            <a:prstDash val="solid"/>
          </a:ln>
        </p:spPr>
      </p:sp>
      <p:sp>
        <p:nvSpPr>
          <p:cNvPr id="3" name="Text 1"/>
          <p:cNvSpPr/>
          <p:nvPr/>
        </p:nvSpPr>
        <p:spPr>
          <a:xfrm>
            <a:off x="457200" y="320040"/>
            <a:ext cx="21031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References</a:t>
            </a:r>
            <a:endParaRPr lang="en-US" sz="1600" dirty="0"/>
          </a:p>
        </p:txBody>
      </p:sp>
      <p:sp>
        <p:nvSpPr>
          <p:cNvPr id="4" name="Text 2"/>
          <p:cNvSpPr/>
          <p:nvPr/>
        </p:nvSpPr>
        <p:spPr>
          <a:xfrm>
            <a:off x="2743200" y="274320"/>
            <a:ext cx="9418320" cy="594360"/>
          </a:xfrm>
          <a:prstGeom prst="rect">
            <a:avLst/>
          </a:prstGeom>
          <a:noFill/>
          <a:ln/>
        </p:spPr>
        <p:txBody>
          <a:bodyPr wrap="square" lIns="0" tIns="0" rIns="0" bIns="0" rtlCol="0" anchor="ctr"/>
          <a:lstStyle/>
          <a:p>
            <a:pPr indent="0" marL="0">
              <a:buNone/>
            </a:pPr>
            <a:r>
              <a:rPr lang="en-US" sz="2800" b="1" dirty="0">
                <a:solidFill>
                  <a:srgbClr val="2E2055"/>
                </a:solidFill>
                <a:latin typeface="Cambria" pitchFamily="34" charset="0"/>
                <a:ea typeface="Cambria" pitchFamily="34" charset="-122"/>
                <a:cs typeface="Cambria" pitchFamily="34" charset="-120"/>
              </a:rPr>
              <a:t>References</a:t>
            </a:r>
            <a:endParaRPr lang="en-US" sz="2800" dirty="0"/>
          </a:p>
        </p:txBody>
      </p:sp>
      <p:sp>
        <p:nvSpPr>
          <p:cNvPr id="5" name="Shape 3"/>
          <p:cNvSpPr/>
          <p:nvPr/>
        </p:nvSpPr>
        <p:spPr>
          <a:xfrm>
            <a:off x="457200" y="960120"/>
            <a:ext cx="11274552" cy="36576"/>
          </a:xfrm>
          <a:prstGeom prst="rect">
            <a:avLst/>
          </a:prstGeom>
          <a:solidFill>
            <a:srgbClr val="2E2055"/>
          </a:solidFill>
          <a:ln w="12700">
            <a:solidFill>
              <a:srgbClr val="2E2055"/>
            </a:solidFill>
            <a:prstDash val="solid"/>
          </a:ln>
        </p:spPr>
      </p:sp>
      <p:sp>
        <p:nvSpPr>
          <p:cNvPr id="6" name="Shape 4"/>
          <p:cNvSpPr/>
          <p:nvPr/>
        </p:nvSpPr>
        <p:spPr>
          <a:xfrm>
            <a:off x="640080" y="1280160"/>
            <a:ext cx="10927080" cy="5029200"/>
          </a:xfrm>
          <a:prstGeom prst="roundRect">
            <a:avLst>
              <a:gd name="adj" fmla="val 1455"/>
            </a:avLst>
          </a:prstGeom>
          <a:solidFill>
            <a:srgbClr val="F5F1FB"/>
          </a:solidFill>
          <a:ln w="12700">
            <a:solidFill>
              <a:srgbClr val="F5F1FB"/>
            </a:solidFill>
            <a:prstDash val="solid"/>
          </a:ln>
        </p:spPr>
      </p:sp>
      <p:sp>
        <p:nvSpPr>
          <p:cNvPr id="7" name="Text 5"/>
          <p:cNvSpPr/>
          <p:nvPr/>
        </p:nvSpPr>
        <p:spPr>
          <a:xfrm>
            <a:off x="777240" y="1371600"/>
            <a:ext cx="10652760" cy="4846320"/>
          </a:xfrm>
          <a:prstGeom prst="rect">
            <a:avLst/>
          </a:prstGeom>
          <a:noFill/>
          <a:ln/>
        </p:spPr>
        <p:txBody>
          <a:bodyPr wrap="square" lIns="1016" tIns="1016" rIns="1016" bIns="1016" rtlCol="0" anchor="t"/>
          <a:lstStyle/>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[6] Thomas, S., Krishna, A., Govind, S., Sahu, A.K. (2025). A novel image compression method using wavelet coefficients and Huffman coding. J. Eng. Res., 13(1): 361-370.</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[16] Ranjan, R., Kumar, P. (2023). An improved image compression algorithm using 2D DWT and PCA with canonical Huffman encoding. Entropy, 25(10): 1382.</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[17] Bilal, M., Ullah, Z., Mujahid, O., Fouzder, T. (2024). Fast Linde–Buzo–Gray (FLBG) algorithm for image compression through rescaling using bilinear interpolation. J. Imaging, 10(5): 124.</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Linde, Y., Buzo, A., Gray, R.M. (1980). An algorithm for vector quantizer design. IEEE Trans. Commun., 28(1): 84-95.</a:t>
            </a:r>
            <a:endParaRPr lang="en-US" sz="1600" dirty="0"/>
          </a:p>
          <a:p>
            <a:pPr marL="342900" indent="-342900">
              <a:spcAft>
                <a:spcPts val="1000"/>
              </a:spcAft>
              <a:buSzPct val="100000"/>
              <a:buChar char="■"/>
            </a:pPr>
            <a:r>
              <a:rPr lang="en-US" sz="1600" dirty="0">
                <a:solidFill>
                  <a:srgbClr val="1F1A33"/>
                </a:solidFill>
                <a:latin typeface="Calibri" pitchFamily="34" charset="0"/>
                <a:ea typeface="Calibri" pitchFamily="34" charset="-122"/>
                <a:cs typeface="Calibri" pitchFamily="34" charset="-120"/>
              </a:rPr>
              <a:t>Tanović, A. et al. (2024). ZINC 2024.  Papakyriakou, D. et al. (2025). Int. J. Comput. Appl.  Bystrov, O. et al. (2023). Proc. 7th Int. Conf. on Parallel, Distributed, GPU and Cloud Computing for Engineering.  Paul, R.K. et al. (2024).  Zangana, H.M. (2025).</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32</Slides>
  <Notes>32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32</vt:i4>
      </vt:variant>
    </vt:vector>
  </HeadingPairs>
  <TitlesOfParts>
    <vt:vector size="3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2026-10-17T10:28:08Z</dcterms:created>
  <dcterms:modified xsi:type="dcterms:W3CDTF">2026-10-17T10:28:08Z</dcterms:modified>
</cp:coreProperties>
</file>