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205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E2055"/>
          </a:solidFill>
          <a:ln w="12700">
            <a:solidFill>
              <a:srgbClr val="2E2055"/>
            </a:solidFill>
            <a:prstDash val="solid"/>
          </a:ln>
        </p:spPr>
      </p:sp>
      <p:sp>
        <p:nvSpPr>
          <p:cNvPr id="3" name="Shape 1"/>
          <p:cNvSpPr/>
          <p:nvPr/>
        </p:nvSpPr>
        <p:spPr>
          <a:xfrm>
            <a:off x="0" y="0"/>
            <a:ext cx="320040" cy="6858000"/>
          </a:xfrm>
          <a:prstGeom prst="rect">
            <a:avLst/>
          </a:prstGeom>
          <a:solidFill>
            <a:srgbClr val="E0457B"/>
          </a:solidFill>
          <a:ln w="12700">
            <a:solidFill>
              <a:srgbClr val="E0457B"/>
            </a:solidFill>
            <a:prstDash val="solid"/>
          </a:ln>
        </p:spPr>
      </p:sp>
      <p:sp>
        <p:nvSpPr>
          <p:cNvPr id="4" name="Text 2"/>
          <p:cNvSpPr/>
          <p:nvPr/>
        </p:nvSpPr>
        <p:spPr>
          <a:xfrm>
            <a:off x="822960" y="640080"/>
            <a:ext cx="10515600" cy="457200"/>
          </a:xfrm>
          <a:prstGeom prst="rect">
            <a:avLst/>
          </a:prstGeom>
          <a:noFill/>
          <a:ln/>
        </p:spPr>
        <p:txBody>
          <a:bodyPr wrap="square" lIns="0" tIns="0" rIns="0" bIns="0" rtlCol="0" anchor="ctr"/>
          <a:lstStyle/>
          <a:p>
            <a:pPr indent="0" marL="0">
              <a:buNone/>
            </a:pPr>
            <a:r>
              <a:rPr lang="en-US" sz="1800" b="1" dirty="0">
                <a:solidFill>
                  <a:srgbClr val="C9BDE8"/>
                </a:solidFill>
                <a:latin typeface="Calibri" pitchFamily="34" charset="0"/>
                <a:ea typeface="Calibri" pitchFamily="34" charset="-122"/>
                <a:cs typeface="Calibri" pitchFamily="34" charset="-120"/>
              </a:rPr>
              <a:t>MSc SEMINAR  |  University of Babylon</a:t>
            </a:r>
            <a:endParaRPr lang="en-US" sz="1800" dirty="0"/>
          </a:p>
        </p:txBody>
      </p:sp>
      <p:sp>
        <p:nvSpPr>
          <p:cNvPr id="5" name="Text 3"/>
          <p:cNvSpPr/>
          <p:nvPr/>
        </p:nvSpPr>
        <p:spPr>
          <a:xfrm>
            <a:off x="822960" y="1463040"/>
            <a:ext cx="10515600" cy="17373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Parallel Image Compression Using High-Performance Computing Strategies</a:t>
            </a:r>
            <a:endParaRPr lang="en-US" sz="4000" dirty="0"/>
          </a:p>
        </p:txBody>
      </p:sp>
      <p:sp>
        <p:nvSpPr>
          <p:cNvPr id="6" name="Text 4"/>
          <p:cNvSpPr/>
          <p:nvPr/>
        </p:nvSpPr>
        <p:spPr>
          <a:xfrm>
            <a:off x="822960" y="3383280"/>
            <a:ext cx="10515600" cy="822960"/>
          </a:xfrm>
          <a:prstGeom prst="rect">
            <a:avLst/>
          </a:prstGeom>
          <a:noFill/>
          <a:ln/>
        </p:spPr>
        <p:txBody>
          <a:bodyPr wrap="square" lIns="0" tIns="0" rIns="0" bIns="0" rtlCol="0" anchor="ctr"/>
          <a:lstStyle/>
          <a:p>
            <a:pPr indent="0" marL="0">
              <a:buNone/>
            </a:pPr>
            <a:r>
              <a:rPr lang="en-US" sz="2000" dirty="0">
                <a:solidFill>
                  <a:srgbClr val="E8DFF7"/>
                </a:solidFill>
                <a:latin typeface="Calibri" pitchFamily="34" charset="0"/>
                <a:ea typeface="Calibri" pitchFamily="34" charset="-122"/>
                <a:cs typeface="Calibri" pitchFamily="34" charset="-120"/>
              </a:rPr>
              <a:t>LBG vector quantization, delta coding and Huffman coding with speed-aware MPI on a hybrid P/E-core CPU</a:t>
            </a:r>
            <a:endParaRPr lang="en-US" sz="2000" dirty="0"/>
          </a:p>
        </p:txBody>
      </p:sp>
      <p:sp>
        <p:nvSpPr>
          <p:cNvPr id="7" name="Text 5"/>
          <p:cNvSpPr/>
          <p:nvPr/>
        </p:nvSpPr>
        <p:spPr>
          <a:xfrm>
            <a:off x="822960" y="4846320"/>
            <a:ext cx="10515600" cy="1097280"/>
          </a:xfrm>
          <a:prstGeom prst="rect">
            <a:avLst/>
          </a:prstGeom>
          <a:noFill/>
          <a:ln/>
        </p:spPr>
        <p:txBody>
          <a:bodyPr wrap="square" lIns="0" tIns="0" rIns="0" bIns="0" rtlCol="0" anchor="ctr"/>
          <a:lstStyle/>
          <a:p>
            <a:pPr indent="0" marL="0">
              <a:spcAft>
                <a:spcPts val="800"/>
              </a:spcAft>
              <a:buNone/>
            </a:pPr>
            <a:r>
              <a:rPr lang="en-US" sz="2000" dirty="0">
                <a:solidFill>
                  <a:srgbClr val="C9BDE8"/>
                </a:solidFill>
                <a:latin typeface="Calibri" pitchFamily="34" charset="0"/>
                <a:ea typeface="Calibri" pitchFamily="34" charset="-122"/>
                <a:cs typeface="Calibri" pitchFamily="34" charset="-120"/>
              </a:rPr>
              <a:t>Presented by  </a:t>
            </a:r>
            <a:pPr indent="0" marL="0">
              <a:spcAft>
                <a:spcPts val="800"/>
              </a:spcAft>
              <a:buNone/>
            </a:pPr>
            <a:r>
              <a:rPr lang="en-US" sz="2000" b="1" dirty="0">
                <a:solidFill>
                  <a:srgbClr val="FFFFFF"/>
                </a:solidFill>
                <a:latin typeface="Calibri" pitchFamily="34" charset="0"/>
                <a:ea typeface="Calibri" pitchFamily="34" charset="-122"/>
                <a:cs typeface="Calibri" pitchFamily="34" charset="-120"/>
              </a:rPr>
              <a:t>MSc. Student Ibtihal Hussien</a:t>
            </a:r>
            <a:endParaRPr lang="en-US" sz="2000" dirty="0"/>
          </a:p>
          <a:p>
            <a:pPr indent="0" marL="0">
              <a:spcAft>
                <a:spcPts val="800"/>
              </a:spcAft>
              <a:buNone/>
            </a:pPr>
            <a:r>
              <a:rPr lang="en-US" sz="2000" dirty="0">
                <a:solidFill>
                  <a:srgbClr val="C9BDE8"/>
                </a:solidFill>
                <a:latin typeface="Calibri" pitchFamily="34" charset="0"/>
                <a:ea typeface="Calibri" pitchFamily="34" charset="-122"/>
                <a:cs typeface="Calibri" pitchFamily="34" charset="-120"/>
              </a:rPr>
              <a:t>Supervised by  </a:t>
            </a:r>
            <a:pPr indent="0" marL="0">
              <a:spcAft>
                <a:spcPts val="800"/>
              </a:spcAft>
              <a:buNone/>
            </a:pPr>
            <a:r>
              <a:rPr lang="en-US" sz="2000" b="1" dirty="0">
                <a:solidFill>
                  <a:srgbClr val="FFFFFF"/>
                </a:solidFill>
                <a:latin typeface="Calibri" pitchFamily="34" charset="0"/>
                <a:ea typeface="Calibri" pitchFamily="34" charset="-122"/>
                <a:cs typeface="Calibri" pitchFamily="34" charset="-120"/>
              </a:rPr>
              <a:t>Dr. Ahmed Badri  ·  Dr. Esraa Hadi</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920240" cy="502920"/>
          </a:xfrm>
          <a:prstGeom prst="roundRect">
            <a:avLst>
              <a:gd name="adj" fmla="val 18182"/>
            </a:avLst>
          </a:prstGeom>
          <a:solidFill>
            <a:srgbClr val="6B4FA3"/>
          </a:solidFill>
          <a:ln w="12700">
            <a:solidFill>
              <a:srgbClr val="6B4FA3"/>
            </a:solidFill>
            <a:prstDash val="solid"/>
          </a:ln>
        </p:spPr>
      </p:sp>
      <p:sp>
        <p:nvSpPr>
          <p:cNvPr id="3" name="Text 1"/>
          <p:cNvSpPr/>
          <p:nvPr/>
        </p:nvSpPr>
        <p:spPr>
          <a:xfrm>
            <a:off x="457200" y="320040"/>
            <a:ext cx="192024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Outline</a:t>
            </a:r>
            <a:endParaRPr lang="en-US" sz="1600" dirty="0"/>
          </a:p>
        </p:txBody>
      </p:sp>
      <p:sp>
        <p:nvSpPr>
          <p:cNvPr id="4" name="Text 2"/>
          <p:cNvSpPr/>
          <p:nvPr/>
        </p:nvSpPr>
        <p:spPr>
          <a:xfrm>
            <a:off x="2560320" y="274320"/>
            <a:ext cx="960120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Outline</a:t>
            </a:r>
            <a:endParaRPr lang="en-US" sz="2800" dirty="0"/>
          </a:p>
        </p:txBody>
      </p:sp>
      <p:sp>
        <p:nvSpPr>
          <p:cNvPr id="5" name="Shape 3"/>
          <p:cNvSpPr/>
          <p:nvPr/>
        </p:nvSpPr>
        <p:spPr>
          <a:xfrm>
            <a:off x="457200" y="960120"/>
            <a:ext cx="11274552" cy="36576"/>
          </a:xfrm>
          <a:prstGeom prst="rect">
            <a:avLst/>
          </a:prstGeom>
          <a:solidFill>
            <a:srgbClr val="6B4FA3"/>
          </a:solidFill>
          <a:ln w="12700">
            <a:solidFill>
              <a:srgbClr val="6B4FA3"/>
            </a:solidFill>
            <a:prstDash val="solid"/>
          </a:ln>
        </p:spPr>
      </p:sp>
      <p:sp>
        <p:nvSpPr>
          <p:cNvPr id="6" name="Shape 4"/>
          <p:cNvSpPr/>
          <p:nvPr/>
        </p:nvSpPr>
        <p:spPr>
          <a:xfrm>
            <a:off x="640080" y="1325880"/>
            <a:ext cx="5303520" cy="1005840"/>
          </a:xfrm>
          <a:prstGeom prst="roundRect">
            <a:avLst>
              <a:gd name="adj" fmla="val 9091"/>
            </a:avLst>
          </a:prstGeom>
          <a:solidFill>
            <a:srgbClr val="F5F1FB"/>
          </a:solidFill>
          <a:ln w="19050">
            <a:solidFill>
              <a:srgbClr val="6B4FA3"/>
            </a:solidFill>
            <a:prstDash val="solid"/>
          </a:ln>
        </p:spPr>
      </p:sp>
      <p:sp>
        <p:nvSpPr>
          <p:cNvPr id="7" name="Shape 5"/>
          <p:cNvSpPr/>
          <p:nvPr/>
        </p:nvSpPr>
        <p:spPr>
          <a:xfrm>
            <a:off x="822960" y="1508760"/>
            <a:ext cx="640080" cy="640080"/>
          </a:xfrm>
          <a:prstGeom prst="ellipse">
            <a:avLst/>
          </a:prstGeom>
          <a:solidFill>
            <a:srgbClr val="6B4FA3"/>
          </a:solidFill>
          <a:ln w="12700">
            <a:solidFill>
              <a:srgbClr val="6B4FA3"/>
            </a:solidFill>
            <a:prstDash val="solid"/>
          </a:ln>
        </p:spPr>
      </p:sp>
      <p:sp>
        <p:nvSpPr>
          <p:cNvPr id="8" name="Text 6"/>
          <p:cNvSpPr/>
          <p:nvPr/>
        </p:nvSpPr>
        <p:spPr>
          <a:xfrm>
            <a:off x="822960" y="15087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Text 7"/>
          <p:cNvSpPr/>
          <p:nvPr/>
        </p:nvSpPr>
        <p:spPr>
          <a:xfrm>
            <a:off x="1645920" y="1325880"/>
            <a:ext cx="4114800" cy="1005840"/>
          </a:xfrm>
          <a:prstGeom prst="rect">
            <a:avLst/>
          </a:prstGeom>
          <a:noFill/>
          <a:ln/>
        </p:spPr>
        <p:txBody>
          <a:bodyPr wrap="square" lIns="0" tIns="0" rIns="0" bIns="0" rtlCol="0" anchor="ctr"/>
          <a:lstStyle/>
          <a:p>
            <a:pPr indent="0" marL="0">
              <a:buNone/>
            </a:pPr>
            <a:r>
              <a:rPr lang="en-US" sz="2400" b="1" dirty="0">
                <a:solidFill>
                  <a:srgbClr val="2E2055"/>
                </a:solidFill>
                <a:latin typeface="Cambria" pitchFamily="34" charset="0"/>
                <a:ea typeface="Cambria" pitchFamily="34" charset="-122"/>
                <a:cs typeface="Cambria" pitchFamily="34" charset="-120"/>
              </a:rPr>
              <a:t>Introduction</a:t>
            </a:r>
            <a:endParaRPr lang="en-US" sz="2400" dirty="0"/>
          </a:p>
        </p:txBody>
      </p:sp>
      <p:sp>
        <p:nvSpPr>
          <p:cNvPr id="10" name="Shape 8"/>
          <p:cNvSpPr/>
          <p:nvPr/>
        </p:nvSpPr>
        <p:spPr>
          <a:xfrm>
            <a:off x="6309360" y="1325880"/>
            <a:ext cx="5303520" cy="1005840"/>
          </a:xfrm>
          <a:prstGeom prst="roundRect">
            <a:avLst>
              <a:gd name="adj" fmla="val 9091"/>
            </a:avLst>
          </a:prstGeom>
          <a:solidFill>
            <a:srgbClr val="F5F1FB"/>
          </a:solidFill>
          <a:ln w="19050">
            <a:solidFill>
              <a:srgbClr val="6B4FA3"/>
            </a:solidFill>
            <a:prstDash val="solid"/>
          </a:ln>
        </p:spPr>
      </p:sp>
      <p:sp>
        <p:nvSpPr>
          <p:cNvPr id="11" name="Shape 9"/>
          <p:cNvSpPr/>
          <p:nvPr/>
        </p:nvSpPr>
        <p:spPr>
          <a:xfrm>
            <a:off x="6492240" y="1508760"/>
            <a:ext cx="640080" cy="640080"/>
          </a:xfrm>
          <a:prstGeom prst="ellipse">
            <a:avLst/>
          </a:prstGeom>
          <a:solidFill>
            <a:srgbClr val="6B4FA3"/>
          </a:solidFill>
          <a:ln w="12700">
            <a:solidFill>
              <a:srgbClr val="6B4FA3"/>
            </a:solidFill>
            <a:prstDash val="solid"/>
          </a:ln>
        </p:spPr>
      </p:sp>
      <p:sp>
        <p:nvSpPr>
          <p:cNvPr id="12" name="Text 10"/>
          <p:cNvSpPr/>
          <p:nvPr/>
        </p:nvSpPr>
        <p:spPr>
          <a:xfrm>
            <a:off x="6492240" y="15087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7315200" y="1325880"/>
            <a:ext cx="4114800" cy="1005840"/>
          </a:xfrm>
          <a:prstGeom prst="rect">
            <a:avLst/>
          </a:prstGeom>
          <a:noFill/>
          <a:ln/>
        </p:spPr>
        <p:txBody>
          <a:bodyPr wrap="square" lIns="0" tIns="0" rIns="0" bIns="0" rtlCol="0" anchor="ctr"/>
          <a:lstStyle/>
          <a:p>
            <a:pPr indent="0" marL="0">
              <a:buNone/>
            </a:pPr>
            <a:r>
              <a:rPr lang="en-US" sz="2400" b="1" dirty="0">
                <a:solidFill>
                  <a:srgbClr val="2E2055"/>
                </a:solidFill>
                <a:latin typeface="Cambria" pitchFamily="34" charset="0"/>
                <a:ea typeface="Cambria" pitchFamily="34" charset="-122"/>
                <a:cs typeface="Cambria" pitchFamily="34" charset="-120"/>
              </a:rPr>
              <a:t>Literature Review</a:t>
            </a:r>
            <a:endParaRPr lang="en-US" sz="2400" dirty="0"/>
          </a:p>
        </p:txBody>
      </p:sp>
      <p:sp>
        <p:nvSpPr>
          <p:cNvPr id="14" name="Shape 12"/>
          <p:cNvSpPr/>
          <p:nvPr/>
        </p:nvSpPr>
        <p:spPr>
          <a:xfrm>
            <a:off x="640080" y="2606040"/>
            <a:ext cx="5303520" cy="1005840"/>
          </a:xfrm>
          <a:prstGeom prst="roundRect">
            <a:avLst>
              <a:gd name="adj" fmla="val 9091"/>
            </a:avLst>
          </a:prstGeom>
          <a:solidFill>
            <a:srgbClr val="F5F1FB"/>
          </a:solidFill>
          <a:ln w="19050">
            <a:solidFill>
              <a:srgbClr val="E0457B"/>
            </a:solidFill>
            <a:prstDash val="solid"/>
          </a:ln>
        </p:spPr>
      </p:sp>
      <p:sp>
        <p:nvSpPr>
          <p:cNvPr id="15" name="Shape 13"/>
          <p:cNvSpPr/>
          <p:nvPr/>
        </p:nvSpPr>
        <p:spPr>
          <a:xfrm>
            <a:off x="822960" y="2788920"/>
            <a:ext cx="640080" cy="640080"/>
          </a:xfrm>
          <a:prstGeom prst="ellipse">
            <a:avLst/>
          </a:prstGeom>
          <a:solidFill>
            <a:srgbClr val="E0457B"/>
          </a:solidFill>
          <a:ln w="12700">
            <a:solidFill>
              <a:srgbClr val="E0457B"/>
            </a:solidFill>
            <a:prstDash val="solid"/>
          </a:ln>
        </p:spPr>
      </p:sp>
      <p:sp>
        <p:nvSpPr>
          <p:cNvPr id="16" name="Text 14"/>
          <p:cNvSpPr/>
          <p:nvPr/>
        </p:nvSpPr>
        <p:spPr>
          <a:xfrm>
            <a:off x="822960" y="27889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p:nvPr/>
        </p:nvSpPr>
        <p:spPr>
          <a:xfrm>
            <a:off x="1645920" y="2606040"/>
            <a:ext cx="4114800" cy="1005840"/>
          </a:xfrm>
          <a:prstGeom prst="rect">
            <a:avLst/>
          </a:prstGeom>
          <a:noFill/>
          <a:ln/>
        </p:spPr>
        <p:txBody>
          <a:bodyPr wrap="square" lIns="0" tIns="0" rIns="0" bIns="0" rtlCol="0" anchor="ctr"/>
          <a:lstStyle/>
          <a:p>
            <a:pPr indent="0" marL="0">
              <a:buNone/>
            </a:pPr>
            <a:r>
              <a:rPr lang="en-US" sz="2400" b="1" dirty="0">
                <a:solidFill>
                  <a:srgbClr val="2E2055"/>
                </a:solidFill>
                <a:latin typeface="Cambria" pitchFamily="34" charset="0"/>
                <a:ea typeface="Cambria" pitchFamily="34" charset="-122"/>
                <a:cs typeface="Cambria" pitchFamily="34" charset="-120"/>
              </a:rPr>
              <a:t>Problem Statement</a:t>
            </a:r>
            <a:endParaRPr lang="en-US" sz="2400" dirty="0"/>
          </a:p>
        </p:txBody>
      </p:sp>
      <p:sp>
        <p:nvSpPr>
          <p:cNvPr id="18" name="Shape 16"/>
          <p:cNvSpPr/>
          <p:nvPr/>
        </p:nvSpPr>
        <p:spPr>
          <a:xfrm>
            <a:off x="6309360" y="2606040"/>
            <a:ext cx="5303520" cy="1005840"/>
          </a:xfrm>
          <a:prstGeom prst="roundRect">
            <a:avLst>
              <a:gd name="adj" fmla="val 9091"/>
            </a:avLst>
          </a:prstGeom>
          <a:solidFill>
            <a:srgbClr val="F5F1FB"/>
          </a:solidFill>
          <a:ln w="19050">
            <a:solidFill>
              <a:srgbClr val="E0457B"/>
            </a:solidFill>
            <a:prstDash val="solid"/>
          </a:ln>
        </p:spPr>
      </p:sp>
      <p:sp>
        <p:nvSpPr>
          <p:cNvPr id="19" name="Shape 17"/>
          <p:cNvSpPr/>
          <p:nvPr/>
        </p:nvSpPr>
        <p:spPr>
          <a:xfrm>
            <a:off x="6492240" y="2788920"/>
            <a:ext cx="640080" cy="640080"/>
          </a:xfrm>
          <a:prstGeom prst="ellipse">
            <a:avLst/>
          </a:prstGeom>
          <a:solidFill>
            <a:srgbClr val="E0457B"/>
          </a:solidFill>
          <a:ln w="12700">
            <a:solidFill>
              <a:srgbClr val="E0457B"/>
            </a:solidFill>
            <a:prstDash val="solid"/>
          </a:ln>
        </p:spPr>
      </p:sp>
      <p:sp>
        <p:nvSpPr>
          <p:cNvPr id="20" name="Text 18"/>
          <p:cNvSpPr/>
          <p:nvPr/>
        </p:nvSpPr>
        <p:spPr>
          <a:xfrm>
            <a:off x="6492240" y="27889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1" name="Text 19"/>
          <p:cNvSpPr/>
          <p:nvPr/>
        </p:nvSpPr>
        <p:spPr>
          <a:xfrm>
            <a:off x="7315200" y="2606040"/>
            <a:ext cx="4114800" cy="1005840"/>
          </a:xfrm>
          <a:prstGeom prst="rect">
            <a:avLst/>
          </a:prstGeom>
          <a:noFill/>
          <a:ln/>
        </p:spPr>
        <p:txBody>
          <a:bodyPr wrap="square" lIns="0" tIns="0" rIns="0" bIns="0" rtlCol="0" anchor="ctr"/>
          <a:lstStyle/>
          <a:p>
            <a:pPr indent="0" marL="0">
              <a:buNone/>
            </a:pPr>
            <a:r>
              <a:rPr lang="en-US" sz="2400" b="1" dirty="0">
                <a:solidFill>
                  <a:srgbClr val="2E2055"/>
                </a:solidFill>
                <a:latin typeface="Cambria" pitchFamily="34" charset="0"/>
                <a:ea typeface="Cambria" pitchFamily="34" charset="-122"/>
                <a:cs typeface="Cambria" pitchFamily="34" charset="-120"/>
              </a:rPr>
              <a:t>Thesis Objectives</a:t>
            </a:r>
            <a:endParaRPr lang="en-US" sz="2400" dirty="0"/>
          </a:p>
        </p:txBody>
      </p:sp>
      <p:sp>
        <p:nvSpPr>
          <p:cNvPr id="22" name="Shape 20"/>
          <p:cNvSpPr/>
          <p:nvPr/>
        </p:nvSpPr>
        <p:spPr>
          <a:xfrm>
            <a:off x="640080" y="3886200"/>
            <a:ext cx="5303520" cy="1005840"/>
          </a:xfrm>
          <a:prstGeom prst="roundRect">
            <a:avLst>
              <a:gd name="adj" fmla="val 9091"/>
            </a:avLst>
          </a:prstGeom>
          <a:solidFill>
            <a:srgbClr val="F5F1FB"/>
          </a:solidFill>
          <a:ln w="19050">
            <a:solidFill>
              <a:srgbClr val="E07B22"/>
            </a:solidFill>
            <a:prstDash val="solid"/>
          </a:ln>
        </p:spPr>
      </p:sp>
      <p:sp>
        <p:nvSpPr>
          <p:cNvPr id="23" name="Shape 21"/>
          <p:cNvSpPr/>
          <p:nvPr/>
        </p:nvSpPr>
        <p:spPr>
          <a:xfrm>
            <a:off x="822960" y="4069080"/>
            <a:ext cx="640080" cy="640080"/>
          </a:xfrm>
          <a:prstGeom prst="ellipse">
            <a:avLst/>
          </a:prstGeom>
          <a:solidFill>
            <a:srgbClr val="E07B22"/>
          </a:solidFill>
          <a:ln w="12700">
            <a:solidFill>
              <a:srgbClr val="E07B22"/>
            </a:solidFill>
            <a:prstDash val="solid"/>
          </a:ln>
        </p:spPr>
      </p:sp>
      <p:sp>
        <p:nvSpPr>
          <p:cNvPr id="24" name="Text 22"/>
          <p:cNvSpPr/>
          <p:nvPr/>
        </p:nvSpPr>
        <p:spPr>
          <a:xfrm>
            <a:off x="822960" y="40690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5" name="Text 23"/>
          <p:cNvSpPr/>
          <p:nvPr/>
        </p:nvSpPr>
        <p:spPr>
          <a:xfrm>
            <a:off x="1645920" y="3886200"/>
            <a:ext cx="4114800" cy="1005840"/>
          </a:xfrm>
          <a:prstGeom prst="rect">
            <a:avLst/>
          </a:prstGeom>
          <a:noFill/>
          <a:ln/>
        </p:spPr>
        <p:txBody>
          <a:bodyPr wrap="square" lIns="0" tIns="0" rIns="0" bIns="0" rtlCol="0" anchor="ctr"/>
          <a:lstStyle/>
          <a:p>
            <a:pPr indent="0" marL="0">
              <a:buNone/>
            </a:pPr>
            <a:r>
              <a:rPr lang="en-US" sz="2400" b="1" dirty="0">
                <a:solidFill>
                  <a:srgbClr val="2E2055"/>
                </a:solidFill>
                <a:latin typeface="Cambria" pitchFamily="34" charset="0"/>
                <a:ea typeface="Cambria" pitchFamily="34" charset="-122"/>
                <a:cs typeface="Cambria" pitchFamily="34" charset="-120"/>
              </a:rPr>
              <a:t>Proposed Work</a:t>
            </a:r>
            <a:endParaRPr lang="en-US" sz="2400" dirty="0"/>
          </a:p>
        </p:txBody>
      </p:sp>
      <p:sp>
        <p:nvSpPr>
          <p:cNvPr id="26" name="Shape 24"/>
          <p:cNvSpPr/>
          <p:nvPr/>
        </p:nvSpPr>
        <p:spPr>
          <a:xfrm>
            <a:off x="6309360" y="3886200"/>
            <a:ext cx="5303520" cy="1005840"/>
          </a:xfrm>
          <a:prstGeom prst="roundRect">
            <a:avLst>
              <a:gd name="adj" fmla="val 9091"/>
            </a:avLst>
          </a:prstGeom>
          <a:solidFill>
            <a:srgbClr val="F5F1FB"/>
          </a:solidFill>
          <a:ln w="19050">
            <a:solidFill>
              <a:srgbClr val="2A9D8F"/>
            </a:solidFill>
            <a:prstDash val="solid"/>
          </a:ln>
        </p:spPr>
      </p:sp>
      <p:sp>
        <p:nvSpPr>
          <p:cNvPr id="27" name="Shape 25"/>
          <p:cNvSpPr/>
          <p:nvPr/>
        </p:nvSpPr>
        <p:spPr>
          <a:xfrm>
            <a:off x="6492240" y="4069080"/>
            <a:ext cx="640080" cy="640080"/>
          </a:xfrm>
          <a:prstGeom prst="ellipse">
            <a:avLst/>
          </a:prstGeom>
          <a:solidFill>
            <a:srgbClr val="2A9D8F"/>
          </a:solidFill>
          <a:ln w="12700">
            <a:solidFill>
              <a:srgbClr val="2A9D8F"/>
            </a:solidFill>
            <a:prstDash val="solid"/>
          </a:ln>
        </p:spPr>
      </p:sp>
      <p:sp>
        <p:nvSpPr>
          <p:cNvPr id="28" name="Text 26"/>
          <p:cNvSpPr/>
          <p:nvPr/>
        </p:nvSpPr>
        <p:spPr>
          <a:xfrm>
            <a:off x="6492240" y="40690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29" name="Text 27"/>
          <p:cNvSpPr/>
          <p:nvPr/>
        </p:nvSpPr>
        <p:spPr>
          <a:xfrm>
            <a:off x="7315200" y="3886200"/>
            <a:ext cx="4114800" cy="1005840"/>
          </a:xfrm>
          <a:prstGeom prst="rect">
            <a:avLst/>
          </a:prstGeom>
          <a:noFill/>
          <a:ln/>
        </p:spPr>
        <p:txBody>
          <a:bodyPr wrap="square" lIns="0" tIns="0" rIns="0" bIns="0" rtlCol="0" anchor="ctr"/>
          <a:lstStyle/>
          <a:p>
            <a:pPr indent="0" marL="0">
              <a:buNone/>
            </a:pPr>
            <a:r>
              <a:rPr lang="en-US" sz="2400" b="1" dirty="0">
                <a:solidFill>
                  <a:srgbClr val="2E2055"/>
                </a:solidFill>
                <a:latin typeface="Cambria" pitchFamily="34" charset="0"/>
                <a:ea typeface="Cambria" pitchFamily="34" charset="-122"/>
                <a:cs typeface="Cambria" pitchFamily="34" charset="-120"/>
              </a:rPr>
              <a:t>Experimental Results</a:t>
            </a:r>
            <a:endParaRPr lang="en-US" sz="2400" dirty="0"/>
          </a:p>
        </p:txBody>
      </p:sp>
      <p:sp>
        <p:nvSpPr>
          <p:cNvPr id="30" name="Shape 28"/>
          <p:cNvSpPr/>
          <p:nvPr/>
        </p:nvSpPr>
        <p:spPr>
          <a:xfrm>
            <a:off x="640080" y="5166360"/>
            <a:ext cx="5303520" cy="1005840"/>
          </a:xfrm>
          <a:prstGeom prst="roundRect">
            <a:avLst>
              <a:gd name="adj" fmla="val 9091"/>
            </a:avLst>
          </a:prstGeom>
          <a:solidFill>
            <a:srgbClr val="F5F1FB"/>
          </a:solidFill>
          <a:ln w="19050">
            <a:solidFill>
              <a:srgbClr val="2E2055"/>
            </a:solidFill>
            <a:prstDash val="solid"/>
          </a:ln>
        </p:spPr>
      </p:sp>
      <p:sp>
        <p:nvSpPr>
          <p:cNvPr id="31" name="Shape 29"/>
          <p:cNvSpPr/>
          <p:nvPr/>
        </p:nvSpPr>
        <p:spPr>
          <a:xfrm>
            <a:off x="822960" y="5349240"/>
            <a:ext cx="640080" cy="640080"/>
          </a:xfrm>
          <a:prstGeom prst="ellipse">
            <a:avLst/>
          </a:prstGeom>
          <a:solidFill>
            <a:srgbClr val="2E2055"/>
          </a:solidFill>
          <a:ln w="12700">
            <a:solidFill>
              <a:srgbClr val="2E2055"/>
            </a:solidFill>
            <a:prstDash val="solid"/>
          </a:ln>
        </p:spPr>
      </p:sp>
      <p:sp>
        <p:nvSpPr>
          <p:cNvPr id="32" name="Text 30"/>
          <p:cNvSpPr/>
          <p:nvPr/>
        </p:nvSpPr>
        <p:spPr>
          <a:xfrm>
            <a:off x="822960" y="53492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7</a:t>
            </a:r>
            <a:endParaRPr lang="en-US" sz="2200" dirty="0"/>
          </a:p>
        </p:txBody>
      </p:sp>
      <p:sp>
        <p:nvSpPr>
          <p:cNvPr id="33" name="Text 31"/>
          <p:cNvSpPr/>
          <p:nvPr/>
        </p:nvSpPr>
        <p:spPr>
          <a:xfrm>
            <a:off x="1645920" y="5166360"/>
            <a:ext cx="4114800" cy="1005840"/>
          </a:xfrm>
          <a:prstGeom prst="rect">
            <a:avLst/>
          </a:prstGeom>
          <a:noFill/>
          <a:ln/>
        </p:spPr>
        <p:txBody>
          <a:bodyPr wrap="square" lIns="0" tIns="0" rIns="0" bIns="0" rtlCol="0" anchor="ctr"/>
          <a:lstStyle/>
          <a:p>
            <a:pPr indent="0" marL="0">
              <a:buNone/>
            </a:pPr>
            <a:r>
              <a:rPr lang="en-US" sz="2400" b="1" dirty="0">
                <a:solidFill>
                  <a:srgbClr val="2E2055"/>
                </a:solidFill>
                <a:latin typeface="Cambria" pitchFamily="34" charset="0"/>
                <a:ea typeface="Cambria" pitchFamily="34" charset="-122"/>
                <a:cs typeface="Cambria" pitchFamily="34" charset="-120"/>
              </a:rPr>
              <a:t>Conclusion</a:t>
            </a:r>
            <a:endParaRPr lang="en-US" sz="2400" dirty="0"/>
          </a:p>
        </p:txBody>
      </p:sp>
      <p:sp>
        <p:nvSpPr>
          <p:cNvPr id="34" name="Shape 32"/>
          <p:cNvSpPr/>
          <p:nvPr/>
        </p:nvSpPr>
        <p:spPr>
          <a:xfrm>
            <a:off x="6309360" y="5166360"/>
            <a:ext cx="5303520" cy="1005840"/>
          </a:xfrm>
          <a:prstGeom prst="roundRect">
            <a:avLst>
              <a:gd name="adj" fmla="val 9091"/>
            </a:avLst>
          </a:prstGeom>
          <a:solidFill>
            <a:srgbClr val="F5F1FB"/>
          </a:solidFill>
          <a:ln w="19050">
            <a:solidFill>
              <a:srgbClr val="2E2055"/>
            </a:solidFill>
            <a:prstDash val="solid"/>
          </a:ln>
        </p:spPr>
      </p:sp>
      <p:sp>
        <p:nvSpPr>
          <p:cNvPr id="35" name="Shape 33"/>
          <p:cNvSpPr/>
          <p:nvPr/>
        </p:nvSpPr>
        <p:spPr>
          <a:xfrm>
            <a:off x="6492240" y="5349240"/>
            <a:ext cx="640080" cy="640080"/>
          </a:xfrm>
          <a:prstGeom prst="ellipse">
            <a:avLst/>
          </a:prstGeom>
          <a:solidFill>
            <a:srgbClr val="2E2055"/>
          </a:solidFill>
          <a:ln w="12700">
            <a:solidFill>
              <a:srgbClr val="2E2055"/>
            </a:solidFill>
            <a:prstDash val="solid"/>
          </a:ln>
        </p:spPr>
      </p:sp>
      <p:sp>
        <p:nvSpPr>
          <p:cNvPr id="36" name="Text 34"/>
          <p:cNvSpPr/>
          <p:nvPr/>
        </p:nvSpPr>
        <p:spPr>
          <a:xfrm>
            <a:off x="6492240" y="53492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8</a:t>
            </a:r>
            <a:endParaRPr lang="en-US" sz="2200" dirty="0"/>
          </a:p>
        </p:txBody>
      </p:sp>
      <p:sp>
        <p:nvSpPr>
          <p:cNvPr id="37" name="Text 35"/>
          <p:cNvSpPr/>
          <p:nvPr/>
        </p:nvSpPr>
        <p:spPr>
          <a:xfrm>
            <a:off x="7315200" y="5166360"/>
            <a:ext cx="4114800" cy="1005840"/>
          </a:xfrm>
          <a:prstGeom prst="rect">
            <a:avLst/>
          </a:prstGeom>
          <a:noFill/>
          <a:ln/>
        </p:spPr>
        <p:txBody>
          <a:bodyPr wrap="square" lIns="0" tIns="0" rIns="0" bIns="0" rtlCol="0" anchor="ctr"/>
          <a:lstStyle/>
          <a:p>
            <a:pPr indent="0" marL="0">
              <a:buNone/>
            </a:pPr>
            <a:r>
              <a:rPr lang="en-US" sz="2400" b="1" dirty="0">
                <a:solidFill>
                  <a:srgbClr val="2E2055"/>
                </a:solidFill>
                <a:latin typeface="Cambria" pitchFamily="34" charset="0"/>
                <a:ea typeface="Cambria" pitchFamily="34" charset="-122"/>
                <a:cs typeface="Cambria" pitchFamily="34" charset="-120"/>
              </a:rPr>
              <a:t>Future Work</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920240" cy="502920"/>
          </a:xfrm>
          <a:prstGeom prst="roundRect">
            <a:avLst>
              <a:gd name="adj" fmla="val 18182"/>
            </a:avLst>
          </a:prstGeom>
          <a:solidFill>
            <a:srgbClr val="6B4FA3"/>
          </a:solidFill>
          <a:ln w="12700">
            <a:solidFill>
              <a:srgbClr val="6B4FA3"/>
            </a:solidFill>
            <a:prstDash val="solid"/>
          </a:ln>
        </p:spPr>
      </p:sp>
      <p:sp>
        <p:nvSpPr>
          <p:cNvPr id="3" name="Text 1"/>
          <p:cNvSpPr/>
          <p:nvPr/>
        </p:nvSpPr>
        <p:spPr>
          <a:xfrm>
            <a:off x="457200" y="320040"/>
            <a:ext cx="192024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Introduction</a:t>
            </a:r>
            <a:endParaRPr lang="en-US" sz="1600" dirty="0"/>
          </a:p>
        </p:txBody>
      </p:sp>
      <p:sp>
        <p:nvSpPr>
          <p:cNvPr id="4" name="Text 2"/>
          <p:cNvSpPr/>
          <p:nvPr/>
        </p:nvSpPr>
        <p:spPr>
          <a:xfrm>
            <a:off x="2560320" y="274320"/>
            <a:ext cx="960120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Why Image Compression?</a:t>
            </a:r>
            <a:endParaRPr lang="en-US" sz="2800" dirty="0"/>
          </a:p>
        </p:txBody>
      </p:sp>
      <p:sp>
        <p:nvSpPr>
          <p:cNvPr id="5" name="Shape 3"/>
          <p:cNvSpPr/>
          <p:nvPr/>
        </p:nvSpPr>
        <p:spPr>
          <a:xfrm>
            <a:off x="457200" y="960120"/>
            <a:ext cx="11274552" cy="36576"/>
          </a:xfrm>
          <a:prstGeom prst="rect">
            <a:avLst/>
          </a:prstGeom>
          <a:solidFill>
            <a:srgbClr val="6B4FA3"/>
          </a:solidFill>
          <a:ln w="12700">
            <a:solidFill>
              <a:srgbClr val="6B4FA3"/>
            </a:solidFill>
            <a:prstDash val="solid"/>
          </a:ln>
        </p:spPr>
      </p:sp>
      <p:sp>
        <p:nvSpPr>
          <p:cNvPr id="6" name="Shape 4"/>
          <p:cNvSpPr/>
          <p:nvPr/>
        </p:nvSpPr>
        <p:spPr>
          <a:xfrm>
            <a:off x="640080" y="1371600"/>
            <a:ext cx="3520440" cy="3291840"/>
          </a:xfrm>
          <a:prstGeom prst="roundRect">
            <a:avLst>
              <a:gd name="adj" fmla="val 2778"/>
            </a:avLst>
          </a:prstGeom>
          <a:solidFill>
            <a:srgbClr val="FFFFFF"/>
          </a:solidFill>
          <a:ln w="22225">
            <a:solidFill>
              <a:srgbClr val="6B4FA3"/>
            </a:solidFill>
            <a:prstDash val="solid"/>
          </a:ln>
        </p:spPr>
      </p:sp>
      <p:sp>
        <p:nvSpPr>
          <p:cNvPr id="7" name="Shape 5"/>
          <p:cNvSpPr/>
          <p:nvPr/>
        </p:nvSpPr>
        <p:spPr>
          <a:xfrm>
            <a:off x="658368" y="1389888"/>
            <a:ext cx="109728" cy="3255264"/>
          </a:xfrm>
          <a:prstGeom prst="rect">
            <a:avLst/>
          </a:prstGeom>
          <a:solidFill>
            <a:srgbClr val="6B4FA3"/>
          </a:solidFill>
          <a:ln w="12700">
            <a:solidFill>
              <a:srgbClr val="6B4FA3"/>
            </a:solidFill>
            <a:prstDash val="solid"/>
          </a:ln>
        </p:spPr>
      </p:sp>
      <p:sp>
        <p:nvSpPr>
          <p:cNvPr id="8" name="Text 6"/>
          <p:cNvSpPr/>
          <p:nvPr/>
        </p:nvSpPr>
        <p:spPr>
          <a:xfrm>
            <a:off x="914400" y="1417320"/>
            <a:ext cx="3108960" cy="3200400"/>
          </a:xfrm>
          <a:prstGeom prst="rect">
            <a:avLst/>
          </a:prstGeom>
          <a:noFill/>
          <a:ln/>
        </p:spPr>
        <p:txBody>
          <a:bodyPr wrap="square" lIns="635" tIns="635" rIns="635" bIns="635" rtlCol="0" anchor="ctr"/>
          <a:lstStyle/>
          <a:p>
            <a:pPr indent="0" marL="0">
              <a:spcAft>
                <a:spcPts val="600"/>
              </a:spcAft>
              <a:buNone/>
            </a:pPr>
            <a:r>
              <a:rPr lang="en-US" sz="2400" b="1" dirty="0">
                <a:solidFill>
                  <a:srgbClr val="6B4FA3"/>
                </a:solidFill>
                <a:latin typeface="Calibri" pitchFamily="34" charset="0"/>
                <a:ea typeface="Calibri" pitchFamily="34" charset="-122"/>
                <a:cs typeface="Calibri" pitchFamily="34" charset="-120"/>
              </a:rPr>
              <a:t>Storage</a:t>
            </a:r>
            <a:endParaRPr lang="en-US" sz="2400" dirty="0"/>
          </a:p>
          <a:p>
            <a:pPr indent="0" marL="0">
              <a:spcAft>
                <a:spcPts val="600"/>
              </a:spcAft>
              <a:buNone/>
            </a:pPr>
            <a:r>
              <a:rPr lang="en-US" sz="1800" dirty="0">
                <a:solidFill>
                  <a:srgbClr val="1F1A33"/>
                </a:solidFill>
                <a:latin typeface="Calibri" pitchFamily="34" charset="0"/>
                <a:ea typeface="Calibri" pitchFamily="34" charset="-122"/>
                <a:cs typeface="Calibri" pitchFamily="34" charset="-120"/>
              </a:rPr>
              <a:t>Large image collections require a large amount of storage space.</a:t>
            </a:r>
            <a:endParaRPr lang="en-US" sz="2400" dirty="0"/>
          </a:p>
        </p:txBody>
      </p:sp>
      <p:sp>
        <p:nvSpPr>
          <p:cNvPr id="9" name="Shape 7"/>
          <p:cNvSpPr/>
          <p:nvPr/>
        </p:nvSpPr>
        <p:spPr>
          <a:xfrm>
            <a:off x="4343400" y="1371600"/>
            <a:ext cx="3520440" cy="3291840"/>
          </a:xfrm>
          <a:prstGeom prst="roundRect">
            <a:avLst>
              <a:gd name="adj" fmla="val 2778"/>
            </a:avLst>
          </a:prstGeom>
          <a:solidFill>
            <a:srgbClr val="FFFFFF"/>
          </a:solidFill>
          <a:ln w="22225">
            <a:solidFill>
              <a:srgbClr val="E0457B"/>
            </a:solidFill>
            <a:prstDash val="solid"/>
          </a:ln>
        </p:spPr>
      </p:sp>
      <p:sp>
        <p:nvSpPr>
          <p:cNvPr id="10" name="Shape 8"/>
          <p:cNvSpPr/>
          <p:nvPr/>
        </p:nvSpPr>
        <p:spPr>
          <a:xfrm>
            <a:off x="4361688" y="1389888"/>
            <a:ext cx="109728" cy="3255264"/>
          </a:xfrm>
          <a:prstGeom prst="rect">
            <a:avLst/>
          </a:prstGeom>
          <a:solidFill>
            <a:srgbClr val="E0457B"/>
          </a:solidFill>
          <a:ln w="12700">
            <a:solidFill>
              <a:srgbClr val="E0457B"/>
            </a:solidFill>
            <a:prstDash val="solid"/>
          </a:ln>
        </p:spPr>
      </p:sp>
      <p:sp>
        <p:nvSpPr>
          <p:cNvPr id="11" name="Text 9"/>
          <p:cNvSpPr/>
          <p:nvPr/>
        </p:nvSpPr>
        <p:spPr>
          <a:xfrm>
            <a:off x="4617720" y="1417320"/>
            <a:ext cx="3108960" cy="3200400"/>
          </a:xfrm>
          <a:prstGeom prst="rect">
            <a:avLst/>
          </a:prstGeom>
          <a:noFill/>
          <a:ln/>
        </p:spPr>
        <p:txBody>
          <a:bodyPr wrap="square" lIns="635" tIns="635" rIns="635" bIns="635" rtlCol="0" anchor="ctr"/>
          <a:lstStyle/>
          <a:p>
            <a:pPr indent="0" marL="0">
              <a:spcAft>
                <a:spcPts val="600"/>
              </a:spcAft>
              <a:buNone/>
            </a:pPr>
            <a:r>
              <a:rPr lang="en-US" sz="2400" b="1" dirty="0">
                <a:solidFill>
                  <a:srgbClr val="E0457B"/>
                </a:solidFill>
                <a:latin typeface="Calibri" pitchFamily="34" charset="0"/>
                <a:ea typeface="Calibri" pitchFamily="34" charset="-122"/>
                <a:cs typeface="Calibri" pitchFamily="34" charset="-120"/>
              </a:rPr>
              <a:t>Transmission</a:t>
            </a:r>
            <a:endParaRPr lang="en-US" sz="2400" dirty="0"/>
          </a:p>
          <a:p>
            <a:pPr indent="0" marL="0">
              <a:spcAft>
                <a:spcPts val="600"/>
              </a:spcAft>
              <a:buNone/>
            </a:pPr>
            <a:r>
              <a:rPr lang="en-US" sz="1800" dirty="0">
                <a:solidFill>
                  <a:srgbClr val="1F1A33"/>
                </a:solidFill>
                <a:latin typeface="Calibri" pitchFamily="34" charset="0"/>
                <a:ea typeface="Calibri" pitchFamily="34" charset="-122"/>
                <a:cs typeface="Calibri" pitchFamily="34" charset="-120"/>
              </a:rPr>
              <a:t>Smaller images reach the receiver sooner and use less network bandwidth.</a:t>
            </a:r>
            <a:endParaRPr lang="en-US" sz="2400" dirty="0"/>
          </a:p>
        </p:txBody>
      </p:sp>
      <p:sp>
        <p:nvSpPr>
          <p:cNvPr id="12" name="Shape 10"/>
          <p:cNvSpPr/>
          <p:nvPr/>
        </p:nvSpPr>
        <p:spPr>
          <a:xfrm>
            <a:off x="8046720" y="1371600"/>
            <a:ext cx="3520440" cy="3291840"/>
          </a:xfrm>
          <a:prstGeom prst="roundRect">
            <a:avLst>
              <a:gd name="adj" fmla="val 2778"/>
            </a:avLst>
          </a:prstGeom>
          <a:solidFill>
            <a:srgbClr val="FFFFFF"/>
          </a:solidFill>
          <a:ln w="22225">
            <a:solidFill>
              <a:srgbClr val="2A9D8F"/>
            </a:solidFill>
            <a:prstDash val="solid"/>
          </a:ln>
        </p:spPr>
      </p:sp>
      <p:sp>
        <p:nvSpPr>
          <p:cNvPr id="13" name="Shape 11"/>
          <p:cNvSpPr/>
          <p:nvPr/>
        </p:nvSpPr>
        <p:spPr>
          <a:xfrm>
            <a:off x="8065008" y="1389888"/>
            <a:ext cx="109728" cy="3255264"/>
          </a:xfrm>
          <a:prstGeom prst="rect">
            <a:avLst/>
          </a:prstGeom>
          <a:solidFill>
            <a:srgbClr val="2A9D8F"/>
          </a:solidFill>
          <a:ln w="12700">
            <a:solidFill>
              <a:srgbClr val="2A9D8F"/>
            </a:solidFill>
            <a:prstDash val="solid"/>
          </a:ln>
        </p:spPr>
      </p:sp>
      <p:sp>
        <p:nvSpPr>
          <p:cNvPr id="14" name="Text 12"/>
          <p:cNvSpPr/>
          <p:nvPr/>
        </p:nvSpPr>
        <p:spPr>
          <a:xfrm>
            <a:off x="8321040" y="1417320"/>
            <a:ext cx="3108960" cy="3200400"/>
          </a:xfrm>
          <a:prstGeom prst="rect">
            <a:avLst/>
          </a:prstGeom>
          <a:noFill/>
          <a:ln/>
        </p:spPr>
        <p:txBody>
          <a:bodyPr wrap="square" lIns="635" tIns="635" rIns="635" bIns="635" rtlCol="0" anchor="ctr"/>
          <a:lstStyle/>
          <a:p>
            <a:pPr indent="0" marL="0">
              <a:spcAft>
                <a:spcPts val="600"/>
              </a:spcAft>
              <a:buNone/>
            </a:pPr>
            <a:r>
              <a:rPr lang="en-US" sz="2400" b="1" dirty="0">
                <a:solidFill>
                  <a:srgbClr val="2A9D8F"/>
                </a:solidFill>
                <a:latin typeface="Calibri" pitchFamily="34" charset="0"/>
                <a:ea typeface="Calibri" pitchFamily="34" charset="-122"/>
                <a:cs typeface="Calibri" pitchFamily="34" charset="-120"/>
              </a:rPr>
              <a:t>Computation</a:t>
            </a:r>
            <a:endParaRPr lang="en-US" sz="2400" dirty="0"/>
          </a:p>
          <a:p>
            <a:pPr indent="0" marL="0">
              <a:spcAft>
                <a:spcPts val="600"/>
              </a:spcAft>
              <a:buNone/>
            </a:pPr>
            <a:r>
              <a:rPr lang="en-US" sz="1800" dirty="0">
                <a:solidFill>
                  <a:srgbClr val="1F1A33"/>
                </a:solidFill>
                <a:latin typeface="Calibri" pitchFamily="34" charset="0"/>
                <a:ea typeface="Calibri" pitchFamily="34" charset="-122"/>
                <a:cs typeface="Calibri" pitchFamily="34" charset="-120"/>
              </a:rPr>
              <a:t>A good compression ratio needs complex methods, so the compression itself must stay fast.</a:t>
            </a:r>
            <a:endParaRPr lang="en-US" sz="2400" dirty="0"/>
          </a:p>
        </p:txBody>
      </p:sp>
      <p:sp>
        <p:nvSpPr>
          <p:cNvPr id="15" name="Text 13"/>
          <p:cNvSpPr/>
          <p:nvPr/>
        </p:nvSpPr>
        <p:spPr>
          <a:xfrm>
            <a:off x="640080" y="5074920"/>
            <a:ext cx="10881360" cy="640080"/>
          </a:xfrm>
          <a:prstGeom prst="rect">
            <a:avLst/>
          </a:prstGeom>
          <a:noFill/>
          <a:ln/>
        </p:spPr>
        <p:txBody>
          <a:bodyPr wrap="square" lIns="0" tIns="0" rIns="0" bIns="0" rtlCol="0" anchor="ctr"/>
          <a:lstStyle/>
          <a:p>
            <a:pPr algn="ctr" indent="0" marL="0">
              <a:buNone/>
            </a:pPr>
            <a:r>
              <a:rPr lang="en-US" sz="2200" i="1" dirty="0">
                <a:solidFill>
                  <a:srgbClr val="2E2055"/>
                </a:solidFill>
                <a:latin typeface="Cambria" pitchFamily="34" charset="0"/>
                <a:ea typeface="Cambria" pitchFamily="34" charset="-122"/>
                <a:cs typeface="Cambria" pitchFamily="34" charset="-120"/>
              </a:rPr>
              <a:t>Image compression reduces the amount of data needed to represent an image.</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920240" cy="502920"/>
          </a:xfrm>
          <a:prstGeom prst="roundRect">
            <a:avLst>
              <a:gd name="adj" fmla="val 18182"/>
            </a:avLst>
          </a:prstGeom>
          <a:solidFill>
            <a:srgbClr val="6B4FA3"/>
          </a:solidFill>
          <a:ln w="12700">
            <a:solidFill>
              <a:srgbClr val="6B4FA3"/>
            </a:solidFill>
            <a:prstDash val="solid"/>
          </a:ln>
        </p:spPr>
      </p:sp>
      <p:sp>
        <p:nvSpPr>
          <p:cNvPr id="3" name="Text 1"/>
          <p:cNvSpPr/>
          <p:nvPr/>
        </p:nvSpPr>
        <p:spPr>
          <a:xfrm>
            <a:off x="457200" y="320040"/>
            <a:ext cx="192024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Introduction</a:t>
            </a:r>
            <a:endParaRPr lang="en-US" sz="1600" dirty="0"/>
          </a:p>
        </p:txBody>
      </p:sp>
      <p:sp>
        <p:nvSpPr>
          <p:cNvPr id="4" name="Text 2"/>
          <p:cNvSpPr/>
          <p:nvPr/>
        </p:nvSpPr>
        <p:spPr>
          <a:xfrm>
            <a:off x="2560320" y="274320"/>
            <a:ext cx="960120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Lossless and Lossy Compression</a:t>
            </a:r>
            <a:endParaRPr lang="en-US" sz="2800" dirty="0"/>
          </a:p>
        </p:txBody>
      </p:sp>
      <p:sp>
        <p:nvSpPr>
          <p:cNvPr id="5" name="Shape 3"/>
          <p:cNvSpPr/>
          <p:nvPr/>
        </p:nvSpPr>
        <p:spPr>
          <a:xfrm>
            <a:off x="457200" y="960120"/>
            <a:ext cx="11274552" cy="36576"/>
          </a:xfrm>
          <a:prstGeom prst="rect">
            <a:avLst/>
          </a:prstGeom>
          <a:solidFill>
            <a:srgbClr val="6B4FA3"/>
          </a:solidFill>
          <a:ln w="12700">
            <a:solidFill>
              <a:srgbClr val="6B4FA3"/>
            </a:solidFill>
            <a:prstDash val="solid"/>
          </a:ln>
        </p:spPr>
      </p:sp>
      <p:sp>
        <p:nvSpPr>
          <p:cNvPr id="6" name="Shape 4"/>
          <p:cNvSpPr/>
          <p:nvPr/>
        </p:nvSpPr>
        <p:spPr>
          <a:xfrm>
            <a:off x="640080" y="1371600"/>
            <a:ext cx="5394960" cy="3017520"/>
          </a:xfrm>
          <a:prstGeom prst="roundRect">
            <a:avLst>
              <a:gd name="adj" fmla="val 3030"/>
            </a:avLst>
          </a:prstGeom>
          <a:solidFill>
            <a:srgbClr val="FFFFFF"/>
          </a:solidFill>
          <a:ln w="22225">
            <a:solidFill>
              <a:srgbClr val="2A9D8F"/>
            </a:solidFill>
            <a:prstDash val="solid"/>
          </a:ln>
        </p:spPr>
      </p:sp>
      <p:sp>
        <p:nvSpPr>
          <p:cNvPr id="7" name="Shape 5"/>
          <p:cNvSpPr/>
          <p:nvPr/>
        </p:nvSpPr>
        <p:spPr>
          <a:xfrm>
            <a:off x="658368" y="1389888"/>
            <a:ext cx="109728" cy="2980944"/>
          </a:xfrm>
          <a:prstGeom prst="rect">
            <a:avLst/>
          </a:prstGeom>
          <a:solidFill>
            <a:srgbClr val="2A9D8F"/>
          </a:solidFill>
          <a:ln w="12700">
            <a:solidFill>
              <a:srgbClr val="2A9D8F"/>
            </a:solidFill>
            <a:prstDash val="solid"/>
          </a:ln>
        </p:spPr>
      </p:sp>
      <p:sp>
        <p:nvSpPr>
          <p:cNvPr id="8" name="Text 6"/>
          <p:cNvSpPr/>
          <p:nvPr/>
        </p:nvSpPr>
        <p:spPr>
          <a:xfrm>
            <a:off x="914400" y="1417320"/>
            <a:ext cx="4983480" cy="2926080"/>
          </a:xfrm>
          <a:prstGeom prst="rect">
            <a:avLst/>
          </a:prstGeom>
          <a:noFill/>
          <a:ln/>
        </p:spPr>
        <p:txBody>
          <a:bodyPr wrap="square" lIns="635" tIns="635" rIns="635" bIns="635" rtlCol="0" anchor="ctr"/>
          <a:lstStyle/>
          <a:p>
            <a:pPr indent="0" marL="0">
              <a:spcAft>
                <a:spcPts val="600"/>
              </a:spcAft>
              <a:buNone/>
            </a:pPr>
            <a:r>
              <a:rPr lang="en-US" sz="2600" b="1" dirty="0">
                <a:solidFill>
                  <a:srgbClr val="2A9D8F"/>
                </a:solidFill>
                <a:latin typeface="Calibri" pitchFamily="34" charset="0"/>
                <a:ea typeface="Calibri" pitchFamily="34" charset="-122"/>
                <a:cs typeface="Calibri" pitchFamily="34" charset="-120"/>
              </a:rPr>
              <a:t>Lossless</a:t>
            </a:r>
            <a:endParaRPr lang="en-US" sz="2600" dirty="0"/>
          </a:p>
          <a:p>
            <a:pPr indent="0" marL="0">
              <a:spcAft>
                <a:spcPts val="600"/>
              </a:spcAft>
              <a:buNone/>
            </a:pPr>
            <a:r>
              <a:rPr lang="en-US" sz="1900" dirty="0">
                <a:solidFill>
                  <a:srgbClr val="1F1A33"/>
                </a:solidFill>
                <a:latin typeface="Calibri" pitchFamily="34" charset="0"/>
                <a:ea typeface="Calibri" pitchFamily="34" charset="-122"/>
                <a:cs typeface="Calibri" pitchFamily="34" charset="-120"/>
              </a:rPr>
              <a:t>The original image is recovered exactly. Examples: RLE, Huffman, LZW.</a:t>
            </a:r>
            <a:endParaRPr lang="en-US" sz="2600" dirty="0"/>
          </a:p>
        </p:txBody>
      </p:sp>
      <p:sp>
        <p:nvSpPr>
          <p:cNvPr id="9" name="Shape 7"/>
          <p:cNvSpPr/>
          <p:nvPr/>
        </p:nvSpPr>
        <p:spPr>
          <a:xfrm>
            <a:off x="6172200" y="1371600"/>
            <a:ext cx="5394960" cy="3017520"/>
          </a:xfrm>
          <a:prstGeom prst="roundRect">
            <a:avLst>
              <a:gd name="adj" fmla="val 3030"/>
            </a:avLst>
          </a:prstGeom>
          <a:solidFill>
            <a:srgbClr val="FFFFFF"/>
          </a:solidFill>
          <a:ln w="22225">
            <a:solidFill>
              <a:srgbClr val="E07B22"/>
            </a:solidFill>
            <a:prstDash val="solid"/>
          </a:ln>
        </p:spPr>
      </p:sp>
      <p:sp>
        <p:nvSpPr>
          <p:cNvPr id="10" name="Shape 8"/>
          <p:cNvSpPr/>
          <p:nvPr/>
        </p:nvSpPr>
        <p:spPr>
          <a:xfrm>
            <a:off x="6190488" y="1389888"/>
            <a:ext cx="109728" cy="2980944"/>
          </a:xfrm>
          <a:prstGeom prst="rect">
            <a:avLst/>
          </a:prstGeom>
          <a:solidFill>
            <a:srgbClr val="E07B22"/>
          </a:solidFill>
          <a:ln w="12700">
            <a:solidFill>
              <a:srgbClr val="E07B22"/>
            </a:solidFill>
            <a:prstDash val="solid"/>
          </a:ln>
        </p:spPr>
      </p:sp>
      <p:sp>
        <p:nvSpPr>
          <p:cNvPr id="11" name="Text 9"/>
          <p:cNvSpPr/>
          <p:nvPr/>
        </p:nvSpPr>
        <p:spPr>
          <a:xfrm>
            <a:off x="6446520" y="1417320"/>
            <a:ext cx="4983480" cy="2926080"/>
          </a:xfrm>
          <a:prstGeom prst="rect">
            <a:avLst/>
          </a:prstGeom>
          <a:noFill/>
          <a:ln/>
        </p:spPr>
        <p:txBody>
          <a:bodyPr wrap="square" lIns="635" tIns="635" rIns="635" bIns="635" rtlCol="0" anchor="ctr"/>
          <a:lstStyle/>
          <a:p>
            <a:pPr indent="0" marL="0">
              <a:spcAft>
                <a:spcPts val="600"/>
              </a:spcAft>
              <a:buNone/>
            </a:pPr>
            <a:r>
              <a:rPr lang="en-US" sz="2600" b="1" dirty="0">
                <a:solidFill>
                  <a:srgbClr val="E07B22"/>
                </a:solidFill>
                <a:latin typeface="Calibri" pitchFamily="34" charset="0"/>
                <a:ea typeface="Calibri" pitchFamily="34" charset="-122"/>
                <a:cs typeface="Calibri" pitchFamily="34" charset="-120"/>
              </a:rPr>
              <a:t>Lossy</a:t>
            </a:r>
            <a:endParaRPr lang="en-US" sz="2600" dirty="0"/>
          </a:p>
          <a:p>
            <a:pPr indent="0" marL="0">
              <a:spcAft>
                <a:spcPts val="600"/>
              </a:spcAft>
              <a:buNone/>
            </a:pPr>
            <a:r>
              <a:rPr lang="en-US" sz="1900" dirty="0">
                <a:solidFill>
                  <a:srgbClr val="1F1A33"/>
                </a:solidFill>
                <a:latin typeface="Calibri" pitchFamily="34" charset="0"/>
                <a:ea typeface="Calibri" pitchFamily="34" charset="-122"/>
                <a:cs typeface="Calibri" pitchFamily="34" charset="-120"/>
              </a:rPr>
              <a:t>Some information is discarded to reach a higher compression ratio. Examples: VQ, DCT, DWT.</a:t>
            </a:r>
            <a:endParaRPr lang="en-US" sz="2600" dirty="0"/>
          </a:p>
        </p:txBody>
      </p:sp>
      <p:sp>
        <p:nvSpPr>
          <p:cNvPr id="12" name="Shape 10"/>
          <p:cNvSpPr/>
          <p:nvPr/>
        </p:nvSpPr>
        <p:spPr>
          <a:xfrm>
            <a:off x="640080" y="4709160"/>
            <a:ext cx="10927080" cy="1188720"/>
          </a:xfrm>
          <a:prstGeom prst="roundRect">
            <a:avLst>
              <a:gd name="adj" fmla="val 7692"/>
            </a:avLst>
          </a:prstGeom>
          <a:solidFill>
            <a:srgbClr val="F5F1FB"/>
          </a:solidFill>
          <a:ln w="19050">
            <a:solidFill>
              <a:srgbClr val="6B4FA3"/>
            </a:solidFill>
            <a:prstDash val="solid"/>
          </a:ln>
        </p:spPr>
      </p:sp>
      <p:sp>
        <p:nvSpPr>
          <p:cNvPr id="13" name="Text 11"/>
          <p:cNvSpPr/>
          <p:nvPr/>
        </p:nvSpPr>
        <p:spPr>
          <a:xfrm>
            <a:off x="822960" y="4709160"/>
            <a:ext cx="10561320" cy="1188720"/>
          </a:xfrm>
          <a:prstGeom prst="rect">
            <a:avLst/>
          </a:prstGeom>
          <a:noFill/>
          <a:ln/>
        </p:spPr>
        <p:txBody>
          <a:bodyPr wrap="square" lIns="0" tIns="0" rIns="0" bIns="0" rtlCol="0" anchor="ctr"/>
          <a:lstStyle/>
          <a:p>
            <a:pPr indent="0" marL="0">
              <a:buNone/>
            </a:pPr>
            <a:r>
              <a:rPr lang="en-US" sz="2100" b="1" dirty="0">
                <a:solidFill>
                  <a:srgbClr val="E0457B"/>
                </a:solidFill>
                <a:latin typeface="Calibri" pitchFamily="34" charset="0"/>
                <a:ea typeface="Calibri" pitchFamily="34" charset="-122"/>
                <a:cs typeface="Calibri" pitchFamily="34" charset="-120"/>
              </a:rPr>
              <a:t>This work: </a:t>
            </a:r>
            <a:pPr indent="0" marL="0">
              <a:buNone/>
            </a:pPr>
            <a:r>
              <a:rPr lang="en-US" sz="2100" dirty="0">
                <a:solidFill>
                  <a:srgbClr val="1F1A33"/>
                </a:solidFill>
                <a:latin typeface="Calibri" pitchFamily="34" charset="0"/>
                <a:ea typeface="Calibri" pitchFamily="34" charset="-122"/>
                <a:cs typeface="Calibri" pitchFamily="34" charset="-120"/>
              </a:rPr>
              <a:t>lossy LBG vector quantization, followed by lossless delta coding and Huffman coding.</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920240" cy="502920"/>
          </a:xfrm>
          <a:prstGeom prst="roundRect">
            <a:avLst>
              <a:gd name="adj" fmla="val 18182"/>
            </a:avLst>
          </a:prstGeom>
          <a:solidFill>
            <a:srgbClr val="6B4FA3"/>
          </a:solidFill>
          <a:ln w="12700">
            <a:solidFill>
              <a:srgbClr val="6B4FA3"/>
            </a:solidFill>
            <a:prstDash val="solid"/>
          </a:ln>
        </p:spPr>
      </p:sp>
      <p:sp>
        <p:nvSpPr>
          <p:cNvPr id="3" name="Text 1"/>
          <p:cNvSpPr/>
          <p:nvPr/>
        </p:nvSpPr>
        <p:spPr>
          <a:xfrm>
            <a:off x="457200" y="320040"/>
            <a:ext cx="192024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Introduction</a:t>
            </a:r>
            <a:endParaRPr lang="en-US" sz="1600" dirty="0"/>
          </a:p>
        </p:txBody>
      </p:sp>
      <p:sp>
        <p:nvSpPr>
          <p:cNvPr id="4" name="Text 2"/>
          <p:cNvSpPr/>
          <p:nvPr/>
        </p:nvSpPr>
        <p:spPr>
          <a:xfrm>
            <a:off x="2560320" y="274320"/>
            <a:ext cx="960120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Parallel Processing in Image Compression</a:t>
            </a:r>
            <a:endParaRPr lang="en-US" sz="2800" dirty="0"/>
          </a:p>
        </p:txBody>
      </p:sp>
      <p:sp>
        <p:nvSpPr>
          <p:cNvPr id="5" name="Shape 3"/>
          <p:cNvSpPr/>
          <p:nvPr/>
        </p:nvSpPr>
        <p:spPr>
          <a:xfrm>
            <a:off x="457200" y="960120"/>
            <a:ext cx="11274552" cy="36576"/>
          </a:xfrm>
          <a:prstGeom prst="rect">
            <a:avLst/>
          </a:prstGeom>
          <a:solidFill>
            <a:srgbClr val="6B4FA3"/>
          </a:solidFill>
          <a:ln w="12700">
            <a:solidFill>
              <a:srgbClr val="6B4FA3"/>
            </a:solidFill>
            <a:prstDash val="solid"/>
          </a:ln>
        </p:spPr>
      </p:sp>
      <p:sp>
        <p:nvSpPr>
          <p:cNvPr id="6" name="Text 4"/>
          <p:cNvSpPr/>
          <p:nvPr/>
        </p:nvSpPr>
        <p:spPr>
          <a:xfrm>
            <a:off x="640080" y="1280160"/>
            <a:ext cx="10881360" cy="914400"/>
          </a:xfrm>
          <a:prstGeom prst="rect">
            <a:avLst/>
          </a:prstGeom>
          <a:noFill/>
          <a:ln/>
        </p:spPr>
        <p:txBody>
          <a:bodyPr wrap="square" lIns="0" tIns="0" rIns="0" bIns="0" rtlCol="0" anchor="ctr"/>
          <a:lstStyle/>
          <a:p>
            <a:pPr indent="0" marL="0">
              <a:buNone/>
            </a:pPr>
            <a:r>
              <a:rPr lang="en-US" sz="2400" i="1" dirty="0">
                <a:solidFill>
                  <a:srgbClr val="2E2055"/>
                </a:solidFill>
                <a:latin typeface="Cambria" pitchFamily="34" charset="0"/>
                <a:ea typeface="Cambria" pitchFamily="34" charset="-122"/>
                <a:cs typeface="Cambria" pitchFamily="34" charset="-120"/>
              </a:rPr>
              <a:t>Parallel processing improves processing speed and efficiency when handling large data.</a:t>
            </a:r>
            <a:endParaRPr lang="en-US" sz="2400" dirty="0"/>
          </a:p>
        </p:txBody>
      </p:sp>
      <p:sp>
        <p:nvSpPr>
          <p:cNvPr id="7" name="Shape 5"/>
          <p:cNvSpPr/>
          <p:nvPr/>
        </p:nvSpPr>
        <p:spPr>
          <a:xfrm>
            <a:off x="640080" y="2468880"/>
            <a:ext cx="3520440" cy="3108960"/>
          </a:xfrm>
          <a:prstGeom prst="roundRect">
            <a:avLst>
              <a:gd name="adj" fmla="val 2941"/>
            </a:avLst>
          </a:prstGeom>
          <a:solidFill>
            <a:srgbClr val="FFFFFF"/>
          </a:solidFill>
          <a:ln w="22225">
            <a:solidFill>
              <a:srgbClr val="E07B22"/>
            </a:solidFill>
            <a:prstDash val="solid"/>
          </a:ln>
        </p:spPr>
      </p:sp>
      <p:sp>
        <p:nvSpPr>
          <p:cNvPr id="8" name="Shape 6"/>
          <p:cNvSpPr/>
          <p:nvPr/>
        </p:nvSpPr>
        <p:spPr>
          <a:xfrm>
            <a:off x="658368" y="2487168"/>
            <a:ext cx="109728" cy="3072384"/>
          </a:xfrm>
          <a:prstGeom prst="rect">
            <a:avLst/>
          </a:prstGeom>
          <a:solidFill>
            <a:srgbClr val="E07B22"/>
          </a:solidFill>
          <a:ln w="12700">
            <a:solidFill>
              <a:srgbClr val="E07B22"/>
            </a:solidFill>
            <a:prstDash val="solid"/>
          </a:ln>
        </p:spPr>
      </p:sp>
      <p:sp>
        <p:nvSpPr>
          <p:cNvPr id="9" name="Text 7"/>
          <p:cNvSpPr/>
          <p:nvPr/>
        </p:nvSpPr>
        <p:spPr>
          <a:xfrm>
            <a:off x="914400" y="2514600"/>
            <a:ext cx="3108960" cy="3017520"/>
          </a:xfrm>
          <a:prstGeom prst="rect">
            <a:avLst/>
          </a:prstGeom>
          <a:noFill/>
          <a:ln/>
        </p:spPr>
        <p:txBody>
          <a:bodyPr wrap="square" lIns="635" tIns="635" rIns="635" bIns="635" rtlCol="0" anchor="ctr"/>
          <a:lstStyle/>
          <a:p>
            <a:pPr indent="0" marL="0">
              <a:spcAft>
                <a:spcPts val="600"/>
              </a:spcAft>
              <a:buNone/>
            </a:pPr>
            <a:r>
              <a:rPr lang="en-US" sz="2200" b="1" dirty="0">
                <a:solidFill>
                  <a:srgbClr val="E07B22"/>
                </a:solidFill>
                <a:latin typeface="Calibri" pitchFamily="34" charset="0"/>
                <a:ea typeface="Calibri" pitchFamily="34" charset="-122"/>
                <a:cs typeface="Calibri" pitchFamily="34" charset="-120"/>
              </a:rPr>
              <a:t>LBG training dominates</a:t>
            </a:r>
            <a:endParaRPr lang="en-US" sz="2200" dirty="0"/>
          </a:p>
          <a:p>
            <a:pPr indent="0" marL="0">
              <a:spcAft>
                <a:spcPts val="600"/>
              </a:spcAft>
              <a:buNone/>
            </a:pPr>
            <a:r>
              <a:rPr lang="en-US" sz="1700" dirty="0">
                <a:solidFill>
                  <a:srgbClr val="1F1A33"/>
                </a:solidFill>
                <a:latin typeface="Calibri" pitchFamily="34" charset="0"/>
                <a:ea typeface="Calibri" pitchFamily="34" charset="-122"/>
                <a:cs typeface="Calibri" pitchFamily="34" charset="-120"/>
              </a:rPr>
              <a:t>In the sequential program it takes about 77% (gray) and 81% (color) of the total time.</a:t>
            </a:r>
            <a:endParaRPr lang="en-US" sz="2200" dirty="0"/>
          </a:p>
        </p:txBody>
      </p:sp>
      <p:sp>
        <p:nvSpPr>
          <p:cNvPr id="10" name="Shape 8"/>
          <p:cNvSpPr/>
          <p:nvPr/>
        </p:nvSpPr>
        <p:spPr>
          <a:xfrm>
            <a:off x="4343400" y="2468880"/>
            <a:ext cx="3520440" cy="3108960"/>
          </a:xfrm>
          <a:prstGeom prst="roundRect">
            <a:avLst>
              <a:gd name="adj" fmla="val 2941"/>
            </a:avLst>
          </a:prstGeom>
          <a:solidFill>
            <a:srgbClr val="FFFFFF"/>
          </a:solidFill>
          <a:ln w="22225">
            <a:solidFill>
              <a:srgbClr val="6B4FA3"/>
            </a:solidFill>
            <a:prstDash val="solid"/>
          </a:ln>
        </p:spPr>
      </p:sp>
      <p:sp>
        <p:nvSpPr>
          <p:cNvPr id="11" name="Shape 9"/>
          <p:cNvSpPr/>
          <p:nvPr/>
        </p:nvSpPr>
        <p:spPr>
          <a:xfrm>
            <a:off x="4361688" y="2487168"/>
            <a:ext cx="109728" cy="3072384"/>
          </a:xfrm>
          <a:prstGeom prst="rect">
            <a:avLst/>
          </a:prstGeom>
          <a:solidFill>
            <a:srgbClr val="6B4FA3"/>
          </a:solidFill>
          <a:ln w="12700">
            <a:solidFill>
              <a:srgbClr val="6B4FA3"/>
            </a:solidFill>
            <a:prstDash val="solid"/>
          </a:ln>
        </p:spPr>
      </p:sp>
      <p:sp>
        <p:nvSpPr>
          <p:cNvPr id="12" name="Text 10"/>
          <p:cNvSpPr/>
          <p:nvPr/>
        </p:nvSpPr>
        <p:spPr>
          <a:xfrm>
            <a:off x="4617720" y="2514600"/>
            <a:ext cx="3108960" cy="3017520"/>
          </a:xfrm>
          <a:prstGeom prst="rect">
            <a:avLst/>
          </a:prstGeom>
          <a:noFill/>
          <a:ln/>
        </p:spPr>
        <p:txBody>
          <a:bodyPr wrap="square" lIns="635" tIns="635" rIns="635" bIns="635" rtlCol="0" anchor="ctr"/>
          <a:lstStyle/>
          <a:p>
            <a:pPr indent="0" marL="0">
              <a:spcAft>
                <a:spcPts val="600"/>
              </a:spcAft>
              <a:buNone/>
            </a:pPr>
            <a:r>
              <a:rPr lang="en-US" sz="2200" b="1" dirty="0">
                <a:solidFill>
                  <a:srgbClr val="6B4FA3"/>
                </a:solidFill>
                <a:latin typeface="Calibri" pitchFamily="34" charset="0"/>
                <a:ea typeface="Calibri" pitchFamily="34" charset="-122"/>
                <a:cs typeface="Calibri" pitchFamily="34" charset="-120"/>
              </a:rPr>
              <a:t>Data-parallel</a:t>
            </a:r>
            <a:endParaRPr lang="en-US" sz="2200" dirty="0"/>
          </a:p>
          <a:p>
            <a:pPr indent="0" marL="0">
              <a:spcAft>
                <a:spcPts val="600"/>
              </a:spcAft>
              <a:buNone/>
            </a:pPr>
            <a:r>
              <a:rPr lang="en-US" sz="1700" dirty="0">
                <a:solidFill>
                  <a:srgbClr val="1F1A33"/>
                </a:solidFill>
                <a:latin typeface="Calibri" pitchFamily="34" charset="0"/>
                <a:ea typeface="Calibri" pitchFamily="34" charset="-122"/>
                <a:cs typeface="Calibri" pitchFamily="34" charset="-120"/>
              </a:rPr>
              <a:t>Each training vector is assigned to its nearest codeword independently, so the work can be split across processes.</a:t>
            </a:r>
            <a:endParaRPr lang="en-US" sz="2200" dirty="0"/>
          </a:p>
        </p:txBody>
      </p:sp>
      <p:sp>
        <p:nvSpPr>
          <p:cNvPr id="13" name="Shape 11"/>
          <p:cNvSpPr/>
          <p:nvPr/>
        </p:nvSpPr>
        <p:spPr>
          <a:xfrm>
            <a:off x="8046720" y="2468880"/>
            <a:ext cx="3520440" cy="3108960"/>
          </a:xfrm>
          <a:prstGeom prst="roundRect">
            <a:avLst>
              <a:gd name="adj" fmla="val 2941"/>
            </a:avLst>
          </a:prstGeom>
          <a:solidFill>
            <a:srgbClr val="FFFFFF"/>
          </a:solidFill>
          <a:ln w="22225">
            <a:solidFill>
              <a:srgbClr val="2A9D8F"/>
            </a:solidFill>
            <a:prstDash val="solid"/>
          </a:ln>
        </p:spPr>
      </p:sp>
      <p:sp>
        <p:nvSpPr>
          <p:cNvPr id="14" name="Shape 12"/>
          <p:cNvSpPr/>
          <p:nvPr/>
        </p:nvSpPr>
        <p:spPr>
          <a:xfrm>
            <a:off x="8065008" y="2487168"/>
            <a:ext cx="109728" cy="3072384"/>
          </a:xfrm>
          <a:prstGeom prst="rect">
            <a:avLst/>
          </a:prstGeom>
          <a:solidFill>
            <a:srgbClr val="2A9D8F"/>
          </a:solidFill>
          <a:ln w="12700">
            <a:solidFill>
              <a:srgbClr val="2A9D8F"/>
            </a:solidFill>
            <a:prstDash val="solid"/>
          </a:ln>
        </p:spPr>
      </p:sp>
      <p:sp>
        <p:nvSpPr>
          <p:cNvPr id="15" name="Text 13"/>
          <p:cNvSpPr/>
          <p:nvPr/>
        </p:nvSpPr>
        <p:spPr>
          <a:xfrm>
            <a:off x="8321040" y="2514600"/>
            <a:ext cx="3108960" cy="3017520"/>
          </a:xfrm>
          <a:prstGeom prst="rect">
            <a:avLst/>
          </a:prstGeom>
          <a:noFill/>
          <a:ln/>
        </p:spPr>
        <p:txBody>
          <a:bodyPr wrap="square" lIns="635" tIns="635" rIns="635" bIns="635" rtlCol="0" anchor="ctr"/>
          <a:lstStyle/>
          <a:p>
            <a:pPr indent="0" marL="0">
              <a:spcAft>
                <a:spcPts val="600"/>
              </a:spcAft>
              <a:buNone/>
            </a:pPr>
            <a:r>
              <a:rPr lang="en-US" sz="2200" b="1" dirty="0">
                <a:solidFill>
                  <a:srgbClr val="2A9D8F"/>
                </a:solidFill>
                <a:latin typeface="Calibri" pitchFamily="34" charset="0"/>
                <a:ea typeface="Calibri" pitchFamily="34" charset="-122"/>
                <a:cs typeface="Calibri" pitchFamily="34" charset="-120"/>
              </a:rPr>
              <a:t>Hybrid CPU</a:t>
            </a:r>
            <a:endParaRPr lang="en-US" sz="2200" dirty="0"/>
          </a:p>
          <a:p>
            <a:pPr indent="0" marL="0">
              <a:spcAft>
                <a:spcPts val="600"/>
              </a:spcAft>
              <a:buNone/>
            </a:pPr>
            <a:r>
              <a:rPr lang="en-US" sz="1700" dirty="0">
                <a:solidFill>
                  <a:srgbClr val="1F1A33"/>
                </a:solidFill>
                <a:latin typeface="Calibri" pitchFamily="34" charset="0"/>
                <a:ea typeface="Calibri" pitchFamily="34" charset="-122"/>
                <a:cs typeface="Calibri" pitchFamily="34" charset="-120"/>
              </a:rPr>
              <a:t>P-cores and E-cores have different speeds, so an equal split can leave fast cores waiting.</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2377440" cy="502920"/>
          </a:xfrm>
          <a:prstGeom prst="roundRect">
            <a:avLst>
              <a:gd name="adj" fmla="val 18182"/>
            </a:avLst>
          </a:prstGeom>
          <a:solidFill>
            <a:srgbClr val="6B4FA3"/>
          </a:solidFill>
          <a:ln w="12700">
            <a:solidFill>
              <a:srgbClr val="6B4FA3"/>
            </a:solidFill>
            <a:prstDash val="solid"/>
          </a:ln>
        </p:spPr>
      </p:sp>
      <p:sp>
        <p:nvSpPr>
          <p:cNvPr id="3" name="Text 1"/>
          <p:cNvSpPr/>
          <p:nvPr/>
        </p:nvSpPr>
        <p:spPr>
          <a:xfrm>
            <a:off x="457200" y="320040"/>
            <a:ext cx="237744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Literature Review</a:t>
            </a:r>
            <a:endParaRPr lang="en-US" sz="1600" dirty="0"/>
          </a:p>
        </p:txBody>
      </p:sp>
      <p:sp>
        <p:nvSpPr>
          <p:cNvPr id="4" name="Text 2"/>
          <p:cNvSpPr/>
          <p:nvPr/>
        </p:nvSpPr>
        <p:spPr>
          <a:xfrm>
            <a:off x="3017520" y="274320"/>
            <a:ext cx="914400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Related Work: Compression Quality</a:t>
            </a:r>
            <a:endParaRPr lang="en-US" sz="2800" dirty="0"/>
          </a:p>
        </p:txBody>
      </p:sp>
      <p:sp>
        <p:nvSpPr>
          <p:cNvPr id="5" name="Shape 3"/>
          <p:cNvSpPr/>
          <p:nvPr/>
        </p:nvSpPr>
        <p:spPr>
          <a:xfrm>
            <a:off x="457200" y="960120"/>
            <a:ext cx="11274552" cy="36576"/>
          </a:xfrm>
          <a:prstGeom prst="rect">
            <a:avLst/>
          </a:prstGeom>
          <a:solidFill>
            <a:srgbClr val="6B4FA3"/>
          </a:solidFill>
          <a:ln w="12700">
            <a:solidFill>
              <a:srgbClr val="6B4FA3"/>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234440"/>
          <a:ext cx="10881360" cy="914400"/>
        </p:xfrm>
        <a:graphic>
          <a:graphicData uri="http://schemas.openxmlformats.org/drawingml/2006/table">
            <a:tbl>
              <a:tblPr/>
              <a:tblGrid>
                <a:gridCol w="1097280"/>
                <a:gridCol w="2011680"/>
                <a:gridCol w="3840480"/>
                <a:gridCol w="1828800"/>
                <a:gridCol w="2103120"/>
              </a:tblGrid>
              <a:tr h="45720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Ref.</a:t>
                      </a:r>
                      <a:endParaRPr lang="en-US" sz="14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6B4FA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Image</a:t>
                      </a:r>
                      <a:endParaRPr lang="en-US" sz="14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6B4FA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Study</a:t>
                      </a:r>
                      <a:endParaRPr lang="en-US" sz="14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6B4FA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CR</a:t>
                      </a:r>
                      <a:endParaRPr lang="en-US" sz="14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6B4FA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PSNR (dB)</a:t>
                      </a:r>
                      <a:endParaRPr lang="en-US" sz="14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6B4FA3"/>
                    </a:solidFill>
                  </a:tcPr>
                </a:tc>
              </a:tr>
              <a:tr h="457200">
                <a:tc>
                  <a:txBody>
                    <a:bodyPr/>
                    <a:lstStyle/>
                    <a:p>
                      <a:pPr algn="ctr" indent="0" marL="0">
                        <a:buNone/>
                      </a:pPr>
                      <a:r>
                        <a:rPr lang="en-US" sz="1300" dirty="0">
                          <a:solidFill>
                            <a:srgbClr val="1F1A33"/>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1A33"/>
                          </a:solidFill>
                          <a:latin typeface="Calibri" pitchFamily="34" charset="0"/>
                          <a:ea typeface="Calibri" pitchFamily="34" charset="-122"/>
                          <a:cs typeface="Calibri" pitchFamily="34" charset="-120"/>
                        </a:rPr>
                        <a:t>Lena</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1A33"/>
                          </a:solidFill>
                          <a:latin typeface="Calibri" pitchFamily="34" charset="0"/>
                          <a:ea typeface="Calibri" pitchFamily="34" charset="-122"/>
                          <a:cs typeface="Calibri" pitchFamily="34" charset="-120"/>
                        </a:rPr>
                        <a:t>Thomas et al.</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A33"/>
                          </a:solidFill>
                          <a:latin typeface="Calibri" pitchFamily="34" charset="0"/>
                          <a:ea typeface="Calibri" pitchFamily="34" charset="-122"/>
                          <a:cs typeface="Calibri" pitchFamily="34" charset="-120"/>
                        </a:rPr>
                        <a:t>1.52</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A33"/>
                          </a:solidFill>
                          <a:latin typeface="Calibri" pitchFamily="34" charset="0"/>
                          <a:ea typeface="Calibri" pitchFamily="34" charset="-122"/>
                          <a:cs typeface="Calibri" pitchFamily="34" charset="-120"/>
                        </a:rPr>
                        <a:t>54.28</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r>
              <a:tr h="457200">
                <a:tc>
                  <a:txBody>
                    <a:bodyPr/>
                    <a:lstStyle/>
                    <a:p>
                      <a:pPr algn="ctr" indent="0" marL="0">
                        <a:buNone/>
                      </a:pPr>
                      <a:r>
                        <a:rPr lang="en-US" sz="1300" dirty="0">
                          <a:solidFill>
                            <a:srgbClr val="1F1A33"/>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1A33"/>
                          </a:solidFill>
                          <a:latin typeface="Calibri" pitchFamily="34" charset="0"/>
                          <a:ea typeface="Calibri" pitchFamily="34" charset="-122"/>
                          <a:cs typeface="Calibri" pitchFamily="34" charset="-120"/>
                        </a:rPr>
                        <a:t>Ranjan and Kumar</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A33"/>
                          </a:solidFill>
                          <a:latin typeface="Calibri" pitchFamily="34" charset="0"/>
                          <a:ea typeface="Calibri" pitchFamily="34" charset="-122"/>
                          <a:cs typeface="Calibri" pitchFamily="34" charset="-120"/>
                        </a:rPr>
                        <a:t>4.41</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A33"/>
                          </a:solidFill>
                          <a:latin typeface="Calibri" pitchFamily="34" charset="0"/>
                          <a:ea typeface="Calibri" pitchFamily="34" charset="-122"/>
                          <a:cs typeface="Calibri" pitchFamily="34" charset="-120"/>
                        </a:rPr>
                        <a:t>34.78</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r>
              <a:tr h="457200">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1ECF9"/>
                    </a:solidFill>
                  </a:tcPr>
                </a:tc>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1ECF9"/>
                    </a:solidFill>
                  </a:tcPr>
                </a:tc>
                <a:tc>
                  <a:txBody>
                    <a:bodyPr/>
                    <a:lstStyle/>
                    <a:p>
                      <a:pPr algn="l" indent="0" marL="0">
                        <a:buNone/>
                      </a:pPr>
                      <a:r>
                        <a:rPr lang="en-US" sz="1300" b="1" dirty="0">
                          <a:solidFill>
                            <a:srgbClr val="1F1A33"/>
                          </a:solidFill>
                          <a:latin typeface="Calibri" pitchFamily="34" charset="0"/>
                          <a:ea typeface="Calibri" pitchFamily="34" charset="-122"/>
                          <a:cs typeface="Calibri" pitchFamily="34" charset="-120"/>
                        </a:rPr>
                        <a:t>This work</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1ECF9"/>
                    </a:solidFill>
                  </a:tcPr>
                </a:tc>
                <a:tc>
                  <a:txBody>
                    <a:bodyPr/>
                    <a:lstStyle/>
                    <a:p>
                      <a:pPr algn="ctr" indent="0" marL="0">
                        <a:buNone/>
                      </a:pPr>
                      <a:r>
                        <a:rPr lang="en-US" sz="1300" b="1" dirty="0">
                          <a:solidFill>
                            <a:srgbClr val="E0457B"/>
                          </a:solidFill>
                          <a:latin typeface="Calibri" pitchFamily="34" charset="0"/>
                          <a:ea typeface="Calibri" pitchFamily="34" charset="-122"/>
                          <a:cs typeface="Calibri" pitchFamily="34" charset="-120"/>
                        </a:rPr>
                        <a:t>___</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1ECF9"/>
                    </a:solidFill>
                  </a:tcPr>
                </a:tc>
                <a:tc>
                  <a:txBody>
                    <a:bodyPr/>
                    <a:lstStyle/>
                    <a:p>
                      <a:pPr algn="ctr" indent="0" marL="0">
                        <a:buNone/>
                      </a:pPr>
                      <a:r>
                        <a:rPr lang="en-US" sz="1300" dirty="0">
                          <a:solidFill>
                            <a:srgbClr val="1F1A33"/>
                          </a:solidFill>
                          <a:latin typeface="Calibri" pitchFamily="34" charset="0"/>
                          <a:ea typeface="Calibri" pitchFamily="34" charset="-122"/>
                          <a:cs typeface="Calibri" pitchFamily="34" charset="-120"/>
                        </a:rPr>
                        <a:t>29.67</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1ECF9"/>
                    </a:solidFill>
                  </a:tcPr>
                </a:tc>
              </a:tr>
              <a:tr h="457200">
                <a:tc>
                  <a:txBody>
                    <a:bodyPr/>
                    <a:lstStyle/>
                    <a:p>
                      <a:pPr algn="ctr" indent="0" marL="0">
                        <a:buNone/>
                      </a:pPr>
                      <a:r>
                        <a:rPr lang="en-US" sz="1300" dirty="0">
                          <a:solidFill>
                            <a:srgbClr val="1F1A33"/>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1A33"/>
                          </a:solidFill>
                          <a:latin typeface="Calibri" pitchFamily="34" charset="0"/>
                          <a:ea typeface="Calibri" pitchFamily="34" charset="-122"/>
                          <a:cs typeface="Calibri" pitchFamily="34" charset="-120"/>
                        </a:rPr>
                        <a:t>Boat</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1A33"/>
                          </a:solidFill>
                          <a:latin typeface="Calibri" pitchFamily="34" charset="0"/>
                          <a:ea typeface="Calibri" pitchFamily="34" charset="-122"/>
                          <a:cs typeface="Calibri" pitchFamily="34" charset="-120"/>
                        </a:rPr>
                        <a:t>Thomas et al.</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A33"/>
                          </a:solidFill>
                          <a:latin typeface="Calibri" pitchFamily="34" charset="0"/>
                          <a:ea typeface="Calibri" pitchFamily="34" charset="-122"/>
                          <a:cs typeface="Calibri" pitchFamily="34" charset="-120"/>
                        </a:rPr>
                        <a:t>1.41</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A33"/>
                          </a:solidFill>
                          <a:latin typeface="Calibri" pitchFamily="34" charset="0"/>
                          <a:ea typeface="Calibri" pitchFamily="34" charset="-122"/>
                          <a:cs typeface="Calibri" pitchFamily="34" charset="-120"/>
                        </a:rPr>
                        <a:t>54.07</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r>
              <a:tr h="457200">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1ECF9"/>
                    </a:solidFill>
                  </a:tcPr>
                </a:tc>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1ECF9"/>
                    </a:solidFill>
                  </a:tcPr>
                </a:tc>
                <a:tc>
                  <a:txBody>
                    <a:bodyPr/>
                    <a:lstStyle/>
                    <a:p>
                      <a:pPr algn="l" indent="0" marL="0">
                        <a:buNone/>
                      </a:pPr>
                      <a:r>
                        <a:rPr lang="en-US" sz="1300" b="1" dirty="0">
                          <a:solidFill>
                            <a:srgbClr val="1F1A33"/>
                          </a:solidFill>
                          <a:latin typeface="Calibri" pitchFamily="34" charset="0"/>
                          <a:ea typeface="Calibri" pitchFamily="34" charset="-122"/>
                          <a:cs typeface="Calibri" pitchFamily="34" charset="-120"/>
                        </a:rPr>
                        <a:t>This work</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1ECF9"/>
                    </a:solidFill>
                  </a:tcPr>
                </a:tc>
                <a:tc>
                  <a:txBody>
                    <a:bodyPr/>
                    <a:lstStyle/>
                    <a:p>
                      <a:pPr algn="ctr" indent="0" marL="0">
                        <a:buNone/>
                      </a:pPr>
                      <a:r>
                        <a:rPr lang="en-US" sz="1300" b="1" dirty="0">
                          <a:solidFill>
                            <a:srgbClr val="E0457B"/>
                          </a:solidFill>
                          <a:latin typeface="Calibri" pitchFamily="34" charset="0"/>
                          <a:ea typeface="Calibri" pitchFamily="34" charset="-122"/>
                          <a:cs typeface="Calibri" pitchFamily="34" charset="-120"/>
                        </a:rPr>
                        <a:t>___</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1ECF9"/>
                    </a:solidFill>
                  </a:tcPr>
                </a:tc>
                <a:tc>
                  <a:txBody>
                    <a:bodyPr/>
                    <a:lstStyle/>
                    <a:p>
                      <a:pPr algn="ctr" indent="0" marL="0">
                        <a:buNone/>
                      </a:pPr>
                      <a:r>
                        <a:rPr lang="en-US" sz="1300" dirty="0">
                          <a:solidFill>
                            <a:srgbClr val="1F1A33"/>
                          </a:solidFill>
                          <a:latin typeface="Calibri" pitchFamily="34" charset="0"/>
                          <a:ea typeface="Calibri" pitchFamily="34" charset="-122"/>
                          <a:cs typeface="Calibri" pitchFamily="34" charset="-120"/>
                        </a:rPr>
                        <a:t>29.11</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1ECF9"/>
                    </a:solidFill>
                  </a:tcPr>
                </a:tc>
              </a:tr>
              <a:tr h="457200">
                <a:tc>
                  <a:txBody>
                    <a:bodyPr/>
                    <a:lstStyle/>
                    <a:p>
                      <a:pPr algn="ctr" indent="0" marL="0">
                        <a:buNone/>
                      </a:pPr>
                      <a:r>
                        <a:rPr lang="en-US" sz="1300" dirty="0">
                          <a:solidFill>
                            <a:srgbClr val="1F1A33"/>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1A33"/>
                          </a:solidFill>
                          <a:latin typeface="Calibri" pitchFamily="34" charset="0"/>
                          <a:ea typeface="Calibri" pitchFamily="34" charset="-122"/>
                          <a:cs typeface="Calibri" pitchFamily="34" charset="-120"/>
                        </a:rPr>
                        <a:t>Cameraman</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1A33"/>
                          </a:solidFill>
                          <a:latin typeface="Calibri" pitchFamily="34" charset="0"/>
                          <a:ea typeface="Calibri" pitchFamily="34" charset="-122"/>
                          <a:cs typeface="Calibri" pitchFamily="34" charset="-120"/>
                        </a:rPr>
                        <a:t>Bilal et al.</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A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A33"/>
                          </a:solidFill>
                          <a:latin typeface="Calibri" pitchFamily="34" charset="0"/>
                          <a:ea typeface="Calibri" pitchFamily="34" charset="-122"/>
                          <a:cs typeface="Calibri" pitchFamily="34" charset="-120"/>
                        </a:rPr>
                        <a:t>25.3–26.8*</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r>
              <a:tr h="457200">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1ECF9"/>
                    </a:solidFill>
                  </a:tcPr>
                </a:tc>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1ECF9"/>
                    </a:solidFill>
                  </a:tcPr>
                </a:tc>
                <a:tc>
                  <a:txBody>
                    <a:bodyPr/>
                    <a:lstStyle/>
                    <a:p>
                      <a:pPr algn="l" indent="0" marL="0">
                        <a:buNone/>
                      </a:pPr>
                      <a:r>
                        <a:rPr lang="en-US" sz="1300" b="1" dirty="0">
                          <a:solidFill>
                            <a:srgbClr val="1F1A33"/>
                          </a:solidFill>
                          <a:latin typeface="Calibri" pitchFamily="34" charset="0"/>
                          <a:ea typeface="Calibri" pitchFamily="34" charset="-122"/>
                          <a:cs typeface="Calibri" pitchFamily="34" charset="-120"/>
                        </a:rPr>
                        <a:t>This work</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1ECF9"/>
                    </a:solidFill>
                  </a:tcPr>
                </a:tc>
                <a:tc>
                  <a:txBody>
                    <a:bodyPr/>
                    <a:lstStyle/>
                    <a:p>
                      <a:pPr algn="ctr" indent="0" marL="0">
                        <a:buNone/>
                      </a:pPr>
                      <a:r>
                        <a:rPr lang="en-US" sz="1300" b="1" dirty="0">
                          <a:solidFill>
                            <a:srgbClr val="E0457B"/>
                          </a:solidFill>
                          <a:latin typeface="Calibri" pitchFamily="34" charset="0"/>
                          <a:ea typeface="Calibri" pitchFamily="34" charset="-122"/>
                          <a:cs typeface="Calibri" pitchFamily="34" charset="-120"/>
                        </a:rPr>
                        <a:t>___</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1ECF9"/>
                    </a:solidFill>
                  </a:tcPr>
                </a:tc>
                <a:tc>
                  <a:txBody>
                    <a:bodyPr/>
                    <a:lstStyle/>
                    <a:p>
                      <a:pPr algn="ctr" indent="0" marL="0">
                        <a:buNone/>
                      </a:pPr>
                      <a:r>
                        <a:rPr lang="en-US" sz="1300" dirty="0">
                          <a:solidFill>
                            <a:srgbClr val="1F1A33"/>
                          </a:solidFill>
                          <a:latin typeface="Calibri" pitchFamily="34" charset="0"/>
                          <a:ea typeface="Calibri" pitchFamily="34" charset="-122"/>
                          <a:cs typeface="Calibri" pitchFamily="34" charset="-120"/>
                        </a:rPr>
                        <a:t>29.75</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1ECF9"/>
                    </a:solidFill>
                  </a:tcPr>
                </a:tc>
              </a:tr>
            </a:tbl>
          </a:graphicData>
        </a:graphic>
      </p:graphicFrame>
      <p:sp>
        <p:nvSpPr>
          <p:cNvPr id="7" name="Text 4"/>
          <p:cNvSpPr/>
          <p:nvPr/>
        </p:nvSpPr>
        <p:spPr>
          <a:xfrm>
            <a:off x="640080" y="5074920"/>
            <a:ext cx="10881360" cy="731520"/>
          </a:xfrm>
          <a:prstGeom prst="rect">
            <a:avLst/>
          </a:prstGeom>
          <a:noFill/>
          <a:ln/>
        </p:spPr>
        <p:txBody>
          <a:bodyPr wrap="square" lIns="0" tIns="0" rIns="0" bIns="0" rtlCol="0" anchor="ctr"/>
          <a:lstStyle/>
          <a:p>
            <a:pPr indent="0" marL="0">
              <a:buNone/>
            </a:pPr>
            <a:r>
              <a:rPr lang="en-US" sz="1200" i="1" dirty="0">
                <a:solidFill>
                  <a:srgbClr val="6B4FA3"/>
                </a:solidFill>
                <a:latin typeface="Calibri" pitchFamily="34" charset="0"/>
                <a:ea typeface="Calibri" pitchFamily="34" charset="-122"/>
                <a:cs typeface="Calibri" pitchFamily="34" charset="-120"/>
              </a:rPr>
              <a:t>* Bilal et al.: PSNR range at bit rates up to 0.625 bpp (CR not reported). Thomas et al. is a near-lossless scheme (CR ≈ 1.5).</a:t>
            </a:r>
            <a:endParaRPr lang="en-US" sz="1200" dirty="0"/>
          </a:p>
        </p:txBody>
      </p:sp>
      <p:sp>
        <p:nvSpPr>
          <p:cNvPr id="8" name="Text 5"/>
          <p:cNvSpPr/>
          <p:nvPr/>
        </p:nvSpPr>
        <p:spPr>
          <a:xfrm>
            <a:off x="640080" y="5852160"/>
            <a:ext cx="10881360" cy="548640"/>
          </a:xfrm>
          <a:prstGeom prst="rect">
            <a:avLst/>
          </a:prstGeom>
          <a:noFill/>
          <a:ln/>
        </p:spPr>
        <p:txBody>
          <a:bodyPr wrap="square" lIns="0" tIns="0" rIns="0" bIns="0" rtlCol="0" anchor="ctr"/>
          <a:lstStyle/>
          <a:p>
            <a:pPr indent="0" marL="0">
              <a:buNone/>
            </a:pPr>
            <a:r>
              <a:rPr lang="en-US" sz="1800" b="1" dirty="0">
                <a:solidFill>
                  <a:srgbClr val="2E2055"/>
                </a:solidFill>
                <a:latin typeface="Cambria" pitchFamily="34" charset="0"/>
                <a:ea typeface="Cambria" pitchFamily="34" charset="-122"/>
                <a:cs typeface="Cambria" pitchFamily="34" charset="-120"/>
              </a:rPr>
              <a:t>The proposed method provides substantially higher compression than the near-lossless method, with lower reconstruction fidelity.</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2377440" cy="502920"/>
          </a:xfrm>
          <a:prstGeom prst="roundRect">
            <a:avLst>
              <a:gd name="adj" fmla="val 18182"/>
            </a:avLst>
          </a:prstGeom>
          <a:solidFill>
            <a:srgbClr val="6B4FA3"/>
          </a:solidFill>
          <a:ln w="12700">
            <a:solidFill>
              <a:srgbClr val="6B4FA3"/>
            </a:solidFill>
            <a:prstDash val="solid"/>
          </a:ln>
        </p:spPr>
      </p:sp>
      <p:sp>
        <p:nvSpPr>
          <p:cNvPr id="3" name="Text 1"/>
          <p:cNvSpPr/>
          <p:nvPr/>
        </p:nvSpPr>
        <p:spPr>
          <a:xfrm>
            <a:off x="457200" y="320040"/>
            <a:ext cx="237744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Literature Review</a:t>
            </a:r>
            <a:endParaRPr lang="en-US" sz="1600" dirty="0"/>
          </a:p>
        </p:txBody>
      </p:sp>
      <p:sp>
        <p:nvSpPr>
          <p:cNvPr id="4" name="Text 2"/>
          <p:cNvSpPr/>
          <p:nvPr/>
        </p:nvSpPr>
        <p:spPr>
          <a:xfrm>
            <a:off x="3017520" y="274320"/>
            <a:ext cx="914400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Related Work: Parallel Speedup</a:t>
            </a:r>
            <a:endParaRPr lang="en-US" sz="2800" dirty="0"/>
          </a:p>
        </p:txBody>
      </p:sp>
      <p:sp>
        <p:nvSpPr>
          <p:cNvPr id="5" name="Shape 3"/>
          <p:cNvSpPr/>
          <p:nvPr/>
        </p:nvSpPr>
        <p:spPr>
          <a:xfrm>
            <a:off x="457200" y="960120"/>
            <a:ext cx="11274552" cy="36576"/>
          </a:xfrm>
          <a:prstGeom prst="rect">
            <a:avLst/>
          </a:prstGeom>
          <a:solidFill>
            <a:srgbClr val="6B4FA3"/>
          </a:solidFill>
          <a:ln w="12700">
            <a:solidFill>
              <a:srgbClr val="6B4FA3"/>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234440"/>
          <a:ext cx="10881360" cy="914400"/>
        </p:xfrm>
        <a:graphic>
          <a:graphicData uri="http://schemas.openxmlformats.org/drawingml/2006/table">
            <a:tbl>
              <a:tblPr/>
              <a:tblGrid>
                <a:gridCol w="2377440"/>
                <a:gridCol w="2468880"/>
                <a:gridCol w="2651760"/>
                <a:gridCol w="1280160"/>
                <a:gridCol w="2103120"/>
              </a:tblGrid>
              <a:tr h="64008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Study</a:t>
                      </a:r>
                      <a:endParaRPr lang="en-US" sz="14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6B4FA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Application</a:t>
                      </a:r>
                      <a:endParaRPr lang="en-US" sz="14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6B4FA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Resources</a:t>
                      </a:r>
                      <a:endParaRPr lang="en-US" sz="14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6B4FA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Baseline</a:t>
                      </a:r>
                      <a:endParaRPr lang="en-US" sz="14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6B4FA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Speedup</a:t>
                      </a:r>
                      <a:endParaRPr lang="en-US" sz="14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6B4FA3"/>
                    </a:solidFill>
                  </a:tcPr>
                </a:tc>
              </a:tr>
              <a:tr h="640080">
                <a:tc>
                  <a:txBody>
                    <a:bodyPr/>
                    <a:lstStyle/>
                    <a:p>
                      <a:pPr algn="l" indent="0" marL="0">
                        <a:buNone/>
                      </a:pPr>
                      <a:r>
                        <a:rPr lang="en-US" sz="1300" b="1" dirty="0">
                          <a:solidFill>
                            <a:srgbClr val="1F1A33"/>
                          </a:solidFill>
                          <a:latin typeface="Calibri" pitchFamily="34" charset="0"/>
                          <a:ea typeface="Calibri" pitchFamily="34" charset="-122"/>
                          <a:cs typeface="Calibri" pitchFamily="34" charset="-120"/>
                        </a:rPr>
                        <a:t>Tanović et al. (2024)</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7F3FC"/>
                    </a:solidFill>
                  </a:tcPr>
                </a:tc>
                <a:tc>
                  <a:txBody>
                    <a:bodyPr/>
                    <a:lstStyle/>
                    <a:p>
                      <a:pPr algn="l" indent="0" marL="0">
                        <a:buNone/>
                      </a:pPr>
                      <a:r>
                        <a:rPr lang="en-US" sz="1300" dirty="0">
                          <a:solidFill>
                            <a:srgbClr val="1F1A33"/>
                          </a:solidFill>
                          <a:latin typeface="Calibri" pitchFamily="34" charset="0"/>
                          <a:ea typeface="Calibri" pitchFamily="34" charset="-122"/>
                          <a:cs typeface="Calibri" pitchFamily="34" charset="-120"/>
                        </a:rPr>
                        <a:t>k-means, image classification</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7F3FC"/>
                    </a:solidFill>
                  </a:tcPr>
                </a:tc>
                <a:tc>
                  <a:txBody>
                    <a:bodyPr/>
                    <a:lstStyle/>
                    <a:p>
                      <a:pPr algn="l" indent="0" marL="0">
                        <a:buNone/>
                      </a:pPr>
                      <a:r>
                        <a:rPr lang="en-US" sz="1300" dirty="0">
                          <a:solidFill>
                            <a:srgbClr val="1F1A33"/>
                          </a:solidFill>
                          <a:latin typeface="Calibri" pitchFamily="34" charset="0"/>
                          <a:ea typeface="Calibri" pitchFamily="34" charset="-122"/>
                          <a:cs typeface="Calibri" pitchFamily="34" charset="-120"/>
                        </a:rPr>
                        <a:t>12 cores (OpenMP + MPI)</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7F3FC"/>
                    </a:solidFill>
                  </a:tcPr>
                </a:tc>
                <a:tc>
                  <a:txBody>
                    <a:bodyPr/>
                    <a:lstStyle/>
                    <a:p>
                      <a:pPr algn="ctr" indent="0" marL="0">
                        <a:buNone/>
                      </a:pPr>
                      <a:r>
                        <a:rPr lang="en-US" sz="1300" dirty="0">
                          <a:solidFill>
                            <a:srgbClr val="1F1A33"/>
                          </a:solidFill>
                          <a:latin typeface="Calibri" pitchFamily="34" charset="0"/>
                          <a:ea typeface="Calibri" pitchFamily="34" charset="-122"/>
                          <a:cs typeface="Calibri" pitchFamily="34" charset="-120"/>
                        </a:rPr>
                        <a:t>Not stated</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7F3FC"/>
                    </a:solidFill>
                  </a:tcPr>
                </a:tc>
                <a:tc>
                  <a:txBody>
                    <a:bodyPr/>
                    <a:lstStyle/>
                    <a:p>
                      <a:pPr algn="ctr" indent="0" marL="0">
                        <a:buNone/>
                      </a:pPr>
                      <a:r>
                        <a:rPr lang="en-US" sz="1300" dirty="0">
                          <a:solidFill>
                            <a:srgbClr val="1F1A33"/>
                          </a:solidFill>
                          <a:latin typeface="Calibri" pitchFamily="34" charset="0"/>
                          <a:ea typeface="Calibri" pitchFamily="34" charset="-122"/>
                          <a:cs typeface="Calibri" pitchFamily="34" charset="-120"/>
                        </a:rPr>
                        <a:t>Up to 10.2×</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7F3FC"/>
                    </a:solidFill>
                  </a:tcPr>
                </a:tc>
              </a:tr>
              <a:tr h="640080">
                <a:tc>
                  <a:txBody>
                    <a:bodyPr/>
                    <a:lstStyle/>
                    <a:p>
                      <a:pPr algn="l" indent="0" marL="0">
                        <a:buNone/>
                      </a:pPr>
                      <a:r>
                        <a:rPr lang="en-US" sz="1300" b="1" dirty="0">
                          <a:solidFill>
                            <a:srgbClr val="1F1A33"/>
                          </a:solidFill>
                          <a:latin typeface="Calibri" pitchFamily="34" charset="0"/>
                          <a:ea typeface="Calibri" pitchFamily="34" charset="-122"/>
                          <a:cs typeface="Calibri" pitchFamily="34" charset="-120"/>
                        </a:rPr>
                        <a:t>Papakyriakou et al. (2025)</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1A33"/>
                          </a:solidFill>
                          <a:latin typeface="Calibri" pitchFamily="34" charset="0"/>
                          <a:ea typeface="Calibri" pitchFamily="34" charset="-122"/>
                          <a:cs typeface="Calibri" pitchFamily="34" charset="-120"/>
                        </a:rPr>
                        <a:t>k-means, 75 M synthetic points</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1A33"/>
                          </a:solidFill>
                          <a:latin typeface="Calibri" pitchFamily="34" charset="0"/>
                          <a:ea typeface="Calibri" pitchFamily="34" charset="-122"/>
                          <a:cs typeface="Calibri" pitchFamily="34" charset="-120"/>
                        </a:rPr>
                        <a:t>2–48 MPI processes</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A33"/>
                          </a:solidFill>
                          <a:latin typeface="Calibri" pitchFamily="34" charset="0"/>
                          <a:ea typeface="Calibri" pitchFamily="34" charset="-122"/>
                          <a:cs typeface="Calibri" pitchFamily="34" charset="-120"/>
                        </a:rPr>
                        <a:t>2 processes</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A33"/>
                          </a:solidFill>
                          <a:latin typeface="Calibri" pitchFamily="34" charset="0"/>
                          <a:ea typeface="Calibri" pitchFamily="34" charset="-122"/>
                          <a:cs typeface="Calibri" pitchFamily="34" charset="-120"/>
                        </a:rPr>
                        <a:t>≈ 10.05×</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FFFFF"/>
                    </a:solidFill>
                  </a:tcPr>
                </a:tc>
              </a:tr>
              <a:tr h="640080">
                <a:tc>
                  <a:txBody>
                    <a:bodyPr/>
                    <a:lstStyle/>
                    <a:p>
                      <a:pPr algn="l" indent="0" marL="0">
                        <a:buNone/>
                      </a:pPr>
                      <a:r>
                        <a:rPr lang="en-US" sz="1300" b="1" dirty="0">
                          <a:solidFill>
                            <a:srgbClr val="1F1A33"/>
                          </a:solidFill>
                          <a:latin typeface="Calibri" pitchFamily="34" charset="0"/>
                          <a:ea typeface="Calibri" pitchFamily="34" charset="-122"/>
                          <a:cs typeface="Calibri" pitchFamily="34" charset="-120"/>
                        </a:rPr>
                        <a:t>Bystrov et al. (2023)</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7F3FC"/>
                    </a:solidFill>
                  </a:tcPr>
                </a:tc>
                <a:tc>
                  <a:txBody>
                    <a:bodyPr/>
                    <a:lstStyle/>
                    <a:p>
                      <a:pPr algn="l" indent="0" marL="0">
                        <a:buNone/>
                      </a:pPr>
                      <a:r>
                        <a:rPr lang="en-US" sz="1300" dirty="0">
                          <a:solidFill>
                            <a:srgbClr val="1F1A33"/>
                          </a:solidFill>
                          <a:latin typeface="Calibri" pitchFamily="34" charset="0"/>
                          <a:ea typeface="Calibri" pitchFamily="34" charset="-122"/>
                          <a:cs typeface="Calibri" pitchFamily="34" charset="-120"/>
                        </a:rPr>
                        <a:t>Discrete-element simulation</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7F3FC"/>
                    </a:solidFill>
                  </a:tcPr>
                </a:tc>
                <a:tc>
                  <a:txBody>
                    <a:bodyPr/>
                    <a:lstStyle/>
                    <a:p>
                      <a:pPr algn="l" indent="0" marL="0">
                        <a:buNone/>
                      </a:pPr>
                      <a:r>
                        <a:rPr lang="en-US" sz="1300" dirty="0">
                          <a:solidFill>
                            <a:srgbClr val="1F1A33"/>
                          </a:solidFill>
                          <a:latin typeface="Calibri" pitchFamily="34" charset="0"/>
                          <a:ea typeface="Calibri" pitchFamily="34" charset="-122"/>
                          <a:cs typeface="Calibri" pitchFamily="34" charset="-120"/>
                        </a:rPr>
                        <a:t>8 heterogeneous containers</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7F3FC"/>
                    </a:solidFill>
                  </a:tcPr>
                </a:tc>
                <a:tc>
                  <a:txBody>
                    <a:bodyPr/>
                    <a:lstStyle/>
                    <a:p>
                      <a:pPr algn="ctr" indent="0" marL="0">
                        <a:buNone/>
                      </a:pPr>
                      <a:r>
                        <a:rPr lang="en-US" sz="1300" dirty="0">
                          <a:solidFill>
                            <a:srgbClr val="1F1A33"/>
                          </a:solidFill>
                          <a:latin typeface="Calibri" pitchFamily="34" charset="0"/>
                          <a:ea typeface="Calibri" pitchFamily="34" charset="-122"/>
                          <a:cs typeface="Calibri" pitchFamily="34" charset="-120"/>
                        </a:rPr>
                        <a:t>Sequential</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7F3FC"/>
                    </a:solidFill>
                  </a:tcPr>
                </a:tc>
                <a:tc>
                  <a:txBody>
                    <a:bodyPr/>
                    <a:lstStyle/>
                    <a:p>
                      <a:pPr algn="ctr" indent="0" marL="0">
                        <a:buNone/>
                      </a:pPr>
                      <a:r>
                        <a:rPr lang="en-US" sz="1300" dirty="0">
                          <a:solidFill>
                            <a:srgbClr val="1F1A33"/>
                          </a:solidFill>
                          <a:latin typeface="Calibri" pitchFamily="34" charset="0"/>
                          <a:ea typeface="Calibri" pitchFamily="34" charset="-122"/>
                          <a:cs typeface="Calibri" pitchFamily="34" charset="-120"/>
                        </a:rPr>
                        <a:t>Up to 6.0×</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F7F3FC"/>
                    </a:solidFill>
                  </a:tcPr>
                </a:tc>
              </a:tr>
              <a:tr h="640080">
                <a:tc>
                  <a:txBody>
                    <a:bodyPr/>
                    <a:lstStyle/>
                    <a:p>
                      <a:pPr algn="l" indent="0" marL="0">
                        <a:buNone/>
                      </a:pPr>
                      <a:r>
                        <a:rPr lang="en-US" sz="1300" b="1" dirty="0">
                          <a:solidFill>
                            <a:srgbClr val="E0457B"/>
                          </a:solidFill>
                          <a:latin typeface="Calibri" pitchFamily="34" charset="0"/>
                          <a:ea typeface="Calibri" pitchFamily="34" charset="-122"/>
                          <a:cs typeface="Calibri" pitchFamily="34" charset="-120"/>
                        </a:rPr>
                        <a:t>This work</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ECE6F6"/>
                    </a:solidFill>
                  </a:tcPr>
                </a:tc>
                <a:tc>
                  <a:txBody>
                    <a:bodyPr/>
                    <a:lstStyle/>
                    <a:p>
                      <a:pPr algn="l" indent="0" marL="0">
                        <a:buNone/>
                      </a:pPr>
                      <a:r>
                        <a:rPr lang="en-US" sz="1300" b="1" dirty="0">
                          <a:solidFill>
                            <a:srgbClr val="E0457B"/>
                          </a:solidFill>
                          <a:latin typeface="Calibri" pitchFamily="34" charset="0"/>
                          <a:ea typeface="Calibri" pitchFamily="34" charset="-122"/>
                          <a:cs typeface="Calibri" pitchFamily="34" charset="-120"/>
                        </a:rPr>
                        <a:t>LBG image compression</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ECE6F6"/>
                    </a:solidFill>
                  </a:tcPr>
                </a:tc>
                <a:tc>
                  <a:txBody>
                    <a:bodyPr/>
                    <a:lstStyle/>
                    <a:p>
                      <a:pPr algn="l" indent="0" marL="0">
                        <a:buNone/>
                      </a:pPr>
                      <a:r>
                        <a:rPr lang="en-US" sz="1300" b="1" dirty="0">
                          <a:solidFill>
                            <a:srgbClr val="E0457B"/>
                          </a:solidFill>
                          <a:latin typeface="Calibri" pitchFamily="34" charset="0"/>
                          <a:ea typeface="Calibri" pitchFamily="34" charset="-122"/>
                          <a:cs typeface="Calibri" pitchFamily="34" charset="-120"/>
                        </a:rPr>
                        <a:t>14 MPI processes (6 P + 8 E cores)</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ECE6F6"/>
                    </a:solidFill>
                  </a:tcPr>
                </a:tc>
                <a:tc>
                  <a:txBody>
                    <a:bodyPr/>
                    <a:lstStyle/>
                    <a:p>
                      <a:pPr algn="ctr" indent="0" marL="0">
                        <a:buNone/>
                      </a:pPr>
                      <a:r>
                        <a:rPr lang="en-US" sz="1300" b="1" dirty="0">
                          <a:solidFill>
                            <a:srgbClr val="E0457B"/>
                          </a:solidFill>
                          <a:latin typeface="Calibri" pitchFamily="34" charset="0"/>
                          <a:ea typeface="Calibri" pitchFamily="34" charset="-122"/>
                          <a:cs typeface="Calibri" pitchFamily="34" charset="-120"/>
                        </a:rPr>
                        <a:t>Sequential</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ECE6F6"/>
                    </a:solidFill>
                  </a:tcPr>
                </a:tc>
                <a:tc>
                  <a:txBody>
                    <a:bodyPr/>
                    <a:lstStyle/>
                    <a:p>
                      <a:pPr algn="ctr" indent="0" marL="0">
                        <a:buNone/>
                      </a:pPr>
                      <a:r>
                        <a:rPr lang="en-US" sz="1300" b="1" dirty="0">
                          <a:solidFill>
                            <a:srgbClr val="E0457B"/>
                          </a:solidFill>
                          <a:latin typeface="Calibri" pitchFamily="34" charset="0"/>
                          <a:ea typeface="Calibri" pitchFamily="34" charset="-122"/>
                          <a:cs typeface="Calibri" pitchFamily="34" charset="-120"/>
                        </a:rPr>
                        <a:t>9.19× (LBG); 5.00× / 6.84× (total, gray / color)</a:t>
                      </a:r>
                      <a:endParaRPr lang="en-US" sz="1300" dirty="0">
                        <a:latin typeface="Calibri" charset="0"/>
                        <a:ea typeface="Calibri" charset="0"/>
                        <a:cs typeface="Calibri" charset="0"/>
                      </a:endParaRPr>
                    </a:p>
                  </a:txBody>
                  <a:tcPr marL="91440" marR="91440" marT="45720" marB="45720" anchor="ctr">
                    <a:lnL w="12700" cap="flat" cmpd="sng" algn="ctr">
                      <a:solidFill>
                        <a:srgbClr val="E2D9F3"/>
                      </a:solidFill>
                      <a:prstDash val="solid"/>
                      <a:round/>
                      <a:headEnd type="none" w="med" len="med"/>
                      <a:tailEnd type="none" w="med" len="med"/>
                    </a:lnL>
                    <a:lnR w="12700" cap="flat" cmpd="sng" algn="ctr">
                      <a:solidFill>
                        <a:srgbClr val="E2D9F3"/>
                      </a:solidFill>
                      <a:prstDash val="solid"/>
                      <a:round/>
                      <a:headEnd type="none" w="med" len="med"/>
                      <a:tailEnd type="none" w="med" len="med"/>
                    </a:lnR>
                    <a:lnT w="12700" cap="flat" cmpd="sng" algn="ctr">
                      <a:solidFill>
                        <a:srgbClr val="E2D9F3"/>
                      </a:solidFill>
                      <a:prstDash val="solid"/>
                      <a:round/>
                      <a:headEnd type="none" w="med" len="med"/>
                      <a:tailEnd type="none" w="med" len="med"/>
                    </a:lnT>
                    <a:lnB w="12700" cap="flat" cmpd="sng" algn="ctr">
                      <a:solidFill>
                        <a:srgbClr val="E2D9F3"/>
                      </a:solidFill>
                      <a:prstDash val="solid"/>
                      <a:round/>
                      <a:headEnd type="none" w="med" len="med"/>
                      <a:tailEnd type="none" w="med" len="med"/>
                    </a:lnB>
                    <a:solidFill>
                      <a:srgbClr val="ECE6F6"/>
                    </a:solidFill>
                  </a:tcPr>
                </a:tc>
              </a:tr>
            </a:tbl>
          </a:graphicData>
        </a:graphic>
      </p:graphicFrame>
      <p:sp>
        <p:nvSpPr>
          <p:cNvPr id="7" name="Shape 4"/>
          <p:cNvSpPr/>
          <p:nvPr/>
        </p:nvSpPr>
        <p:spPr>
          <a:xfrm>
            <a:off x="640080" y="4754880"/>
            <a:ext cx="10881360" cy="1417320"/>
          </a:xfrm>
          <a:prstGeom prst="roundRect">
            <a:avLst>
              <a:gd name="adj" fmla="val 6452"/>
            </a:avLst>
          </a:prstGeom>
          <a:solidFill>
            <a:srgbClr val="F5F1FB"/>
          </a:solidFill>
          <a:ln w="25400">
            <a:solidFill>
              <a:srgbClr val="E0457B"/>
            </a:solidFill>
            <a:prstDash val="solid"/>
          </a:ln>
        </p:spPr>
      </p:sp>
      <p:sp>
        <p:nvSpPr>
          <p:cNvPr id="8" name="Text 5"/>
          <p:cNvSpPr/>
          <p:nvPr/>
        </p:nvSpPr>
        <p:spPr>
          <a:xfrm>
            <a:off x="822960" y="4754880"/>
            <a:ext cx="10515600" cy="1417320"/>
          </a:xfrm>
          <a:prstGeom prst="rect">
            <a:avLst/>
          </a:prstGeom>
          <a:noFill/>
          <a:ln/>
        </p:spPr>
        <p:txBody>
          <a:bodyPr wrap="square" lIns="0" tIns="0" rIns="0" bIns="0" rtlCol="0" anchor="ctr"/>
          <a:lstStyle/>
          <a:p>
            <a:pPr indent="0" marL="0">
              <a:buNone/>
            </a:pPr>
            <a:r>
              <a:rPr lang="en-US" sz="1800" b="1" dirty="0">
                <a:solidFill>
                  <a:srgbClr val="E0457B"/>
                </a:solidFill>
                <a:latin typeface="Calibri" pitchFamily="34" charset="0"/>
                <a:ea typeface="Calibri" pitchFamily="34" charset="-122"/>
                <a:cs typeface="Calibri" pitchFamily="34" charset="-120"/>
              </a:rPr>
              <a:t>Research gap  </a:t>
            </a:r>
            <a:endParaRPr lang="en-US" sz="1800" dirty="0"/>
          </a:p>
          <a:p>
            <a:pPr indent="0" marL="0">
              <a:buNone/>
            </a:pPr>
            <a:r>
              <a:rPr lang="en-US" sz="1800" dirty="0">
                <a:solidFill>
                  <a:srgbClr val="1F1A33"/>
                </a:solidFill>
                <a:latin typeface="Calibri" pitchFamily="34" charset="0"/>
                <a:ea typeface="Calibri" pitchFamily="34" charset="-122"/>
                <a:cs typeface="Calibri" pitchFamily="34" charset="-120"/>
              </a:rPr>
              <a:t>Existing parallel studies target k-means or other applications. To our knowledge, none of the reviewed studies evaluates MPI-parallel LBG for image compression on a hybrid P/E-core CPU.</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2286000" cy="502920"/>
          </a:xfrm>
          <a:prstGeom prst="roundRect">
            <a:avLst>
              <a:gd name="adj" fmla="val 18182"/>
            </a:avLst>
          </a:prstGeom>
          <a:solidFill>
            <a:srgbClr val="E0457B"/>
          </a:solidFill>
          <a:ln w="12700">
            <a:solidFill>
              <a:srgbClr val="E0457B"/>
            </a:solidFill>
            <a:prstDash val="solid"/>
          </a:ln>
        </p:spPr>
      </p:sp>
      <p:sp>
        <p:nvSpPr>
          <p:cNvPr id="3" name="Text 1"/>
          <p:cNvSpPr/>
          <p:nvPr/>
        </p:nvSpPr>
        <p:spPr>
          <a:xfrm>
            <a:off x="457200" y="320040"/>
            <a:ext cx="228600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Problem Statement</a:t>
            </a:r>
            <a:endParaRPr lang="en-US" sz="1600" dirty="0"/>
          </a:p>
        </p:txBody>
      </p:sp>
      <p:sp>
        <p:nvSpPr>
          <p:cNvPr id="4" name="Text 2"/>
          <p:cNvSpPr/>
          <p:nvPr/>
        </p:nvSpPr>
        <p:spPr>
          <a:xfrm>
            <a:off x="2926080" y="274320"/>
            <a:ext cx="923544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Problem Statement</a:t>
            </a:r>
            <a:endParaRPr lang="en-US" sz="2800" dirty="0"/>
          </a:p>
        </p:txBody>
      </p:sp>
      <p:sp>
        <p:nvSpPr>
          <p:cNvPr id="5" name="Shape 3"/>
          <p:cNvSpPr/>
          <p:nvPr/>
        </p:nvSpPr>
        <p:spPr>
          <a:xfrm>
            <a:off x="457200" y="960120"/>
            <a:ext cx="11274552" cy="36576"/>
          </a:xfrm>
          <a:prstGeom prst="rect">
            <a:avLst/>
          </a:prstGeom>
          <a:solidFill>
            <a:srgbClr val="E0457B"/>
          </a:solidFill>
          <a:ln w="12700">
            <a:solidFill>
              <a:srgbClr val="E0457B"/>
            </a:solidFill>
            <a:prstDash val="solid"/>
          </a:ln>
        </p:spPr>
      </p:sp>
      <p:sp>
        <p:nvSpPr>
          <p:cNvPr id="6" name="Shape 4"/>
          <p:cNvSpPr/>
          <p:nvPr/>
        </p:nvSpPr>
        <p:spPr>
          <a:xfrm>
            <a:off x="640080" y="1463040"/>
            <a:ext cx="685800" cy="685800"/>
          </a:xfrm>
          <a:prstGeom prst="ellipse">
            <a:avLst/>
          </a:prstGeom>
          <a:solidFill>
            <a:srgbClr val="E0457B"/>
          </a:solidFill>
          <a:ln w="12700">
            <a:solidFill>
              <a:srgbClr val="E0457B"/>
            </a:solidFill>
            <a:prstDash val="solid"/>
          </a:ln>
        </p:spPr>
      </p:sp>
      <p:sp>
        <p:nvSpPr>
          <p:cNvPr id="7" name="Text 5"/>
          <p:cNvSpPr/>
          <p:nvPr/>
        </p:nvSpPr>
        <p:spPr>
          <a:xfrm>
            <a:off x="640080" y="146304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8" name="Text 6"/>
          <p:cNvSpPr/>
          <p:nvPr/>
        </p:nvSpPr>
        <p:spPr>
          <a:xfrm>
            <a:off x="1554480" y="1280160"/>
            <a:ext cx="9966960" cy="1097280"/>
          </a:xfrm>
          <a:prstGeom prst="rect">
            <a:avLst/>
          </a:prstGeom>
          <a:noFill/>
          <a:ln/>
        </p:spPr>
        <p:txBody>
          <a:bodyPr wrap="square" lIns="0" tIns="0" rIns="0" bIns="0" rtlCol="0" anchor="ctr"/>
          <a:lstStyle/>
          <a:p>
            <a:pPr indent="0" marL="0">
              <a:buNone/>
            </a:pPr>
            <a:r>
              <a:rPr lang="en-US" sz="1800" dirty="0">
                <a:solidFill>
                  <a:srgbClr val="1F1A33"/>
                </a:solidFill>
                <a:latin typeface="Calibri" pitchFamily="34" charset="0"/>
                <a:ea typeface="Calibri" pitchFamily="34" charset="-122"/>
                <a:cs typeface="Calibri" pitchFamily="34" charset="-120"/>
              </a:rPr>
              <a:t>Transmitting and storing uncompressed images consumes bandwidth and storage capacity.</a:t>
            </a:r>
            <a:endParaRPr lang="en-US" sz="1800" dirty="0"/>
          </a:p>
        </p:txBody>
      </p:sp>
      <p:sp>
        <p:nvSpPr>
          <p:cNvPr id="9" name="Shape 7"/>
          <p:cNvSpPr/>
          <p:nvPr/>
        </p:nvSpPr>
        <p:spPr>
          <a:xfrm>
            <a:off x="640080" y="2697480"/>
            <a:ext cx="685800" cy="685800"/>
          </a:xfrm>
          <a:prstGeom prst="ellipse">
            <a:avLst/>
          </a:prstGeom>
          <a:solidFill>
            <a:srgbClr val="E0457B"/>
          </a:solidFill>
          <a:ln w="12700">
            <a:solidFill>
              <a:srgbClr val="E0457B"/>
            </a:solidFill>
            <a:prstDash val="solid"/>
          </a:ln>
        </p:spPr>
      </p:sp>
      <p:sp>
        <p:nvSpPr>
          <p:cNvPr id="10" name="Text 8"/>
          <p:cNvSpPr/>
          <p:nvPr/>
        </p:nvSpPr>
        <p:spPr>
          <a:xfrm>
            <a:off x="640080" y="269748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1" name="Text 9"/>
          <p:cNvSpPr/>
          <p:nvPr/>
        </p:nvSpPr>
        <p:spPr>
          <a:xfrm>
            <a:off x="1554480" y="2514600"/>
            <a:ext cx="9966960" cy="1097280"/>
          </a:xfrm>
          <a:prstGeom prst="rect">
            <a:avLst/>
          </a:prstGeom>
          <a:noFill/>
          <a:ln/>
        </p:spPr>
        <p:txBody>
          <a:bodyPr wrap="square" lIns="0" tIns="0" rIns="0" bIns="0" rtlCol="0" anchor="ctr"/>
          <a:lstStyle/>
          <a:p>
            <a:pPr indent="0" marL="0">
              <a:buNone/>
            </a:pPr>
            <a:r>
              <a:rPr lang="en-US" sz="1800" dirty="0">
                <a:solidFill>
                  <a:srgbClr val="1F1A33"/>
                </a:solidFill>
                <a:latin typeface="Calibri" pitchFamily="34" charset="0"/>
                <a:ea typeface="Calibri" pitchFamily="34" charset="-122"/>
                <a:cs typeface="Calibri" pitchFamily="34" charset="-120"/>
              </a:rPr>
              <a:t>LBG vector quantization gives a compact representation, but codebook training is computationally expensive: it repeatedly computes distances between training vectors and codewords (about 77% of the sequential time, gray images).</a:t>
            </a:r>
            <a:endParaRPr lang="en-US" sz="1800" dirty="0"/>
          </a:p>
        </p:txBody>
      </p:sp>
      <p:sp>
        <p:nvSpPr>
          <p:cNvPr id="12" name="Shape 10"/>
          <p:cNvSpPr/>
          <p:nvPr/>
        </p:nvSpPr>
        <p:spPr>
          <a:xfrm>
            <a:off x="640080" y="3931920"/>
            <a:ext cx="685800" cy="685800"/>
          </a:xfrm>
          <a:prstGeom prst="ellipse">
            <a:avLst/>
          </a:prstGeom>
          <a:solidFill>
            <a:srgbClr val="E0457B"/>
          </a:solidFill>
          <a:ln w="12700">
            <a:solidFill>
              <a:srgbClr val="E0457B"/>
            </a:solidFill>
            <a:prstDash val="solid"/>
          </a:ln>
        </p:spPr>
      </p:sp>
      <p:sp>
        <p:nvSpPr>
          <p:cNvPr id="13" name="Text 11"/>
          <p:cNvSpPr/>
          <p:nvPr/>
        </p:nvSpPr>
        <p:spPr>
          <a:xfrm>
            <a:off x="640080" y="39319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4" name="Text 12"/>
          <p:cNvSpPr/>
          <p:nvPr/>
        </p:nvSpPr>
        <p:spPr>
          <a:xfrm>
            <a:off x="1554480" y="3749040"/>
            <a:ext cx="9966960" cy="1097280"/>
          </a:xfrm>
          <a:prstGeom prst="rect">
            <a:avLst/>
          </a:prstGeom>
          <a:noFill/>
          <a:ln/>
        </p:spPr>
        <p:txBody>
          <a:bodyPr wrap="square" lIns="0" tIns="0" rIns="0" bIns="0" rtlCol="0" anchor="ctr"/>
          <a:lstStyle/>
          <a:p>
            <a:pPr indent="0" marL="0">
              <a:buNone/>
            </a:pPr>
            <a:r>
              <a:rPr lang="en-US" sz="1800" dirty="0">
                <a:solidFill>
                  <a:srgbClr val="1F1A33"/>
                </a:solidFill>
                <a:latin typeface="Calibri" pitchFamily="34" charset="0"/>
                <a:ea typeface="Calibri" pitchFamily="34" charset="-122"/>
                <a:cs typeface="Calibri" pitchFamily="34" charset="-120"/>
              </a:rPr>
              <a:t>On a hybrid CPU, an equal distribution of training vectors causes workload imbalance: the faster P-cores finish early and wait for the slower E-cores at synchronization points.</a:t>
            </a:r>
            <a:endParaRPr lang="en-US" sz="1800" dirty="0"/>
          </a:p>
        </p:txBody>
      </p:sp>
      <p:sp>
        <p:nvSpPr>
          <p:cNvPr id="15" name="Shape 13"/>
          <p:cNvSpPr/>
          <p:nvPr/>
        </p:nvSpPr>
        <p:spPr>
          <a:xfrm>
            <a:off x="640080" y="5074920"/>
            <a:ext cx="10927080" cy="1280160"/>
          </a:xfrm>
          <a:prstGeom prst="roundRect">
            <a:avLst>
              <a:gd name="adj" fmla="val 7143"/>
            </a:avLst>
          </a:prstGeom>
          <a:solidFill>
            <a:srgbClr val="E0457B"/>
          </a:solidFill>
          <a:ln w="12700">
            <a:solidFill>
              <a:srgbClr val="E0457B"/>
            </a:solidFill>
            <a:prstDash val="solid"/>
          </a:ln>
        </p:spPr>
      </p:sp>
      <p:sp>
        <p:nvSpPr>
          <p:cNvPr id="16" name="Text 14"/>
          <p:cNvSpPr/>
          <p:nvPr/>
        </p:nvSpPr>
        <p:spPr>
          <a:xfrm>
            <a:off x="868680" y="5074920"/>
            <a:ext cx="10469880" cy="12801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Reduce LBG training and total compression time through speed-aware workload distribution, while preserving the compression ratio and the reconstruction quality of the sequential implementation.</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2286000" cy="502920"/>
          </a:xfrm>
          <a:prstGeom prst="roundRect">
            <a:avLst>
              <a:gd name="adj" fmla="val 18182"/>
            </a:avLst>
          </a:prstGeom>
          <a:solidFill>
            <a:srgbClr val="E0457B"/>
          </a:solidFill>
          <a:ln w="12700">
            <a:solidFill>
              <a:srgbClr val="E0457B"/>
            </a:solidFill>
            <a:prstDash val="solid"/>
          </a:ln>
        </p:spPr>
      </p:sp>
      <p:sp>
        <p:nvSpPr>
          <p:cNvPr id="3" name="Text 1"/>
          <p:cNvSpPr/>
          <p:nvPr/>
        </p:nvSpPr>
        <p:spPr>
          <a:xfrm>
            <a:off x="457200" y="320040"/>
            <a:ext cx="228600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Objectives</a:t>
            </a:r>
            <a:endParaRPr lang="en-US" sz="1600" dirty="0"/>
          </a:p>
        </p:txBody>
      </p:sp>
      <p:sp>
        <p:nvSpPr>
          <p:cNvPr id="4" name="Text 2"/>
          <p:cNvSpPr/>
          <p:nvPr/>
        </p:nvSpPr>
        <p:spPr>
          <a:xfrm>
            <a:off x="2926080" y="274320"/>
            <a:ext cx="923544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Thesis Objectives</a:t>
            </a:r>
            <a:endParaRPr lang="en-US" sz="2800" dirty="0"/>
          </a:p>
        </p:txBody>
      </p:sp>
      <p:sp>
        <p:nvSpPr>
          <p:cNvPr id="5" name="Shape 3"/>
          <p:cNvSpPr/>
          <p:nvPr/>
        </p:nvSpPr>
        <p:spPr>
          <a:xfrm>
            <a:off x="457200" y="960120"/>
            <a:ext cx="11274552" cy="36576"/>
          </a:xfrm>
          <a:prstGeom prst="rect">
            <a:avLst/>
          </a:prstGeom>
          <a:solidFill>
            <a:srgbClr val="E0457B"/>
          </a:solidFill>
          <a:ln w="12700">
            <a:solidFill>
              <a:srgbClr val="E0457B"/>
            </a:solidFill>
            <a:prstDash val="solid"/>
          </a:ln>
        </p:spPr>
      </p:sp>
      <p:sp>
        <p:nvSpPr>
          <p:cNvPr id="6" name="Shape 4"/>
          <p:cNvSpPr/>
          <p:nvPr/>
        </p:nvSpPr>
        <p:spPr>
          <a:xfrm>
            <a:off x="640080" y="1234440"/>
            <a:ext cx="10927080" cy="1143000"/>
          </a:xfrm>
          <a:prstGeom prst="roundRect">
            <a:avLst>
              <a:gd name="adj" fmla="val 8000"/>
            </a:avLst>
          </a:prstGeom>
          <a:solidFill>
            <a:srgbClr val="FFFFFF"/>
          </a:solidFill>
          <a:ln w="22225">
            <a:solidFill>
              <a:srgbClr val="6B4FA3"/>
            </a:solidFill>
            <a:prstDash val="solid"/>
          </a:ln>
        </p:spPr>
      </p:sp>
      <p:sp>
        <p:nvSpPr>
          <p:cNvPr id="7" name="Shape 5"/>
          <p:cNvSpPr/>
          <p:nvPr/>
        </p:nvSpPr>
        <p:spPr>
          <a:xfrm>
            <a:off x="658368" y="1252728"/>
            <a:ext cx="109728" cy="1106424"/>
          </a:xfrm>
          <a:prstGeom prst="rect">
            <a:avLst/>
          </a:prstGeom>
          <a:solidFill>
            <a:srgbClr val="6B4FA3"/>
          </a:solidFill>
          <a:ln w="12700">
            <a:solidFill>
              <a:srgbClr val="6B4FA3"/>
            </a:solidFill>
            <a:prstDash val="solid"/>
          </a:ln>
        </p:spPr>
      </p:sp>
      <p:sp>
        <p:nvSpPr>
          <p:cNvPr id="8" name="Text 6"/>
          <p:cNvSpPr/>
          <p:nvPr/>
        </p:nvSpPr>
        <p:spPr>
          <a:xfrm>
            <a:off x="914400" y="1280160"/>
            <a:ext cx="10515600" cy="1051560"/>
          </a:xfrm>
          <a:prstGeom prst="rect">
            <a:avLst/>
          </a:prstGeom>
          <a:noFill/>
          <a:ln/>
        </p:spPr>
        <p:txBody>
          <a:bodyPr wrap="square" lIns="635" tIns="635" rIns="635" bIns="635" rtlCol="0" anchor="ctr"/>
          <a:lstStyle/>
          <a:p>
            <a:pPr indent="0" marL="0">
              <a:spcAft>
                <a:spcPts val="600"/>
              </a:spcAft>
              <a:buNone/>
            </a:pPr>
            <a:r>
              <a:rPr lang="en-US" sz="1900" b="1" dirty="0">
                <a:solidFill>
                  <a:srgbClr val="6B4FA3"/>
                </a:solidFill>
                <a:latin typeface="Calibri" pitchFamily="34" charset="0"/>
                <a:ea typeface="Calibri" pitchFamily="34" charset="-122"/>
                <a:cs typeface="Calibri" pitchFamily="34" charset="-120"/>
              </a:rPr>
              <a:t>1. Image Compression Framework Development</a:t>
            </a:r>
            <a:endParaRPr lang="en-US" sz="1900" dirty="0"/>
          </a:p>
          <a:p>
            <a:pPr indent="0" marL="0">
              <a:spcAft>
                <a:spcPts val="600"/>
              </a:spcAft>
              <a:buNone/>
            </a:pPr>
            <a:r>
              <a:rPr lang="en-US" sz="1500" dirty="0">
                <a:solidFill>
                  <a:srgbClr val="1F1A33"/>
                </a:solidFill>
                <a:latin typeface="Calibri" pitchFamily="34" charset="0"/>
                <a:ea typeface="Calibri" pitchFamily="34" charset="-122"/>
                <a:cs typeface="Calibri" pitchFamily="34" charset="-120"/>
              </a:rPr>
              <a:t>To compress grayscale and color images by combining LBG vector quantization, delta coding, and Huffman coding.</a:t>
            </a:r>
            <a:endParaRPr lang="en-US" sz="1900" dirty="0"/>
          </a:p>
        </p:txBody>
      </p:sp>
      <p:sp>
        <p:nvSpPr>
          <p:cNvPr id="9" name="Shape 7"/>
          <p:cNvSpPr/>
          <p:nvPr/>
        </p:nvSpPr>
        <p:spPr>
          <a:xfrm>
            <a:off x="640080" y="2514600"/>
            <a:ext cx="10927080" cy="1143000"/>
          </a:xfrm>
          <a:prstGeom prst="roundRect">
            <a:avLst>
              <a:gd name="adj" fmla="val 8000"/>
            </a:avLst>
          </a:prstGeom>
          <a:solidFill>
            <a:srgbClr val="FFFFFF"/>
          </a:solidFill>
          <a:ln w="22225">
            <a:solidFill>
              <a:srgbClr val="E07B22"/>
            </a:solidFill>
            <a:prstDash val="solid"/>
          </a:ln>
        </p:spPr>
      </p:sp>
      <p:sp>
        <p:nvSpPr>
          <p:cNvPr id="10" name="Shape 8"/>
          <p:cNvSpPr/>
          <p:nvPr/>
        </p:nvSpPr>
        <p:spPr>
          <a:xfrm>
            <a:off x="658368" y="2532888"/>
            <a:ext cx="109728" cy="1106424"/>
          </a:xfrm>
          <a:prstGeom prst="rect">
            <a:avLst/>
          </a:prstGeom>
          <a:solidFill>
            <a:srgbClr val="E07B22"/>
          </a:solidFill>
          <a:ln w="12700">
            <a:solidFill>
              <a:srgbClr val="E07B22"/>
            </a:solidFill>
            <a:prstDash val="solid"/>
          </a:ln>
        </p:spPr>
      </p:sp>
      <p:sp>
        <p:nvSpPr>
          <p:cNvPr id="11" name="Text 9"/>
          <p:cNvSpPr/>
          <p:nvPr/>
        </p:nvSpPr>
        <p:spPr>
          <a:xfrm>
            <a:off x="914400" y="2560320"/>
            <a:ext cx="10515600" cy="1051560"/>
          </a:xfrm>
          <a:prstGeom prst="rect">
            <a:avLst/>
          </a:prstGeom>
          <a:noFill/>
          <a:ln/>
        </p:spPr>
        <p:txBody>
          <a:bodyPr wrap="square" lIns="635" tIns="635" rIns="635" bIns="635" rtlCol="0" anchor="ctr"/>
          <a:lstStyle/>
          <a:p>
            <a:pPr indent="0" marL="0">
              <a:spcAft>
                <a:spcPts val="600"/>
              </a:spcAft>
              <a:buNone/>
            </a:pPr>
            <a:r>
              <a:rPr lang="en-US" sz="1900" b="1" dirty="0">
                <a:solidFill>
                  <a:srgbClr val="E07B22"/>
                </a:solidFill>
                <a:latin typeface="Calibri" pitchFamily="34" charset="0"/>
                <a:ea typeface="Calibri" pitchFamily="34" charset="-122"/>
                <a:cs typeface="Calibri" pitchFamily="34" charset="-120"/>
              </a:rPr>
              <a:t>2. LBG Execution-Time Reduction</a:t>
            </a:r>
            <a:endParaRPr lang="en-US" sz="1900" dirty="0"/>
          </a:p>
          <a:p>
            <a:pPr indent="0" marL="0">
              <a:spcAft>
                <a:spcPts val="600"/>
              </a:spcAft>
              <a:buNone/>
            </a:pPr>
            <a:r>
              <a:rPr lang="en-US" sz="1500" dirty="0">
                <a:solidFill>
                  <a:srgbClr val="1F1A33"/>
                </a:solidFill>
                <a:latin typeface="Calibri" pitchFamily="34" charset="0"/>
                <a:ea typeface="Calibri" pitchFamily="34" charset="-122"/>
                <a:cs typeface="Calibri" pitchFamily="34" charset="-120"/>
              </a:rPr>
              <a:t>To reduce codebook-training time by parallelizing the computationally intensive operations of LBG using MPI.</a:t>
            </a:r>
            <a:endParaRPr lang="en-US" sz="1900" dirty="0"/>
          </a:p>
        </p:txBody>
      </p:sp>
      <p:sp>
        <p:nvSpPr>
          <p:cNvPr id="12" name="Shape 10"/>
          <p:cNvSpPr/>
          <p:nvPr/>
        </p:nvSpPr>
        <p:spPr>
          <a:xfrm>
            <a:off x="640080" y="3794760"/>
            <a:ext cx="10927080" cy="1143000"/>
          </a:xfrm>
          <a:prstGeom prst="roundRect">
            <a:avLst>
              <a:gd name="adj" fmla="val 8000"/>
            </a:avLst>
          </a:prstGeom>
          <a:solidFill>
            <a:srgbClr val="FFFFFF"/>
          </a:solidFill>
          <a:ln w="22225">
            <a:solidFill>
              <a:srgbClr val="2A9D8F"/>
            </a:solidFill>
            <a:prstDash val="solid"/>
          </a:ln>
        </p:spPr>
      </p:sp>
      <p:sp>
        <p:nvSpPr>
          <p:cNvPr id="13" name="Shape 11"/>
          <p:cNvSpPr/>
          <p:nvPr/>
        </p:nvSpPr>
        <p:spPr>
          <a:xfrm>
            <a:off x="658368" y="3813048"/>
            <a:ext cx="109728" cy="1106424"/>
          </a:xfrm>
          <a:prstGeom prst="rect">
            <a:avLst/>
          </a:prstGeom>
          <a:solidFill>
            <a:srgbClr val="2A9D8F"/>
          </a:solidFill>
          <a:ln w="12700">
            <a:solidFill>
              <a:srgbClr val="2A9D8F"/>
            </a:solidFill>
            <a:prstDash val="solid"/>
          </a:ln>
        </p:spPr>
      </p:sp>
      <p:sp>
        <p:nvSpPr>
          <p:cNvPr id="14" name="Text 12"/>
          <p:cNvSpPr/>
          <p:nvPr/>
        </p:nvSpPr>
        <p:spPr>
          <a:xfrm>
            <a:off x="914400" y="3840480"/>
            <a:ext cx="10515600" cy="1051560"/>
          </a:xfrm>
          <a:prstGeom prst="rect">
            <a:avLst/>
          </a:prstGeom>
          <a:noFill/>
          <a:ln/>
        </p:spPr>
        <p:txBody>
          <a:bodyPr wrap="square" lIns="635" tIns="635" rIns="635" bIns="635" rtlCol="0" anchor="ctr"/>
          <a:lstStyle/>
          <a:p>
            <a:pPr indent="0" marL="0">
              <a:spcAft>
                <a:spcPts val="600"/>
              </a:spcAft>
              <a:buNone/>
            </a:pPr>
            <a:r>
              <a:rPr lang="en-US" sz="1900" b="1" dirty="0">
                <a:solidFill>
                  <a:srgbClr val="2A9D8F"/>
                </a:solidFill>
                <a:latin typeface="Calibri" pitchFamily="34" charset="0"/>
                <a:ea typeface="Calibri" pitchFamily="34" charset="-122"/>
                <a:cs typeface="Calibri" pitchFamily="34" charset="-120"/>
              </a:rPr>
              <a:t>3. Workload Distribution Improvement</a:t>
            </a:r>
            <a:endParaRPr lang="en-US" sz="1900" dirty="0"/>
          </a:p>
          <a:p>
            <a:pPr indent="0" marL="0">
              <a:spcAft>
                <a:spcPts val="600"/>
              </a:spcAft>
              <a:buNone/>
            </a:pPr>
            <a:r>
              <a:rPr lang="en-US" sz="1500" dirty="0">
                <a:solidFill>
                  <a:srgbClr val="1F1A33"/>
                </a:solidFill>
                <a:latin typeface="Calibri" pitchFamily="34" charset="0"/>
                <a:ea typeface="Calibri" pitchFamily="34" charset="-122"/>
                <a:cs typeface="Calibri" pitchFamily="34" charset="-120"/>
              </a:rPr>
              <a:t>To distribute the training vectors according to the measured throughput of each MPI process on the P-cores and E-cores, and to improve performance compared with equal distribution.</a:t>
            </a:r>
            <a:endParaRPr lang="en-US" sz="1900" dirty="0"/>
          </a:p>
        </p:txBody>
      </p:sp>
      <p:sp>
        <p:nvSpPr>
          <p:cNvPr id="15" name="Shape 13"/>
          <p:cNvSpPr/>
          <p:nvPr/>
        </p:nvSpPr>
        <p:spPr>
          <a:xfrm>
            <a:off x="640080" y="5074920"/>
            <a:ext cx="10927080" cy="1143000"/>
          </a:xfrm>
          <a:prstGeom prst="roundRect">
            <a:avLst>
              <a:gd name="adj" fmla="val 8000"/>
            </a:avLst>
          </a:prstGeom>
          <a:solidFill>
            <a:srgbClr val="FFFFFF"/>
          </a:solidFill>
          <a:ln w="22225">
            <a:solidFill>
              <a:srgbClr val="E0457B"/>
            </a:solidFill>
            <a:prstDash val="solid"/>
          </a:ln>
        </p:spPr>
      </p:sp>
      <p:sp>
        <p:nvSpPr>
          <p:cNvPr id="16" name="Shape 14"/>
          <p:cNvSpPr/>
          <p:nvPr/>
        </p:nvSpPr>
        <p:spPr>
          <a:xfrm>
            <a:off x="658368" y="5093208"/>
            <a:ext cx="109728" cy="1106424"/>
          </a:xfrm>
          <a:prstGeom prst="rect">
            <a:avLst/>
          </a:prstGeom>
          <a:solidFill>
            <a:srgbClr val="E0457B"/>
          </a:solidFill>
          <a:ln w="12700">
            <a:solidFill>
              <a:srgbClr val="E0457B"/>
            </a:solidFill>
            <a:prstDash val="solid"/>
          </a:ln>
        </p:spPr>
      </p:sp>
      <p:sp>
        <p:nvSpPr>
          <p:cNvPr id="17" name="Text 15"/>
          <p:cNvSpPr/>
          <p:nvPr/>
        </p:nvSpPr>
        <p:spPr>
          <a:xfrm>
            <a:off x="914400" y="5120640"/>
            <a:ext cx="10515600" cy="1051560"/>
          </a:xfrm>
          <a:prstGeom prst="rect">
            <a:avLst/>
          </a:prstGeom>
          <a:noFill/>
          <a:ln/>
        </p:spPr>
        <p:txBody>
          <a:bodyPr wrap="square" lIns="635" tIns="635" rIns="635" bIns="635" rtlCol="0" anchor="ctr"/>
          <a:lstStyle/>
          <a:p>
            <a:pPr indent="0" marL="0">
              <a:spcAft>
                <a:spcPts val="600"/>
              </a:spcAft>
              <a:buNone/>
            </a:pPr>
            <a:r>
              <a:rPr lang="en-US" sz="1900" b="1" dirty="0">
                <a:solidFill>
                  <a:srgbClr val="E0457B"/>
                </a:solidFill>
                <a:latin typeface="Calibri" pitchFamily="34" charset="0"/>
                <a:ea typeface="Calibri" pitchFamily="34" charset="-122"/>
                <a:cs typeface="Calibri" pitchFamily="34" charset="-120"/>
              </a:rPr>
              <a:t>4. Performance Evaluation and Result Verification</a:t>
            </a:r>
            <a:endParaRPr lang="en-US" sz="1900" dirty="0"/>
          </a:p>
          <a:p>
            <a:pPr indent="0" marL="0">
              <a:spcAft>
                <a:spcPts val="600"/>
              </a:spcAft>
              <a:buNone/>
            </a:pPr>
            <a:r>
              <a:rPr lang="en-US" sz="1500" dirty="0">
                <a:solidFill>
                  <a:srgbClr val="1F1A33"/>
                </a:solidFill>
                <a:latin typeface="Calibri" pitchFamily="34" charset="0"/>
                <a:ea typeface="Calibri" pitchFamily="34" charset="-122"/>
                <a:cs typeface="Calibri" pitchFamily="34" charset="-120"/>
              </a:rPr>
              <a:t>To evaluate compression, reconstruction quality and parallel performance, and to verify that the parallel results match the sequential implementation.</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11503152" cy="1417320"/>
          </a:xfrm>
          <a:prstGeom prst="roundRect">
            <a:avLst>
              <a:gd name="adj" fmla="val 6452"/>
            </a:avLst>
          </a:prstGeom>
          <a:solidFill>
            <a:srgbClr val="E3EEFA"/>
          </a:solidFill>
          <a:ln w="12700">
            <a:solidFill>
              <a:srgbClr val="2F6FB5"/>
            </a:solidFill>
            <a:prstDash val="solid"/>
          </a:ln>
        </p:spPr>
      </p:sp>
      <p:sp>
        <p:nvSpPr>
          <p:cNvPr id="3" name="Shape 1"/>
          <p:cNvSpPr/>
          <p:nvPr/>
        </p:nvSpPr>
        <p:spPr>
          <a:xfrm>
            <a:off x="365760" y="228600"/>
            <a:ext cx="2240280" cy="1325880"/>
          </a:xfrm>
          <a:prstGeom prst="roundRect">
            <a:avLst>
              <a:gd name="adj" fmla="val 5517"/>
            </a:avLst>
          </a:prstGeom>
          <a:solidFill>
            <a:srgbClr val="2F6FB5"/>
          </a:solidFill>
          <a:ln w="12700">
            <a:solidFill>
              <a:srgbClr val="2F6FB5"/>
            </a:solidFill>
            <a:prstDash val="solid"/>
          </a:ln>
        </p:spPr>
      </p:sp>
      <p:sp>
        <p:nvSpPr>
          <p:cNvPr id="4" name="Text 2"/>
          <p:cNvSpPr/>
          <p:nvPr/>
        </p:nvSpPr>
        <p:spPr>
          <a:xfrm>
            <a:off x="365760" y="228600"/>
            <a:ext cx="2240280" cy="1005840"/>
          </a:xfrm>
          <a:prstGeom prst="rect">
            <a:avLst/>
          </a:prstGeom>
          <a:noFill/>
          <a:ln/>
        </p:spPr>
        <p:txBody>
          <a:bodyPr wrap="square" lIns="762" tIns="762" rIns="762" bIns="762"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Stage 1</a:t>
            </a:r>
            <a:endParaRPr lang="en-US" sz="2200" dirty="0"/>
          </a:p>
          <a:p>
            <a:pPr algn="ctr" indent="0" marL="0">
              <a:buNone/>
            </a:pPr>
            <a:r>
              <a:rPr lang="en-US" sz="1500" dirty="0">
                <a:solidFill>
                  <a:srgbClr val="FFFFFF"/>
                </a:solidFill>
                <a:latin typeface="Calibri" pitchFamily="34" charset="0"/>
                <a:ea typeface="Calibri" pitchFamily="34" charset="-122"/>
                <a:cs typeface="Calibri" pitchFamily="34" charset="-120"/>
              </a:rPr>
              <a:t>Block</a:t>
            </a:r>
            <a:endParaRPr lang="en-US" sz="2200" dirty="0"/>
          </a:p>
          <a:p>
            <a:pPr algn="ctr" indent="0" marL="0">
              <a:buNone/>
            </a:pPr>
            <a:r>
              <a:rPr lang="en-US" sz="1500" dirty="0">
                <a:solidFill>
                  <a:srgbClr val="FFFFFF"/>
                </a:solidFill>
                <a:latin typeface="Calibri" pitchFamily="34" charset="0"/>
                <a:ea typeface="Calibri" pitchFamily="34" charset="-122"/>
                <a:cs typeface="Calibri" pitchFamily="34" charset="-120"/>
              </a:rPr>
              <a:t>Formation</a:t>
            </a:r>
            <a:endParaRPr lang="en-US" sz="2200" dirty="0"/>
          </a:p>
        </p:txBody>
      </p:sp>
      <p:sp>
        <p:nvSpPr>
          <p:cNvPr id="5" name="Shape 3"/>
          <p:cNvSpPr/>
          <p:nvPr/>
        </p:nvSpPr>
        <p:spPr>
          <a:xfrm>
            <a:off x="475488" y="1188720"/>
            <a:ext cx="2020824" cy="292608"/>
          </a:xfrm>
          <a:prstGeom prst="roundRect">
            <a:avLst>
              <a:gd name="adj" fmla="val 50000"/>
            </a:avLst>
          </a:prstGeom>
          <a:solidFill>
            <a:srgbClr val="FFFFFF"/>
          </a:solidFill>
          <a:ln w="12700">
            <a:solidFill>
              <a:srgbClr val="FFFFFF"/>
            </a:solidFill>
            <a:prstDash val="solid"/>
          </a:ln>
        </p:spPr>
      </p:sp>
      <p:sp>
        <p:nvSpPr>
          <p:cNvPr id="6" name="Text 4"/>
          <p:cNvSpPr/>
          <p:nvPr/>
        </p:nvSpPr>
        <p:spPr>
          <a:xfrm>
            <a:off x="475488" y="1188720"/>
            <a:ext cx="2020824" cy="292608"/>
          </a:xfrm>
          <a:prstGeom prst="rect">
            <a:avLst/>
          </a:prstGeom>
          <a:noFill/>
          <a:ln/>
        </p:spPr>
        <p:txBody>
          <a:bodyPr wrap="square" lIns="0" tIns="0" rIns="0" bIns="0" rtlCol="0" anchor="ctr"/>
          <a:lstStyle/>
          <a:p>
            <a:pPr algn="ctr" indent="0" marL="0">
              <a:buNone/>
            </a:pPr>
            <a:r>
              <a:rPr lang="en-US" sz="1200" b="1" dirty="0">
                <a:solidFill>
                  <a:srgbClr val="5B6770"/>
                </a:solidFill>
                <a:latin typeface="Calibri" pitchFamily="34" charset="0"/>
                <a:ea typeface="Calibri" pitchFamily="34" charset="-122"/>
                <a:cs typeface="Calibri" pitchFamily="34" charset="-120"/>
              </a:rPr>
              <a:t>SEQUENTIAL: Rank 0</a:t>
            </a:r>
            <a:endParaRPr lang="en-US" sz="1200" dirty="0"/>
          </a:p>
        </p:txBody>
      </p:sp>
      <p:sp>
        <p:nvSpPr>
          <p:cNvPr id="7" name="Shape 5"/>
          <p:cNvSpPr/>
          <p:nvPr/>
        </p:nvSpPr>
        <p:spPr>
          <a:xfrm>
            <a:off x="2788920" y="320040"/>
            <a:ext cx="2011680" cy="1143000"/>
          </a:xfrm>
          <a:prstGeom prst="roundRect">
            <a:avLst>
              <a:gd name="adj" fmla="val 6400"/>
            </a:avLst>
          </a:prstGeom>
          <a:solidFill>
            <a:srgbClr val="FFFFFF"/>
          </a:solidFill>
          <a:ln w="19050">
            <a:solidFill>
              <a:srgbClr val="2F6FB5"/>
            </a:solidFill>
            <a:prstDash val="solid"/>
          </a:ln>
        </p:spPr>
      </p:sp>
      <p:sp>
        <p:nvSpPr>
          <p:cNvPr id="8" name="Text 6"/>
          <p:cNvSpPr/>
          <p:nvPr/>
        </p:nvSpPr>
        <p:spPr>
          <a:xfrm>
            <a:off x="2788920" y="320040"/>
            <a:ext cx="2011680" cy="1143000"/>
          </a:xfrm>
          <a:prstGeom prst="rect">
            <a:avLst/>
          </a:prstGeom>
          <a:noFill/>
          <a:ln/>
        </p:spPr>
        <p:txBody>
          <a:bodyPr wrap="square" lIns="635" tIns="635" rIns="635" bIns="635" rtlCol="0" anchor="ctr"/>
          <a:lstStyle/>
          <a:p>
            <a:pPr algn="ctr" indent="0" marL="0">
              <a:buNone/>
            </a:pPr>
            <a:r>
              <a:rPr lang="en-US" sz="1600" b="1" dirty="0">
                <a:solidFill>
                  <a:srgbClr val="2F6FB5"/>
                </a:solidFill>
                <a:latin typeface="Calibri" pitchFamily="34" charset="0"/>
                <a:ea typeface="Calibri" pitchFamily="34" charset="-122"/>
                <a:cs typeface="Calibri" pitchFamily="34" charset="-120"/>
              </a:rPr>
              <a:t>1. Input image</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512×512,</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gray / color</a:t>
            </a:r>
            <a:endParaRPr lang="en-US" sz="1600" dirty="0"/>
          </a:p>
        </p:txBody>
      </p:sp>
      <p:sp>
        <p:nvSpPr>
          <p:cNvPr id="9" name="Shape 7"/>
          <p:cNvSpPr/>
          <p:nvPr/>
        </p:nvSpPr>
        <p:spPr>
          <a:xfrm>
            <a:off x="4828032" y="772668"/>
            <a:ext cx="219456" cy="237744"/>
          </a:xfrm>
          <a:prstGeom prst="rightArrow">
            <a:avLst/>
          </a:prstGeom>
          <a:solidFill>
            <a:srgbClr val="1F1A33"/>
          </a:solidFill>
          <a:ln w="12700">
            <a:solidFill>
              <a:srgbClr val="1F1A33"/>
            </a:solidFill>
            <a:prstDash val="solid"/>
          </a:ln>
        </p:spPr>
      </p:sp>
      <p:sp>
        <p:nvSpPr>
          <p:cNvPr id="10" name="Shape 8"/>
          <p:cNvSpPr/>
          <p:nvPr/>
        </p:nvSpPr>
        <p:spPr>
          <a:xfrm>
            <a:off x="5074920" y="320040"/>
            <a:ext cx="2011680" cy="1143000"/>
          </a:xfrm>
          <a:prstGeom prst="roundRect">
            <a:avLst>
              <a:gd name="adj" fmla="val 6400"/>
            </a:avLst>
          </a:prstGeom>
          <a:solidFill>
            <a:srgbClr val="FFFFFF"/>
          </a:solidFill>
          <a:ln w="19050">
            <a:solidFill>
              <a:srgbClr val="2F6FB5"/>
            </a:solidFill>
            <a:prstDash val="solid"/>
          </a:ln>
        </p:spPr>
      </p:sp>
      <p:sp>
        <p:nvSpPr>
          <p:cNvPr id="11" name="Text 9"/>
          <p:cNvSpPr/>
          <p:nvPr/>
        </p:nvSpPr>
        <p:spPr>
          <a:xfrm>
            <a:off x="5074920" y="320040"/>
            <a:ext cx="2011680" cy="1143000"/>
          </a:xfrm>
          <a:prstGeom prst="rect">
            <a:avLst/>
          </a:prstGeom>
          <a:noFill/>
          <a:ln/>
        </p:spPr>
        <p:txBody>
          <a:bodyPr wrap="square" lIns="635" tIns="635" rIns="635" bIns="635" rtlCol="0" anchor="ctr"/>
          <a:lstStyle/>
          <a:p>
            <a:pPr algn="ctr" indent="0" marL="0">
              <a:buNone/>
            </a:pPr>
            <a:r>
              <a:rPr lang="en-US" sz="1600" b="1" dirty="0">
                <a:solidFill>
                  <a:srgbClr val="2F6FB5"/>
                </a:solidFill>
                <a:latin typeface="Calibri" pitchFamily="34" charset="0"/>
                <a:ea typeface="Calibri" pitchFamily="34" charset="-122"/>
                <a:cs typeface="Calibri" pitchFamily="34" charset="-120"/>
              </a:rPr>
              <a:t>2. 4×4 blocks</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non-overlapping</a:t>
            </a:r>
            <a:endParaRPr lang="en-US" sz="1600" dirty="0"/>
          </a:p>
        </p:txBody>
      </p:sp>
      <p:sp>
        <p:nvSpPr>
          <p:cNvPr id="12" name="Shape 10"/>
          <p:cNvSpPr/>
          <p:nvPr/>
        </p:nvSpPr>
        <p:spPr>
          <a:xfrm>
            <a:off x="7114032" y="772668"/>
            <a:ext cx="219456" cy="237744"/>
          </a:xfrm>
          <a:prstGeom prst="rightArrow">
            <a:avLst/>
          </a:prstGeom>
          <a:solidFill>
            <a:srgbClr val="1F1A33"/>
          </a:solidFill>
          <a:ln w="12700">
            <a:solidFill>
              <a:srgbClr val="1F1A33"/>
            </a:solidFill>
            <a:prstDash val="solid"/>
          </a:ln>
        </p:spPr>
      </p:sp>
      <p:sp>
        <p:nvSpPr>
          <p:cNvPr id="13" name="Shape 11"/>
          <p:cNvSpPr/>
          <p:nvPr/>
        </p:nvSpPr>
        <p:spPr>
          <a:xfrm>
            <a:off x="7360920" y="320040"/>
            <a:ext cx="2011680" cy="1143000"/>
          </a:xfrm>
          <a:prstGeom prst="roundRect">
            <a:avLst>
              <a:gd name="adj" fmla="val 6400"/>
            </a:avLst>
          </a:prstGeom>
          <a:solidFill>
            <a:srgbClr val="FFFFFF"/>
          </a:solidFill>
          <a:ln w="19050">
            <a:solidFill>
              <a:srgbClr val="2F6FB5"/>
            </a:solidFill>
            <a:prstDash val="solid"/>
          </a:ln>
        </p:spPr>
      </p:sp>
      <p:sp>
        <p:nvSpPr>
          <p:cNvPr id="14" name="Text 12"/>
          <p:cNvSpPr/>
          <p:nvPr/>
        </p:nvSpPr>
        <p:spPr>
          <a:xfrm>
            <a:off x="7360920" y="320040"/>
            <a:ext cx="2011680" cy="1143000"/>
          </a:xfrm>
          <a:prstGeom prst="rect">
            <a:avLst/>
          </a:prstGeom>
          <a:noFill/>
          <a:ln/>
        </p:spPr>
        <p:txBody>
          <a:bodyPr wrap="square" lIns="635" tIns="635" rIns="635" bIns="635" rtlCol="0" anchor="ctr"/>
          <a:lstStyle/>
          <a:p>
            <a:pPr algn="ctr" indent="0" marL="0">
              <a:buNone/>
            </a:pPr>
            <a:r>
              <a:rPr lang="en-US" sz="1600" b="1" dirty="0">
                <a:solidFill>
                  <a:srgbClr val="2F6FB5"/>
                </a:solidFill>
                <a:latin typeface="Calibri" pitchFamily="34" charset="0"/>
                <a:ea typeface="Calibri" pitchFamily="34" charset="-122"/>
                <a:cs typeface="Calibri" pitchFamily="34" charset="-120"/>
              </a:rPr>
              <a:t>3. Training vectors</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16-D, N = 16,384</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per channel</a:t>
            </a:r>
            <a:endParaRPr lang="en-US" sz="1600" dirty="0"/>
          </a:p>
        </p:txBody>
      </p:sp>
      <p:sp>
        <p:nvSpPr>
          <p:cNvPr id="15" name="Text 13"/>
          <p:cNvSpPr/>
          <p:nvPr/>
        </p:nvSpPr>
        <p:spPr>
          <a:xfrm>
            <a:off x="6355080" y="1591056"/>
            <a:ext cx="5394960" cy="228600"/>
          </a:xfrm>
          <a:prstGeom prst="rect">
            <a:avLst/>
          </a:prstGeom>
          <a:noFill/>
          <a:ln/>
        </p:spPr>
        <p:txBody>
          <a:bodyPr wrap="square" lIns="0" tIns="0" rIns="0" bIns="0" rtlCol="0" anchor="ctr"/>
          <a:lstStyle/>
          <a:p>
            <a:pPr indent="0" marL="0">
              <a:buNone/>
            </a:pPr>
            <a:r>
              <a:rPr lang="en-US" sz="1300" b="1" i="1" dirty="0">
                <a:solidFill>
                  <a:srgbClr val="E0457B"/>
                </a:solidFill>
                <a:latin typeface="Calibri" pitchFamily="34" charset="0"/>
                <a:ea typeface="Calibri" pitchFamily="34" charset="-122"/>
                <a:cs typeface="Calibri" pitchFamily="34" charset="-120"/>
              </a:rPr>
              <a:t>16,384 training vectors per channel (16-D)</a:t>
            </a:r>
            <a:endParaRPr lang="en-US" sz="1300" dirty="0"/>
          </a:p>
        </p:txBody>
      </p:sp>
      <p:sp>
        <p:nvSpPr>
          <p:cNvPr id="16" name="Shape 14"/>
          <p:cNvSpPr/>
          <p:nvPr/>
        </p:nvSpPr>
        <p:spPr>
          <a:xfrm>
            <a:off x="5989320" y="1609344"/>
            <a:ext cx="237744" cy="192024"/>
          </a:xfrm>
          <a:prstGeom prst="downArrow">
            <a:avLst/>
          </a:prstGeom>
          <a:solidFill>
            <a:srgbClr val="1F1A33"/>
          </a:solidFill>
          <a:ln w="12700">
            <a:solidFill>
              <a:srgbClr val="1F1A33"/>
            </a:solidFill>
            <a:prstDash val="solid"/>
          </a:ln>
        </p:spPr>
      </p:sp>
      <p:sp>
        <p:nvSpPr>
          <p:cNvPr id="17" name="Shape 15"/>
          <p:cNvSpPr/>
          <p:nvPr/>
        </p:nvSpPr>
        <p:spPr>
          <a:xfrm>
            <a:off x="320040" y="1810512"/>
            <a:ext cx="11503152" cy="1417320"/>
          </a:xfrm>
          <a:prstGeom prst="roundRect">
            <a:avLst>
              <a:gd name="adj" fmla="val 6452"/>
            </a:avLst>
          </a:prstGeom>
          <a:solidFill>
            <a:srgbClr val="FDEBD9"/>
          </a:solidFill>
          <a:ln w="31750">
            <a:solidFill>
              <a:srgbClr val="E07B22"/>
            </a:solidFill>
            <a:prstDash val="dash"/>
          </a:ln>
        </p:spPr>
      </p:sp>
      <p:sp>
        <p:nvSpPr>
          <p:cNvPr id="18" name="Shape 16"/>
          <p:cNvSpPr/>
          <p:nvPr/>
        </p:nvSpPr>
        <p:spPr>
          <a:xfrm>
            <a:off x="365760" y="1856232"/>
            <a:ext cx="2240280" cy="1325880"/>
          </a:xfrm>
          <a:prstGeom prst="roundRect">
            <a:avLst>
              <a:gd name="adj" fmla="val 5517"/>
            </a:avLst>
          </a:prstGeom>
          <a:solidFill>
            <a:srgbClr val="E07B22"/>
          </a:solidFill>
          <a:ln w="12700">
            <a:solidFill>
              <a:srgbClr val="E07B22"/>
            </a:solidFill>
            <a:prstDash val="solid"/>
          </a:ln>
        </p:spPr>
      </p:sp>
      <p:sp>
        <p:nvSpPr>
          <p:cNvPr id="19" name="Text 17"/>
          <p:cNvSpPr/>
          <p:nvPr/>
        </p:nvSpPr>
        <p:spPr>
          <a:xfrm>
            <a:off x="365760" y="1856232"/>
            <a:ext cx="2240280" cy="1005840"/>
          </a:xfrm>
          <a:prstGeom prst="rect">
            <a:avLst/>
          </a:prstGeom>
          <a:noFill/>
          <a:ln/>
        </p:spPr>
        <p:txBody>
          <a:bodyPr wrap="square" lIns="762" tIns="762" rIns="762" bIns="762"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Stage 2</a:t>
            </a:r>
            <a:endParaRPr lang="en-US" sz="2200" dirty="0"/>
          </a:p>
          <a:p>
            <a:pPr algn="ctr" indent="0" marL="0">
              <a:buNone/>
            </a:pPr>
            <a:r>
              <a:rPr lang="en-US" sz="1500" dirty="0">
                <a:solidFill>
                  <a:srgbClr val="FFFFFF"/>
                </a:solidFill>
                <a:latin typeface="Calibri" pitchFamily="34" charset="0"/>
                <a:ea typeface="Calibri" pitchFamily="34" charset="-122"/>
                <a:cs typeface="Calibri" pitchFamily="34" charset="-120"/>
              </a:rPr>
              <a:t>Parallel LBG</a:t>
            </a:r>
            <a:endParaRPr lang="en-US" sz="2200" dirty="0"/>
          </a:p>
          <a:p>
            <a:pPr algn="ctr" indent="0" marL="0">
              <a:buNone/>
            </a:pPr>
            <a:r>
              <a:rPr lang="en-US" sz="1500" dirty="0">
                <a:solidFill>
                  <a:srgbClr val="FFFFFF"/>
                </a:solidFill>
                <a:latin typeface="Calibri" pitchFamily="34" charset="0"/>
                <a:ea typeface="Calibri" pitchFamily="34" charset="-122"/>
                <a:cs typeface="Calibri" pitchFamily="34" charset="-120"/>
              </a:rPr>
              <a:t>Training (MPI)</a:t>
            </a:r>
            <a:endParaRPr lang="en-US" sz="2200" dirty="0"/>
          </a:p>
        </p:txBody>
      </p:sp>
      <p:sp>
        <p:nvSpPr>
          <p:cNvPr id="20" name="Shape 18"/>
          <p:cNvSpPr/>
          <p:nvPr/>
        </p:nvSpPr>
        <p:spPr>
          <a:xfrm>
            <a:off x="475488" y="2816352"/>
            <a:ext cx="2020824" cy="292608"/>
          </a:xfrm>
          <a:prstGeom prst="roundRect">
            <a:avLst>
              <a:gd name="adj" fmla="val 50000"/>
            </a:avLst>
          </a:prstGeom>
          <a:solidFill>
            <a:srgbClr val="FFFFFF"/>
          </a:solidFill>
          <a:ln w="12700">
            <a:solidFill>
              <a:srgbClr val="FFFFFF"/>
            </a:solidFill>
            <a:prstDash val="solid"/>
          </a:ln>
        </p:spPr>
      </p:sp>
      <p:sp>
        <p:nvSpPr>
          <p:cNvPr id="21" name="Text 19"/>
          <p:cNvSpPr/>
          <p:nvPr/>
        </p:nvSpPr>
        <p:spPr>
          <a:xfrm>
            <a:off x="475488" y="2816352"/>
            <a:ext cx="2020824" cy="292608"/>
          </a:xfrm>
          <a:prstGeom prst="rect">
            <a:avLst/>
          </a:prstGeom>
          <a:noFill/>
          <a:ln/>
        </p:spPr>
        <p:txBody>
          <a:bodyPr wrap="square" lIns="0" tIns="0" rIns="0" bIns="0" rtlCol="0" anchor="ctr"/>
          <a:lstStyle/>
          <a:p>
            <a:pPr algn="ctr" indent="0" marL="0">
              <a:buNone/>
            </a:pPr>
            <a:r>
              <a:rPr lang="en-US" sz="1200" b="1" dirty="0">
                <a:solidFill>
                  <a:srgbClr val="E07B22"/>
                </a:solidFill>
                <a:latin typeface="Calibri" pitchFamily="34" charset="0"/>
                <a:ea typeface="Calibri" pitchFamily="34" charset="-122"/>
                <a:cs typeface="Calibri" pitchFamily="34" charset="-120"/>
              </a:rPr>
              <a:t>PARALLEL: all ranks</a:t>
            </a:r>
            <a:endParaRPr lang="en-US" sz="1200" dirty="0"/>
          </a:p>
        </p:txBody>
      </p:sp>
      <p:sp>
        <p:nvSpPr>
          <p:cNvPr id="22" name="Shape 20"/>
          <p:cNvSpPr/>
          <p:nvPr/>
        </p:nvSpPr>
        <p:spPr>
          <a:xfrm>
            <a:off x="2788920" y="1947672"/>
            <a:ext cx="2011680" cy="1143000"/>
          </a:xfrm>
          <a:prstGeom prst="roundRect">
            <a:avLst>
              <a:gd name="adj" fmla="val 6400"/>
            </a:avLst>
          </a:prstGeom>
          <a:solidFill>
            <a:srgbClr val="FFFFFF"/>
          </a:solidFill>
          <a:ln w="19050">
            <a:solidFill>
              <a:srgbClr val="E07B22"/>
            </a:solidFill>
            <a:prstDash val="solid"/>
          </a:ln>
        </p:spPr>
      </p:sp>
      <p:sp>
        <p:nvSpPr>
          <p:cNvPr id="23" name="Text 21"/>
          <p:cNvSpPr/>
          <p:nvPr/>
        </p:nvSpPr>
        <p:spPr>
          <a:xfrm>
            <a:off x="2788920" y="1947672"/>
            <a:ext cx="2011680" cy="1143000"/>
          </a:xfrm>
          <a:prstGeom prst="rect">
            <a:avLst/>
          </a:prstGeom>
          <a:noFill/>
          <a:ln/>
        </p:spPr>
        <p:txBody>
          <a:bodyPr wrap="square" lIns="635" tIns="635" rIns="635" bIns="635" rtlCol="0" anchor="ctr"/>
          <a:lstStyle/>
          <a:p>
            <a:pPr algn="ctr" indent="0" marL="0">
              <a:buNone/>
            </a:pPr>
            <a:r>
              <a:rPr lang="en-US" sz="1600" b="1" dirty="0">
                <a:solidFill>
                  <a:srgbClr val="E07B22"/>
                </a:solidFill>
                <a:latin typeface="Calibri" pitchFamily="34" charset="0"/>
                <a:ea typeface="Calibri" pitchFamily="34" charset="-122"/>
                <a:cs typeface="Calibri" pitchFamily="34" charset="-120"/>
              </a:rPr>
              <a:t>1. Distribute</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MPI_Scatterv:</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Equal / Adaptive</a:t>
            </a:r>
            <a:endParaRPr lang="en-US" sz="1600" dirty="0"/>
          </a:p>
        </p:txBody>
      </p:sp>
      <p:sp>
        <p:nvSpPr>
          <p:cNvPr id="24" name="Shape 22"/>
          <p:cNvSpPr/>
          <p:nvPr/>
        </p:nvSpPr>
        <p:spPr>
          <a:xfrm>
            <a:off x="4828032" y="2400300"/>
            <a:ext cx="219456" cy="237744"/>
          </a:xfrm>
          <a:prstGeom prst="rightArrow">
            <a:avLst/>
          </a:prstGeom>
          <a:solidFill>
            <a:srgbClr val="1F1A33"/>
          </a:solidFill>
          <a:ln w="12700">
            <a:solidFill>
              <a:srgbClr val="1F1A33"/>
            </a:solidFill>
            <a:prstDash val="solid"/>
          </a:ln>
        </p:spPr>
      </p:sp>
      <p:sp>
        <p:nvSpPr>
          <p:cNvPr id="25" name="Shape 23"/>
          <p:cNvSpPr/>
          <p:nvPr/>
        </p:nvSpPr>
        <p:spPr>
          <a:xfrm>
            <a:off x="5074920" y="1947672"/>
            <a:ext cx="2011680" cy="1143000"/>
          </a:xfrm>
          <a:prstGeom prst="roundRect">
            <a:avLst>
              <a:gd name="adj" fmla="val 6400"/>
            </a:avLst>
          </a:prstGeom>
          <a:solidFill>
            <a:srgbClr val="FFFFFF"/>
          </a:solidFill>
          <a:ln w="19050">
            <a:solidFill>
              <a:srgbClr val="E07B22"/>
            </a:solidFill>
            <a:prstDash val="solid"/>
          </a:ln>
        </p:spPr>
      </p:sp>
      <p:sp>
        <p:nvSpPr>
          <p:cNvPr id="26" name="Text 24"/>
          <p:cNvSpPr/>
          <p:nvPr/>
        </p:nvSpPr>
        <p:spPr>
          <a:xfrm>
            <a:off x="5074920" y="1947672"/>
            <a:ext cx="2011680" cy="1143000"/>
          </a:xfrm>
          <a:prstGeom prst="rect">
            <a:avLst/>
          </a:prstGeom>
          <a:noFill/>
          <a:ln/>
        </p:spPr>
        <p:txBody>
          <a:bodyPr wrap="square" lIns="635" tIns="635" rIns="635" bIns="635" rtlCol="0" anchor="ctr"/>
          <a:lstStyle/>
          <a:p>
            <a:pPr algn="ctr" indent="0" marL="0">
              <a:buNone/>
            </a:pPr>
            <a:r>
              <a:rPr lang="en-US" sz="1600" b="1" dirty="0">
                <a:solidFill>
                  <a:srgbClr val="E07B22"/>
                </a:solidFill>
                <a:latin typeface="Calibri" pitchFamily="34" charset="0"/>
                <a:ea typeface="Calibri" pitchFamily="34" charset="-122"/>
                <a:cs typeface="Calibri" pitchFamily="34" charset="-120"/>
              </a:rPr>
              <a:t>2. Assign</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nearest codeword</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on each rank</a:t>
            </a:r>
            <a:endParaRPr lang="en-US" sz="1600" dirty="0"/>
          </a:p>
        </p:txBody>
      </p:sp>
      <p:sp>
        <p:nvSpPr>
          <p:cNvPr id="27" name="Shape 25"/>
          <p:cNvSpPr/>
          <p:nvPr/>
        </p:nvSpPr>
        <p:spPr>
          <a:xfrm>
            <a:off x="7114032" y="2400300"/>
            <a:ext cx="219456" cy="237744"/>
          </a:xfrm>
          <a:prstGeom prst="rightArrow">
            <a:avLst/>
          </a:prstGeom>
          <a:solidFill>
            <a:srgbClr val="1F1A33"/>
          </a:solidFill>
          <a:ln w="12700">
            <a:solidFill>
              <a:srgbClr val="1F1A33"/>
            </a:solidFill>
            <a:prstDash val="solid"/>
          </a:ln>
        </p:spPr>
      </p:sp>
      <p:sp>
        <p:nvSpPr>
          <p:cNvPr id="28" name="Shape 26"/>
          <p:cNvSpPr/>
          <p:nvPr/>
        </p:nvSpPr>
        <p:spPr>
          <a:xfrm>
            <a:off x="7360920" y="1947672"/>
            <a:ext cx="2011680" cy="1143000"/>
          </a:xfrm>
          <a:prstGeom prst="roundRect">
            <a:avLst>
              <a:gd name="adj" fmla="val 6400"/>
            </a:avLst>
          </a:prstGeom>
          <a:solidFill>
            <a:srgbClr val="FFFFFF"/>
          </a:solidFill>
          <a:ln w="19050">
            <a:solidFill>
              <a:srgbClr val="E07B22"/>
            </a:solidFill>
            <a:prstDash val="solid"/>
          </a:ln>
        </p:spPr>
      </p:sp>
      <p:sp>
        <p:nvSpPr>
          <p:cNvPr id="29" name="Text 27"/>
          <p:cNvSpPr/>
          <p:nvPr/>
        </p:nvSpPr>
        <p:spPr>
          <a:xfrm>
            <a:off x="7360920" y="1947672"/>
            <a:ext cx="2011680" cy="1143000"/>
          </a:xfrm>
          <a:prstGeom prst="rect">
            <a:avLst/>
          </a:prstGeom>
          <a:noFill/>
          <a:ln/>
        </p:spPr>
        <p:txBody>
          <a:bodyPr wrap="square" lIns="635" tIns="635" rIns="635" bIns="635" rtlCol="0" anchor="ctr"/>
          <a:lstStyle/>
          <a:p>
            <a:pPr algn="ctr" indent="0" marL="0">
              <a:buNone/>
            </a:pPr>
            <a:r>
              <a:rPr lang="en-US" sz="1600" b="1" dirty="0">
                <a:solidFill>
                  <a:srgbClr val="E07B22"/>
                </a:solidFill>
                <a:latin typeface="Calibri" pitchFamily="34" charset="0"/>
                <a:ea typeface="Calibri" pitchFamily="34" charset="-122"/>
                <a:cs typeface="Calibri" pitchFamily="34" charset="-120"/>
              </a:rPr>
              <a:t>3. Combine</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Allreduce: sums,</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counts, distortion</a:t>
            </a:r>
            <a:endParaRPr lang="en-US" sz="1600" dirty="0"/>
          </a:p>
        </p:txBody>
      </p:sp>
      <p:sp>
        <p:nvSpPr>
          <p:cNvPr id="30" name="Shape 28"/>
          <p:cNvSpPr/>
          <p:nvPr/>
        </p:nvSpPr>
        <p:spPr>
          <a:xfrm>
            <a:off x="9400032" y="2400300"/>
            <a:ext cx="219456" cy="237744"/>
          </a:xfrm>
          <a:prstGeom prst="rightArrow">
            <a:avLst/>
          </a:prstGeom>
          <a:solidFill>
            <a:srgbClr val="1F1A33"/>
          </a:solidFill>
          <a:ln w="12700">
            <a:solidFill>
              <a:srgbClr val="1F1A33"/>
            </a:solidFill>
            <a:prstDash val="solid"/>
          </a:ln>
        </p:spPr>
      </p:sp>
      <p:sp>
        <p:nvSpPr>
          <p:cNvPr id="31" name="Shape 29"/>
          <p:cNvSpPr/>
          <p:nvPr/>
        </p:nvSpPr>
        <p:spPr>
          <a:xfrm>
            <a:off x="9646920" y="1947672"/>
            <a:ext cx="2011680" cy="1143000"/>
          </a:xfrm>
          <a:prstGeom prst="roundRect">
            <a:avLst>
              <a:gd name="adj" fmla="val 6400"/>
            </a:avLst>
          </a:prstGeom>
          <a:solidFill>
            <a:srgbClr val="FFFFFF"/>
          </a:solidFill>
          <a:ln w="19050">
            <a:solidFill>
              <a:srgbClr val="E07B22"/>
            </a:solidFill>
            <a:prstDash val="solid"/>
          </a:ln>
        </p:spPr>
      </p:sp>
      <p:sp>
        <p:nvSpPr>
          <p:cNvPr id="32" name="Text 30"/>
          <p:cNvSpPr/>
          <p:nvPr/>
        </p:nvSpPr>
        <p:spPr>
          <a:xfrm>
            <a:off x="9646920" y="1947672"/>
            <a:ext cx="2011680" cy="1143000"/>
          </a:xfrm>
          <a:prstGeom prst="rect">
            <a:avLst/>
          </a:prstGeom>
          <a:noFill/>
          <a:ln/>
        </p:spPr>
        <p:txBody>
          <a:bodyPr wrap="square" lIns="635" tIns="635" rIns="635" bIns="635" rtlCol="0" anchor="ctr"/>
          <a:lstStyle/>
          <a:p>
            <a:pPr algn="ctr" indent="0" marL="0">
              <a:buNone/>
            </a:pPr>
            <a:r>
              <a:rPr lang="en-US" sz="1600" b="1" dirty="0">
                <a:solidFill>
                  <a:srgbClr val="E07B22"/>
                </a:solidFill>
                <a:latin typeface="Calibri" pitchFamily="34" charset="0"/>
                <a:ea typeface="Calibri" pitchFamily="34" charset="-122"/>
                <a:cs typeface="Calibri" pitchFamily="34" charset="-120"/>
              </a:rPr>
              <a:t>4. Refine and split</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per level,</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until K = 64</a:t>
            </a:r>
            <a:endParaRPr lang="en-US" sz="1600" dirty="0"/>
          </a:p>
        </p:txBody>
      </p:sp>
      <p:sp>
        <p:nvSpPr>
          <p:cNvPr id="33" name="Text 31"/>
          <p:cNvSpPr/>
          <p:nvPr/>
        </p:nvSpPr>
        <p:spPr>
          <a:xfrm>
            <a:off x="6355080" y="3218688"/>
            <a:ext cx="5394960" cy="228600"/>
          </a:xfrm>
          <a:prstGeom prst="rect">
            <a:avLst/>
          </a:prstGeom>
          <a:noFill/>
          <a:ln/>
        </p:spPr>
        <p:txBody>
          <a:bodyPr wrap="square" lIns="0" tIns="0" rIns="0" bIns="0" rtlCol="0" anchor="ctr"/>
          <a:lstStyle/>
          <a:p>
            <a:pPr indent="0" marL="0">
              <a:buNone/>
            </a:pPr>
            <a:r>
              <a:rPr lang="en-US" sz="1300" b="1" i="1" dirty="0">
                <a:solidFill>
                  <a:srgbClr val="E0457B"/>
                </a:solidFill>
                <a:latin typeface="Calibri" pitchFamily="34" charset="0"/>
                <a:ea typeface="Calibri" pitchFamily="34" charset="-122"/>
                <a:cs typeface="Calibri" pitchFamily="34" charset="-120"/>
              </a:rPr>
              <a:t>codebook C + index array L (gathered on Rank 0)</a:t>
            </a:r>
            <a:endParaRPr lang="en-US" sz="1300" dirty="0"/>
          </a:p>
        </p:txBody>
      </p:sp>
      <p:sp>
        <p:nvSpPr>
          <p:cNvPr id="34" name="Shape 32"/>
          <p:cNvSpPr/>
          <p:nvPr/>
        </p:nvSpPr>
        <p:spPr>
          <a:xfrm>
            <a:off x="5989320" y="3236976"/>
            <a:ext cx="237744" cy="192024"/>
          </a:xfrm>
          <a:prstGeom prst="downArrow">
            <a:avLst/>
          </a:prstGeom>
          <a:solidFill>
            <a:srgbClr val="1F1A33"/>
          </a:solidFill>
          <a:ln w="12700">
            <a:solidFill>
              <a:srgbClr val="1F1A33"/>
            </a:solidFill>
            <a:prstDash val="solid"/>
          </a:ln>
        </p:spPr>
      </p:sp>
      <p:sp>
        <p:nvSpPr>
          <p:cNvPr id="35" name="Shape 33"/>
          <p:cNvSpPr/>
          <p:nvPr/>
        </p:nvSpPr>
        <p:spPr>
          <a:xfrm>
            <a:off x="320040" y="3438144"/>
            <a:ext cx="11503152" cy="1417320"/>
          </a:xfrm>
          <a:prstGeom prst="roundRect">
            <a:avLst>
              <a:gd name="adj" fmla="val 6452"/>
            </a:avLst>
          </a:prstGeom>
          <a:solidFill>
            <a:srgbClr val="DDF3F0"/>
          </a:solidFill>
          <a:ln w="12700">
            <a:solidFill>
              <a:srgbClr val="2A9D8F"/>
            </a:solidFill>
            <a:prstDash val="solid"/>
          </a:ln>
        </p:spPr>
      </p:sp>
      <p:sp>
        <p:nvSpPr>
          <p:cNvPr id="36" name="Shape 34"/>
          <p:cNvSpPr/>
          <p:nvPr/>
        </p:nvSpPr>
        <p:spPr>
          <a:xfrm>
            <a:off x="365760" y="3483864"/>
            <a:ext cx="2240280" cy="1325880"/>
          </a:xfrm>
          <a:prstGeom prst="roundRect">
            <a:avLst>
              <a:gd name="adj" fmla="val 5517"/>
            </a:avLst>
          </a:prstGeom>
          <a:solidFill>
            <a:srgbClr val="2A9D8F"/>
          </a:solidFill>
          <a:ln w="12700">
            <a:solidFill>
              <a:srgbClr val="2A9D8F"/>
            </a:solidFill>
            <a:prstDash val="solid"/>
          </a:ln>
        </p:spPr>
      </p:sp>
      <p:sp>
        <p:nvSpPr>
          <p:cNvPr id="37" name="Text 35"/>
          <p:cNvSpPr/>
          <p:nvPr/>
        </p:nvSpPr>
        <p:spPr>
          <a:xfrm>
            <a:off x="365760" y="3483864"/>
            <a:ext cx="2240280" cy="1005840"/>
          </a:xfrm>
          <a:prstGeom prst="rect">
            <a:avLst/>
          </a:prstGeom>
          <a:noFill/>
          <a:ln/>
        </p:spPr>
        <p:txBody>
          <a:bodyPr wrap="square" lIns="762" tIns="762" rIns="762" bIns="762"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Stage 3</a:t>
            </a:r>
            <a:endParaRPr lang="en-US" sz="2200" dirty="0"/>
          </a:p>
          <a:p>
            <a:pPr algn="ctr" indent="0" marL="0">
              <a:buNone/>
            </a:pPr>
            <a:r>
              <a:rPr lang="en-US" sz="1500" dirty="0">
                <a:solidFill>
                  <a:srgbClr val="FFFFFF"/>
                </a:solidFill>
                <a:latin typeface="Calibri" pitchFamily="34" charset="0"/>
                <a:ea typeface="Calibri" pitchFamily="34" charset="-122"/>
                <a:cs typeface="Calibri" pitchFamily="34" charset="-120"/>
              </a:rPr>
              <a:t>Lossless Index</a:t>
            </a:r>
            <a:endParaRPr lang="en-US" sz="2200" dirty="0"/>
          </a:p>
          <a:p>
            <a:pPr algn="ctr" indent="0" marL="0">
              <a:buNone/>
            </a:pPr>
            <a:r>
              <a:rPr lang="en-US" sz="1500" dirty="0">
                <a:solidFill>
                  <a:srgbClr val="FFFFFF"/>
                </a:solidFill>
                <a:latin typeface="Calibri" pitchFamily="34" charset="0"/>
                <a:ea typeface="Calibri" pitchFamily="34" charset="-122"/>
                <a:cs typeface="Calibri" pitchFamily="34" charset="-120"/>
              </a:rPr>
              <a:t>Coding</a:t>
            </a:r>
            <a:endParaRPr lang="en-US" sz="2200" dirty="0"/>
          </a:p>
        </p:txBody>
      </p:sp>
      <p:sp>
        <p:nvSpPr>
          <p:cNvPr id="38" name="Shape 36"/>
          <p:cNvSpPr/>
          <p:nvPr/>
        </p:nvSpPr>
        <p:spPr>
          <a:xfrm>
            <a:off x="475488" y="4443984"/>
            <a:ext cx="2020824" cy="292608"/>
          </a:xfrm>
          <a:prstGeom prst="roundRect">
            <a:avLst>
              <a:gd name="adj" fmla="val 50000"/>
            </a:avLst>
          </a:prstGeom>
          <a:solidFill>
            <a:srgbClr val="FFFFFF"/>
          </a:solidFill>
          <a:ln w="12700">
            <a:solidFill>
              <a:srgbClr val="FFFFFF"/>
            </a:solidFill>
            <a:prstDash val="solid"/>
          </a:ln>
        </p:spPr>
      </p:sp>
      <p:sp>
        <p:nvSpPr>
          <p:cNvPr id="39" name="Text 37"/>
          <p:cNvSpPr/>
          <p:nvPr/>
        </p:nvSpPr>
        <p:spPr>
          <a:xfrm>
            <a:off x="475488" y="4443984"/>
            <a:ext cx="2020824" cy="292608"/>
          </a:xfrm>
          <a:prstGeom prst="rect">
            <a:avLst/>
          </a:prstGeom>
          <a:noFill/>
          <a:ln/>
        </p:spPr>
        <p:txBody>
          <a:bodyPr wrap="square" lIns="0" tIns="0" rIns="0" bIns="0" rtlCol="0" anchor="ctr"/>
          <a:lstStyle/>
          <a:p>
            <a:pPr algn="ctr" indent="0" marL="0">
              <a:buNone/>
            </a:pPr>
            <a:r>
              <a:rPr lang="en-US" sz="1200" b="1" dirty="0">
                <a:solidFill>
                  <a:srgbClr val="5B6770"/>
                </a:solidFill>
                <a:latin typeface="Calibri" pitchFamily="34" charset="0"/>
                <a:ea typeface="Calibri" pitchFamily="34" charset="-122"/>
                <a:cs typeface="Calibri" pitchFamily="34" charset="-120"/>
              </a:rPr>
              <a:t>SEQUENTIAL: Rank 0</a:t>
            </a:r>
            <a:endParaRPr lang="en-US" sz="1200" dirty="0"/>
          </a:p>
        </p:txBody>
      </p:sp>
      <p:sp>
        <p:nvSpPr>
          <p:cNvPr id="40" name="Shape 38"/>
          <p:cNvSpPr/>
          <p:nvPr/>
        </p:nvSpPr>
        <p:spPr>
          <a:xfrm>
            <a:off x="2788920" y="3575304"/>
            <a:ext cx="2011680" cy="1143000"/>
          </a:xfrm>
          <a:prstGeom prst="roundRect">
            <a:avLst>
              <a:gd name="adj" fmla="val 6400"/>
            </a:avLst>
          </a:prstGeom>
          <a:solidFill>
            <a:srgbClr val="FFFFFF"/>
          </a:solidFill>
          <a:ln w="19050">
            <a:solidFill>
              <a:srgbClr val="2A9D8F"/>
            </a:solidFill>
            <a:prstDash val="solid"/>
          </a:ln>
        </p:spPr>
      </p:sp>
      <p:sp>
        <p:nvSpPr>
          <p:cNvPr id="41" name="Text 39"/>
          <p:cNvSpPr/>
          <p:nvPr/>
        </p:nvSpPr>
        <p:spPr>
          <a:xfrm>
            <a:off x="2788920" y="3575304"/>
            <a:ext cx="2011680" cy="1143000"/>
          </a:xfrm>
          <a:prstGeom prst="rect">
            <a:avLst/>
          </a:prstGeom>
          <a:noFill/>
          <a:ln/>
        </p:spPr>
        <p:txBody>
          <a:bodyPr wrap="square" lIns="635" tIns="635" rIns="635" bIns="635" rtlCol="0" anchor="ctr"/>
          <a:lstStyle/>
          <a:p>
            <a:pPr algn="ctr" indent="0" marL="0">
              <a:buNone/>
            </a:pPr>
            <a:r>
              <a:rPr lang="en-US" sz="1600" b="1" dirty="0">
                <a:solidFill>
                  <a:srgbClr val="2A9D8F"/>
                </a:solidFill>
                <a:latin typeface="Calibri" pitchFamily="34" charset="0"/>
                <a:ea typeface="Calibri" pitchFamily="34" charset="-122"/>
                <a:cs typeface="Calibri" pitchFamily="34" charset="-120"/>
              </a:rPr>
              <a:t>1. Delta coding</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differences of</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VQ indices</a:t>
            </a:r>
            <a:endParaRPr lang="en-US" sz="1600" dirty="0"/>
          </a:p>
        </p:txBody>
      </p:sp>
      <p:sp>
        <p:nvSpPr>
          <p:cNvPr id="42" name="Shape 40"/>
          <p:cNvSpPr/>
          <p:nvPr/>
        </p:nvSpPr>
        <p:spPr>
          <a:xfrm>
            <a:off x="4828032" y="4027932"/>
            <a:ext cx="219456" cy="237744"/>
          </a:xfrm>
          <a:prstGeom prst="rightArrow">
            <a:avLst/>
          </a:prstGeom>
          <a:solidFill>
            <a:srgbClr val="1F1A33"/>
          </a:solidFill>
          <a:ln w="12700">
            <a:solidFill>
              <a:srgbClr val="1F1A33"/>
            </a:solidFill>
            <a:prstDash val="solid"/>
          </a:ln>
        </p:spPr>
      </p:sp>
      <p:sp>
        <p:nvSpPr>
          <p:cNvPr id="43" name="Shape 41"/>
          <p:cNvSpPr/>
          <p:nvPr/>
        </p:nvSpPr>
        <p:spPr>
          <a:xfrm>
            <a:off x="5074920" y="3575304"/>
            <a:ext cx="2011680" cy="1143000"/>
          </a:xfrm>
          <a:prstGeom prst="roundRect">
            <a:avLst>
              <a:gd name="adj" fmla="val 6400"/>
            </a:avLst>
          </a:prstGeom>
          <a:solidFill>
            <a:srgbClr val="FFFFFF"/>
          </a:solidFill>
          <a:ln w="19050">
            <a:solidFill>
              <a:srgbClr val="2A9D8F"/>
            </a:solidFill>
            <a:prstDash val="solid"/>
          </a:ln>
        </p:spPr>
      </p:sp>
      <p:sp>
        <p:nvSpPr>
          <p:cNvPr id="44" name="Text 42"/>
          <p:cNvSpPr/>
          <p:nvPr/>
        </p:nvSpPr>
        <p:spPr>
          <a:xfrm>
            <a:off x="5074920" y="3575304"/>
            <a:ext cx="2011680" cy="1143000"/>
          </a:xfrm>
          <a:prstGeom prst="rect">
            <a:avLst/>
          </a:prstGeom>
          <a:noFill/>
          <a:ln/>
        </p:spPr>
        <p:txBody>
          <a:bodyPr wrap="square" lIns="635" tIns="635" rIns="635" bIns="635" rtlCol="0" anchor="ctr"/>
          <a:lstStyle/>
          <a:p>
            <a:pPr algn="ctr" indent="0" marL="0">
              <a:buNone/>
            </a:pPr>
            <a:r>
              <a:rPr lang="en-US" sz="1600" b="1" dirty="0">
                <a:solidFill>
                  <a:srgbClr val="2A9D8F"/>
                </a:solidFill>
                <a:latin typeface="Calibri" pitchFamily="34" charset="0"/>
                <a:ea typeface="Calibri" pitchFamily="34" charset="-122"/>
                <a:cs typeface="Calibri" pitchFamily="34" charset="-120"/>
              </a:rPr>
              <a:t>2. Huffman coding</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variable-length</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codes</a:t>
            </a:r>
            <a:endParaRPr lang="en-US" sz="1600" dirty="0"/>
          </a:p>
        </p:txBody>
      </p:sp>
      <p:sp>
        <p:nvSpPr>
          <p:cNvPr id="45" name="Shape 43"/>
          <p:cNvSpPr/>
          <p:nvPr/>
        </p:nvSpPr>
        <p:spPr>
          <a:xfrm>
            <a:off x="7114032" y="4027932"/>
            <a:ext cx="219456" cy="237744"/>
          </a:xfrm>
          <a:prstGeom prst="rightArrow">
            <a:avLst/>
          </a:prstGeom>
          <a:solidFill>
            <a:srgbClr val="1F1A33"/>
          </a:solidFill>
          <a:ln w="12700">
            <a:solidFill>
              <a:srgbClr val="1F1A33"/>
            </a:solidFill>
            <a:prstDash val="solid"/>
          </a:ln>
        </p:spPr>
      </p:sp>
      <p:sp>
        <p:nvSpPr>
          <p:cNvPr id="46" name="Shape 44"/>
          <p:cNvSpPr/>
          <p:nvPr/>
        </p:nvSpPr>
        <p:spPr>
          <a:xfrm>
            <a:off x="7360920" y="3575304"/>
            <a:ext cx="2011680" cy="1143000"/>
          </a:xfrm>
          <a:prstGeom prst="roundRect">
            <a:avLst>
              <a:gd name="adj" fmla="val 6400"/>
            </a:avLst>
          </a:prstGeom>
          <a:solidFill>
            <a:srgbClr val="FFFFFF"/>
          </a:solidFill>
          <a:ln w="19050">
            <a:solidFill>
              <a:srgbClr val="2A9D8F"/>
            </a:solidFill>
            <a:prstDash val="solid"/>
          </a:ln>
        </p:spPr>
      </p:sp>
      <p:sp>
        <p:nvSpPr>
          <p:cNvPr id="47" name="Text 45"/>
          <p:cNvSpPr/>
          <p:nvPr/>
        </p:nvSpPr>
        <p:spPr>
          <a:xfrm>
            <a:off x="7360920" y="3575304"/>
            <a:ext cx="2011680" cy="1143000"/>
          </a:xfrm>
          <a:prstGeom prst="rect">
            <a:avLst/>
          </a:prstGeom>
          <a:noFill/>
          <a:ln/>
        </p:spPr>
        <p:txBody>
          <a:bodyPr wrap="square" lIns="635" tIns="635" rIns="635" bIns="635" rtlCol="0" anchor="ctr"/>
          <a:lstStyle/>
          <a:p>
            <a:pPr algn="ctr" indent="0" marL="0">
              <a:buNone/>
            </a:pPr>
            <a:r>
              <a:rPr lang="en-US" sz="1600" b="1" dirty="0">
                <a:solidFill>
                  <a:srgbClr val="2A9D8F"/>
                </a:solidFill>
                <a:latin typeface="Calibri" pitchFamily="34" charset="0"/>
                <a:ea typeface="Calibri" pitchFamily="34" charset="-122"/>
                <a:cs typeface="Calibri" pitchFamily="34" charset="-120"/>
              </a:rPr>
              <a:t>3. Compressed size</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codebook + Huffman table</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 coded indices</a:t>
            </a:r>
            <a:endParaRPr lang="en-US" sz="1600" dirty="0"/>
          </a:p>
        </p:txBody>
      </p:sp>
      <p:sp>
        <p:nvSpPr>
          <p:cNvPr id="48" name="Text 46"/>
          <p:cNvSpPr/>
          <p:nvPr/>
        </p:nvSpPr>
        <p:spPr>
          <a:xfrm>
            <a:off x="6355080" y="4846320"/>
            <a:ext cx="5394960" cy="228600"/>
          </a:xfrm>
          <a:prstGeom prst="rect">
            <a:avLst/>
          </a:prstGeom>
          <a:noFill/>
          <a:ln/>
        </p:spPr>
        <p:txBody>
          <a:bodyPr wrap="square" lIns="0" tIns="0" rIns="0" bIns="0" rtlCol="0" anchor="ctr"/>
          <a:lstStyle/>
          <a:p>
            <a:pPr indent="0" marL="0">
              <a:buNone/>
            </a:pPr>
            <a:r>
              <a:rPr lang="en-US" sz="1300" b="1" i="1" dirty="0">
                <a:solidFill>
                  <a:srgbClr val="E0457B"/>
                </a:solidFill>
                <a:latin typeface="Calibri" pitchFamily="34" charset="0"/>
                <a:ea typeface="Calibri" pitchFamily="34" charset="-122"/>
                <a:cs typeface="Calibri" pitchFamily="34" charset="-120"/>
              </a:rPr>
              <a:t>accounted size: codebook + Huffman table + coded indices</a:t>
            </a:r>
            <a:endParaRPr lang="en-US" sz="1300" dirty="0"/>
          </a:p>
        </p:txBody>
      </p:sp>
      <p:sp>
        <p:nvSpPr>
          <p:cNvPr id="49" name="Shape 47"/>
          <p:cNvSpPr/>
          <p:nvPr/>
        </p:nvSpPr>
        <p:spPr>
          <a:xfrm>
            <a:off x="5989320" y="4864608"/>
            <a:ext cx="237744" cy="192024"/>
          </a:xfrm>
          <a:prstGeom prst="downArrow">
            <a:avLst/>
          </a:prstGeom>
          <a:solidFill>
            <a:srgbClr val="1F1A33"/>
          </a:solidFill>
          <a:ln w="12700">
            <a:solidFill>
              <a:srgbClr val="1F1A33"/>
            </a:solidFill>
            <a:prstDash val="solid"/>
          </a:ln>
        </p:spPr>
      </p:sp>
      <p:sp>
        <p:nvSpPr>
          <p:cNvPr id="50" name="Shape 48"/>
          <p:cNvSpPr/>
          <p:nvPr/>
        </p:nvSpPr>
        <p:spPr>
          <a:xfrm>
            <a:off x="320040" y="5065776"/>
            <a:ext cx="11503152" cy="1417320"/>
          </a:xfrm>
          <a:prstGeom prst="roundRect">
            <a:avLst>
              <a:gd name="adj" fmla="val 6452"/>
            </a:avLst>
          </a:prstGeom>
          <a:solidFill>
            <a:srgbClr val="ECE6F6"/>
          </a:solidFill>
          <a:ln w="12700">
            <a:solidFill>
              <a:srgbClr val="6B4FA3"/>
            </a:solidFill>
            <a:prstDash val="solid"/>
          </a:ln>
        </p:spPr>
      </p:sp>
      <p:sp>
        <p:nvSpPr>
          <p:cNvPr id="51" name="Shape 49"/>
          <p:cNvSpPr/>
          <p:nvPr/>
        </p:nvSpPr>
        <p:spPr>
          <a:xfrm>
            <a:off x="365760" y="5111496"/>
            <a:ext cx="2240280" cy="1325880"/>
          </a:xfrm>
          <a:prstGeom prst="roundRect">
            <a:avLst>
              <a:gd name="adj" fmla="val 5517"/>
            </a:avLst>
          </a:prstGeom>
          <a:solidFill>
            <a:srgbClr val="6B4FA3"/>
          </a:solidFill>
          <a:ln w="12700">
            <a:solidFill>
              <a:srgbClr val="6B4FA3"/>
            </a:solidFill>
            <a:prstDash val="solid"/>
          </a:ln>
        </p:spPr>
      </p:sp>
      <p:sp>
        <p:nvSpPr>
          <p:cNvPr id="52" name="Text 50"/>
          <p:cNvSpPr/>
          <p:nvPr/>
        </p:nvSpPr>
        <p:spPr>
          <a:xfrm>
            <a:off x="365760" y="5111496"/>
            <a:ext cx="2240280" cy="1005840"/>
          </a:xfrm>
          <a:prstGeom prst="rect">
            <a:avLst/>
          </a:prstGeom>
          <a:noFill/>
          <a:ln/>
        </p:spPr>
        <p:txBody>
          <a:bodyPr wrap="square" lIns="762" tIns="762" rIns="762" bIns="762"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Stage 4</a:t>
            </a:r>
            <a:endParaRPr lang="en-US" sz="2200" dirty="0"/>
          </a:p>
          <a:p>
            <a:pPr algn="ctr" indent="0" marL="0">
              <a:buNone/>
            </a:pPr>
            <a:r>
              <a:rPr lang="en-US" sz="1500" dirty="0">
                <a:solidFill>
                  <a:srgbClr val="FFFFFF"/>
                </a:solidFill>
                <a:latin typeface="Calibri" pitchFamily="34" charset="0"/>
                <a:ea typeface="Calibri" pitchFamily="34" charset="-122"/>
                <a:cs typeface="Calibri" pitchFamily="34" charset="-120"/>
              </a:rPr>
              <a:t>Decoding and</a:t>
            </a:r>
            <a:endParaRPr lang="en-US" sz="2200" dirty="0"/>
          </a:p>
          <a:p>
            <a:pPr algn="ctr" indent="0" marL="0">
              <a:buNone/>
            </a:pPr>
            <a:r>
              <a:rPr lang="en-US" sz="1500" dirty="0">
                <a:solidFill>
                  <a:srgbClr val="FFFFFF"/>
                </a:solidFill>
                <a:latin typeface="Calibri" pitchFamily="34" charset="0"/>
                <a:ea typeface="Calibri" pitchFamily="34" charset="-122"/>
                <a:cs typeface="Calibri" pitchFamily="34" charset="-120"/>
              </a:rPr>
              <a:t>Evaluation</a:t>
            </a:r>
            <a:endParaRPr lang="en-US" sz="2200" dirty="0"/>
          </a:p>
        </p:txBody>
      </p:sp>
      <p:sp>
        <p:nvSpPr>
          <p:cNvPr id="53" name="Shape 51"/>
          <p:cNvSpPr/>
          <p:nvPr/>
        </p:nvSpPr>
        <p:spPr>
          <a:xfrm>
            <a:off x="475488" y="6071616"/>
            <a:ext cx="2020824" cy="292608"/>
          </a:xfrm>
          <a:prstGeom prst="roundRect">
            <a:avLst>
              <a:gd name="adj" fmla="val 50000"/>
            </a:avLst>
          </a:prstGeom>
          <a:solidFill>
            <a:srgbClr val="FFFFFF"/>
          </a:solidFill>
          <a:ln w="12700">
            <a:solidFill>
              <a:srgbClr val="FFFFFF"/>
            </a:solidFill>
            <a:prstDash val="solid"/>
          </a:ln>
        </p:spPr>
      </p:sp>
      <p:sp>
        <p:nvSpPr>
          <p:cNvPr id="54" name="Text 52"/>
          <p:cNvSpPr/>
          <p:nvPr/>
        </p:nvSpPr>
        <p:spPr>
          <a:xfrm>
            <a:off x="475488" y="6071616"/>
            <a:ext cx="2020824" cy="292608"/>
          </a:xfrm>
          <a:prstGeom prst="rect">
            <a:avLst/>
          </a:prstGeom>
          <a:noFill/>
          <a:ln/>
        </p:spPr>
        <p:txBody>
          <a:bodyPr wrap="square" lIns="0" tIns="0" rIns="0" bIns="0" rtlCol="0" anchor="ctr"/>
          <a:lstStyle/>
          <a:p>
            <a:pPr algn="ctr" indent="0" marL="0">
              <a:buNone/>
            </a:pPr>
            <a:r>
              <a:rPr lang="en-US" sz="1100" b="1" dirty="0">
                <a:solidFill>
                  <a:srgbClr val="5B6770"/>
                </a:solidFill>
                <a:latin typeface="Calibri" pitchFamily="34" charset="0"/>
                <a:ea typeface="Calibri" pitchFamily="34" charset="-122"/>
                <a:cs typeface="Calibri" pitchFamily="34" charset="-120"/>
              </a:rPr>
              <a:t>Rank 0 | Parallel: SSIM</a:t>
            </a:r>
            <a:endParaRPr lang="en-US" sz="1100" dirty="0"/>
          </a:p>
        </p:txBody>
      </p:sp>
      <p:sp>
        <p:nvSpPr>
          <p:cNvPr id="55" name="Shape 53"/>
          <p:cNvSpPr/>
          <p:nvPr/>
        </p:nvSpPr>
        <p:spPr>
          <a:xfrm>
            <a:off x="2788920" y="5202936"/>
            <a:ext cx="2011680" cy="1143000"/>
          </a:xfrm>
          <a:prstGeom prst="roundRect">
            <a:avLst>
              <a:gd name="adj" fmla="val 6400"/>
            </a:avLst>
          </a:prstGeom>
          <a:solidFill>
            <a:srgbClr val="FFFFFF"/>
          </a:solidFill>
          <a:ln w="19050">
            <a:solidFill>
              <a:srgbClr val="6B4FA3"/>
            </a:solidFill>
            <a:prstDash val="solid"/>
          </a:ln>
        </p:spPr>
      </p:sp>
      <p:sp>
        <p:nvSpPr>
          <p:cNvPr id="56" name="Text 54"/>
          <p:cNvSpPr/>
          <p:nvPr/>
        </p:nvSpPr>
        <p:spPr>
          <a:xfrm>
            <a:off x="2788920" y="5202936"/>
            <a:ext cx="2011680" cy="1143000"/>
          </a:xfrm>
          <a:prstGeom prst="rect">
            <a:avLst/>
          </a:prstGeom>
          <a:noFill/>
          <a:ln/>
        </p:spPr>
        <p:txBody>
          <a:bodyPr wrap="square" lIns="635" tIns="635" rIns="635" bIns="635" rtlCol="0" anchor="ctr"/>
          <a:lstStyle/>
          <a:p>
            <a:pPr algn="ctr" indent="0" marL="0">
              <a:buNone/>
            </a:pPr>
            <a:r>
              <a:rPr lang="en-US" sz="1600" b="1" dirty="0">
                <a:solidFill>
                  <a:srgbClr val="6B4FA3"/>
                </a:solidFill>
                <a:latin typeface="Calibri" pitchFamily="34" charset="0"/>
                <a:ea typeface="Calibri" pitchFamily="34" charset="-122"/>
                <a:cs typeface="Calibri" pitchFamily="34" charset="-120"/>
              </a:rPr>
              <a:t>1. Huffman decoding</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bit stream to</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delta values</a:t>
            </a:r>
            <a:endParaRPr lang="en-US" sz="1600" dirty="0"/>
          </a:p>
        </p:txBody>
      </p:sp>
      <p:sp>
        <p:nvSpPr>
          <p:cNvPr id="57" name="Shape 55"/>
          <p:cNvSpPr/>
          <p:nvPr/>
        </p:nvSpPr>
        <p:spPr>
          <a:xfrm>
            <a:off x="4828032" y="5655564"/>
            <a:ext cx="219456" cy="237744"/>
          </a:xfrm>
          <a:prstGeom prst="rightArrow">
            <a:avLst/>
          </a:prstGeom>
          <a:solidFill>
            <a:srgbClr val="1F1A33"/>
          </a:solidFill>
          <a:ln w="12700">
            <a:solidFill>
              <a:srgbClr val="1F1A33"/>
            </a:solidFill>
            <a:prstDash val="solid"/>
          </a:ln>
        </p:spPr>
      </p:sp>
      <p:sp>
        <p:nvSpPr>
          <p:cNvPr id="58" name="Shape 56"/>
          <p:cNvSpPr/>
          <p:nvPr/>
        </p:nvSpPr>
        <p:spPr>
          <a:xfrm>
            <a:off x="5074920" y="5202936"/>
            <a:ext cx="2011680" cy="1143000"/>
          </a:xfrm>
          <a:prstGeom prst="roundRect">
            <a:avLst>
              <a:gd name="adj" fmla="val 6400"/>
            </a:avLst>
          </a:prstGeom>
          <a:solidFill>
            <a:srgbClr val="FFFFFF"/>
          </a:solidFill>
          <a:ln w="19050">
            <a:solidFill>
              <a:srgbClr val="6B4FA3"/>
            </a:solidFill>
            <a:prstDash val="solid"/>
          </a:ln>
        </p:spPr>
      </p:sp>
      <p:sp>
        <p:nvSpPr>
          <p:cNvPr id="59" name="Text 57"/>
          <p:cNvSpPr/>
          <p:nvPr/>
        </p:nvSpPr>
        <p:spPr>
          <a:xfrm>
            <a:off x="5074920" y="5202936"/>
            <a:ext cx="2011680" cy="1143000"/>
          </a:xfrm>
          <a:prstGeom prst="rect">
            <a:avLst/>
          </a:prstGeom>
          <a:noFill/>
          <a:ln/>
        </p:spPr>
        <p:txBody>
          <a:bodyPr wrap="square" lIns="635" tIns="635" rIns="635" bIns="635" rtlCol="0" anchor="ctr"/>
          <a:lstStyle/>
          <a:p>
            <a:pPr algn="ctr" indent="0" marL="0">
              <a:buNone/>
            </a:pPr>
            <a:r>
              <a:rPr lang="en-US" sz="1600" b="1" dirty="0">
                <a:solidFill>
                  <a:srgbClr val="6B4FA3"/>
                </a:solidFill>
                <a:latin typeface="Calibri" pitchFamily="34" charset="0"/>
                <a:ea typeface="Calibri" pitchFamily="34" charset="-122"/>
                <a:cs typeface="Calibri" pitchFamily="34" charset="-120"/>
              </a:rPr>
              <a:t>2. Inverse delta</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recover</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VQ indices</a:t>
            </a:r>
            <a:endParaRPr lang="en-US" sz="1600" dirty="0"/>
          </a:p>
        </p:txBody>
      </p:sp>
      <p:sp>
        <p:nvSpPr>
          <p:cNvPr id="60" name="Shape 58"/>
          <p:cNvSpPr/>
          <p:nvPr/>
        </p:nvSpPr>
        <p:spPr>
          <a:xfrm>
            <a:off x="7114032" y="5655564"/>
            <a:ext cx="219456" cy="237744"/>
          </a:xfrm>
          <a:prstGeom prst="rightArrow">
            <a:avLst/>
          </a:prstGeom>
          <a:solidFill>
            <a:srgbClr val="1F1A33"/>
          </a:solidFill>
          <a:ln w="12700">
            <a:solidFill>
              <a:srgbClr val="1F1A33"/>
            </a:solidFill>
            <a:prstDash val="solid"/>
          </a:ln>
        </p:spPr>
      </p:sp>
      <p:sp>
        <p:nvSpPr>
          <p:cNvPr id="61" name="Shape 59"/>
          <p:cNvSpPr/>
          <p:nvPr/>
        </p:nvSpPr>
        <p:spPr>
          <a:xfrm>
            <a:off x="7360920" y="5202936"/>
            <a:ext cx="2011680" cy="1143000"/>
          </a:xfrm>
          <a:prstGeom prst="roundRect">
            <a:avLst>
              <a:gd name="adj" fmla="val 6400"/>
            </a:avLst>
          </a:prstGeom>
          <a:solidFill>
            <a:srgbClr val="FFFFFF"/>
          </a:solidFill>
          <a:ln w="19050">
            <a:solidFill>
              <a:srgbClr val="6B4FA3"/>
            </a:solidFill>
            <a:prstDash val="solid"/>
          </a:ln>
        </p:spPr>
      </p:sp>
      <p:sp>
        <p:nvSpPr>
          <p:cNvPr id="62" name="Text 60"/>
          <p:cNvSpPr/>
          <p:nvPr/>
        </p:nvSpPr>
        <p:spPr>
          <a:xfrm>
            <a:off x="7360920" y="5202936"/>
            <a:ext cx="2011680" cy="1143000"/>
          </a:xfrm>
          <a:prstGeom prst="rect">
            <a:avLst/>
          </a:prstGeom>
          <a:noFill/>
          <a:ln/>
        </p:spPr>
        <p:txBody>
          <a:bodyPr wrap="square" lIns="635" tIns="635" rIns="635" bIns="635" rtlCol="0" anchor="ctr"/>
          <a:lstStyle/>
          <a:p>
            <a:pPr algn="ctr" indent="0" marL="0">
              <a:buNone/>
            </a:pPr>
            <a:r>
              <a:rPr lang="en-US" sz="1600" b="1" dirty="0">
                <a:solidFill>
                  <a:srgbClr val="6B4FA3"/>
                </a:solidFill>
                <a:latin typeface="Calibri" pitchFamily="34" charset="0"/>
                <a:ea typeface="Calibri" pitchFamily="34" charset="-122"/>
                <a:cs typeface="Calibri" pitchFamily="34" charset="-120"/>
              </a:rPr>
              <a:t>3. Reconstruction</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codebook</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lookup</a:t>
            </a:r>
            <a:endParaRPr lang="en-US" sz="1600" dirty="0"/>
          </a:p>
        </p:txBody>
      </p:sp>
      <p:sp>
        <p:nvSpPr>
          <p:cNvPr id="63" name="Shape 61"/>
          <p:cNvSpPr/>
          <p:nvPr/>
        </p:nvSpPr>
        <p:spPr>
          <a:xfrm>
            <a:off x="9400032" y="5655564"/>
            <a:ext cx="219456" cy="237744"/>
          </a:xfrm>
          <a:prstGeom prst="rightArrow">
            <a:avLst/>
          </a:prstGeom>
          <a:solidFill>
            <a:srgbClr val="1F1A33"/>
          </a:solidFill>
          <a:ln w="12700">
            <a:solidFill>
              <a:srgbClr val="1F1A33"/>
            </a:solidFill>
            <a:prstDash val="solid"/>
          </a:ln>
        </p:spPr>
      </p:sp>
      <p:sp>
        <p:nvSpPr>
          <p:cNvPr id="64" name="Shape 62"/>
          <p:cNvSpPr/>
          <p:nvPr/>
        </p:nvSpPr>
        <p:spPr>
          <a:xfrm>
            <a:off x="9646920" y="5202936"/>
            <a:ext cx="2011680" cy="1143000"/>
          </a:xfrm>
          <a:prstGeom prst="roundRect">
            <a:avLst>
              <a:gd name="adj" fmla="val 6400"/>
            </a:avLst>
          </a:prstGeom>
          <a:solidFill>
            <a:srgbClr val="FDEBD9"/>
          </a:solidFill>
          <a:ln w="31750">
            <a:solidFill>
              <a:srgbClr val="E07B22"/>
            </a:solidFill>
            <a:prstDash val="dash"/>
          </a:ln>
        </p:spPr>
      </p:sp>
      <p:sp>
        <p:nvSpPr>
          <p:cNvPr id="65" name="Text 63"/>
          <p:cNvSpPr/>
          <p:nvPr/>
        </p:nvSpPr>
        <p:spPr>
          <a:xfrm>
            <a:off x="9646920" y="5202936"/>
            <a:ext cx="2011680" cy="1143000"/>
          </a:xfrm>
          <a:prstGeom prst="rect">
            <a:avLst/>
          </a:prstGeom>
          <a:noFill/>
          <a:ln/>
        </p:spPr>
        <p:txBody>
          <a:bodyPr wrap="square" lIns="635" tIns="635" rIns="635" bIns="635" rtlCol="0" anchor="ctr"/>
          <a:lstStyle/>
          <a:p>
            <a:pPr algn="ctr" indent="0" marL="0">
              <a:buNone/>
            </a:pPr>
            <a:r>
              <a:rPr lang="en-US" sz="1600" b="1" dirty="0">
                <a:solidFill>
                  <a:srgbClr val="6B4FA3"/>
                </a:solidFill>
                <a:latin typeface="Calibri" pitchFamily="34" charset="0"/>
                <a:ea typeface="Calibri" pitchFamily="34" charset="-122"/>
                <a:cs typeface="Calibri" pitchFamily="34" charset="-120"/>
              </a:rPr>
              <a:t>4. Metrics</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CR, BPP, MSE, PSNR</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(Rank 0)</a:t>
            </a:r>
            <a:endParaRPr lang="en-US" sz="1600" dirty="0"/>
          </a:p>
          <a:p>
            <a:pPr algn="ctr" indent="0" marL="0">
              <a:buNone/>
            </a:pPr>
            <a:r>
              <a:rPr lang="en-US" sz="1300" dirty="0">
                <a:solidFill>
                  <a:srgbClr val="1F1A33"/>
                </a:solidFill>
                <a:latin typeface="Calibri" pitchFamily="34" charset="0"/>
                <a:ea typeface="Calibri" pitchFamily="34" charset="-122"/>
                <a:cs typeface="Calibri" pitchFamily="34" charset="-120"/>
              </a:rPr>
              <a:t>SSIM (parallel)</a:t>
            </a:r>
            <a:endParaRPr lang="en-US" sz="1600" dirty="0"/>
          </a:p>
        </p:txBody>
      </p:sp>
      <p:sp>
        <p:nvSpPr>
          <p:cNvPr id="66" name="Shape 64"/>
          <p:cNvSpPr/>
          <p:nvPr/>
        </p:nvSpPr>
        <p:spPr>
          <a:xfrm>
            <a:off x="2377440" y="6473952"/>
            <a:ext cx="457200" cy="219456"/>
          </a:xfrm>
          <a:prstGeom prst="roundRect">
            <a:avLst>
              <a:gd name="adj" fmla="val 50000"/>
            </a:avLst>
          </a:prstGeom>
          <a:solidFill>
            <a:srgbClr val="E07B22"/>
          </a:solidFill>
          <a:ln w="12700">
            <a:solidFill>
              <a:srgbClr val="FFFFFF"/>
            </a:solidFill>
            <a:prstDash val="solid"/>
          </a:ln>
        </p:spPr>
      </p:sp>
      <p:sp>
        <p:nvSpPr>
          <p:cNvPr id="67" name="Text 65"/>
          <p:cNvSpPr/>
          <p:nvPr/>
        </p:nvSpPr>
        <p:spPr>
          <a:xfrm>
            <a:off x="2926080" y="6455664"/>
            <a:ext cx="3840480" cy="256032"/>
          </a:xfrm>
          <a:prstGeom prst="rect">
            <a:avLst/>
          </a:prstGeom>
          <a:noFill/>
          <a:ln/>
        </p:spPr>
        <p:txBody>
          <a:bodyPr wrap="square" lIns="0" tIns="0" rIns="0" bIns="0" rtlCol="0" anchor="ctr"/>
          <a:lstStyle/>
          <a:p>
            <a:pPr indent="0" marL="0">
              <a:buNone/>
            </a:pPr>
            <a:r>
              <a:rPr lang="en-US" sz="1300" b="1" dirty="0">
                <a:solidFill>
                  <a:srgbClr val="1F1A33"/>
                </a:solidFill>
                <a:latin typeface="Calibri" pitchFamily="34" charset="0"/>
                <a:ea typeface="Calibri" pitchFamily="34" charset="-122"/>
                <a:cs typeface="Calibri" pitchFamily="34" charset="-120"/>
              </a:rPr>
              <a:t>Parallel: all MPI ranks work together</a:t>
            </a:r>
            <a:endParaRPr lang="en-US" sz="1300" dirty="0"/>
          </a:p>
        </p:txBody>
      </p:sp>
      <p:sp>
        <p:nvSpPr>
          <p:cNvPr id="68" name="Shape 66"/>
          <p:cNvSpPr/>
          <p:nvPr/>
        </p:nvSpPr>
        <p:spPr>
          <a:xfrm>
            <a:off x="6766560" y="6473952"/>
            <a:ext cx="457200" cy="219456"/>
          </a:xfrm>
          <a:prstGeom prst="roundRect">
            <a:avLst>
              <a:gd name="adj" fmla="val 50000"/>
            </a:avLst>
          </a:prstGeom>
          <a:solidFill>
            <a:srgbClr val="5B6770"/>
          </a:solidFill>
          <a:ln w="12700">
            <a:solidFill>
              <a:srgbClr val="FFFFFF"/>
            </a:solidFill>
            <a:prstDash val="solid"/>
          </a:ln>
        </p:spPr>
      </p:sp>
      <p:sp>
        <p:nvSpPr>
          <p:cNvPr id="69" name="Text 67"/>
          <p:cNvSpPr/>
          <p:nvPr/>
        </p:nvSpPr>
        <p:spPr>
          <a:xfrm>
            <a:off x="7315200" y="6455664"/>
            <a:ext cx="3840480" cy="256032"/>
          </a:xfrm>
          <a:prstGeom prst="rect">
            <a:avLst/>
          </a:prstGeom>
          <a:noFill/>
          <a:ln/>
        </p:spPr>
        <p:txBody>
          <a:bodyPr wrap="square" lIns="0" tIns="0" rIns="0" bIns="0" rtlCol="0" anchor="ctr"/>
          <a:lstStyle/>
          <a:p>
            <a:pPr indent="0" marL="0">
              <a:buNone/>
            </a:pPr>
            <a:r>
              <a:rPr lang="en-US" sz="1300" b="1" dirty="0">
                <a:solidFill>
                  <a:srgbClr val="1F1A33"/>
                </a:solidFill>
                <a:latin typeface="Calibri" pitchFamily="34" charset="0"/>
                <a:ea typeface="Calibri" pitchFamily="34" charset="-122"/>
                <a:cs typeface="Calibri" pitchFamily="34" charset="-120"/>
              </a:rPr>
              <a:t>Sequential: executed on Rank 0 only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463040" cy="502920"/>
          </a:xfrm>
          <a:prstGeom prst="roundRect">
            <a:avLst>
              <a:gd name="adj" fmla="val 18182"/>
            </a:avLst>
          </a:prstGeom>
          <a:solidFill>
            <a:srgbClr val="2F6FB5"/>
          </a:solidFill>
          <a:ln w="12700">
            <a:solidFill>
              <a:srgbClr val="2F6FB5"/>
            </a:solidFill>
            <a:prstDash val="solid"/>
          </a:ln>
        </p:spPr>
      </p:sp>
      <p:sp>
        <p:nvSpPr>
          <p:cNvPr id="3" name="Text 1"/>
          <p:cNvSpPr/>
          <p:nvPr/>
        </p:nvSpPr>
        <p:spPr>
          <a:xfrm>
            <a:off x="457200" y="320040"/>
            <a:ext cx="14630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Stage 1</a:t>
            </a:r>
            <a:endParaRPr lang="en-US" sz="1800" dirty="0"/>
          </a:p>
        </p:txBody>
      </p:sp>
      <p:sp>
        <p:nvSpPr>
          <p:cNvPr id="4" name="Text 2"/>
          <p:cNvSpPr/>
          <p:nvPr/>
        </p:nvSpPr>
        <p:spPr>
          <a:xfrm>
            <a:off x="2103120" y="274320"/>
            <a:ext cx="960120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Block Formation</a:t>
            </a:r>
            <a:endParaRPr lang="en-US" sz="2800" dirty="0"/>
          </a:p>
        </p:txBody>
      </p:sp>
      <p:sp>
        <p:nvSpPr>
          <p:cNvPr id="5" name="Shape 3"/>
          <p:cNvSpPr/>
          <p:nvPr/>
        </p:nvSpPr>
        <p:spPr>
          <a:xfrm>
            <a:off x="457200" y="960120"/>
            <a:ext cx="11274552" cy="36576"/>
          </a:xfrm>
          <a:prstGeom prst="rect">
            <a:avLst/>
          </a:prstGeom>
          <a:solidFill>
            <a:srgbClr val="2F6FB5"/>
          </a:solidFill>
          <a:ln w="12700">
            <a:solidFill>
              <a:srgbClr val="2F6FB5"/>
            </a:solidFill>
            <a:prstDash val="solid"/>
          </a:ln>
        </p:spPr>
      </p:sp>
      <p:sp>
        <p:nvSpPr>
          <p:cNvPr id="6" name="Shape 4"/>
          <p:cNvSpPr/>
          <p:nvPr/>
        </p:nvSpPr>
        <p:spPr>
          <a:xfrm>
            <a:off x="457200" y="1234440"/>
            <a:ext cx="7315200" cy="4983480"/>
          </a:xfrm>
          <a:prstGeom prst="roundRect">
            <a:avLst>
              <a:gd name="adj" fmla="val 1468"/>
            </a:avLst>
          </a:prstGeom>
          <a:solidFill>
            <a:srgbClr val="FFFFFF"/>
          </a:solidFill>
          <a:ln w="15875">
            <a:solidFill>
              <a:srgbClr val="2F6FB5"/>
            </a:solidFill>
            <a:prstDash val="solid"/>
          </a:ln>
        </p:spPr>
      </p:sp>
      <p:pic>
        <p:nvPicPr>
          <p:cNvPr id="7" name="Image 0" descr="assets/ch3_fig32.png">    </p:cNvPr>
          <p:cNvPicPr>
            <a:picLocks noChangeAspect="1"/>
          </p:cNvPicPr>
          <p:nvPr/>
        </p:nvPicPr>
        <p:blipFill>
          <a:blip r:embed="rId1"/>
          <a:stretch>
            <a:fillRect/>
          </a:stretch>
        </p:blipFill>
        <p:spPr>
          <a:xfrm>
            <a:off x="548640" y="2129857"/>
            <a:ext cx="7132320" cy="3192647"/>
          </a:xfrm>
          <a:prstGeom prst="rect">
            <a:avLst/>
          </a:prstGeom>
        </p:spPr>
      </p:pic>
      <p:sp>
        <p:nvSpPr>
          <p:cNvPr id="8" name="Text 5"/>
          <p:cNvSpPr/>
          <p:nvPr/>
        </p:nvSpPr>
        <p:spPr>
          <a:xfrm>
            <a:off x="457200" y="6245352"/>
            <a:ext cx="7315200" cy="274320"/>
          </a:xfrm>
          <a:prstGeom prst="rect">
            <a:avLst/>
          </a:prstGeom>
          <a:noFill/>
          <a:ln/>
        </p:spPr>
        <p:txBody>
          <a:bodyPr wrap="square" lIns="0" tIns="0" rIns="0" bIns="0" rtlCol="0" anchor="ctr"/>
          <a:lstStyle/>
          <a:p>
            <a:pPr algn="ctr" indent="0" marL="0">
              <a:buNone/>
            </a:pPr>
            <a:r>
              <a:rPr lang="en-US" sz="1200" i="1" dirty="0">
                <a:solidFill>
                  <a:srgbClr val="6B4FA3"/>
                </a:solidFill>
                <a:latin typeface="Calibri" pitchFamily="34" charset="0"/>
                <a:ea typeface="Calibri" pitchFamily="34" charset="-122"/>
                <a:cs typeface="Calibri" pitchFamily="34" charset="-120"/>
              </a:rPr>
              <a:t>Block-based vector quantization (illustrative)</a:t>
            </a:r>
            <a:endParaRPr lang="en-US" sz="1200" dirty="0"/>
          </a:p>
        </p:txBody>
      </p:sp>
      <p:sp>
        <p:nvSpPr>
          <p:cNvPr id="9" name="Shape 6"/>
          <p:cNvSpPr/>
          <p:nvPr/>
        </p:nvSpPr>
        <p:spPr>
          <a:xfrm>
            <a:off x="8001000" y="1234440"/>
            <a:ext cx="3749040" cy="4983480"/>
          </a:xfrm>
          <a:prstGeom prst="roundRect">
            <a:avLst>
              <a:gd name="adj" fmla="val 1951"/>
            </a:avLst>
          </a:prstGeom>
          <a:solidFill>
            <a:srgbClr val="F5F1FB"/>
          </a:solidFill>
          <a:ln w="12700">
            <a:solidFill>
              <a:srgbClr val="F5F1FB"/>
            </a:solidFill>
            <a:prstDash val="solid"/>
          </a:ln>
        </p:spPr>
      </p:sp>
      <p:sp>
        <p:nvSpPr>
          <p:cNvPr id="10" name="Text 7"/>
          <p:cNvSpPr/>
          <p:nvPr/>
        </p:nvSpPr>
        <p:spPr>
          <a:xfrm>
            <a:off x="8092440" y="1325880"/>
            <a:ext cx="3566160" cy="4800600"/>
          </a:xfrm>
          <a:prstGeom prst="rect">
            <a:avLst/>
          </a:prstGeom>
          <a:noFill/>
          <a:ln/>
        </p:spPr>
        <p:txBody>
          <a:bodyPr wrap="square" lIns="1016" tIns="1016" rIns="1016" bIns="1016" rtlCol="0" anchor="t"/>
          <a:lstStyle/>
          <a:p>
            <a:pPr marL="342900" indent="-342900">
              <a:spcAft>
                <a:spcPts val="1000"/>
              </a:spcAft>
              <a:buSzPct val="100000"/>
              <a:buChar char="■"/>
            </a:pPr>
            <a:r>
              <a:rPr lang="en-US" sz="1700" dirty="0">
                <a:solidFill>
                  <a:srgbClr val="1F1A33"/>
                </a:solidFill>
                <a:latin typeface="Calibri" pitchFamily="34" charset="0"/>
                <a:ea typeface="Calibri" pitchFamily="34" charset="-122"/>
                <a:cs typeface="Calibri" pitchFamily="34" charset="-120"/>
              </a:rPr>
              <a:t>The image is divided into non-overlapping 4 × 4 blocks.</a:t>
            </a:r>
            <a:endParaRPr lang="en-US" sz="1700" dirty="0"/>
          </a:p>
          <a:p>
            <a:pPr marL="342900" indent="-342900">
              <a:spcAft>
                <a:spcPts val="1000"/>
              </a:spcAft>
              <a:buSzPct val="100000"/>
              <a:buChar char="■"/>
            </a:pPr>
            <a:r>
              <a:rPr lang="en-US" sz="1700" dirty="0">
                <a:solidFill>
                  <a:srgbClr val="1F1A33"/>
                </a:solidFill>
                <a:latin typeface="Calibri" pitchFamily="34" charset="0"/>
                <a:ea typeface="Calibri" pitchFamily="34" charset="-122"/>
                <a:cs typeface="Calibri" pitchFamily="34" charset="-120"/>
              </a:rPr>
              <a:t>Each block becomes a 16-dimensional vector.</a:t>
            </a:r>
            <a:endParaRPr lang="en-US" sz="1700" dirty="0"/>
          </a:p>
          <a:p>
            <a:pPr marL="342900" indent="-342900">
              <a:spcAft>
                <a:spcPts val="1000"/>
              </a:spcAft>
              <a:buSzPct val="100000"/>
              <a:buChar char="■"/>
            </a:pPr>
            <a:r>
              <a:rPr lang="en-US" sz="1700" dirty="0">
                <a:solidFill>
                  <a:srgbClr val="1F1A33"/>
                </a:solidFill>
                <a:latin typeface="Calibri" pitchFamily="34" charset="0"/>
                <a:ea typeface="Calibri" pitchFamily="34" charset="-122"/>
                <a:cs typeface="Calibri" pitchFamily="34" charset="-120"/>
              </a:rPr>
              <a:t>A 512 × 512 image gives N = 16,384 training vectors.</a:t>
            </a:r>
            <a:endParaRPr lang="en-US" sz="1700" dirty="0"/>
          </a:p>
          <a:p>
            <a:pPr marL="342900" indent="-342900">
              <a:spcAft>
                <a:spcPts val="1000"/>
              </a:spcAft>
              <a:buSzPct val="100000"/>
              <a:buChar char="■"/>
            </a:pPr>
            <a:r>
              <a:rPr lang="en-US" sz="1700" dirty="0">
                <a:solidFill>
                  <a:srgbClr val="1F1A33"/>
                </a:solidFill>
                <a:latin typeface="Calibri" pitchFamily="34" charset="0"/>
                <a:ea typeface="Calibri" pitchFamily="34" charset="-122"/>
                <a:cs typeface="Calibri" pitchFamily="34" charset="-120"/>
              </a:rPr>
              <a:t>Color images: the R, G and B channels are processed independently.</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463040" cy="502920"/>
          </a:xfrm>
          <a:prstGeom prst="roundRect">
            <a:avLst>
              <a:gd name="adj" fmla="val 18182"/>
            </a:avLst>
          </a:prstGeom>
          <a:solidFill>
            <a:srgbClr val="E07B22"/>
          </a:solidFill>
          <a:ln w="12700">
            <a:solidFill>
              <a:srgbClr val="E07B22"/>
            </a:solidFill>
            <a:prstDash val="solid"/>
          </a:ln>
        </p:spPr>
      </p:sp>
      <p:sp>
        <p:nvSpPr>
          <p:cNvPr id="3" name="Text 1"/>
          <p:cNvSpPr/>
          <p:nvPr/>
        </p:nvSpPr>
        <p:spPr>
          <a:xfrm>
            <a:off x="457200" y="320040"/>
            <a:ext cx="14630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Stage 2</a:t>
            </a:r>
            <a:endParaRPr lang="en-US" sz="1800" dirty="0"/>
          </a:p>
        </p:txBody>
      </p:sp>
      <p:sp>
        <p:nvSpPr>
          <p:cNvPr id="4" name="Text 2"/>
          <p:cNvSpPr/>
          <p:nvPr/>
        </p:nvSpPr>
        <p:spPr>
          <a:xfrm>
            <a:off x="2103120" y="274320"/>
            <a:ext cx="960120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LBG Codebook Training</a:t>
            </a:r>
            <a:endParaRPr lang="en-US" sz="2800" dirty="0"/>
          </a:p>
        </p:txBody>
      </p:sp>
      <p:sp>
        <p:nvSpPr>
          <p:cNvPr id="5" name="Shape 3"/>
          <p:cNvSpPr/>
          <p:nvPr/>
        </p:nvSpPr>
        <p:spPr>
          <a:xfrm>
            <a:off x="457200" y="960120"/>
            <a:ext cx="11274552" cy="36576"/>
          </a:xfrm>
          <a:prstGeom prst="rect">
            <a:avLst/>
          </a:prstGeom>
          <a:solidFill>
            <a:srgbClr val="E07B22"/>
          </a:solidFill>
          <a:ln w="12700">
            <a:solidFill>
              <a:srgbClr val="E07B22"/>
            </a:solidFill>
            <a:prstDash val="solid"/>
          </a:ln>
        </p:spPr>
      </p:sp>
      <p:sp>
        <p:nvSpPr>
          <p:cNvPr id="6" name="Shape 4"/>
          <p:cNvSpPr/>
          <p:nvPr/>
        </p:nvSpPr>
        <p:spPr>
          <a:xfrm>
            <a:off x="457200" y="1234440"/>
            <a:ext cx="7315200" cy="4983480"/>
          </a:xfrm>
          <a:prstGeom prst="roundRect">
            <a:avLst>
              <a:gd name="adj" fmla="val 1468"/>
            </a:avLst>
          </a:prstGeom>
          <a:solidFill>
            <a:srgbClr val="FFFFFF"/>
          </a:solidFill>
          <a:ln w="15875">
            <a:solidFill>
              <a:srgbClr val="E07B22"/>
            </a:solidFill>
            <a:prstDash val="solid"/>
          </a:ln>
        </p:spPr>
      </p:sp>
      <p:pic>
        <p:nvPicPr>
          <p:cNvPr id="7" name="Image 0" descr="assets/lbg_flow_color.png">    </p:cNvPr>
          <p:cNvPicPr>
            <a:picLocks noChangeAspect="1"/>
          </p:cNvPicPr>
          <p:nvPr/>
        </p:nvPicPr>
        <p:blipFill>
          <a:blip r:embed="rId1"/>
          <a:stretch>
            <a:fillRect/>
          </a:stretch>
        </p:blipFill>
        <p:spPr>
          <a:xfrm>
            <a:off x="749477" y="1325880"/>
            <a:ext cx="6730646" cy="4800600"/>
          </a:xfrm>
          <a:prstGeom prst="rect">
            <a:avLst/>
          </a:prstGeom>
        </p:spPr>
      </p:pic>
      <p:sp>
        <p:nvSpPr>
          <p:cNvPr id="8" name="Shape 5"/>
          <p:cNvSpPr/>
          <p:nvPr/>
        </p:nvSpPr>
        <p:spPr>
          <a:xfrm>
            <a:off x="8001000" y="1234440"/>
            <a:ext cx="3749040" cy="4983480"/>
          </a:xfrm>
          <a:prstGeom prst="roundRect">
            <a:avLst>
              <a:gd name="adj" fmla="val 1951"/>
            </a:avLst>
          </a:prstGeom>
          <a:solidFill>
            <a:srgbClr val="F5F1FB"/>
          </a:solidFill>
          <a:ln w="12700">
            <a:solidFill>
              <a:srgbClr val="F5F1FB"/>
            </a:solidFill>
            <a:prstDash val="solid"/>
          </a:ln>
        </p:spPr>
      </p:sp>
      <p:sp>
        <p:nvSpPr>
          <p:cNvPr id="9" name="Text 6"/>
          <p:cNvSpPr/>
          <p:nvPr/>
        </p:nvSpPr>
        <p:spPr>
          <a:xfrm>
            <a:off x="8092440" y="1325880"/>
            <a:ext cx="3566160" cy="4800600"/>
          </a:xfrm>
          <a:prstGeom prst="rect">
            <a:avLst/>
          </a:prstGeom>
          <a:noFill/>
          <a:ln/>
        </p:spPr>
        <p:txBody>
          <a:bodyPr wrap="square" lIns="1016" tIns="1016" rIns="1016" bIns="1016" rtlCol="0" anchor="t"/>
          <a:lstStyle/>
          <a:p>
            <a:pPr marL="342900" indent="-342900">
              <a:spcAft>
                <a:spcPts val="1000"/>
              </a:spcAft>
              <a:buSzPct val="100000"/>
              <a:buChar char="■"/>
            </a:pPr>
            <a:r>
              <a:rPr lang="en-US" sz="1700" dirty="0">
                <a:solidFill>
                  <a:srgbClr val="1F1A33"/>
                </a:solidFill>
                <a:latin typeface="Calibri" pitchFamily="34" charset="0"/>
                <a:ea typeface="Calibri" pitchFamily="34" charset="-122"/>
                <a:cs typeface="Calibri" pitchFamily="34" charset="-120"/>
              </a:rPr>
              <a:t>Start from the global mean as the first codeword.</a:t>
            </a:r>
            <a:endParaRPr lang="en-US" sz="1700" dirty="0"/>
          </a:p>
          <a:p>
            <a:pPr marL="342900" indent="-342900">
              <a:spcAft>
                <a:spcPts val="1000"/>
              </a:spcAft>
              <a:buSzPct val="100000"/>
              <a:buChar char="■"/>
            </a:pPr>
            <a:r>
              <a:rPr lang="en-US" sz="1700" dirty="0">
                <a:solidFill>
                  <a:srgbClr val="1F1A33"/>
                </a:solidFill>
                <a:latin typeface="Calibri" pitchFamily="34" charset="0"/>
                <a:ea typeface="Calibri" pitchFamily="34" charset="-122"/>
                <a:cs typeface="Calibri" pitchFamily="34" charset="-120"/>
              </a:rPr>
              <a:t>Binary splitting (δ = 0.01) doubles the codebook size.</a:t>
            </a:r>
            <a:endParaRPr lang="en-US" sz="1700" dirty="0"/>
          </a:p>
          <a:p>
            <a:pPr marL="342900" indent="-342900">
              <a:spcAft>
                <a:spcPts val="1000"/>
              </a:spcAft>
              <a:buSzPct val="100000"/>
              <a:buChar char="■"/>
            </a:pPr>
            <a:r>
              <a:rPr lang="en-US" sz="1700" dirty="0">
                <a:solidFill>
                  <a:srgbClr val="1F1A33"/>
                </a:solidFill>
                <a:latin typeface="Calibri" pitchFamily="34" charset="0"/>
                <a:ea typeface="Calibri" pitchFamily="34" charset="-122"/>
                <a:cs typeface="Calibri" pitchFamily="34" charset="-120"/>
              </a:rPr>
              <a:t>Lloyd refinement: assign each vector to its nearest codeword, then update the centroids.</a:t>
            </a:r>
            <a:endParaRPr lang="en-US" sz="1700" dirty="0"/>
          </a:p>
          <a:p>
            <a:pPr marL="342900" indent="-342900">
              <a:spcAft>
                <a:spcPts val="1000"/>
              </a:spcAft>
              <a:buSzPct val="100000"/>
              <a:buChar char="■"/>
            </a:pPr>
            <a:r>
              <a:rPr lang="en-US" sz="1700" dirty="0">
                <a:solidFill>
                  <a:srgbClr val="1F1A33"/>
                </a:solidFill>
                <a:latin typeface="Calibri" pitchFamily="34" charset="0"/>
                <a:ea typeface="Calibri" pitchFamily="34" charset="-122"/>
                <a:cs typeface="Calibri" pitchFamily="34" charset="-120"/>
              </a:rPr>
              <a:t>Stop at ΔD ≤ ε or 100 iterations; repeat until K = 64.</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463040" cy="502920"/>
          </a:xfrm>
          <a:prstGeom prst="roundRect">
            <a:avLst>
              <a:gd name="adj" fmla="val 18182"/>
            </a:avLst>
          </a:prstGeom>
          <a:solidFill>
            <a:srgbClr val="E07B22"/>
          </a:solidFill>
          <a:ln w="12700">
            <a:solidFill>
              <a:srgbClr val="E07B22"/>
            </a:solidFill>
            <a:prstDash val="solid"/>
          </a:ln>
        </p:spPr>
      </p:sp>
      <p:sp>
        <p:nvSpPr>
          <p:cNvPr id="3" name="Text 1"/>
          <p:cNvSpPr/>
          <p:nvPr/>
        </p:nvSpPr>
        <p:spPr>
          <a:xfrm>
            <a:off x="457200" y="320040"/>
            <a:ext cx="14630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Stage 2</a:t>
            </a:r>
            <a:endParaRPr lang="en-US" sz="1800" dirty="0"/>
          </a:p>
        </p:txBody>
      </p:sp>
      <p:sp>
        <p:nvSpPr>
          <p:cNvPr id="4" name="Text 2"/>
          <p:cNvSpPr/>
          <p:nvPr/>
        </p:nvSpPr>
        <p:spPr>
          <a:xfrm>
            <a:off x="2103120" y="274320"/>
            <a:ext cx="960120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Parallel LBG Training (MPI)</a:t>
            </a:r>
            <a:endParaRPr lang="en-US" sz="2800" dirty="0"/>
          </a:p>
        </p:txBody>
      </p:sp>
      <p:sp>
        <p:nvSpPr>
          <p:cNvPr id="5" name="Shape 3"/>
          <p:cNvSpPr/>
          <p:nvPr/>
        </p:nvSpPr>
        <p:spPr>
          <a:xfrm>
            <a:off x="457200" y="960120"/>
            <a:ext cx="11274552" cy="36576"/>
          </a:xfrm>
          <a:prstGeom prst="rect">
            <a:avLst/>
          </a:prstGeom>
          <a:solidFill>
            <a:srgbClr val="E07B22"/>
          </a:solidFill>
          <a:ln w="12700">
            <a:solidFill>
              <a:srgbClr val="E07B22"/>
            </a:solidFill>
            <a:prstDash val="solid"/>
          </a:ln>
        </p:spPr>
      </p:sp>
      <p:sp>
        <p:nvSpPr>
          <p:cNvPr id="6" name="Shape 4"/>
          <p:cNvSpPr/>
          <p:nvPr/>
        </p:nvSpPr>
        <p:spPr>
          <a:xfrm>
            <a:off x="457200" y="1143000"/>
            <a:ext cx="11274552" cy="4206240"/>
          </a:xfrm>
          <a:prstGeom prst="roundRect">
            <a:avLst>
              <a:gd name="adj" fmla="val 1739"/>
            </a:avLst>
          </a:prstGeom>
          <a:solidFill>
            <a:srgbClr val="FFFFFF"/>
          </a:solidFill>
          <a:ln w="15875">
            <a:solidFill>
              <a:srgbClr val="E07B22"/>
            </a:solidFill>
            <a:prstDash val="solid"/>
          </a:ln>
        </p:spPr>
      </p:sp>
      <p:pic>
        <p:nvPicPr>
          <p:cNvPr id="7" name="Image 0" descr="figs/parallel_overview.png">    </p:cNvPr>
          <p:cNvPicPr>
            <a:picLocks noChangeAspect="1"/>
          </p:cNvPicPr>
          <p:nvPr/>
        </p:nvPicPr>
        <p:blipFill>
          <a:blip r:embed="rId1"/>
          <a:stretch>
            <a:fillRect/>
          </a:stretch>
        </p:blipFill>
        <p:spPr>
          <a:xfrm>
            <a:off x="1145179" y="1234440"/>
            <a:ext cx="9898594" cy="4023360"/>
          </a:xfrm>
          <a:prstGeom prst="rect">
            <a:avLst/>
          </a:prstGeom>
        </p:spPr>
      </p:pic>
      <p:sp>
        <p:nvSpPr>
          <p:cNvPr id="8" name="Shape 5"/>
          <p:cNvSpPr/>
          <p:nvPr/>
        </p:nvSpPr>
        <p:spPr>
          <a:xfrm>
            <a:off x="457200" y="5440680"/>
            <a:ext cx="5559552" cy="1234440"/>
          </a:xfrm>
          <a:prstGeom prst="roundRect">
            <a:avLst>
              <a:gd name="adj" fmla="val 5926"/>
            </a:avLst>
          </a:prstGeom>
          <a:solidFill>
            <a:srgbClr val="F5F1FB"/>
          </a:solidFill>
          <a:ln w="12700">
            <a:solidFill>
              <a:srgbClr val="F5F1FB"/>
            </a:solidFill>
            <a:prstDash val="solid"/>
          </a:ln>
        </p:spPr>
      </p:sp>
      <p:sp>
        <p:nvSpPr>
          <p:cNvPr id="9" name="Text 6"/>
          <p:cNvSpPr/>
          <p:nvPr/>
        </p:nvSpPr>
        <p:spPr>
          <a:xfrm>
            <a:off x="548640" y="5532120"/>
            <a:ext cx="5376672" cy="1051560"/>
          </a:xfrm>
          <a:prstGeom prst="rect">
            <a:avLst/>
          </a:prstGeom>
          <a:noFill/>
          <a:ln/>
        </p:spPr>
        <p:txBody>
          <a:bodyPr wrap="square" lIns="1016" tIns="1016" rIns="1016" bIns="1016" rtlCol="0" anchor="t"/>
          <a:lstStyle/>
          <a:p>
            <a:pPr marL="342900" indent="-342900">
              <a:spcAft>
                <a:spcPts val="1000"/>
              </a:spcAft>
              <a:buSzPct val="100000"/>
              <a:buChar char="■"/>
            </a:pPr>
            <a:r>
              <a:rPr lang="en-US" sz="1400" dirty="0">
                <a:solidFill>
                  <a:srgbClr val="1F1A33"/>
                </a:solidFill>
                <a:latin typeface="Calibri" pitchFamily="34" charset="0"/>
                <a:ea typeface="Calibri" pitchFamily="34" charset="-122"/>
                <a:cs typeface="Calibri" pitchFamily="34" charset="-120"/>
              </a:rPr>
              <a:t>SPMD: every rank runs the same program on its own chunk of vectors.</a:t>
            </a:r>
            <a:endParaRPr lang="en-US" sz="1400" dirty="0"/>
          </a:p>
          <a:p>
            <a:pPr marL="342900" indent="-342900">
              <a:spcAft>
                <a:spcPts val="1000"/>
              </a:spcAft>
              <a:buSzPct val="100000"/>
              <a:buChar char="■"/>
            </a:pPr>
            <a:r>
              <a:rPr lang="en-US" sz="1400" dirty="0">
                <a:solidFill>
                  <a:srgbClr val="1F1A33"/>
                </a:solidFill>
                <a:latin typeface="Calibri" pitchFamily="34" charset="0"/>
                <a:ea typeface="Calibri" pitchFamily="34" charset="-122"/>
                <a:cs typeface="Calibri" pitchFamily="34" charset="-120"/>
              </a:rPr>
              <a:t>Nearest-codeword assignment is local and is the main cost of LBG, which takes about 77% of the sequential time (gray).</a:t>
            </a:r>
            <a:endParaRPr lang="en-US" sz="1400" dirty="0"/>
          </a:p>
        </p:txBody>
      </p:sp>
      <p:sp>
        <p:nvSpPr>
          <p:cNvPr id="10" name="Shape 7"/>
          <p:cNvSpPr/>
          <p:nvPr/>
        </p:nvSpPr>
        <p:spPr>
          <a:xfrm>
            <a:off x="6172200" y="5440680"/>
            <a:ext cx="5559552" cy="1234440"/>
          </a:xfrm>
          <a:prstGeom prst="roundRect">
            <a:avLst>
              <a:gd name="adj" fmla="val 5926"/>
            </a:avLst>
          </a:prstGeom>
          <a:solidFill>
            <a:srgbClr val="F5F1FB"/>
          </a:solidFill>
          <a:ln w="12700">
            <a:solidFill>
              <a:srgbClr val="F5F1FB"/>
            </a:solidFill>
            <a:prstDash val="solid"/>
          </a:ln>
        </p:spPr>
      </p:sp>
      <p:sp>
        <p:nvSpPr>
          <p:cNvPr id="11" name="Text 8"/>
          <p:cNvSpPr/>
          <p:nvPr/>
        </p:nvSpPr>
        <p:spPr>
          <a:xfrm>
            <a:off x="6263640" y="5532120"/>
            <a:ext cx="5376672" cy="1051560"/>
          </a:xfrm>
          <a:prstGeom prst="rect">
            <a:avLst/>
          </a:prstGeom>
          <a:noFill/>
          <a:ln/>
        </p:spPr>
        <p:txBody>
          <a:bodyPr wrap="square" lIns="1016" tIns="1016" rIns="1016" bIns="1016" rtlCol="0" anchor="t"/>
          <a:lstStyle/>
          <a:p>
            <a:pPr marL="342900" indent="-342900">
              <a:spcAft>
                <a:spcPts val="1000"/>
              </a:spcAft>
              <a:buSzPct val="100000"/>
              <a:buChar char="■"/>
            </a:pPr>
            <a:r>
              <a:rPr lang="en-US" sz="1400" dirty="0">
                <a:solidFill>
                  <a:srgbClr val="1F1A33"/>
                </a:solidFill>
                <a:latin typeface="Calibri" pitchFamily="34" charset="0"/>
                <a:ea typeface="Calibri" pitchFamily="34" charset="-122"/>
                <a:cs typeface="Calibri" pitchFamily="34" charset="-120"/>
              </a:rPr>
              <a:t>Allreduce combines sums, counts and distortion; every rank updates the same codebook.</a:t>
            </a:r>
            <a:endParaRPr lang="en-US" sz="1400" dirty="0"/>
          </a:p>
          <a:p>
            <a:pPr marL="342900" indent="-342900">
              <a:spcAft>
                <a:spcPts val="1000"/>
              </a:spcAft>
              <a:buSzPct val="100000"/>
              <a:buChar char="■"/>
            </a:pPr>
            <a:r>
              <a:rPr lang="en-US" sz="1400" dirty="0">
                <a:solidFill>
                  <a:srgbClr val="1F1A33"/>
                </a:solidFill>
                <a:latin typeface="Calibri" pitchFamily="34" charset="0"/>
                <a:ea typeface="Calibri" pitchFamily="34" charset="-122"/>
                <a:cs typeface="Calibri" pitchFamily="34" charset="-120"/>
              </a:rPr>
              <a:t>Gatherv collects the final indices on Rank 0.</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463040" cy="502920"/>
          </a:xfrm>
          <a:prstGeom prst="roundRect">
            <a:avLst>
              <a:gd name="adj" fmla="val 18182"/>
            </a:avLst>
          </a:prstGeom>
          <a:solidFill>
            <a:srgbClr val="E07B22"/>
          </a:solidFill>
          <a:ln w="12700">
            <a:solidFill>
              <a:srgbClr val="E07B22"/>
            </a:solidFill>
            <a:prstDash val="solid"/>
          </a:ln>
        </p:spPr>
      </p:sp>
      <p:sp>
        <p:nvSpPr>
          <p:cNvPr id="3" name="Text 1"/>
          <p:cNvSpPr/>
          <p:nvPr/>
        </p:nvSpPr>
        <p:spPr>
          <a:xfrm>
            <a:off x="457200" y="320040"/>
            <a:ext cx="14630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Stage 2</a:t>
            </a:r>
            <a:endParaRPr lang="en-US" sz="1800" dirty="0"/>
          </a:p>
        </p:txBody>
      </p:sp>
      <p:sp>
        <p:nvSpPr>
          <p:cNvPr id="4" name="Text 2"/>
          <p:cNvSpPr/>
          <p:nvPr/>
        </p:nvSpPr>
        <p:spPr>
          <a:xfrm>
            <a:off x="2103120" y="274320"/>
            <a:ext cx="960120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Equal and Adaptive Workload Distribution</a:t>
            </a:r>
            <a:endParaRPr lang="en-US" sz="2800" dirty="0"/>
          </a:p>
        </p:txBody>
      </p:sp>
      <p:sp>
        <p:nvSpPr>
          <p:cNvPr id="5" name="Shape 3"/>
          <p:cNvSpPr/>
          <p:nvPr/>
        </p:nvSpPr>
        <p:spPr>
          <a:xfrm>
            <a:off x="457200" y="960120"/>
            <a:ext cx="11274552" cy="36576"/>
          </a:xfrm>
          <a:prstGeom prst="rect">
            <a:avLst/>
          </a:prstGeom>
          <a:solidFill>
            <a:srgbClr val="E07B22"/>
          </a:solidFill>
          <a:ln w="12700">
            <a:solidFill>
              <a:srgbClr val="E07B22"/>
            </a:solidFill>
            <a:prstDash val="solid"/>
          </a:ln>
        </p:spPr>
      </p:sp>
      <p:sp>
        <p:nvSpPr>
          <p:cNvPr id="6" name="Shape 4"/>
          <p:cNvSpPr/>
          <p:nvPr/>
        </p:nvSpPr>
        <p:spPr>
          <a:xfrm>
            <a:off x="457200" y="1234440"/>
            <a:ext cx="7315200" cy="4983480"/>
          </a:xfrm>
          <a:prstGeom prst="roundRect">
            <a:avLst>
              <a:gd name="adj" fmla="val 1468"/>
            </a:avLst>
          </a:prstGeom>
          <a:solidFill>
            <a:srgbClr val="FFFFFF"/>
          </a:solidFill>
          <a:ln w="15875">
            <a:solidFill>
              <a:srgbClr val="E07B22"/>
            </a:solidFill>
            <a:prstDash val="solid"/>
          </a:ln>
        </p:spPr>
      </p:sp>
      <p:pic>
        <p:nvPicPr>
          <p:cNvPr id="7" name="Image 0" descr="assets/ch3_fig38.png">    </p:cNvPr>
          <p:cNvPicPr>
            <a:picLocks noChangeAspect="1"/>
          </p:cNvPicPr>
          <p:nvPr/>
        </p:nvPicPr>
        <p:blipFill>
          <a:blip r:embed="rId1"/>
          <a:stretch>
            <a:fillRect/>
          </a:stretch>
        </p:blipFill>
        <p:spPr>
          <a:xfrm>
            <a:off x="548640" y="1618744"/>
            <a:ext cx="7132320" cy="4214872"/>
          </a:xfrm>
          <a:prstGeom prst="rect">
            <a:avLst/>
          </a:prstGeom>
        </p:spPr>
      </p:pic>
      <p:sp>
        <p:nvSpPr>
          <p:cNvPr id="8" name="Shape 5"/>
          <p:cNvSpPr/>
          <p:nvPr/>
        </p:nvSpPr>
        <p:spPr>
          <a:xfrm>
            <a:off x="8001000" y="1234440"/>
            <a:ext cx="3749040" cy="4983480"/>
          </a:xfrm>
          <a:prstGeom prst="roundRect">
            <a:avLst>
              <a:gd name="adj" fmla="val 1951"/>
            </a:avLst>
          </a:prstGeom>
          <a:solidFill>
            <a:srgbClr val="F5F1FB"/>
          </a:solidFill>
          <a:ln w="12700">
            <a:solidFill>
              <a:srgbClr val="F5F1FB"/>
            </a:solidFill>
            <a:prstDash val="solid"/>
          </a:ln>
        </p:spPr>
      </p:sp>
      <p:sp>
        <p:nvSpPr>
          <p:cNvPr id="9" name="Text 6"/>
          <p:cNvSpPr/>
          <p:nvPr/>
        </p:nvSpPr>
        <p:spPr>
          <a:xfrm>
            <a:off x="8092440" y="1325880"/>
            <a:ext cx="3566160" cy="4800600"/>
          </a:xfrm>
          <a:prstGeom prst="rect">
            <a:avLst/>
          </a:prstGeom>
          <a:noFill/>
          <a:ln/>
        </p:spPr>
        <p:txBody>
          <a:bodyPr wrap="square" lIns="1016" tIns="1016" rIns="1016" bIns="1016" rtlCol="0" anchor="t"/>
          <a:lstStyle/>
          <a:p>
            <a:pPr marL="342900" indent="-342900">
              <a:spcAft>
                <a:spcPts val="1000"/>
              </a:spcAft>
              <a:buSzPct val="100000"/>
              <a:buChar char="■"/>
            </a:pPr>
            <a:r>
              <a:rPr lang="en-US" sz="1600" dirty="0">
                <a:solidFill>
                  <a:srgbClr val="1F1A33"/>
                </a:solidFill>
                <a:latin typeface="Calibri" pitchFamily="34" charset="0"/>
                <a:ea typeface="Calibri" pitchFamily="34" charset="-122"/>
                <a:cs typeface="Calibri" pitchFamily="34" charset="-120"/>
              </a:rPr>
              <a:t>Equal (default, P ≤ 4): each rank gets N/P vectors (rounded down or up).</a:t>
            </a:r>
            <a:endParaRPr lang="en-US" sz="1600" dirty="0"/>
          </a:p>
          <a:p>
            <a:pPr marL="342900" indent="-342900">
              <a:spcAft>
                <a:spcPts val="1000"/>
              </a:spcAft>
              <a:buSzPct val="100000"/>
              <a:buChar char="■"/>
            </a:pPr>
            <a:r>
              <a:rPr lang="en-US" sz="1600" dirty="0">
                <a:solidFill>
                  <a:srgbClr val="1F1A33"/>
                </a:solidFill>
                <a:latin typeface="Calibri" pitchFamily="34" charset="0"/>
                <a:ea typeface="Calibri" pitchFamily="34" charset="-122"/>
                <a:cs typeface="Calibri" pitchFamily="34" charset="-120"/>
              </a:rPr>
              <a:t>Adaptive (P &gt; 4): speed measured by calibration (3 trials, the first is a warm-up).</a:t>
            </a:r>
            <a:endParaRPr lang="en-US" sz="1600" dirty="0"/>
          </a:p>
          <a:p>
            <a:pPr marL="342900" indent="-342900">
              <a:spcAft>
                <a:spcPts val="1000"/>
              </a:spcAft>
              <a:buSzPct val="100000"/>
              <a:buChar char="■"/>
            </a:pPr>
            <a:r>
              <a:rPr lang="en-US" sz="1600" dirty="0">
                <a:solidFill>
                  <a:srgbClr val="1F1A33"/>
                </a:solidFill>
                <a:latin typeface="Calibri" pitchFamily="34" charset="0"/>
                <a:ea typeface="Calibri" pitchFamily="34" charset="-122"/>
                <a:cs typeface="Calibri" pitchFamily="34" charset="-120"/>
              </a:rPr>
              <a:t>q_r = N · s_r / Σ s_j: faster cores receive more vectors.</a:t>
            </a:r>
            <a:endParaRPr lang="en-US" sz="1600" dirty="0"/>
          </a:p>
          <a:p>
            <a:pPr marL="342900" indent="-342900">
              <a:spcAft>
                <a:spcPts val="1000"/>
              </a:spcAft>
              <a:buSzPct val="100000"/>
              <a:buChar char="■"/>
            </a:pPr>
            <a:r>
              <a:rPr lang="en-US" sz="1600" dirty="0">
                <a:solidFill>
                  <a:srgbClr val="1F1A33"/>
                </a:solidFill>
                <a:latin typeface="Calibri" pitchFamily="34" charset="0"/>
                <a:ea typeface="Calibri" pitchFamily="34" charset="-122"/>
                <a:cs typeface="Calibri" pitchFamily="34" charset="-120"/>
              </a:rPr>
              <a:t>Adaptive reduces LBG time by 17–28% compared with Equal (P = 8 to 14).</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463040" cy="502920"/>
          </a:xfrm>
          <a:prstGeom prst="roundRect">
            <a:avLst>
              <a:gd name="adj" fmla="val 18182"/>
            </a:avLst>
          </a:prstGeom>
          <a:solidFill>
            <a:srgbClr val="2A9D8F"/>
          </a:solidFill>
          <a:ln w="12700">
            <a:solidFill>
              <a:srgbClr val="2A9D8F"/>
            </a:solidFill>
            <a:prstDash val="solid"/>
          </a:ln>
        </p:spPr>
      </p:sp>
      <p:sp>
        <p:nvSpPr>
          <p:cNvPr id="3" name="Text 1"/>
          <p:cNvSpPr/>
          <p:nvPr/>
        </p:nvSpPr>
        <p:spPr>
          <a:xfrm>
            <a:off x="457200" y="320040"/>
            <a:ext cx="14630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Stage 3</a:t>
            </a:r>
            <a:endParaRPr lang="en-US" sz="1800" dirty="0"/>
          </a:p>
        </p:txBody>
      </p:sp>
      <p:sp>
        <p:nvSpPr>
          <p:cNvPr id="4" name="Text 2"/>
          <p:cNvSpPr/>
          <p:nvPr/>
        </p:nvSpPr>
        <p:spPr>
          <a:xfrm>
            <a:off x="2103120" y="274320"/>
            <a:ext cx="960120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Delta Coding</a:t>
            </a:r>
            <a:endParaRPr lang="en-US" sz="2800" dirty="0"/>
          </a:p>
        </p:txBody>
      </p:sp>
      <p:sp>
        <p:nvSpPr>
          <p:cNvPr id="5" name="Shape 3"/>
          <p:cNvSpPr/>
          <p:nvPr/>
        </p:nvSpPr>
        <p:spPr>
          <a:xfrm>
            <a:off x="457200" y="960120"/>
            <a:ext cx="11274552" cy="36576"/>
          </a:xfrm>
          <a:prstGeom prst="rect">
            <a:avLst/>
          </a:prstGeom>
          <a:solidFill>
            <a:srgbClr val="2A9D8F"/>
          </a:solidFill>
          <a:ln w="12700">
            <a:solidFill>
              <a:srgbClr val="2A9D8F"/>
            </a:solidFill>
            <a:prstDash val="solid"/>
          </a:ln>
        </p:spPr>
      </p:sp>
      <p:sp>
        <p:nvSpPr>
          <p:cNvPr id="6" name="Shape 4"/>
          <p:cNvSpPr/>
          <p:nvPr/>
        </p:nvSpPr>
        <p:spPr>
          <a:xfrm>
            <a:off x="457200" y="1234440"/>
            <a:ext cx="7315200" cy="4983480"/>
          </a:xfrm>
          <a:prstGeom prst="roundRect">
            <a:avLst>
              <a:gd name="adj" fmla="val 1468"/>
            </a:avLst>
          </a:prstGeom>
          <a:solidFill>
            <a:srgbClr val="FFFFFF"/>
          </a:solidFill>
          <a:ln w="15875">
            <a:solidFill>
              <a:srgbClr val="2A9D8F"/>
            </a:solidFill>
            <a:prstDash val="solid"/>
          </a:ln>
        </p:spPr>
      </p:sp>
      <p:pic>
        <p:nvPicPr>
          <p:cNvPr id="7" name="Image 0" descr="assets/ch3_fig34.png">    </p:cNvPr>
          <p:cNvPicPr>
            <a:picLocks noChangeAspect="1"/>
          </p:cNvPicPr>
          <p:nvPr/>
        </p:nvPicPr>
        <p:blipFill>
          <a:blip r:embed="rId1"/>
          <a:stretch>
            <a:fillRect/>
          </a:stretch>
        </p:blipFill>
        <p:spPr>
          <a:xfrm>
            <a:off x="548640" y="2117794"/>
            <a:ext cx="7132320" cy="3216773"/>
          </a:xfrm>
          <a:prstGeom prst="rect">
            <a:avLst/>
          </a:prstGeom>
        </p:spPr>
      </p:pic>
      <p:sp>
        <p:nvSpPr>
          <p:cNvPr id="8" name="Shape 5"/>
          <p:cNvSpPr/>
          <p:nvPr/>
        </p:nvSpPr>
        <p:spPr>
          <a:xfrm>
            <a:off x="8001000" y="1234440"/>
            <a:ext cx="3749040" cy="4983480"/>
          </a:xfrm>
          <a:prstGeom prst="roundRect">
            <a:avLst>
              <a:gd name="adj" fmla="val 1951"/>
            </a:avLst>
          </a:prstGeom>
          <a:solidFill>
            <a:srgbClr val="F5F1FB"/>
          </a:solidFill>
          <a:ln w="12700">
            <a:solidFill>
              <a:srgbClr val="F5F1FB"/>
            </a:solidFill>
            <a:prstDash val="solid"/>
          </a:ln>
        </p:spPr>
      </p:sp>
      <p:sp>
        <p:nvSpPr>
          <p:cNvPr id="9" name="Text 6"/>
          <p:cNvSpPr/>
          <p:nvPr/>
        </p:nvSpPr>
        <p:spPr>
          <a:xfrm>
            <a:off x="8092440" y="1325880"/>
            <a:ext cx="3566160" cy="4800600"/>
          </a:xfrm>
          <a:prstGeom prst="rect">
            <a:avLst/>
          </a:prstGeom>
          <a:noFill/>
          <a:ln/>
        </p:spPr>
        <p:txBody>
          <a:bodyPr wrap="square" lIns="1016" tIns="1016" rIns="1016" bIns="1016" rtlCol="0" anchor="t"/>
          <a:lstStyle/>
          <a:p>
            <a:pPr marL="342900" indent="-342900">
              <a:spcAft>
                <a:spcPts val="1000"/>
              </a:spcAft>
              <a:buSzPct val="100000"/>
              <a:buChar char="■"/>
            </a:pPr>
            <a:r>
              <a:rPr lang="en-US" sz="1700" dirty="0">
                <a:solidFill>
                  <a:srgbClr val="1F1A33"/>
                </a:solidFill>
                <a:latin typeface="Calibri" pitchFamily="34" charset="0"/>
                <a:ea typeface="Calibri" pitchFamily="34" charset="-122"/>
                <a:cs typeface="Calibri" pitchFamily="34" charset="-120"/>
              </a:rPr>
              <a:t>Stores the difference between successive VQ indices (offset 128).</a:t>
            </a:r>
            <a:endParaRPr lang="en-US" sz="1700" dirty="0"/>
          </a:p>
          <a:p>
            <a:pPr marL="342900" indent="-342900">
              <a:spcAft>
                <a:spcPts val="1000"/>
              </a:spcAft>
              <a:buSzPct val="100000"/>
              <a:buChar char="■"/>
            </a:pPr>
            <a:r>
              <a:rPr lang="en-US" sz="1700" dirty="0">
                <a:solidFill>
                  <a:srgbClr val="1F1A33"/>
                </a:solidFill>
                <a:latin typeface="Calibri" pitchFamily="34" charset="0"/>
                <a:ea typeface="Calibri" pitchFamily="34" charset="-122"/>
                <a:cs typeface="Calibri" pitchFamily="34" charset="-120"/>
              </a:rPr>
              <a:t>Neighbouring blocks are correlated, so the differences cluster around the offset.</a:t>
            </a:r>
            <a:endParaRPr lang="en-US" sz="1700" dirty="0"/>
          </a:p>
          <a:p>
            <a:pPr marL="342900" indent="-342900">
              <a:spcAft>
                <a:spcPts val="1000"/>
              </a:spcAft>
              <a:buSzPct val="100000"/>
              <a:buChar char="■"/>
            </a:pPr>
            <a:r>
              <a:rPr lang="en-US" sz="1700" dirty="0">
                <a:solidFill>
                  <a:srgbClr val="1F1A33"/>
                </a:solidFill>
                <a:latin typeface="Calibri" pitchFamily="34" charset="0"/>
                <a:ea typeface="Calibri" pitchFamily="34" charset="-122"/>
                <a:cs typeface="Calibri" pitchFamily="34" charset="-120"/>
              </a:rPr>
              <a:t>Example (Lena): entropy falls from 5.39 to 4.67 bits per symbol.</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463040" cy="502920"/>
          </a:xfrm>
          <a:prstGeom prst="roundRect">
            <a:avLst>
              <a:gd name="adj" fmla="val 18182"/>
            </a:avLst>
          </a:prstGeom>
          <a:solidFill>
            <a:srgbClr val="2A9D8F"/>
          </a:solidFill>
          <a:ln w="12700">
            <a:solidFill>
              <a:srgbClr val="2A9D8F"/>
            </a:solidFill>
            <a:prstDash val="solid"/>
          </a:ln>
        </p:spPr>
      </p:sp>
      <p:sp>
        <p:nvSpPr>
          <p:cNvPr id="3" name="Text 1"/>
          <p:cNvSpPr/>
          <p:nvPr/>
        </p:nvSpPr>
        <p:spPr>
          <a:xfrm>
            <a:off x="457200" y="320040"/>
            <a:ext cx="14630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Stage 3</a:t>
            </a:r>
            <a:endParaRPr lang="en-US" sz="1800" dirty="0"/>
          </a:p>
        </p:txBody>
      </p:sp>
      <p:sp>
        <p:nvSpPr>
          <p:cNvPr id="4" name="Text 2"/>
          <p:cNvSpPr/>
          <p:nvPr/>
        </p:nvSpPr>
        <p:spPr>
          <a:xfrm>
            <a:off x="2103120" y="274320"/>
            <a:ext cx="960120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Huffman Coding</a:t>
            </a:r>
            <a:endParaRPr lang="en-US" sz="2800" dirty="0"/>
          </a:p>
        </p:txBody>
      </p:sp>
      <p:sp>
        <p:nvSpPr>
          <p:cNvPr id="5" name="Shape 3"/>
          <p:cNvSpPr/>
          <p:nvPr/>
        </p:nvSpPr>
        <p:spPr>
          <a:xfrm>
            <a:off x="457200" y="960120"/>
            <a:ext cx="11274552" cy="36576"/>
          </a:xfrm>
          <a:prstGeom prst="rect">
            <a:avLst/>
          </a:prstGeom>
          <a:solidFill>
            <a:srgbClr val="2A9D8F"/>
          </a:solidFill>
          <a:ln w="12700">
            <a:solidFill>
              <a:srgbClr val="2A9D8F"/>
            </a:solidFill>
            <a:prstDash val="solid"/>
          </a:ln>
        </p:spPr>
      </p:sp>
      <p:sp>
        <p:nvSpPr>
          <p:cNvPr id="6" name="Shape 4"/>
          <p:cNvSpPr/>
          <p:nvPr/>
        </p:nvSpPr>
        <p:spPr>
          <a:xfrm>
            <a:off x="457200" y="1280160"/>
            <a:ext cx="11274552" cy="1554480"/>
          </a:xfrm>
          <a:prstGeom prst="roundRect">
            <a:avLst>
              <a:gd name="adj" fmla="val 4706"/>
            </a:avLst>
          </a:prstGeom>
          <a:solidFill>
            <a:srgbClr val="FFFFFF"/>
          </a:solidFill>
          <a:ln w="15875">
            <a:solidFill>
              <a:srgbClr val="2A9D8F"/>
            </a:solidFill>
            <a:prstDash val="solid"/>
          </a:ln>
        </p:spPr>
      </p:sp>
      <p:pic>
        <p:nvPicPr>
          <p:cNvPr id="7" name="Image 0" descr="assets/ch3_fig35.png">    </p:cNvPr>
          <p:cNvPicPr>
            <a:picLocks noChangeAspect="1"/>
          </p:cNvPicPr>
          <p:nvPr/>
        </p:nvPicPr>
        <p:blipFill>
          <a:blip r:embed="rId1"/>
          <a:stretch>
            <a:fillRect/>
          </a:stretch>
        </p:blipFill>
        <p:spPr>
          <a:xfrm>
            <a:off x="548640" y="1466490"/>
            <a:ext cx="11091672" cy="1181820"/>
          </a:xfrm>
          <a:prstGeom prst="rect">
            <a:avLst/>
          </a:prstGeom>
        </p:spPr>
      </p:pic>
      <p:sp>
        <p:nvSpPr>
          <p:cNvPr id="8" name="Shape 5"/>
          <p:cNvSpPr/>
          <p:nvPr/>
        </p:nvSpPr>
        <p:spPr>
          <a:xfrm>
            <a:off x="457200" y="3154680"/>
            <a:ext cx="11274552" cy="3063240"/>
          </a:xfrm>
          <a:prstGeom prst="roundRect">
            <a:avLst>
              <a:gd name="adj" fmla="val 2388"/>
            </a:avLst>
          </a:prstGeom>
          <a:solidFill>
            <a:srgbClr val="F5F1FB"/>
          </a:solidFill>
          <a:ln w="12700">
            <a:solidFill>
              <a:srgbClr val="F5F1FB"/>
            </a:solidFill>
            <a:prstDash val="solid"/>
          </a:ln>
        </p:spPr>
      </p:sp>
      <p:sp>
        <p:nvSpPr>
          <p:cNvPr id="9" name="Text 6"/>
          <p:cNvSpPr/>
          <p:nvPr/>
        </p:nvSpPr>
        <p:spPr>
          <a:xfrm>
            <a:off x="548640" y="3246120"/>
            <a:ext cx="11091672" cy="2880360"/>
          </a:xfrm>
          <a:prstGeom prst="rect">
            <a:avLst/>
          </a:prstGeom>
          <a:noFill/>
          <a:ln/>
        </p:spPr>
        <p:txBody>
          <a:bodyPr wrap="square" lIns="1016" tIns="1016" rIns="1016" bIns="1016" rtlCol="0" anchor="t"/>
          <a:lstStyle/>
          <a:p>
            <a:pPr marL="342900" indent="-342900">
              <a:spcAft>
                <a:spcPts val="1000"/>
              </a:spcAft>
              <a:buSzPct val="100000"/>
              <a:buChar char="■"/>
            </a:pPr>
            <a:r>
              <a:rPr lang="en-US" sz="1900" dirty="0">
                <a:solidFill>
                  <a:srgbClr val="1F1A33"/>
                </a:solidFill>
                <a:latin typeface="Calibri" pitchFamily="34" charset="0"/>
                <a:ea typeface="Calibri" pitchFamily="34" charset="-122"/>
                <a:cs typeface="Calibri" pitchFamily="34" charset="-120"/>
              </a:rPr>
              <a:t>Frequent symbols receive shorter codewords, rare symbols longer ones (lossless).</a:t>
            </a:r>
            <a:endParaRPr lang="en-US" sz="1900" dirty="0"/>
          </a:p>
          <a:p>
            <a:pPr marL="342900" indent="-342900">
              <a:spcAft>
                <a:spcPts val="1000"/>
              </a:spcAft>
              <a:buSzPct val="100000"/>
              <a:buChar char="■"/>
            </a:pPr>
            <a:r>
              <a:rPr lang="en-US" sz="1900" dirty="0">
                <a:solidFill>
                  <a:srgbClr val="1F1A33"/>
                </a:solidFill>
                <a:latin typeface="Calibri" pitchFamily="34" charset="0"/>
                <a:ea typeface="Calibri" pitchFamily="34" charset="-122"/>
                <a:cs typeface="Calibri" pitchFamily="34" charset="-120"/>
              </a:rPr>
              <a:t>Output: the Huffman codes and the encoded bitstream.</a:t>
            </a:r>
            <a:endParaRPr lang="en-US" sz="1900" dirty="0"/>
          </a:p>
          <a:p>
            <a:pPr marL="342900" indent="-342900">
              <a:spcAft>
                <a:spcPts val="1000"/>
              </a:spcAft>
              <a:buSzPct val="100000"/>
              <a:buChar char="■"/>
            </a:pPr>
            <a:r>
              <a:rPr lang="en-US" sz="1900" dirty="0">
                <a:solidFill>
                  <a:srgbClr val="1F1A33"/>
                </a:solidFill>
                <a:latin typeface="Calibri" pitchFamily="34" charset="0"/>
                <a:ea typeface="Calibri" pitchFamily="34" charset="-122"/>
                <a:cs typeface="Calibri" pitchFamily="34" charset="-120"/>
              </a:rPr>
              <a:t>Accounted compressed size = codebook (K × 16 bytes, one byte per codeword element) + Huffman table + Huffman-coded data.</a:t>
            </a:r>
            <a:endParaRPr lang="en-US" sz="1900" dirty="0"/>
          </a:p>
          <a:p>
            <a:pPr marL="342900" indent="-342900">
              <a:spcAft>
                <a:spcPts val="1000"/>
              </a:spcAft>
              <a:buSzPct val="100000"/>
              <a:buChar char="■"/>
            </a:pPr>
            <a:r>
              <a:rPr lang="en-US" sz="1900" dirty="0">
                <a:solidFill>
                  <a:srgbClr val="1F1A33"/>
                </a:solidFill>
                <a:latin typeface="Calibri" pitchFamily="34" charset="0"/>
                <a:ea typeface="Calibri" pitchFamily="34" charset="-122"/>
                <a:cs typeface="Calibri" pitchFamily="34" charset="-120"/>
              </a:rPr>
              <a:t>The table is accounted as 5 bytes per used symbol (1 byte symbol + 4 bytes frequency) plus 10 bytes of fixed metadata. The program accounts this size; it does not write a stand-alone compressed file.</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463040" cy="502920"/>
          </a:xfrm>
          <a:prstGeom prst="roundRect">
            <a:avLst>
              <a:gd name="adj" fmla="val 18182"/>
            </a:avLst>
          </a:prstGeom>
          <a:solidFill>
            <a:srgbClr val="6B4FA3"/>
          </a:solidFill>
          <a:ln w="12700">
            <a:solidFill>
              <a:srgbClr val="6B4FA3"/>
            </a:solidFill>
            <a:prstDash val="solid"/>
          </a:ln>
        </p:spPr>
      </p:sp>
      <p:sp>
        <p:nvSpPr>
          <p:cNvPr id="3" name="Text 1"/>
          <p:cNvSpPr/>
          <p:nvPr/>
        </p:nvSpPr>
        <p:spPr>
          <a:xfrm>
            <a:off x="457200" y="320040"/>
            <a:ext cx="14630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Stage 4</a:t>
            </a:r>
            <a:endParaRPr lang="en-US" sz="1800" dirty="0"/>
          </a:p>
        </p:txBody>
      </p:sp>
      <p:sp>
        <p:nvSpPr>
          <p:cNvPr id="4" name="Text 2"/>
          <p:cNvSpPr/>
          <p:nvPr/>
        </p:nvSpPr>
        <p:spPr>
          <a:xfrm>
            <a:off x="2103120" y="274320"/>
            <a:ext cx="960120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Decoding and Evaluation</a:t>
            </a:r>
            <a:endParaRPr lang="en-US" sz="2800" dirty="0"/>
          </a:p>
        </p:txBody>
      </p:sp>
      <p:sp>
        <p:nvSpPr>
          <p:cNvPr id="5" name="Shape 3"/>
          <p:cNvSpPr/>
          <p:nvPr/>
        </p:nvSpPr>
        <p:spPr>
          <a:xfrm>
            <a:off x="457200" y="960120"/>
            <a:ext cx="11274552" cy="36576"/>
          </a:xfrm>
          <a:prstGeom prst="rect">
            <a:avLst/>
          </a:prstGeom>
          <a:solidFill>
            <a:srgbClr val="6B4FA3"/>
          </a:solidFill>
          <a:ln w="12700">
            <a:solidFill>
              <a:srgbClr val="6B4FA3"/>
            </a:solidFill>
            <a:prstDash val="solid"/>
          </a:ln>
        </p:spPr>
      </p:sp>
      <p:sp>
        <p:nvSpPr>
          <p:cNvPr id="6" name="Shape 4"/>
          <p:cNvSpPr/>
          <p:nvPr/>
        </p:nvSpPr>
        <p:spPr>
          <a:xfrm>
            <a:off x="457200" y="1234440"/>
            <a:ext cx="2468880" cy="731520"/>
          </a:xfrm>
          <a:prstGeom prst="roundRect">
            <a:avLst>
              <a:gd name="adj" fmla="val 10000"/>
            </a:avLst>
          </a:prstGeom>
          <a:solidFill>
            <a:srgbClr val="ECE6F6"/>
          </a:solidFill>
          <a:ln w="19050">
            <a:solidFill>
              <a:srgbClr val="6B4FA3"/>
            </a:solidFill>
            <a:prstDash val="solid"/>
          </a:ln>
        </p:spPr>
      </p:sp>
      <p:sp>
        <p:nvSpPr>
          <p:cNvPr id="7" name="Text 5"/>
          <p:cNvSpPr/>
          <p:nvPr/>
        </p:nvSpPr>
        <p:spPr>
          <a:xfrm>
            <a:off x="457200" y="1234440"/>
            <a:ext cx="2468880" cy="731520"/>
          </a:xfrm>
          <a:prstGeom prst="rect">
            <a:avLst/>
          </a:prstGeom>
          <a:noFill/>
          <a:ln/>
        </p:spPr>
        <p:txBody>
          <a:bodyPr wrap="square" lIns="0" tIns="0" rIns="0" bIns="0" rtlCol="0" anchor="ctr"/>
          <a:lstStyle/>
          <a:p>
            <a:pPr algn="ctr" indent="0" marL="0">
              <a:buNone/>
            </a:pPr>
            <a:r>
              <a:rPr lang="en-US" sz="1600" b="1" dirty="0">
                <a:solidFill>
                  <a:srgbClr val="6B4FA3"/>
                </a:solidFill>
                <a:latin typeface="Calibri" pitchFamily="34" charset="0"/>
                <a:ea typeface="Calibri" pitchFamily="34" charset="-122"/>
                <a:cs typeface="Calibri" pitchFamily="34" charset="-120"/>
              </a:rPr>
              <a:t>Huffman decoding</a:t>
            </a:r>
            <a:endParaRPr lang="en-US" sz="1600" dirty="0"/>
          </a:p>
        </p:txBody>
      </p:sp>
      <p:sp>
        <p:nvSpPr>
          <p:cNvPr id="8" name="Shape 6"/>
          <p:cNvSpPr/>
          <p:nvPr/>
        </p:nvSpPr>
        <p:spPr>
          <a:xfrm>
            <a:off x="2953512" y="1481328"/>
            <a:ext cx="310896" cy="237744"/>
          </a:xfrm>
          <a:prstGeom prst="rightArrow">
            <a:avLst/>
          </a:prstGeom>
          <a:solidFill>
            <a:srgbClr val="1F1A33"/>
          </a:solidFill>
          <a:ln w="12700">
            <a:solidFill>
              <a:srgbClr val="1F1A33"/>
            </a:solidFill>
            <a:prstDash val="solid"/>
          </a:ln>
        </p:spPr>
      </p:sp>
      <p:sp>
        <p:nvSpPr>
          <p:cNvPr id="9" name="Shape 7"/>
          <p:cNvSpPr/>
          <p:nvPr/>
        </p:nvSpPr>
        <p:spPr>
          <a:xfrm>
            <a:off x="3291840" y="1234440"/>
            <a:ext cx="2468880" cy="731520"/>
          </a:xfrm>
          <a:prstGeom prst="roundRect">
            <a:avLst>
              <a:gd name="adj" fmla="val 10000"/>
            </a:avLst>
          </a:prstGeom>
          <a:solidFill>
            <a:srgbClr val="ECE6F6"/>
          </a:solidFill>
          <a:ln w="19050">
            <a:solidFill>
              <a:srgbClr val="6B4FA3"/>
            </a:solidFill>
            <a:prstDash val="solid"/>
          </a:ln>
        </p:spPr>
      </p:sp>
      <p:sp>
        <p:nvSpPr>
          <p:cNvPr id="10" name="Text 8"/>
          <p:cNvSpPr/>
          <p:nvPr/>
        </p:nvSpPr>
        <p:spPr>
          <a:xfrm>
            <a:off x="3291840" y="1234440"/>
            <a:ext cx="2468880" cy="731520"/>
          </a:xfrm>
          <a:prstGeom prst="rect">
            <a:avLst/>
          </a:prstGeom>
          <a:noFill/>
          <a:ln/>
        </p:spPr>
        <p:txBody>
          <a:bodyPr wrap="square" lIns="0" tIns="0" rIns="0" bIns="0" rtlCol="0" anchor="ctr"/>
          <a:lstStyle/>
          <a:p>
            <a:pPr algn="ctr" indent="0" marL="0">
              <a:buNone/>
            </a:pPr>
            <a:r>
              <a:rPr lang="en-US" sz="1600" b="1" dirty="0">
                <a:solidFill>
                  <a:srgbClr val="6B4FA3"/>
                </a:solidFill>
                <a:latin typeface="Calibri" pitchFamily="34" charset="0"/>
                <a:ea typeface="Calibri" pitchFamily="34" charset="-122"/>
                <a:cs typeface="Calibri" pitchFamily="34" charset="-120"/>
              </a:rPr>
              <a:t>Inverse delta</a:t>
            </a:r>
            <a:endParaRPr lang="en-US" sz="1600" dirty="0"/>
          </a:p>
        </p:txBody>
      </p:sp>
      <p:sp>
        <p:nvSpPr>
          <p:cNvPr id="11" name="Shape 9"/>
          <p:cNvSpPr/>
          <p:nvPr/>
        </p:nvSpPr>
        <p:spPr>
          <a:xfrm>
            <a:off x="5788152" y="1481328"/>
            <a:ext cx="310896" cy="237744"/>
          </a:xfrm>
          <a:prstGeom prst="rightArrow">
            <a:avLst/>
          </a:prstGeom>
          <a:solidFill>
            <a:srgbClr val="1F1A33"/>
          </a:solidFill>
          <a:ln w="12700">
            <a:solidFill>
              <a:srgbClr val="1F1A33"/>
            </a:solidFill>
            <a:prstDash val="solid"/>
          </a:ln>
        </p:spPr>
      </p:sp>
      <p:sp>
        <p:nvSpPr>
          <p:cNvPr id="12" name="Shape 10"/>
          <p:cNvSpPr/>
          <p:nvPr/>
        </p:nvSpPr>
        <p:spPr>
          <a:xfrm>
            <a:off x="6126480" y="1234440"/>
            <a:ext cx="2468880" cy="731520"/>
          </a:xfrm>
          <a:prstGeom prst="roundRect">
            <a:avLst>
              <a:gd name="adj" fmla="val 10000"/>
            </a:avLst>
          </a:prstGeom>
          <a:solidFill>
            <a:srgbClr val="ECE6F6"/>
          </a:solidFill>
          <a:ln w="19050">
            <a:solidFill>
              <a:srgbClr val="6B4FA3"/>
            </a:solidFill>
            <a:prstDash val="solid"/>
          </a:ln>
        </p:spPr>
      </p:sp>
      <p:sp>
        <p:nvSpPr>
          <p:cNvPr id="13" name="Text 11"/>
          <p:cNvSpPr/>
          <p:nvPr/>
        </p:nvSpPr>
        <p:spPr>
          <a:xfrm>
            <a:off x="6126480" y="1234440"/>
            <a:ext cx="2468880" cy="731520"/>
          </a:xfrm>
          <a:prstGeom prst="rect">
            <a:avLst/>
          </a:prstGeom>
          <a:noFill/>
          <a:ln/>
        </p:spPr>
        <p:txBody>
          <a:bodyPr wrap="square" lIns="0" tIns="0" rIns="0" bIns="0" rtlCol="0" anchor="ctr"/>
          <a:lstStyle/>
          <a:p>
            <a:pPr algn="ctr" indent="0" marL="0">
              <a:buNone/>
            </a:pPr>
            <a:r>
              <a:rPr lang="en-US" sz="1600" b="1" dirty="0">
                <a:solidFill>
                  <a:srgbClr val="6B4FA3"/>
                </a:solidFill>
                <a:latin typeface="Calibri" pitchFamily="34" charset="0"/>
                <a:ea typeface="Calibri" pitchFamily="34" charset="-122"/>
                <a:cs typeface="Calibri" pitchFamily="34" charset="-120"/>
              </a:rPr>
              <a:t>Codebook lookup</a:t>
            </a:r>
            <a:endParaRPr lang="en-US" sz="1600" dirty="0"/>
          </a:p>
        </p:txBody>
      </p:sp>
      <p:sp>
        <p:nvSpPr>
          <p:cNvPr id="14" name="Shape 12"/>
          <p:cNvSpPr/>
          <p:nvPr/>
        </p:nvSpPr>
        <p:spPr>
          <a:xfrm>
            <a:off x="8622792" y="1481328"/>
            <a:ext cx="310896" cy="237744"/>
          </a:xfrm>
          <a:prstGeom prst="rightArrow">
            <a:avLst/>
          </a:prstGeom>
          <a:solidFill>
            <a:srgbClr val="1F1A33"/>
          </a:solidFill>
          <a:ln w="12700">
            <a:solidFill>
              <a:srgbClr val="1F1A33"/>
            </a:solidFill>
            <a:prstDash val="solid"/>
          </a:ln>
        </p:spPr>
      </p:sp>
      <p:sp>
        <p:nvSpPr>
          <p:cNvPr id="15" name="Shape 13"/>
          <p:cNvSpPr/>
          <p:nvPr/>
        </p:nvSpPr>
        <p:spPr>
          <a:xfrm>
            <a:off x="8961120" y="1234440"/>
            <a:ext cx="2468880" cy="731520"/>
          </a:xfrm>
          <a:prstGeom prst="roundRect">
            <a:avLst>
              <a:gd name="adj" fmla="val 10000"/>
            </a:avLst>
          </a:prstGeom>
          <a:solidFill>
            <a:srgbClr val="ECE6F6"/>
          </a:solidFill>
          <a:ln w="19050">
            <a:solidFill>
              <a:srgbClr val="6B4FA3"/>
            </a:solidFill>
            <a:prstDash val="solid"/>
          </a:ln>
        </p:spPr>
      </p:sp>
      <p:sp>
        <p:nvSpPr>
          <p:cNvPr id="16" name="Text 14"/>
          <p:cNvSpPr/>
          <p:nvPr/>
        </p:nvSpPr>
        <p:spPr>
          <a:xfrm>
            <a:off x="8961120" y="1234440"/>
            <a:ext cx="2468880" cy="731520"/>
          </a:xfrm>
          <a:prstGeom prst="rect">
            <a:avLst/>
          </a:prstGeom>
          <a:noFill/>
          <a:ln/>
        </p:spPr>
        <p:txBody>
          <a:bodyPr wrap="square" lIns="0" tIns="0" rIns="0" bIns="0" rtlCol="0" anchor="ctr"/>
          <a:lstStyle/>
          <a:p>
            <a:pPr algn="ctr" indent="0" marL="0">
              <a:buNone/>
            </a:pPr>
            <a:r>
              <a:rPr lang="en-US" sz="1600" b="1" dirty="0">
                <a:solidFill>
                  <a:srgbClr val="6B4FA3"/>
                </a:solidFill>
                <a:latin typeface="Calibri" pitchFamily="34" charset="0"/>
                <a:ea typeface="Calibri" pitchFamily="34" charset="-122"/>
                <a:cs typeface="Calibri" pitchFamily="34" charset="-120"/>
              </a:rPr>
              <a:t>Reconstructed image</a:t>
            </a:r>
            <a:endParaRPr lang="en-US" sz="1600" dirty="0"/>
          </a:p>
        </p:txBody>
      </p:sp>
      <p:pic>
        <p:nvPicPr>
          <p:cNvPr id="17" name="Image 0" descr="assets/cam_orig.png">    </p:cNvPr>
          <p:cNvPicPr>
            <a:picLocks noChangeAspect="1"/>
          </p:cNvPicPr>
          <p:nvPr/>
        </p:nvPicPr>
        <p:blipFill>
          <a:blip r:embed="rId1"/>
          <a:stretch>
            <a:fillRect/>
          </a:stretch>
        </p:blipFill>
        <p:spPr>
          <a:xfrm>
            <a:off x="457200" y="2331720"/>
            <a:ext cx="2926080" cy="2926080"/>
          </a:xfrm>
          <a:prstGeom prst="rect">
            <a:avLst/>
          </a:prstGeom>
        </p:spPr>
      </p:pic>
      <p:pic>
        <p:nvPicPr>
          <p:cNvPr id="18" name="Image 1" descr="assets/cam_rec.png">    </p:cNvPr>
          <p:cNvPicPr>
            <a:picLocks noChangeAspect="1"/>
          </p:cNvPicPr>
          <p:nvPr/>
        </p:nvPicPr>
        <p:blipFill>
          <a:blip r:embed="rId2"/>
          <a:stretch>
            <a:fillRect/>
          </a:stretch>
        </p:blipFill>
        <p:spPr>
          <a:xfrm>
            <a:off x="3611880" y="2331720"/>
            <a:ext cx="2926080" cy="2926080"/>
          </a:xfrm>
          <a:prstGeom prst="rect">
            <a:avLst/>
          </a:prstGeom>
        </p:spPr>
      </p:pic>
      <p:sp>
        <p:nvSpPr>
          <p:cNvPr id="19" name="Text 15"/>
          <p:cNvSpPr/>
          <p:nvPr/>
        </p:nvSpPr>
        <p:spPr>
          <a:xfrm>
            <a:off x="457200" y="5285232"/>
            <a:ext cx="2926080" cy="274320"/>
          </a:xfrm>
          <a:prstGeom prst="rect">
            <a:avLst/>
          </a:prstGeom>
          <a:noFill/>
          <a:ln/>
        </p:spPr>
        <p:txBody>
          <a:bodyPr wrap="square" lIns="0" tIns="0" rIns="0" bIns="0" rtlCol="0" anchor="ctr"/>
          <a:lstStyle/>
          <a:p>
            <a:pPr algn="ctr" indent="0" marL="0">
              <a:buNone/>
            </a:pPr>
            <a:r>
              <a:rPr lang="en-US" sz="1400" b="1" dirty="0">
                <a:solidFill>
                  <a:srgbClr val="1F1A33"/>
                </a:solidFill>
                <a:latin typeface="Calibri" pitchFamily="34" charset="0"/>
                <a:ea typeface="Calibri" pitchFamily="34" charset="-122"/>
                <a:cs typeface="Calibri" pitchFamily="34" charset="-120"/>
              </a:rPr>
              <a:t>Original</a:t>
            </a:r>
            <a:endParaRPr lang="en-US" sz="1400" dirty="0"/>
          </a:p>
        </p:txBody>
      </p:sp>
      <p:sp>
        <p:nvSpPr>
          <p:cNvPr id="20" name="Text 16"/>
          <p:cNvSpPr/>
          <p:nvPr/>
        </p:nvSpPr>
        <p:spPr>
          <a:xfrm>
            <a:off x="3611880" y="5285232"/>
            <a:ext cx="2926080" cy="274320"/>
          </a:xfrm>
          <a:prstGeom prst="rect">
            <a:avLst/>
          </a:prstGeom>
          <a:noFill/>
          <a:ln/>
        </p:spPr>
        <p:txBody>
          <a:bodyPr wrap="square" lIns="0" tIns="0" rIns="0" bIns="0" rtlCol="0" anchor="ctr"/>
          <a:lstStyle/>
          <a:p>
            <a:pPr algn="ctr" indent="0" marL="0">
              <a:buNone/>
            </a:pPr>
            <a:r>
              <a:rPr lang="en-US" sz="1400" b="1" dirty="0">
                <a:solidFill>
                  <a:srgbClr val="1F1A33"/>
                </a:solidFill>
                <a:latin typeface="Calibri" pitchFamily="34" charset="0"/>
                <a:ea typeface="Calibri" pitchFamily="34" charset="-122"/>
                <a:cs typeface="Calibri" pitchFamily="34" charset="-120"/>
              </a:rPr>
              <a:t>Reconstructed</a:t>
            </a:r>
            <a:endParaRPr lang="en-US" sz="1400" dirty="0"/>
          </a:p>
        </p:txBody>
      </p:sp>
      <p:sp>
        <p:nvSpPr>
          <p:cNvPr id="21" name="Text 17"/>
          <p:cNvSpPr/>
          <p:nvPr/>
        </p:nvSpPr>
        <p:spPr>
          <a:xfrm>
            <a:off x="457200" y="5623560"/>
            <a:ext cx="6080760" cy="274320"/>
          </a:xfrm>
          <a:prstGeom prst="rect">
            <a:avLst/>
          </a:prstGeom>
          <a:noFill/>
          <a:ln/>
        </p:spPr>
        <p:txBody>
          <a:bodyPr wrap="square" lIns="0" tIns="0" rIns="0" bIns="0" rtlCol="0" anchor="ctr"/>
          <a:lstStyle/>
          <a:p>
            <a:pPr algn="ctr" indent="0" marL="0">
              <a:buNone/>
            </a:pPr>
            <a:r>
              <a:rPr lang="en-US" sz="1300" i="1" dirty="0">
                <a:solidFill>
                  <a:srgbClr val="6B4FA3"/>
                </a:solidFill>
                <a:latin typeface="Calibri" pitchFamily="34" charset="0"/>
                <a:ea typeface="Calibri" pitchFamily="34" charset="-122"/>
                <a:cs typeface="Calibri" pitchFamily="34" charset="-120"/>
              </a:rPr>
              <a:t>Cameraman: PSNR 29.75 dB, SSIM 0.8855</a:t>
            </a:r>
            <a:endParaRPr lang="en-US" sz="1300" dirty="0"/>
          </a:p>
        </p:txBody>
      </p:sp>
      <p:sp>
        <p:nvSpPr>
          <p:cNvPr id="22" name="Shape 18"/>
          <p:cNvSpPr/>
          <p:nvPr/>
        </p:nvSpPr>
        <p:spPr>
          <a:xfrm>
            <a:off x="6858000" y="2331720"/>
            <a:ext cx="4892040" cy="3886200"/>
          </a:xfrm>
          <a:prstGeom prst="roundRect">
            <a:avLst>
              <a:gd name="adj" fmla="val 1882"/>
            </a:avLst>
          </a:prstGeom>
          <a:solidFill>
            <a:srgbClr val="F5F1FB"/>
          </a:solidFill>
          <a:ln w="12700">
            <a:solidFill>
              <a:srgbClr val="F5F1FB"/>
            </a:solidFill>
            <a:prstDash val="solid"/>
          </a:ln>
        </p:spPr>
      </p:sp>
      <p:sp>
        <p:nvSpPr>
          <p:cNvPr id="23" name="Text 19"/>
          <p:cNvSpPr/>
          <p:nvPr/>
        </p:nvSpPr>
        <p:spPr>
          <a:xfrm>
            <a:off x="6949440" y="2423160"/>
            <a:ext cx="4709160" cy="3703320"/>
          </a:xfrm>
          <a:prstGeom prst="rect">
            <a:avLst/>
          </a:prstGeom>
          <a:noFill/>
          <a:ln/>
        </p:spPr>
        <p:txBody>
          <a:bodyPr wrap="square" lIns="1016" tIns="1016" rIns="1016" bIns="1016" rtlCol="0" anchor="t"/>
          <a:lstStyle/>
          <a:p>
            <a:pPr marL="342900" indent="-342900">
              <a:spcAft>
                <a:spcPts val="1000"/>
              </a:spcAft>
              <a:buSzPct val="100000"/>
              <a:buChar char="■"/>
            </a:pPr>
            <a:r>
              <a:rPr lang="en-US" sz="1600" dirty="0">
                <a:solidFill>
                  <a:srgbClr val="1F1A33"/>
                </a:solidFill>
                <a:latin typeface="Calibri" pitchFamily="34" charset="0"/>
                <a:ea typeface="Calibri" pitchFamily="34" charset="-122"/>
                <a:cs typeface="Calibri" pitchFamily="34" charset="-120"/>
              </a:rPr>
              <a:t>Decoding and reconstruction run on Rank 0.</a:t>
            </a:r>
            <a:endParaRPr lang="en-US" sz="1600" dirty="0"/>
          </a:p>
          <a:p>
            <a:pPr marL="342900" indent="-342900">
              <a:spcAft>
                <a:spcPts val="1000"/>
              </a:spcAft>
              <a:buSzPct val="100000"/>
              <a:buChar char="■"/>
            </a:pPr>
            <a:r>
              <a:rPr lang="en-US" sz="1600" dirty="0">
                <a:solidFill>
                  <a:srgbClr val="1F1A33"/>
                </a:solidFill>
                <a:latin typeface="Calibri" pitchFamily="34" charset="0"/>
                <a:ea typeface="Calibri" pitchFamily="34" charset="-122"/>
                <a:cs typeface="Calibri" pitchFamily="34" charset="-120"/>
              </a:rPr>
              <a:t>Quality: MSE, PSNR and SSIM (SSIM is computed in parallel); size: CR and BPP.</a:t>
            </a:r>
            <a:endParaRPr lang="en-US" sz="1600" dirty="0"/>
          </a:p>
          <a:p>
            <a:pPr marL="342900" indent="-342900">
              <a:spcAft>
                <a:spcPts val="1000"/>
              </a:spcAft>
              <a:buSzPct val="100000"/>
              <a:buChar char="■"/>
            </a:pPr>
            <a:r>
              <a:rPr lang="en-US" sz="1600" dirty="0">
                <a:solidFill>
                  <a:srgbClr val="1F1A33"/>
                </a:solidFill>
                <a:latin typeface="Calibri" pitchFamily="34" charset="0"/>
                <a:ea typeface="Calibri" pitchFamily="34" charset="-122"/>
                <a:cs typeface="Calibri" pitchFamily="34" charset="-120"/>
              </a:rPr>
              <a:t>Parallel performance: time, speedup, efficiency, throughput, Karp–Flatt.</a:t>
            </a:r>
            <a:endParaRPr lang="en-US" sz="1600" dirty="0"/>
          </a:p>
          <a:p>
            <a:pPr marL="342900" indent="-342900">
              <a:spcAft>
                <a:spcPts val="1000"/>
              </a:spcAft>
              <a:buSzPct val="100000"/>
              <a:buChar char="■"/>
            </a:pPr>
            <a:r>
              <a:rPr lang="en-US" sz="1600" dirty="0">
                <a:solidFill>
                  <a:srgbClr val="1F1A33"/>
                </a:solidFill>
                <a:latin typeface="Calibri" pitchFamily="34" charset="0"/>
                <a:ea typeface="Calibri" pitchFamily="34" charset="-122"/>
                <a:cs typeface="Calibri" pitchFamily="34" charset="-120"/>
              </a:rPr>
              <a:t>Verification: the reconstructed image (MD5) and the metrics are identical for the sequential run, P = 4, and P = 14 (Adaptive and Equal).</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017520" cy="502920"/>
          </a:xfrm>
          <a:prstGeom prst="roundRect">
            <a:avLst>
              <a:gd name="adj" fmla="val 18182"/>
            </a:avLst>
          </a:prstGeom>
          <a:solidFill>
            <a:srgbClr val="2A9D8F"/>
          </a:solidFill>
          <a:ln w="12700">
            <a:solidFill>
              <a:srgbClr val="2A9D8F"/>
            </a:solidFill>
            <a:prstDash val="solid"/>
          </a:ln>
        </p:spPr>
      </p:sp>
      <p:sp>
        <p:nvSpPr>
          <p:cNvPr id="3" name="Text 1"/>
          <p:cNvSpPr/>
          <p:nvPr/>
        </p:nvSpPr>
        <p:spPr>
          <a:xfrm>
            <a:off x="457200" y="320040"/>
            <a:ext cx="30175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Experimental Results</a:t>
            </a:r>
            <a:endParaRPr lang="en-US" sz="1600" dirty="0"/>
          </a:p>
        </p:txBody>
      </p:sp>
      <p:sp>
        <p:nvSpPr>
          <p:cNvPr id="4" name="Text 2"/>
          <p:cNvSpPr/>
          <p:nvPr/>
        </p:nvSpPr>
        <p:spPr>
          <a:xfrm>
            <a:off x="3657600" y="274320"/>
            <a:ext cx="850392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Experimental Setup</a:t>
            </a:r>
            <a:endParaRPr lang="en-US" sz="2800" dirty="0"/>
          </a:p>
        </p:txBody>
      </p:sp>
      <p:sp>
        <p:nvSpPr>
          <p:cNvPr id="5" name="Shape 3"/>
          <p:cNvSpPr/>
          <p:nvPr/>
        </p:nvSpPr>
        <p:spPr>
          <a:xfrm>
            <a:off x="457200" y="960120"/>
            <a:ext cx="11274552" cy="36576"/>
          </a:xfrm>
          <a:prstGeom prst="rect">
            <a:avLst/>
          </a:prstGeom>
          <a:solidFill>
            <a:srgbClr val="2A9D8F"/>
          </a:solidFill>
          <a:ln w="12700">
            <a:solidFill>
              <a:srgbClr val="2A9D8F"/>
            </a:solidFill>
            <a:prstDash val="solid"/>
          </a:ln>
        </p:spPr>
      </p:sp>
      <p:sp>
        <p:nvSpPr>
          <p:cNvPr id="6" name="Shape 4"/>
          <p:cNvSpPr/>
          <p:nvPr/>
        </p:nvSpPr>
        <p:spPr>
          <a:xfrm>
            <a:off x="640080" y="1325880"/>
            <a:ext cx="5394960" cy="1463040"/>
          </a:xfrm>
          <a:prstGeom prst="roundRect">
            <a:avLst>
              <a:gd name="adj" fmla="val 6250"/>
            </a:avLst>
          </a:prstGeom>
          <a:solidFill>
            <a:srgbClr val="FFFFFF"/>
          </a:solidFill>
          <a:ln w="22225">
            <a:solidFill>
              <a:srgbClr val="6B4FA3"/>
            </a:solidFill>
            <a:prstDash val="solid"/>
          </a:ln>
        </p:spPr>
      </p:sp>
      <p:sp>
        <p:nvSpPr>
          <p:cNvPr id="7" name="Shape 5"/>
          <p:cNvSpPr/>
          <p:nvPr/>
        </p:nvSpPr>
        <p:spPr>
          <a:xfrm>
            <a:off x="658368" y="1344168"/>
            <a:ext cx="109728" cy="1426464"/>
          </a:xfrm>
          <a:prstGeom prst="rect">
            <a:avLst/>
          </a:prstGeom>
          <a:solidFill>
            <a:srgbClr val="6B4FA3"/>
          </a:solidFill>
          <a:ln w="12700">
            <a:solidFill>
              <a:srgbClr val="6B4FA3"/>
            </a:solidFill>
            <a:prstDash val="solid"/>
          </a:ln>
        </p:spPr>
      </p:sp>
      <p:sp>
        <p:nvSpPr>
          <p:cNvPr id="8" name="Text 6"/>
          <p:cNvSpPr/>
          <p:nvPr/>
        </p:nvSpPr>
        <p:spPr>
          <a:xfrm>
            <a:off x="914400" y="1371600"/>
            <a:ext cx="4983480" cy="1371600"/>
          </a:xfrm>
          <a:prstGeom prst="rect">
            <a:avLst/>
          </a:prstGeom>
          <a:noFill/>
          <a:ln/>
        </p:spPr>
        <p:txBody>
          <a:bodyPr wrap="square" lIns="635" tIns="635" rIns="635" bIns="635" rtlCol="0" anchor="ctr"/>
          <a:lstStyle/>
          <a:p>
            <a:pPr indent="0" marL="0">
              <a:spcAft>
                <a:spcPts val="600"/>
              </a:spcAft>
              <a:buNone/>
            </a:pPr>
            <a:r>
              <a:rPr lang="en-US" sz="2000" b="1" dirty="0">
                <a:solidFill>
                  <a:srgbClr val="6B4FA3"/>
                </a:solidFill>
                <a:latin typeface="Calibri" pitchFamily="34" charset="0"/>
                <a:ea typeface="Calibri" pitchFamily="34" charset="-122"/>
                <a:cs typeface="Calibri" pitchFamily="34" charset="-120"/>
              </a:rPr>
              <a:t>Hardware</a:t>
            </a:r>
            <a:endParaRPr lang="en-US" sz="2000" dirty="0"/>
          </a:p>
          <a:p>
            <a:pPr indent="0" marL="0">
              <a:spcAft>
                <a:spcPts val="600"/>
              </a:spcAft>
              <a:buNone/>
            </a:pPr>
            <a:r>
              <a:rPr lang="en-US" sz="1500" dirty="0">
                <a:solidFill>
                  <a:srgbClr val="1F1A33"/>
                </a:solidFill>
                <a:latin typeface="Calibri" pitchFamily="34" charset="0"/>
                <a:ea typeface="Calibri" pitchFamily="34" charset="-122"/>
                <a:cs typeface="Calibri" pitchFamily="34" charset="-120"/>
              </a:rPr>
              <a:t>Intel Core i7-13650HX: 6 P-cores and 8 E-cores (14 cores in total).</a:t>
            </a:r>
            <a:endParaRPr lang="en-US" sz="2000" dirty="0"/>
          </a:p>
        </p:txBody>
      </p:sp>
      <p:sp>
        <p:nvSpPr>
          <p:cNvPr id="9" name="Shape 7"/>
          <p:cNvSpPr/>
          <p:nvPr/>
        </p:nvSpPr>
        <p:spPr>
          <a:xfrm>
            <a:off x="6172200" y="1325880"/>
            <a:ext cx="5394960" cy="1463040"/>
          </a:xfrm>
          <a:prstGeom prst="roundRect">
            <a:avLst>
              <a:gd name="adj" fmla="val 6250"/>
            </a:avLst>
          </a:prstGeom>
          <a:solidFill>
            <a:srgbClr val="FFFFFF"/>
          </a:solidFill>
          <a:ln w="22225">
            <a:solidFill>
              <a:srgbClr val="E07B22"/>
            </a:solidFill>
            <a:prstDash val="solid"/>
          </a:ln>
        </p:spPr>
      </p:sp>
      <p:sp>
        <p:nvSpPr>
          <p:cNvPr id="10" name="Shape 8"/>
          <p:cNvSpPr/>
          <p:nvPr/>
        </p:nvSpPr>
        <p:spPr>
          <a:xfrm>
            <a:off x="6190488" y="1344168"/>
            <a:ext cx="109728" cy="1426464"/>
          </a:xfrm>
          <a:prstGeom prst="rect">
            <a:avLst/>
          </a:prstGeom>
          <a:solidFill>
            <a:srgbClr val="E07B22"/>
          </a:solidFill>
          <a:ln w="12700">
            <a:solidFill>
              <a:srgbClr val="E07B22"/>
            </a:solidFill>
            <a:prstDash val="solid"/>
          </a:ln>
        </p:spPr>
      </p:sp>
      <p:sp>
        <p:nvSpPr>
          <p:cNvPr id="11" name="Text 9"/>
          <p:cNvSpPr/>
          <p:nvPr/>
        </p:nvSpPr>
        <p:spPr>
          <a:xfrm>
            <a:off x="6446520" y="1371600"/>
            <a:ext cx="4983480" cy="1371600"/>
          </a:xfrm>
          <a:prstGeom prst="rect">
            <a:avLst/>
          </a:prstGeom>
          <a:noFill/>
          <a:ln/>
        </p:spPr>
        <p:txBody>
          <a:bodyPr wrap="square" lIns="635" tIns="635" rIns="635" bIns="635" rtlCol="0" anchor="ctr"/>
          <a:lstStyle/>
          <a:p>
            <a:pPr indent="0" marL="0">
              <a:spcAft>
                <a:spcPts val="600"/>
              </a:spcAft>
              <a:buNone/>
            </a:pPr>
            <a:r>
              <a:rPr lang="en-US" sz="2000" b="1" dirty="0">
                <a:solidFill>
                  <a:srgbClr val="E07B22"/>
                </a:solidFill>
                <a:latin typeface="Calibri" pitchFamily="34" charset="0"/>
                <a:ea typeface="Calibri" pitchFamily="34" charset="-122"/>
                <a:cs typeface="Calibri" pitchFamily="34" charset="-120"/>
              </a:rPr>
              <a:t>Software</a:t>
            </a:r>
            <a:endParaRPr lang="en-US" sz="2000" dirty="0"/>
          </a:p>
          <a:p>
            <a:pPr indent="0" marL="0">
              <a:spcAft>
                <a:spcPts val="600"/>
              </a:spcAft>
              <a:buNone/>
            </a:pPr>
            <a:r>
              <a:rPr lang="en-US" sz="1500" dirty="0">
                <a:solidFill>
                  <a:srgbClr val="1F1A33"/>
                </a:solidFill>
                <a:latin typeface="Calibri" pitchFamily="34" charset="0"/>
                <a:ea typeface="Calibri" pitchFamily="34" charset="-122"/>
                <a:cs typeface="Calibri" pitchFamily="34" charset="-120"/>
              </a:rPr>
              <a:t>Ubuntu 24.04, GCC 13.3 (-O2), Open MPI 4.1.6, written in C.</a:t>
            </a:r>
            <a:endParaRPr lang="en-US" sz="2000" dirty="0"/>
          </a:p>
        </p:txBody>
      </p:sp>
      <p:sp>
        <p:nvSpPr>
          <p:cNvPr id="12" name="Shape 10"/>
          <p:cNvSpPr/>
          <p:nvPr/>
        </p:nvSpPr>
        <p:spPr>
          <a:xfrm>
            <a:off x="640080" y="2971800"/>
            <a:ext cx="5394960" cy="1463040"/>
          </a:xfrm>
          <a:prstGeom prst="roundRect">
            <a:avLst>
              <a:gd name="adj" fmla="val 6250"/>
            </a:avLst>
          </a:prstGeom>
          <a:solidFill>
            <a:srgbClr val="FFFFFF"/>
          </a:solidFill>
          <a:ln w="22225">
            <a:solidFill>
              <a:srgbClr val="2A9D8F"/>
            </a:solidFill>
            <a:prstDash val="solid"/>
          </a:ln>
        </p:spPr>
      </p:sp>
      <p:sp>
        <p:nvSpPr>
          <p:cNvPr id="13" name="Shape 11"/>
          <p:cNvSpPr/>
          <p:nvPr/>
        </p:nvSpPr>
        <p:spPr>
          <a:xfrm>
            <a:off x="658368" y="2990088"/>
            <a:ext cx="109728" cy="1426464"/>
          </a:xfrm>
          <a:prstGeom prst="rect">
            <a:avLst/>
          </a:prstGeom>
          <a:solidFill>
            <a:srgbClr val="2A9D8F"/>
          </a:solidFill>
          <a:ln w="12700">
            <a:solidFill>
              <a:srgbClr val="2A9D8F"/>
            </a:solidFill>
            <a:prstDash val="solid"/>
          </a:ln>
        </p:spPr>
      </p:sp>
      <p:sp>
        <p:nvSpPr>
          <p:cNvPr id="14" name="Text 12"/>
          <p:cNvSpPr/>
          <p:nvPr/>
        </p:nvSpPr>
        <p:spPr>
          <a:xfrm>
            <a:off x="914400" y="3017520"/>
            <a:ext cx="4983480" cy="1371600"/>
          </a:xfrm>
          <a:prstGeom prst="rect">
            <a:avLst/>
          </a:prstGeom>
          <a:noFill/>
          <a:ln/>
        </p:spPr>
        <p:txBody>
          <a:bodyPr wrap="square" lIns="635" tIns="635" rIns="635" bIns="635" rtlCol="0" anchor="ctr"/>
          <a:lstStyle/>
          <a:p>
            <a:pPr indent="0" marL="0">
              <a:spcAft>
                <a:spcPts val="600"/>
              </a:spcAft>
              <a:buNone/>
            </a:pPr>
            <a:r>
              <a:rPr lang="en-US" sz="2000" b="1" dirty="0">
                <a:solidFill>
                  <a:srgbClr val="2A9D8F"/>
                </a:solidFill>
                <a:latin typeface="Calibri" pitchFamily="34" charset="0"/>
                <a:ea typeface="Calibri" pitchFamily="34" charset="-122"/>
                <a:cs typeface="Calibri" pitchFamily="34" charset="-120"/>
              </a:rPr>
              <a:t>Protocol</a:t>
            </a:r>
            <a:endParaRPr lang="en-US" sz="2000" dirty="0"/>
          </a:p>
          <a:p>
            <a:pPr indent="0" marL="0">
              <a:spcAft>
                <a:spcPts val="600"/>
              </a:spcAft>
              <a:buNone/>
            </a:pPr>
            <a:r>
              <a:rPr lang="en-US" sz="1500" dirty="0">
                <a:solidFill>
                  <a:srgbClr val="1F1A33"/>
                </a:solidFill>
                <a:latin typeface="Calibri" pitchFamily="34" charset="0"/>
                <a:ea typeface="Calibri" pitchFamily="34" charset="-122"/>
                <a:cs typeface="Calibri" pitchFamily="34" charset="-120"/>
              </a:rPr>
              <a:t>Median of 5 runs; governor set to performance; processes bound to cores, P-cores first.</a:t>
            </a:r>
            <a:endParaRPr lang="en-US" sz="2000" dirty="0"/>
          </a:p>
        </p:txBody>
      </p:sp>
      <p:sp>
        <p:nvSpPr>
          <p:cNvPr id="15" name="Shape 13"/>
          <p:cNvSpPr/>
          <p:nvPr/>
        </p:nvSpPr>
        <p:spPr>
          <a:xfrm>
            <a:off x="6172200" y="2971800"/>
            <a:ext cx="5394960" cy="1463040"/>
          </a:xfrm>
          <a:prstGeom prst="roundRect">
            <a:avLst>
              <a:gd name="adj" fmla="val 6250"/>
            </a:avLst>
          </a:prstGeom>
          <a:solidFill>
            <a:srgbClr val="FFFFFF"/>
          </a:solidFill>
          <a:ln w="22225">
            <a:solidFill>
              <a:srgbClr val="E0457B"/>
            </a:solidFill>
            <a:prstDash val="solid"/>
          </a:ln>
        </p:spPr>
      </p:sp>
      <p:sp>
        <p:nvSpPr>
          <p:cNvPr id="16" name="Shape 14"/>
          <p:cNvSpPr/>
          <p:nvPr/>
        </p:nvSpPr>
        <p:spPr>
          <a:xfrm>
            <a:off x="6190488" y="2990088"/>
            <a:ext cx="109728" cy="1426464"/>
          </a:xfrm>
          <a:prstGeom prst="rect">
            <a:avLst/>
          </a:prstGeom>
          <a:solidFill>
            <a:srgbClr val="E0457B"/>
          </a:solidFill>
          <a:ln w="12700">
            <a:solidFill>
              <a:srgbClr val="E0457B"/>
            </a:solidFill>
            <a:prstDash val="solid"/>
          </a:ln>
        </p:spPr>
      </p:sp>
      <p:sp>
        <p:nvSpPr>
          <p:cNvPr id="17" name="Text 15"/>
          <p:cNvSpPr/>
          <p:nvPr/>
        </p:nvSpPr>
        <p:spPr>
          <a:xfrm>
            <a:off x="6446520" y="3017520"/>
            <a:ext cx="4983480" cy="1371600"/>
          </a:xfrm>
          <a:prstGeom prst="rect">
            <a:avLst/>
          </a:prstGeom>
          <a:noFill/>
          <a:ln/>
        </p:spPr>
        <p:txBody>
          <a:bodyPr wrap="square" lIns="635" tIns="635" rIns="635" bIns="635" rtlCol="0" anchor="ctr"/>
          <a:lstStyle/>
          <a:p>
            <a:pPr indent="0" marL="0">
              <a:spcAft>
                <a:spcPts val="600"/>
              </a:spcAft>
              <a:buNone/>
            </a:pPr>
            <a:r>
              <a:rPr lang="en-US" sz="2000" b="1" dirty="0">
                <a:solidFill>
                  <a:srgbClr val="E0457B"/>
                </a:solidFill>
                <a:latin typeface="Calibri" pitchFamily="34" charset="0"/>
                <a:ea typeface="Calibri" pitchFamily="34" charset="-122"/>
                <a:cs typeface="Calibri" pitchFamily="34" charset="-120"/>
              </a:rPr>
              <a:t>Data</a:t>
            </a:r>
            <a:endParaRPr lang="en-US" sz="2000" dirty="0"/>
          </a:p>
          <a:p>
            <a:pPr indent="0" marL="0">
              <a:spcAft>
                <a:spcPts val="600"/>
              </a:spcAft>
              <a:buNone/>
            </a:pPr>
            <a:r>
              <a:rPr lang="en-US" sz="1500" dirty="0">
                <a:solidFill>
                  <a:srgbClr val="1F1A33"/>
                </a:solidFill>
                <a:latin typeface="Calibri" pitchFamily="34" charset="0"/>
                <a:ea typeface="Calibri" pitchFamily="34" charset="-122"/>
                <a:cs typeface="Calibri" pitchFamily="34" charset="-120"/>
              </a:rPr>
              <a:t>8 standard 512 × 512 images: 4 grayscale and 4 color.</a:t>
            </a:r>
            <a:endParaRPr lang="en-US" sz="2000" dirty="0"/>
          </a:p>
        </p:txBody>
      </p:sp>
      <p:sp>
        <p:nvSpPr>
          <p:cNvPr id="18" name="Shape 16"/>
          <p:cNvSpPr/>
          <p:nvPr/>
        </p:nvSpPr>
        <p:spPr>
          <a:xfrm>
            <a:off x="640080" y="4617720"/>
            <a:ext cx="5394960" cy="1463040"/>
          </a:xfrm>
          <a:prstGeom prst="roundRect">
            <a:avLst>
              <a:gd name="adj" fmla="val 6250"/>
            </a:avLst>
          </a:prstGeom>
          <a:solidFill>
            <a:srgbClr val="FFFFFF"/>
          </a:solidFill>
          <a:ln w="22225">
            <a:solidFill>
              <a:srgbClr val="2E2055"/>
            </a:solidFill>
            <a:prstDash val="solid"/>
          </a:ln>
        </p:spPr>
      </p:sp>
      <p:sp>
        <p:nvSpPr>
          <p:cNvPr id="19" name="Shape 17"/>
          <p:cNvSpPr/>
          <p:nvPr/>
        </p:nvSpPr>
        <p:spPr>
          <a:xfrm>
            <a:off x="658368" y="4636008"/>
            <a:ext cx="109728" cy="1426464"/>
          </a:xfrm>
          <a:prstGeom prst="rect">
            <a:avLst/>
          </a:prstGeom>
          <a:solidFill>
            <a:srgbClr val="2E2055"/>
          </a:solidFill>
          <a:ln w="12700">
            <a:solidFill>
              <a:srgbClr val="2E2055"/>
            </a:solidFill>
            <a:prstDash val="solid"/>
          </a:ln>
        </p:spPr>
      </p:sp>
      <p:sp>
        <p:nvSpPr>
          <p:cNvPr id="20" name="Text 18"/>
          <p:cNvSpPr/>
          <p:nvPr/>
        </p:nvSpPr>
        <p:spPr>
          <a:xfrm>
            <a:off x="914400" y="4663440"/>
            <a:ext cx="4983480" cy="1371600"/>
          </a:xfrm>
          <a:prstGeom prst="rect">
            <a:avLst/>
          </a:prstGeom>
          <a:noFill/>
          <a:ln/>
        </p:spPr>
        <p:txBody>
          <a:bodyPr wrap="square" lIns="635" tIns="635" rIns="635" bIns="635" rtlCol="0" anchor="ctr"/>
          <a:lstStyle/>
          <a:p>
            <a:pPr indent="0" marL="0">
              <a:spcAft>
                <a:spcPts val="600"/>
              </a:spcAft>
              <a:buNone/>
            </a:pPr>
            <a:r>
              <a:rPr lang="en-US" sz="2000" b="1" dirty="0">
                <a:solidFill>
                  <a:srgbClr val="2E2055"/>
                </a:solidFill>
                <a:latin typeface="Calibri" pitchFamily="34" charset="0"/>
                <a:ea typeface="Calibri" pitchFamily="34" charset="-122"/>
                <a:cs typeface="Calibri" pitchFamily="34" charset="-120"/>
              </a:rPr>
              <a:t>LBG settings</a:t>
            </a:r>
            <a:endParaRPr lang="en-US" sz="2000" dirty="0"/>
          </a:p>
          <a:p>
            <a:pPr indent="0" marL="0">
              <a:spcAft>
                <a:spcPts val="600"/>
              </a:spcAft>
              <a:buNone/>
            </a:pPr>
            <a:r>
              <a:rPr lang="en-US" sz="1500" dirty="0">
                <a:solidFill>
                  <a:srgbClr val="1F1A33"/>
                </a:solidFill>
                <a:latin typeface="Calibri" pitchFamily="34" charset="0"/>
                <a:ea typeface="Calibri" pitchFamily="34" charset="-122"/>
                <a:cs typeface="Calibri" pitchFamily="34" charset="-120"/>
              </a:rPr>
              <a:t>4 × 4 blocks, K = 64 codewords, δ = 0.01, ε = 0.0001 (relative improvement in distortion), at most 100 iterations per level.</a:t>
            </a:r>
            <a:endParaRPr lang="en-US" sz="2000" dirty="0"/>
          </a:p>
        </p:txBody>
      </p:sp>
      <p:sp>
        <p:nvSpPr>
          <p:cNvPr id="21" name="Shape 19"/>
          <p:cNvSpPr/>
          <p:nvPr/>
        </p:nvSpPr>
        <p:spPr>
          <a:xfrm>
            <a:off x="6172200" y="4617720"/>
            <a:ext cx="5394960" cy="1463040"/>
          </a:xfrm>
          <a:prstGeom prst="roundRect">
            <a:avLst>
              <a:gd name="adj" fmla="val 6250"/>
            </a:avLst>
          </a:prstGeom>
          <a:solidFill>
            <a:srgbClr val="FFFFFF"/>
          </a:solidFill>
          <a:ln w="22225">
            <a:solidFill>
              <a:srgbClr val="F2B134"/>
            </a:solidFill>
            <a:prstDash val="solid"/>
          </a:ln>
        </p:spPr>
      </p:sp>
      <p:sp>
        <p:nvSpPr>
          <p:cNvPr id="22" name="Shape 20"/>
          <p:cNvSpPr/>
          <p:nvPr/>
        </p:nvSpPr>
        <p:spPr>
          <a:xfrm>
            <a:off x="6190488" y="4636008"/>
            <a:ext cx="109728" cy="1426464"/>
          </a:xfrm>
          <a:prstGeom prst="rect">
            <a:avLst/>
          </a:prstGeom>
          <a:solidFill>
            <a:srgbClr val="F2B134"/>
          </a:solidFill>
          <a:ln w="12700">
            <a:solidFill>
              <a:srgbClr val="F2B134"/>
            </a:solidFill>
            <a:prstDash val="solid"/>
          </a:ln>
        </p:spPr>
      </p:sp>
      <p:sp>
        <p:nvSpPr>
          <p:cNvPr id="23" name="Text 21"/>
          <p:cNvSpPr/>
          <p:nvPr/>
        </p:nvSpPr>
        <p:spPr>
          <a:xfrm>
            <a:off x="6446520" y="4663440"/>
            <a:ext cx="4983480" cy="1371600"/>
          </a:xfrm>
          <a:prstGeom prst="rect">
            <a:avLst/>
          </a:prstGeom>
          <a:noFill/>
          <a:ln/>
        </p:spPr>
        <p:txBody>
          <a:bodyPr wrap="square" lIns="635" tIns="635" rIns="635" bIns="635" rtlCol="0" anchor="ctr"/>
          <a:lstStyle/>
          <a:p>
            <a:pPr indent="0" marL="0">
              <a:spcAft>
                <a:spcPts val="600"/>
              </a:spcAft>
              <a:buNone/>
            </a:pPr>
            <a:r>
              <a:rPr lang="en-US" sz="2000" b="1" dirty="0">
                <a:solidFill>
                  <a:srgbClr val="F2B134"/>
                </a:solidFill>
                <a:latin typeface="Calibri" pitchFamily="34" charset="0"/>
                <a:ea typeface="Calibri" pitchFamily="34" charset="-122"/>
                <a:cs typeface="Calibri" pitchFamily="34" charset="-120"/>
              </a:rPr>
              <a:t>Strategies</a:t>
            </a:r>
            <a:endParaRPr lang="en-US" sz="2000" dirty="0"/>
          </a:p>
          <a:p>
            <a:pPr indent="0" marL="0">
              <a:spcAft>
                <a:spcPts val="600"/>
              </a:spcAft>
              <a:buNone/>
            </a:pPr>
            <a:r>
              <a:rPr lang="en-US" sz="1500" dirty="0">
                <a:solidFill>
                  <a:srgbClr val="1F1A33"/>
                </a:solidFill>
                <a:latin typeface="Calibri" pitchFamily="34" charset="0"/>
                <a:ea typeface="Calibri" pitchFamily="34" charset="-122"/>
                <a:cs typeface="Calibri" pitchFamily="34" charset="-120"/>
              </a:rPr>
              <a:t>Equal (default for P ≤ 4) and Adaptive speed-aware (P &gt; 4).</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463040" cy="502920"/>
          </a:xfrm>
          <a:prstGeom prst="roundRect">
            <a:avLst>
              <a:gd name="adj" fmla="val 18182"/>
            </a:avLst>
          </a:prstGeom>
          <a:solidFill>
            <a:srgbClr val="2A9D8F"/>
          </a:solidFill>
          <a:ln w="12700">
            <a:solidFill>
              <a:srgbClr val="2A9D8F"/>
            </a:solidFill>
            <a:prstDash val="solid"/>
          </a:ln>
        </p:spPr>
      </p:sp>
      <p:sp>
        <p:nvSpPr>
          <p:cNvPr id="3" name="Text 1"/>
          <p:cNvSpPr/>
          <p:nvPr/>
        </p:nvSpPr>
        <p:spPr>
          <a:xfrm>
            <a:off x="457200" y="320040"/>
            <a:ext cx="146304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Results</a:t>
            </a:r>
            <a:endParaRPr lang="en-US" sz="1600" dirty="0"/>
          </a:p>
        </p:txBody>
      </p:sp>
      <p:sp>
        <p:nvSpPr>
          <p:cNvPr id="4" name="Text 2"/>
          <p:cNvSpPr/>
          <p:nvPr/>
        </p:nvSpPr>
        <p:spPr>
          <a:xfrm>
            <a:off x="2103120" y="274320"/>
            <a:ext cx="1005840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Performance and Quality Evaluation Metrics</a:t>
            </a:r>
            <a:endParaRPr lang="en-US" sz="2800" dirty="0"/>
          </a:p>
        </p:txBody>
      </p:sp>
      <p:sp>
        <p:nvSpPr>
          <p:cNvPr id="5" name="Shape 3"/>
          <p:cNvSpPr/>
          <p:nvPr/>
        </p:nvSpPr>
        <p:spPr>
          <a:xfrm>
            <a:off x="457200" y="960120"/>
            <a:ext cx="11274552" cy="36576"/>
          </a:xfrm>
          <a:prstGeom prst="rect">
            <a:avLst/>
          </a:prstGeom>
          <a:solidFill>
            <a:srgbClr val="2A9D8F"/>
          </a:solidFill>
          <a:ln w="12700">
            <a:solidFill>
              <a:srgbClr val="2A9D8F"/>
            </a:solidFill>
            <a:prstDash val="solid"/>
          </a:ln>
        </p:spPr>
      </p:sp>
      <p:sp>
        <p:nvSpPr>
          <p:cNvPr id="6" name="Shape 4"/>
          <p:cNvSpPr/>
          <p:nvPr/>
        </p:nvSpPr>
        <p:spPr>
          <a:xfrm>
            <a:off x="822960" y="1371600"/>
            <a:ext cx="5029200" cy="640080"/>
          </a:xfrm>
          <a:prstGeom prst="roundRect">
            <a:avLst>
              <a:gd name="adj" fmla="val 11429"/>
            </a:avLst>
          </a:prstGeom>
          <a:solidFill>
            <a:srgbClr val="2A9D8F"/>
          </a:solidFill>
          <a:ln w="12700">
            <a:solidFill>
              <a:srgbClr val="2A9D8F"/>
            </a:solidFill>
            <a:prstDash val="solid"/>
          </a:ln>
        </p:spPr>
      </p:sp>
      <p:sp>
        <p:nvSpPr>
          <p:cNvPr id="7" name="Text 5"/>
          <p:cNvSpPr/>
          <p:nvPr/>
        </p:nvSpPr>
        <p:spPr>
          <a:xfrm>
            <a:off x="822960" y="1371600"/>
            <a:ext cx="502920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Compression Quality</a:t>
            </a:r>
            <a:endParaRPr lang="en-US" sz="2200" dirty="0"/>
          </a:p>
        </p:txBody>
      </p:sp>
      <p:sp>
        <p:nvSpPr>
          <p:cNvPr id="8" name="Shape 6"/>
          <p:cNvSpPr/>
          <p:nvPr/>
        </p:nvSpPr>
        <p:spPr>
          <a:xfrm>
            <a:off x="822960" y="2103120"/>
            <a:ext cx="5029200" cy="3291840"/>
          </a:xfrm>
          <a:prstGeom prst="roundRect">
            <a:avLst>
              <a:gd name="adj" fmla="val 2222"/>
            </a:avLst>
          </a:prstGeom>
          <a:solidFill>
            <a:srgbClr val="EEF8F6"/>
          </a:solidFill>
          <a:ln w="15875">
            <a:solidFill>
              <a:srgbClr val="2A9D8F"/>
            </a:solidFill>
            <a:prstDash val="solid"/>
          </a:ln>
        </p:spPr>
      </p:sp>
      <p:sp>
        <p:nvSpPr>
          <p:cNvPr id="9" name="Text 7"/>
          <p:cNvSpPr/>
          <p:nvPr/>
        </p:nvSpPr>
        <p:spPr>
          <a:xfrm>
            <a:off x="1097280" y="2194560"/>
            <a:ext cx="4480560" cy="3108960"/>
          </a:xfrm>
          <a:prstGeom prst="rect">
            <a:avLst/>
          </a:prstGeom>
          <a:noFill/>
          <a:ln/>
        </p:spPr>
        <p:txBody>
          <a:bodyPr wrap="square" lIns="635" tIns="635" rIns="635" bIns="635" rtlCol="0" anchor="ctr"/>
          <a:lstStyle/>
          <a:p>
            <a:pPr marL="342900" indent="-342900">
              <a:spcAft>
                <a:spcPts val="1000"/>
              </a:spcAft>
              <a:buSzPct val="100000"/>
              <a:buChar char="■"/>
            </a:pPr>
            <a:r>
              <a:rPr lang="en-US" sz="2200" dirty="0">
                <a:solidFill>
                  <a:srgbClr val="1F1A33"/>
                </a:solidFill>
                <a:latin typeface="Calibri" pitchFamily="34" charset="0"/>
                <a:ea typeface="Calibri" pitchFamily="34" charset="-122"/>
                <a:cs typeface="Calibri" pitchFamily="34" charset="-120"/>
              </a:rPr>
              <a:t>Compression Ratio (CR)</a:t>
            </a:r>
            <a:endParaRPr lang="en-US" sz="2200" dirty="0"/>
          </a:p>
          <a:p>
            <a:pPr marL="342900" indent="-342900">
              <a:spcAft>
                <a:spcPts val="1000"/>
              </a:spcAft>
              <a:buSzPct val="100000"/>
              <a:buChar char="■"/>
            </a:pPr>
            <a:r>
              <a:rPr lang="en-US" sz="2200" dirty="0">
                <a:solidFill>
                  <a:srgbClr val="1F1A33"/>
                </a:solidFill>
                <a:latin typeface="Calibri" pitchFamily="34" charset="0"/>
                <a:ea typeface="Calibri" pitchFamily="34" charset="-122"/>
                <a:cs typeface="Calibri" pitchFamily="34" charset="-120"/>
              </a:rPr>
              <a:t>Bits Per Pixel (BPP)</a:t>
            </a:r>
            <a:endParaRPr lang="en-US" sz="2200" dirty="0"/>
          </a:p>
          <a:p>
            <a:pPr marL="342900" indent="-342900">
              <a:spcAft>
                <a:spcPts val="1000"/>
              </a:spcAft>
              <a:buSzPct val="100000"/>
              <a:buChar char="■"/>
            </a:pPr>
            <a:r>
              <a:rPr lang="en-US" sz="2200" dirty="0">
                <a:solidFill>
                  <a:srgbClr val="1F1A33"/>
                </a:solidFill>
                <a:latin typeface="Calibri" pitchFamily="34" charset="0"/>
                <a:ea typeface="Calibri" pitchFamily="34" charset="-122"/>
                <a:cs typeface="Calibri" pitchFamily="34" charset="-120"/>
              </a:rPr>
              <a:t>MSE</a:t>
            </a:r>
            <a:endParaRPr lang="en-US" sz="2200" dirty="0"/>
          </a:p>
          <a:p>
            <a:pPr marL="342900" indent="-342900">
              <a:spcAft>
                <a:spcPts val="1000"/>
              </a:spcAft>
              <a:buSzPct val="100000"/>
              <a:buChar char="■"/>
            </a:pPr>
            <a:r>
              <a:rPr lang="en-US" sz="2200" dirty="0">
                <a:solidFill>
                  <a:srgbClr val="1F1A33"/>
                </a:solidFill>
                <a:latin typeface="Calibri" pitchFamily="34" charset="0"/>
                <a:ea typeface="Calibri" pitchFamily="34" charset="-122"/>
                <a:cs typeface="Calibri" pitchFamily="34" charset="-120"/>
              </a:rPr>
              <a:t>PSNR</a:t>
            </a:r>
            <a:endParaRPr lang="en-US" sz="2200" dirty="0"/>
          </a:p>
          <a:p>
            <a:pPr marL="342900" indent="-342900">
              <a:spcAft>
                <a:spcPts val="1000"/>
              </a:spcAft>
              <a:buSzPct val="100000"/>
              <a:buChar char="■"/>
            </a:pPr>
            <a:r>
              <a:rPr lang="en-US" sz="2200" dirty="0">
                <a:solidFill>
                  <a:srgbClr val="1F1A33"/>
                </a:solidFill>
                <a:latin typeface="Calibri" pitchFamily="34" charset="0"/>
                <a:ea typeface="Calibri" pitchFamily="34" charset="-122"/>
                <a:cs typeface="Calibri" pitchFamily="34" charset="-120"/>
              </a:rPr>
              <a:t>SSIM</a:t>
            </a:r>
            <a:endParaRPr lang="en-US" sz="2200" dirty="0"/>
          </a:p>
        </p:txBody>
      </p:sp>
      <p:sp>
        <p:nvSpPr>
          <p:cNvPr id="10" name="Shape 8"/>
          <p:cNvSpPr/>
          <p:nvPr/>
        </p:nvSpPr>
        <p:spPr>
          <a:xfrm>
            <a:off x="6309360" y="1371600"/>
            <a:ext cx="5029200" cy="640080"/>
          </a:xfrm>
          <a:prstGeom prst="roundRect">
            <a:avLst>
              <a:gd name="adj" fmla="val 11429"/>
            </a:avLst>
          </a:prstGeom>
          <a:solidFill>
            <a:srgbClr val="E07B22"/>
          </a:solidFill>
          <a:ln w="12700">
            <a:solidFill>
              <a:srgbClr val="E07B22"/>
            </a:solidFill>
            <a:prstDash val="solid"/>
          </a:ln>
        </p:spPr>
      </p:sp>
      <p:sp>
        <p:nvSpPr>
          <p:cNvPr id="11" name="Text 9"/>
          <p:cNvSpPr/>
          <p:nvPr/>
        </p:nvSpPr>
        <p:spPr>
          <a:xfrm>
            <a:off x="6309360" y="1371600"/>
            <a:ext cx="502920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Parallel Performance</a:t>
            </a:r>
            <a:endParaRPr lang="en-US" sz="2200" dirty="0"/>
          </a:p>
        </p:txBody>
      </p:sp>
      <p:sp>
        <p:nvSpPr>
          <p:cNvPr id="12" name="Shape 10"/>
          <p:cNvSpPr/>
          <p:nvPr/>
        </p:nvSpPr>
        <p:spPr>
          <a:xfrm>
            <a:off x="6309360" y="2103120"/>
            <a:ext cx="5029200" cy="3291840"/>
          </a:xfrm>
          <a:prstGeom prst="roundRect">
            <a:avLst>
              <a:gd name="adj" fmla="val 2222"/>
            </a:avLst>
          </a:prstGeom>
          <a:solidFill>
            <a:srgbClr val="FDF1E6"/>
          </a:solidFill>
          <a:ln w="15875">
            <a:solidFill>
              <a:srgbClr val="E07B22"/>
            </a:solidFill>
            <a:prstDash val="solid"/>
          </a:ln>
        </p:spPr>
      </p:sp>
      <p:sp>
        <p:nvSpPr>
          <p:cNvPr id="13" name="Text 11"/>
          <p:cNvSpPr/>
          <p:nvPr/>
        </p:nvSpPr>
        <p:spPr>
          <a:xfrm>
            <a:off x="6583680" y="2194560"/>
            <a:ext cx="4480560" cy="3108960"/>
          </a:xfrm>
          <a:prstGeom prst="rect">
            <a:avLst/>
          </a:prstGeom>
          <a:noFill/>
          <a:ln/>
        </p:spPr>
        <p:txBody>
          <a:bodyPr wrap="square" lIns="635" tIns="635" rIns="635" bIns="635" rtlCol="0" anchor="ctr"/>
          <a:lstStyle/>
          <a:p>
            <a:pPr marL="342900" indent="-342900">
              <a:spcAft>
                <a:spcPts val="1000"/>
              </a:spcAft>
              <a:buSzPct val="100000"/>
              <a:buChar char="■"/>
            </a:pPr>
            <a:r>
              <a:rPr lang="en-US" sz="2200" dirty="0">
                <a:solidFill>
                  <a:srgbClr val="1F1A33"/>
                </a:solidFill>
                <a:latin typeface="Calibri" pitchFamily="34" charset="0"/>
                <a:ea typeface="Calibri" pitchFamily="34" charset="-122"/>
                <a:cs typeface="Calibri" pitchFamily="34" charset="-120"/>
              </a:rPr>
              <a:t>Execution Time</a:t>
            </a:r>
            <a:endParaRPr lang="en-US" sz="2200" dirty="0"/>
          </a:p>
          <a:p>
            <a:pPr marL="342900" indent="-342900">
              <a:spcAft>
                <a:spcPts val="1000"/>
              </a:spcAft>
              <a:buSzPct val="100000"/>
              <a:buChar char="■"/>
            </a:pPr>
            <a:r>
              <a:rPr lang="en-US" sz="2200" dirty="0">
                <a:solidFill>
                  <a:srgbClr val="1F1A33"/>
                </a:solidFill>
                <a:latin typeface="Calibri" pitchFamily="34" charset="0"/>
                <a:ea typeface="Calibri" pitchFamily="34" charset="-122"/>
                <a:cs typeface="Calibri" pitchFamily="34" charset="-120"/>
              </a:rPr>
              <a:t>Speedup</a:t>
            </a:r>
            <a:endParaRPr lang="en-US" sz="2200" dirty="0"/>
          </a:p>
          <a:p>
            <a:pPr marL="342900" indent="-342900">
              <a:spcAft>
                <a:spcPts val="1000"/>
              </a:spcAft>
              <a:buSzPct val="100000"/>
              <a:buChar char="■"/>
            </a:pPr>
            <a:r>
              <a:rPr lang="en-US" sz="2200" dirty="0">
                <a:solidFill>
                  <a:srgbClr val="1F1A33"/>
                </a:solidFill>
                <a:latin typeface="Calibri" pitchFamily="34" charset="0"/>
                <a:ea typeface="Calibri" pitchFamily="34" charset="-122"/>
                <a:cs typeface="Calibri" pitchFamily="34" charset="-120"/>
              </a:rPr>
              <a:t>Parallel Efficiency</a:t>
            </a:r>
            <a:endParaRPr lang="en-US" sz="2200" dirty="0"/>
          </a:p>
          <a:p>
            <a:pPr marL="342900" indent="-342900">
              <a:spcAft>
                <a:spcPts val="1000"/>
              </a:spcAft>
              <a:buSzPct val="100000"/>
              <a:buChar char="■"/>
            </a:pPr>
            <a:r>
              <a:rPr lang="en-US" sz="2200" dirty="0">
                <a:solidFill>
                  <a:srgbClr val="1F1A33"/>
                </a:solidFill>
                <a:latin typeface="Calibri" pitchFamily="34" charset="0"/>
                <a:ea typeface="Calibri" pitchFamily="34" charset="-122"/>
                <a:cs typeface="Calibri" pitchFamily="34" charset="-120"/>
              </a:rPr>
              <a:t>Throughput</a:t>
            </a:r>
            <a:endParaRPr lang="en-US" sz="2200" dirty="0"/>
          </a:p>
          <a:p>
            <a:pPr marL="342900" indent="-342900">
              <a:spcAft>
                <a:spcPts val="1000"/>
              </a:spcAft>
              <a:buSzPct val="100000"/>
              <a:buChar char="■"/>
            </a:pPr>
            <a:r>
              <a:rPr lang="en-US" sz="2200" dirty="0">
                <a:solidFill>
                  <a:srgbClr val="1F1A33"/>
                </a:solidFill>
                <a:latin typeface="Calibri" pitchFamily="34" charset="0"/>
                <a:ea typeface="Calibri" pitchFamily="34" charset="-122"/>
                <a:cs typeface="Calibri" pitchFamily="34" charset="-120"/>
              </a:rPr>
              <a:t>Karp–Flatt Metric</a:t>
            </a:r>
            <a:endParaRPr lang="en-US" sz="2200" dirty="0"/>
          </a:p>
        </p:txBody>
      </p:sp>
      <p:sp>
        <p:nvSpPr>
          <p:cNvPr id="14" name="Text 12"/>
          <p:cNvSpPr/>
          <p:nvPr/>
        </p:nvSpPr>
        <p:spPr>
          <a:xfrm>
            <a:off x="822960" y="5669280"/>
            <a:ext cx="10515600" cy="365760"/>
          </a:xfrm>
          <a:prstGeom prst="rect">
            <a:avLst/>
          </a:prstGeom>
          <a:noFill/>
          <a:ln/>
        </p:spPr>
        <p:txBody>
          <a:bodyPr wrap="square" lIns="0" tIns="0" rIns="0" bIns="0" rtlCol="0" anchor="ctr"/>
          <a:lstStyle/>
          <a:p>
            <a:pPr algn="ctr" indent="0" marL="0">
              <a:buNone/>
            </a:pPr>
            <a:r>
              <a:rPr lang="en-US" sz="1600" i="1" dirty="0">
                <a:solidFill>
                  <a:srgbClr val="6B4FA3"/>
                </a:solidFill>
                <a:latin typeface="Calibri" pitchFamily="34" charset="0"/>
                <a:ea typeface="Calibri" pitchFamily="34" charset="-122"/>
                <a:cs typeface="Calibri" pitchFamily="34" charset="-120"/>
              </a:rPr>
              <a:t>Each formula is shown next to the result it measures.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502920"/>
          </a:xfrm>
          <a:prstGeom prst="roundRect">
            <a:avLst>
              <a:gd name="adj" fmla="val 18182"/>
            </a:avLst>
          </a:prstGeom>
          <a:solidFill>
            <a:srgbClr val="2A9D8F"/>
          </a:solidFill>
          <a:ln w="12700">
            <a:solidFill>
              <a:srgbClr val="2A9D8F"/>
            </a:solidFill>
            <a:prstDash val="solid"/>
          </a:ln>
        </p:spPr>
      </p:sp>
      <p:sp>
        <p:nvSpPr>
          <p:cNvPr id="3" name="Text 1"/>
          <p:cNvSpPr/>
          <p:nvPr/>
        </p:nvSpPr>
        <p:spPr>
          <a:xfrm>
            <a:off x="457200" y="320040"/>
            <a:ext cx="173736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Results</a:t>
            </a:r>
            <a:endParaRPr lang="en-US" sz="1800" dirty="0"/>
          </a:p>
        </p:txBody>
      </p:sp>
      <p:sp>
        <p:nvSpPr>
          <p:cNvPr id="4" name="Text 2"/>
          <p:cNvSpPr/>
          <p:nvPr/>
        </p:nvSpPr>
        <p:spPr>
          <a:xfrm>
            <a:off x="2377440" y="274320"/>
            <a:ext cx="932688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Test Images</a:t>
            </a:r>
            <a:endParaRPr lang="en-US" sz="2800" dirty="0"/>
          </a:p>
        </p:txBody>
      </p:sp>
      <p:sp>
        <p:nvSpPr>
          <p:cNvPr id="5" name="Shape 3"/>
          <p:cNvSpPr/>
          <p:nvPr/>
        </p:nvSpPr>
        <p:spPr>
          <a:xfrm>
            <a:off x="457200" y="960120"/>
            <a:ext cx="11274552" cy="36576"/>
          </a:xfrm>
          <a:prstGeom prst="rect">
            <a:avLst/>
          </a:prstGeom>
          <a:solidFill>
            <a:srgbClr val="2A9D8F"/>
          </a:solidFill>
          <a:ln w="12700">
            <a:solidFill>
              <a:srgbClr val="2A9D8F"/>
            </a:solidFill>
            <a:prstDash val="solid"/>
          </a:ln>
        </p:spPr>
      </p:sp>
      <p:sp>
        <p:nvSpPr>
          <p:cNvPr id="6" name="Text 4"/>
          <p:cNvSpPr/>
          <p:nvPr/>
        </p:nvSpPr>
        <p:spPr>
          <a:xfrm>
            <a:off x="457200" y="1097280"/>
            <a:ext cx="5486400" cy="292608"/>
          </a:xfrm>
          <a:prstGeom prst="rect">
            <a:avLst/>
          </a:prstGeom>
          <a:noFill/>
          <a:ln/>
        </p:spPr>
        <p:txBody>
          <a:bodyPr wrap="square" lIns="0" tIns="0" rIns="0" bIns="0" rtlCol="0" anchor="ctr"/>
          <a:lstStyle/>
          <a:p>
            <a:pPr indent="0" marL="0">
              <a:buNone/>
            </a:pPr>
            <a:r>
              <a:rPr lang="en-US" sz="1800" b="1" dirty="0">
                <a:solidFill>
                  <a:srgbClr val="2A9D8F"/>
                </a:solidFill>
                <a:latin typeface="Calibri" pitchFamily="34" charset="0"/>
                <a:ea typeface="Calibri" pitchFamily="34" charset="-122"/>
                <a:cs typeface="Calibri" pitchFamily="34" charset="-120"/>
              </a:rPr>
              <a:t>Grayscale</a:t>
            </a:r>
            <a:endParaRPr lang="en-US" sz="1800" dirty="0"/>
          </a:p>
        </p:txBody>
      </p:sp>
      <p:sp>
        <p:nvSpPr>
          <p:cNvPr id="7" name="Shape 5"/>
          <p:cNvSpPr/>
          <p:nvPr/>
        </p:nvSpPr>
        <p:spPr>
          <a:xfrm>
            <a:off x="457200" y="1417320"/>
            <a:ext cx="2103120" cy="2103120"/>
          </a:xfrm>
          <a:prstGeom prst="rect">
            <a:avLst/>
          </a:prstGeom>
          <a:solidFill>
            <a:srgbClr val="F5F1FB"/>
          </a:solidFill>
          <a:ln w="19050">
            <a:solidFill>
              <a:srgbClr val="6B4FA3"/>
            </a:solidFill>
            <a:prstDash val="dash"/>
          </a:ln>
        </p:spPr>
      </p:sp>
      <p:sp>
        <p:nvSpPr>
          <p:cNvPr id="8" name="Text 6"/>
          <p:cNvSpPr/>
          <p:nvPr/>
        </p:nvSpPr>
        <p:spPr>
          <a:xfrm>
            <a:off x="457200" y="1417320"/>
            <a:ext cx="2103120" cy="21031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Insert image</a:t>
            </a:r>
            <a:endParaRPr lang="en-US" sz="1400" dirty="0"/>
          </a:p>
        </p:txBody>
      </p:sp>
      <p:sp>
        <p:nvSpPr>
          <p:cNvPr id="9" name="Text 7"/>
          <p:cNvSpPr/>
          <p:nvPr/>
        </p:nvSpPr>
        <p:spPr>
          <a:xfrm>
            <a:off x="457200" y="3547872"/>
            <a:ext cx="2103120" cy="274320"/>
          </a:xfrm>
          <a:prstGeom prst="rect">
            <a:avLst/>
          </a:prstGeom>
          <a:noFill/>
          <a:ln/>
        </p:spPr>
        <p:txBody>
          <a:bodyPr wrap="square" lIns="0" tIns="0" rIns="0" bIns="0" rtlCol="0" anchor="ctr"/>
          <a:lstStyle/>
          <a:p>
            <a:pPr algn="ctr" indent="0" marL="0">
              <a:buNone/>
            </a:pPr>
            <a:r>
              <a:rPr lang="en-US" sz="1400" b="1" dirty="0">
                <a:solidFill>
                  <a:srgbClr val="1F1A33"/>
                </a:solidFill>
                <a:latin typeface="Calibri" pitchFamily="34" charset="0"/>
                <a:ea typeface="Calibri" pitchFamily="34" charset="-122"/>
                <a:cs typeface="Calibri" pitchFamily="34" charset="-120"/>
              </a:rPr>
              <a:t>Lena</a:t>
            </a:r>
            <a:endParaRPr lang="en-US" sz="1400" dirty="0"/>
          </a:p>
        </p:txBody>
      </p:sp>
      <p:sp>
        <p:nvSpPr>
          <p:cNvPr id="10" name="Shape 8"/>
          <p:cNvSpPr/>
          <p:nvPr/>
        </p:nvSpPr>
        <p:spPr>
          <a:xfrm>
            <a:off x="3291840" y="1417320"/>
            <a:ext cx="2103120" cy="2103120"/>
          </a:xfrm>
          <a:prstGeom prst="rect">
            <a:avLst/>
          </a:prstGeom>
          <a:solidFill>
            <a:srgbClr val="F5F1FB"/>
          </a:solidFill>
          <a:ln w="19050">
            <a:solidFill>
              <a:srgbClr val="6B4FA3"/>
            </a:solidFill>
            <a:prstDash val="dash"/>
          </a:ln>
        </p:spPr>
      </p:sp>
      <p:sp>
        <p:nvSpPr>
          <p:cNvPr id="11" name="Text 9"/>
          <p:cNvSpPr/>
          <p:nvPr/>
        </p:nvSpPr>
        <p:spPr>
          <a:xfrm>
            <a:off x="3291840" y="1417320"/>
            <a:ext cx="2103120" cy="21031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Insert image</a:t>
            </a:r>
            <a:endParaRPr lang="en-US" sz="1400" dirty="0"/>
          </a:p>
        </p:txBody>
      </p:sp>
      <p:sp>
        <p:nvSpPr>
          <p:cNvPr id="12" name="Text 10"/>
          <p:cNvSpPr/>
          <p:nvPr/>
        </p:nvSpPr>
        <p:spPr>
          <a:xfrm>
            <a:off x="3291840" y="3547872"/>
            <a:ext cx="2103120" cy="274320"/>
          </a:xfrm>
          <a:prstGeom prst="rect">
            <a:avLst/>
          </a:prstGeom>
          <a:noFill/>
          <a:ln/>
        </p:spPr>
        <p:txBody>
          <a:bodyPr wrap="square" lIns="0" tIns="0" rIns="0" bIns="0" rtlCol="0" anchor="ctr"/>
          <a:lstStyle/>
          <a:p>
            <a:pPr algn="ctr" indent="0" marL="0">
              <a:buNone/>
            </a:pPr>
            <a:r>
              <a:rPr lang="en-US" sz="1400" b="1" dirty="0">
                <a:solidFill>
                  <a:srgbClr val="1F1A33"/>
                </a:solidFill>
                <a:latin typeface="Calibri" pitchFamily="34" charset="0"/>
                <a:ea typeface="Calibri" pitchFamily="34" charset="-122"/>
                <a:cs typeface="Calibri" pitchFamily="34" charset="-120"/>
              </a:rPr>
              <a:t>Boat</a:t>
            </a:r>
            <a:endParaRPr lang="en-US" sz="1400" dirty="0"/>
          </a:p>
        </p:txBody>
      </p:sp>
      <p:sp>
        <p:nvSpPr>
          <p:cNvPr id="13" name="Shape 11"/>
          <p:cNvSpPr/>
          <p:nvPr/>
        </p:nvSpPr>
        <p:spPr>
          <a:xfrm>
            <a:off x="6126480" y="1417320"/>
            <a:ext cx="2103120" cy="2103120"/>
          </a:xfrm>
          <a:prstGeom prst="rect">
            <a:avLst/>
          </a:prstGeom>
          <a:solidFill>
            <a:srgbClr val="F5F1FB"/>
          </a:solidFill>
          <a:ln w="19050">
            <a:solidFill>
              <a:srgbClr val="6B4FA3"/>
            </a:solidFill>
            <a:prstDash val="dash"/>
          </a:ln>
        </p:spPr>
      </p:sp>
      <p:sp>
        <p:nvSpPr>
          <p:cNvPr id="14" name="Text 12"/>
          <p:cNvSpPr/>
          <p:nvPr/>
        </p:nvSpPr>
        <p:spPr>
          <a:xfrm>
            <a:off x="6126480" y="1417320"/>
            <a:ext cx="2103120" cy="21031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Insert image</a:t>
            </a:r>
            <a:endParaRPr lang="en-US" sz="1400" dirty="0"/>
          </a:p>
        </p:txBody>
      </p:sp>
      <p:sp>
        <p:nvSpPr>
          <p:cNvPr id="15" name="Text 13"/>
          <p:cNvSpPr/>
          <p:nvPr/>
        </p:nvSpPr>
        <p:spPr>
          <a:xfrm>
            <a:off x="6126480" y="3547872"/>
            <a:ext cx="2103120" cy="274320"/>
          </a:xfrm>
          <a:prstGeom prst="rect">
            <a:avLst/>
          </a:prstGeom>
          <a:noFill/>
          <a:ln/>
        </p:spPr>
        <p:txBody>
          <a:bodyPr wrap="square" lIns="0" tIns="0" rIns="0" bIns="0" rtlCol="0" anchor="ctr"/>
          <a:lstStyle/>
          <a:p>
            <a:pPr algn="ctr" indent="0" marL="0">
              <a:buNone/>
            </a:pPr>
            <a:r>
              <a:rPr lang="en-US" sz="1400" b="1" dirty="0">
                <a:solidFill>
                  <a:srgbClr val="1F1A33"/>
                </a:solidFill>
                <a:latin typeface="Calibri" pitchFamily="34" charset="0"/>
                <a:ea typeface="Calibri" pitchFamily="34" charset="-122"/>
                <a:cs typeface="Calibri" pitchFamily="34" charset="-120"/>
              </a:rPr>
              <a:t>Cameraman</a:t>
            </a:r>
            <a:endParaRPr lang="en-US" sz="1400" dirty="0"/>
          </a:p>
        </p:txBody>
      </p:sp>
      <p:sp>
        <p:nvSpPr>
          <p:cNvPr id="16" name="Shape 14"/>
          <p:cNvSpPr/>
          <p:nvPr/>
        </p:nvSpPr>
        <p:spPr>
          <a:xfrm>
            <a:off x="8961120" y="1417320"/>
            <a:ext cx="2103120" cy="2103120"/>
          </a:xfrm>
          <a:prstGeom prst="rect">
            <a:avLst/>
          </a:prstGeom>
          <a:solidFill>
            <a:srgbClr val="F5F1FB"/>
          </a:solidFill>
          <a:ln w="19050">
            <a:solidFill>
              <a:srgbClr val="6B4FA3"/>
            </a:solidFill>
            <a:prstDash val="dash"/>
          </a:ln>
        </p:spPr>
      </p:sp>
      <p:sp>
        <p:nvSpPr>
          <p:cNvPr id="17" name="Text 15"/>
          <p:cNvSpPr/>
          <p:nvPr/>
        </p:nvSpPr>
        <p:spPr>
          <a:xfrm>
            <a:off x="8961120" y="1417320"/>
            <a:ext cx="2103120" cy="21031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Insert image</a:t>
            </a:r>
            <a:endParaRPr lang="en-US" sz="1400" dirty="0"/>
          </a:p>
        </p:txBody>
      </p:sp>
      <p:sp>
        <p:nvSpPr>
          <p:cNvPr id="18" name="Text 16"/>
          <p:cNvSpPr/>
          <p:nvPr/>
        </p:nvSpPr>
        <p:spPr>
          <a:xfrm>
            <a:off x="8961120" y="3547872"/>
            <a:ext cx="2103120" cy="274320"/>
          </a:xfrm>
          <a:prstGeom prst="rect">
            <a:avLst/>
          </a:prstGeom>
          <a:noFill/>
          <a:ln/>
        </p:spPr>
        <p:txBody>
          <a:bodyPr wrap="square" lIns="0" tIns="0" rIns="0" bIns="0" rtlCol="0" anchor="ctr"/>
          <a:lstStyle/>
          <a:p>
            <a:pPr algn="ctr" indent="0" marL="0">
              <a:buNone/>
            </a:pPr>
            <a:r>
              <a:rPr lang="en-US" sz="1400" b="1" dirty="0">
                <a:solidFill>
                  <a:srgbClr val="1F1A33"/>
                </a:solidFill>
                <a:latin typeface="Calibri" pitchFamily="34" charset="0"/>
                <a:ea typeface="Calibri" pitchFamily="34" charset="-122"/>
                <a:cs typeface="Calibri" pitchFamily="34" charset="-120"/>
              </a:rPr>
              <a:t>Peppers</a:t>
            </a:r>
            <a:endParaRPr lang="en-US" sz="1400" dirty="0"/>
          </a:p>
        </p:txBody>
      </p:sp>
      <p:sp>
        <p:nvSpPr>
          <p:cNvPr id="19" name="Text 17"/>
          <p:cNvSpPr/>
          <p:nvPr/>
        </p:nvSpPr>
        <p:spPr>
          <a:xfrm>
            <a:off x="457200" y="3886200"/>
            <a:ext cx="5486400" cy="292608"/>
          </a:xfrm>
          <a:prstGeom prst="rect">
            <a:avLst/>
          </a:prstGeom>
          <a:noFill/>
          <a:ln/>
        </p:spPr>
        <p:txBody>
          <a:bodyPr wrap="square" lIns="0" tIns="0" rIns="0" bIns="0" rtlCol="0" anchor="ctr"/>
          <a:lstStyle/>
          <a:p>
            <a:pPr indent="0" marL="0">
              <a:buNone/>
            </a:pPr>
            <a:r>
              <a:rPr lang="en-US" sz="1800" b="1" dirty="0">
                <a:solidFill>
                  <a:srgbClr val="2A9D8F"/>
                </a:solidFill>
                <a:latin typeface="Calibri" pitchFamily="34" charset="0"/>
                <a:ea typeface="Calibri" pitchFamily="34" charset="-122"/>
                <a:cs typeface="Calibri" pitchFamily="34" charset="-120"/>
              </a:rPr>
              <a:t>Color</a:t>
            </a:r>
            <a:endParaRPr lang="en-US" sz="1800" dirty="0"/>
          </a:p>
        </p:txBody>
      </p:sp>
      <p:sp>
        <p:nvSpPr>
          <p:cNvPr id="20" name="Shape 18"/>
          <p:cNvSpPr/>
          <p:nvPr/>
        </p:nvSpPr>
        <p:spPr>
          <a:xfrm>
            <a:off x="457200" y="4206240"/>
            <a:ext cx="2103120" cy="2103120"/>
          </a:xfrm>
          <a:prstGeom prst="rect">
            <a:avLst/>
          </a:prstGeom>
          <a:solidFill>
            <a:srgbClr val="F5F1FB"/>
          </a:solidFill>
          <a:ln w="19050">
            <a:solidFill>
              <a:srgbClr val="6B4FA3"/>
            </a:solidFill>
            <a:prstDash val="dash"/>
          </a:ln>
        </p:spPr>
      </p:sp>
      <p:sp>
        <p:nvSpPr>
          <p:cNvPr id="21" name="Text 19"/>
          <p:cNvSpPr/>
          <p:nvPr/>
        </p:nvSpPr>
        <p:spPr>
          <a:xfrm>
            <a:off x="457200" y="4206240"/>
            <a:ext cx="2103120" cy="21031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Insert image</a:t>
            </a:r>
            <a:endParaRPr lang="en-US" sz="1400" dirty="0"/>
          </a:p>
        </p:txBody>
      </p:sp>
      <p:sp>
        <p:nvSpPr>
          <p:cNvPr id="22" name="Text 20"/>
          <p:cNvSpPr/>
          <p:nvPr/>
        </p:nvSpPr>
        <p:spPr>
          <a:xfrm>
            <a:off x="457200" y="6336792"/>
            <a:ext cx="2103120" cy="274320"/>
          </a:xfrm>
          <a:prstGeom prst="rect">
            <a:avLst/>
          </a:prstGeom>
          <a:noFill/>
          <a:ln/>
        </p:spPr>
        <p:txBody>
          <a:bodyPr wrap="square" lIns="0" tIns="0" rIns="0" bIns="0" rtlCol="0" anchor="ctr"/>
          <a:lstStyle/>
          <a:p>
            <a:pPr algn="ctr" indent="0" marL="0">
              <a:buNone/>
            </a:pPr>
            <a:r>
              <a:rPr lang="en-US" sz="1400" b="1" dirty="0">
                <a:solidFill>
                  <a:srgbClr val="1F1A33"/>
                </a:solidFill>
                <a:latin typeface="Calibri" pitchFamily="34" charset="0"/>
                <a:ea typeface="Calibri" pitchFamily="34" charset="-122"/>
                <a:cs typeface="Calibri" pitchFamily="34" charset="-120"/>
              </a:rPr>
              <a:t>Lena</a:t>
            </a:r>
            <a:endParaRPr lang="en-US" sz="1400" dirty="0"/>
          </a:p>
        </p:txBody>
      </p:sp>
      <p:sp>
        <p:nvSpPr>
          <p:cNvPr id="23" name="Shape 21"/>
          <p:cNvSpPr/>
          <p:nvPr/>
        </p:nvSpPr>
        <p:spPr>
          <a:xfrm>
            <a:off x="3291840" y="4206240"/>
            <a:ext cx="2103120" cy="2103120"/>
          </a:xfrm>
          <a:prstGeom prst="rect">
            <a:avLst/>
          </a:prstGeom>
          <a:solidFill>
            <a:srgbClr val="F5F1FB"/>
          </a:solidFill>
          <a:ln w="19050">
            <a:solidFill>
              <a:srgbClr val="6B4FA3"/>
            </a:solidFill>
            <a:prstDash val="dash"/>
          </a:ln>
        </p:spPr>
      </p:sp>
      <p:sp>
        <p:nvSpPr>
          <p:cNvPr id="24" name="Text 22"/>
          <p:cNvSpPr/>
          <p:nvPr/>
        </p:nvSpPr>
        <p:spPr>
          <a:xfrm>
            <a:off x="3291840" y="4206240"/>
            <a:ext cx="2103120" cy="21031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Insert image</a:t>
            </a:r>
            <a:endParaRPr lang="en-US" sz="1400" dirty="0"/>
          </a:p>
        </p:txBody>
      </p:sp>
      <p:sp>
        <p:nvSpPr>
          <p:cNvPr id="25" name="Text 23"/>
          <p:cNvSpPr/>
          <p:nvPr/>
        </p:nvSpPr>
        <p:spPr>
          <a:xfrm>
            <a:off x="3291840" y="6336792"/>
            <a:ext cx="2103120" cy="274320"/>
          </a:xfrm>
          <a:prstGeom prst="rect">
            <a:avLst/>
          </a:prstGeom>
          <a:noFill/>
          <a:ln/>
        </p:spPr>
        <p:txBody>
          <a:bodyPr wrap="square" lIns="0" tIns="0" rIns="0" bIns="0" rtlCol="0" anchor="ctr"/>
          <a:lstStyle/>
          <a:p>
            <a:pPr algn="ctr" indent="0" marL="0">
              <a:buNone/>
            </a:pPr>
            <a:r>
              <a:rPr lang="en-US" sz="1400" b="1" dirty="0">
                <a:solidFill>
                  <a:srgbClr val="1F1A33"/>
                </a:solidFill>
                <a:latin typeface="Calibri" pitchFamily="34" charset="0"/>
                <a:ea typeface="Calibri" pitchFamily="34" charset="-122"/>
                <a:cs typeface="Calibri" pitchFamily="34" charset="-120"/>
              </a:rPr>
              <a:t>Peppers</a:t>
            </a:r>
            <a:endParaRPr lang="en-US" sz="1400" dirty="0"/>
          </a:p>
        </p:txBody>
      </p:sp>
      <p:sp>
        <p:nvSpPr>
          <p:cNvPr id="26" name="Shape 24"/>
          <p:cNvSpPr/>
          <p:nvPr/>
        </p:nvSpPr>
        <p:spPr>
          <a:xfrm>
            <a:off x="6126480" y="4206240"/>
            <a:ext cx="2103120" cy="2103120"/>
          </a:xfrm>
          <a:prstGeom prst="rect">
            <a:avLst/>
          </a:prstGeom>
          <a:solidFill>
            <a:srgbClr val="F5F1FB"/>
          </a:solidFill>
          <a:ln w="19050">
            <a:solidFill>
              <a:srgbClr val="6B4FA3"/>
            </a:solidFill>
            <a:prstDash val="dash"/>
          </a:ln>
        </p:spPr>
      </p:sp>
      <p:sp>
        <p:nvSpPr>
          <p:cNvPr id="27" name="Text 25"/>
          <p:cNvSpPr/>
          <p:nvPr/>
        </p:nvSpPr>
        <p:spPr>
          <a:xfrm>
            <a:off x="6126480" y="4206240"/>
            <a:ext cx="2103120" cy="21031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Insert image</a:t>
            </a:r>
            <a:endParaRPr lang="en-US" sz="1400" dirty="0"/>
          </a:p>
        </p:txBody>
      </p:sp>
      <p:sp>
        <p:nvSpPr>
          <p:cNvPr id="28" name="Text 26"/>
          <p:cNvSpPr/>
          <p:nvPr/>
        </p:nvSpPr>
        <p:spPr>
          <a:xfrm>
            <a:off x="6126480" y="6336792"/>
            <a:ext cx="2103120" cy="274320"/>
          </a:xfrm>
          <a:prstGeom prst="rect">
            <a:avLst/>
          </a:prstGeom>
          <a:noFill/>
          <a:ln/>
        </p:spPr>
        <p:txBody>
          <a:bodyPr wrap="square" lIns="0" tIns="0" rIns="0" bIns="0" rtlCol="0" anchor="ctr"/>
          <a:lstStyle/>
          <a:p>
            <a:pPr algn="ctr" indent="0" marL="0">
              <a:buNone/>
            </a:pPr>
            <a:r>
              <a:rPr lang="en-US" sz="1400" b="1" dirty="0">
                <a:solidFill>
                  <a:srgbClr val="1F1A33"/>
                </a:solidFill>
                <a:latin typeface="Calibri" pitchFamily="34" charset="0"/>
                <a:ea typeface="Calibri" pitchFamily="34" charset="-122"/>
                <a:cs typeface="Calibri" pitchFamily="34" charset="-120"/>
              </a:rPr>
              <a:t>F16</a:t>
            </a:r>
            <a:endParaRPr lang="en-US" sz="1400" dirty="0"/>
          </a:p>
        </p:txBody>
      </p:sp>
      <p:sp>
        <p:nvSpPr>
          <p:cNvPr id="29" name="Shape 27"/>
          <p:cNvSpPr/>
          <p:nvPr/>
        </p:nvSpPr>
        <p:spPr>
          <a:xfrm>
            <a:off x="8961120" y="4206240"/>
            <a:ext cx="2103120" cy="2103120"/>
          </a:xfrm>
          <a:prstGeom prst="rect">
            <a:avLst/>
          </a:prstGeom>
          <a:solidFill>
            <a:srgbClr val="F5F1FB"/>
          </a:solidFill>
          <a:ln w="19050">
            <a:solidFill>
              <a:srgbClr val="6B4FA3"/>
            </a:solidFill>
            <a:prstDash val="dash"/>
          </a:ln>
        </p:spPr>
      </p:sp>
      <p:sp>
        <p:nvSpPr>
          <p:cNvPr id="30" name="Text 28"/>
          <p:cNvSpPr/>
          <p:nvPr/>
        </p:nvSpPr>
        <p:spPr>
          <a:xfrm>
            <a:off x="8961120" y="4206240"/>
            <a:ext cx="2103120" cy="21031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Insert image</a:t>
            </a:r>
            <a:endParaRPr lang="en-US" sz="1400" dirty="0"/>
          </a:p>
        </p:txBody>
      </p:sp>
      <p:sp>
        <p:nvSpPr>
          <p:cNvPr id="31" name="Text 29"/>
          <p:cNvSpPr/>
          <p:nvPr/>
        </p:nvSpPr>
        <p:spPr>
          <a:xfrm>
            <a:off x="8961120" y="6336792"/>
            <a:ext cx="2103120" cy="274320"/>
          </a:xfrm>
          <a:prstGeom prst="rect">
            <a:avLst/>
          </a:prstGeom>
          <a:noFill/>
          <a:ln/>
        </p:spPr>
        <p:txBody>
          <a:bodyPr wrap="square" lIns="0" tIns="0" rIns="0" bIns="0" rtlCol="0" anchor="ctr"/>
          <a:lstStyle/>
          <a:p>
            <a:pPr algn="ctr" indent="0" marL="0">
              <a:buNone/>
            </a:pPr>
            <a:r>
              <a:rPr lang="en-US" sz="1400" b="1" dirty="0">
                <a:solidFill>
                  <a:srgbClr val="1F1A33"/>
                </a:solidFill>
                <a:latin typeface="Calibri" pitchFamily="34" charset="0"/>
                <a:ea typeface="Calibri" pitchFamily="34" charset="-122"/>
                <a:cs typeface="Calibri" pitchFamily="34" charset="-120"/>
              </a:rPr>
              <a:t>Gold Hill</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502920"/>
          </a:xfrm>
          <a:prstGeom prst="roundRect">
            <a:avLst>
              <a:gd name="adj" fmla="val 18182"/>
            </a:avLst>
          </a:prstGeom>
          <a:solidFill>
            <a:srgbClr val="2A9D8F"/>
          </a:solidFill>
          <a:ln w="12700">
            <a:solidFill>
              <a:srgbClr val="2A9D8F"/>
            </a:solidFill>
            <a:prstDash val="solid"/>
          </a:ln>
        </p:spPr>
      </p:sp>
      <p:sp>
        <p:nvSpPr>
          <p:cNvPr id="3" name="Text 1"/>
          <p:cNvSpPr/>
          <p:nvPr/>
        </p:nvSpPr>
        <p:spPr>
          <a:xfrm>
            <a:off x="457200" y="320040"/>
            <a:ext cx="173736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Results</a:t>
            </a:r>
            <a:endParaRPr lang="en-US" sz="1800" dirty="0"/>
          </a:p>
        </p:txBody>
      </p:sp>
      <p:sp>
        <p:nvSpPr>
          <p:cNvPr id="4" name="Text 2"/>
          <p:cNvSpPr/>
          <p:nvPr/>
        </p:nvSpPr>
        <p:spPr>
          <a:xfrm>
            <a:off x="2377440" y="274320"/>
            <a:ext cx="932688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Reconstruction Results: Grayscale Images</a:t>
            </a:r>
            <a:endParaRPr lang="en-US" sz="2800" dirty="0"/>
          </a:p>
        </p:txBody>
      </p:sp>
      <p:sp>
        <p:nvSpPr>
          <p:cNvPr id="5" name="Shape 3"/>
          <p:cNvSpPr/>
          <p:nvPr/>
        </p:nvSpPr>
        <p:spPr>
          <a:xfrm>
            <a:off x="457200" y="960120"/>
            <a:ext cx="11274552" cy="36576"/>
          </a:xfrm>
          <a:prstGeom prst="rect">
            <a:avLst/>
          </a:prstGeom>
          <a:solidFill>
            <a:srgbClr val="2A9D8F"/>
          </a:solidFill>
          <a:ln w="12700">
            <a:solidFill>
              <a:srgbClr val="2A9D8F"/>
            </a:solidFill>
            <a:prstDash val="solid"/>
          </a:ln>
        </p:spPr>
      </p:sp>
      <p:sp>
        <p:nvSpPr>
          <p:cNvPr id="6" name="Text 4"/>
          <p:cNvSpPr/>
          <p:nvPr/>
        </p:nvSpPr>
        <p:spPr>
          <a:xfrm>
            <a:off x="411480" y="1417320"/>
            <a:ext cx="1097280" cy="2331720"/>
          </a:xfrm>
          <a:prstGeom prst="rect">
            <a:avLst/>
          </a:prstGeom>
          <a:noFill/>
          <a:ln/>
        </p:spPr>
        <p:txBody>
          <a:bodyPr wrap="square" lIns="0" tIns="0" rIns="0" bIns="0" rtlCol="0" anchor="ctr"/>
          <a:lstStyle/>
          <a:p>
            <a:pPr algn="ctr" indent="0" marL="0">
              <a:buNone/>
            </a:pPr>
            <a:r>
              <a:rPr lang="en-US" sz="1400" b="1" dirty="0">
                <a:solidFill>
                  <a:srgbClr val="2E2055"/>
                </a:solidFill>
                <a:latin typeface="Calibri" pitchFamily="34" charset="0"/>
                <a:ea typeface="Calibri" pitchFamily="34" charset="-122"/>
                <a:cs typeface="Calibri" pitchFamily="34" charset="-120"/>
              </a:rPr>
              <a:t>Original</a:t>
            </a:r>
            <a:endParaRPr lang="en-US" sz="1400" dirty="0"/>
          </a:p>
        </p:txBody>
      </p:sp>
      <p:sp>
        <p:nvSpPr>
          <p:cNvPr id="7" name="Text 5"/>
          <p:cNvSpPr/>
          <p:nvPr/>
        </p:nvSpPr>
        <p:spPr>
          <a:xfrm>
            <a:off x="320040" y="3840480"/>
            <a:ext cx="1234440" cy="2331720"/>
          </a:xfrm>
          <a:prstGeom prst="rect">
            <a:avLst/>
          </a:prstGeom>
          <a:noFill/>
          <a:ln/>
        </p:spPr>
        <p:txBody>
          <a:bodyPr wrap="square" lIns="0" tIns="0" rIns="0" bIns="0" rtlCol="0" anchor="ctr"/>
          <a:lstStyle/>
          <a:p>
            <a:pPr algn="ctr" indent="0" marL="0">
              <a:buNone/>
            </a:pPr>
            <a:r>
              <a:rPr lang="en-US" sz="1300" b="1" dirty="0">
                <a:solidFill>
                  <a:srgbClr val="2E2055"/>
                </a:solidFill>
                <a:latin typeface="Calibri" pitchFamily="34" charset="0"/>
                <a:ea typeface="Calibri" pitchFamily="34" charset="-122"/>
                <a:cs typeface="Calibri" pitchFamily="34" charset="-120"/>
              </a:rPr>
              <a:t>Reconstructed</a:t>
            </a:r>
            <a:endParaRPr lang="en-US" sz="1300" dirty="0"/>
          </a:p>
        </p:txBody>
      </p:sp>
      <p:sp>
        <p:nvSpPr>
          <p:cNvPr id="8" name="Text 6"/>
          <p:cNvSpPr/>
          <p:nvPr/>
        </p:nvSpPr>
        <p:spPr>
          <a:xfrm>
            <a:off x="1600200" y="1078992"/>
            <a:ext cx="2331720" cy="301752"/>
          </a:xfrm>
          <a:prstGeom prst="rect">
            <a:avLst/>
          </a:prstGeom>
          <a:noFill/>
          <a:ln/>
        </p:spPr>
        <p:txBody>
          <a:bodyPr wrap="square" lIns="0" tIns="0" rIns="0" bIns="0" rtlCol="0" anchor="ctr"/>
          <a:lstStyle/>
          <a:p>
            <a:pPr algn="ctr" indent="0" marL="0">
              <a:buNone/>
            </a:pPr>
            <a:r>
              <a:rPr lang="en-US" sz="1700" b="1" dirty="0">
                <a:solidFill>
                  <a:srgbClr val="2A9D8F"/>
                </a:solidFill>
                <a:latin typeface="Calibri" pitchFamily="34" charset="0"/>
                <a:ea typeface="Calibri" pitchFamily="34" charset="-122"/>
                <a:cs typeface="Calibri" pitchFamily="34" charset="-120"/>
              </a:rPr>
              <a:t>Lena</a:t>
            </a:r>
            <a:endParaRPr lang="en-US" sz="1700" dirty="0"/>
          </a:p>
        </p:txBody>
      </p:sp>
      <p:sp>
        <p:nvSpPr>
          <p:cNvPr id="9" name="Shape 7"/>
          <p:cNvSpPr/>
          <p:nvPr/>
        </p:nvSpPr>
        <p:spPr>
          <a:xfrm>
            <a:off x="1600200" y="1417320"/>
            <a:ext cx="2331720" cy="2331720"/>
          </a:xfrm>
          <a:prstGeom prst="rect">
            <a:avLst/>
          </a:prstGeom>
          <a:solidFill>
            <a:srgbClr val="F5F1FB"/>
          </a:solidFill>
          <a:ln w="19050">
            <a:solidFill>
              <a:srgbClr val="6B4FA3"/>
            </a:solidFill>
            <a:prstDash val="dash"/>
          </a:ln>
        </p:spPr>
      </p:sp>
      <p:sp>
        <p:nvSpPr>
          <p:cNvPr id="10" name="Text 8"/>
          <p:cNvSpPr/>
          <p:nvPr/>
        </p:nvSpPr>
        <p:spPr>
          <a:xfrm>
            <a:off x="1600200" y="1417320"/>
            <a:ext cx="2331720" cy="23317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Original</a:t>
            </a:r>
            <a:endParaRPr lang="en-US" sz="1400" dirty="0"/>
          </a:p>
        </p:txBody>
      </p:sp>
      <p:sp>
        <p:nvSpPr>
          <p:cNvPr id="11" name="Shape 9"/>
          <p:cNvSpPr/>
          <p:nvPr/>
        </p:nvSpPr>
        <p:spPr>
          <a:xfrm>
            <a:off x="1600200" y="3840480"/>
            <a:ext cx="2331720" cy="2331720"/>
          </a:xfrm>
          <a:prstGeom prst="rect">
            <a:avLst/>
          </a:prstGeom>
          <a:solidFill>
            <a:srgbClr val="F5F1FB"/>
          </a:solidFill>
          <a:ln w="19050">
            <a:solidFill>
              <a:srgbClr val="6B4FA3"/>
            </a:solidFill>
            <a:prstDash val="dash"/>
          </a:ln>
        </p:spPr>
      </p:sp>
      <p:sp>
        <p:nvSpPr>
          <p:cNvPr id="12" name="Text 10"/>
          <p:cNvSpPr/>
          <p:nvPr/>
        </p:nvSpPr>
        <p:spPr>
          <a:xfrm>
            <a:off x="1600200" y="3840480"/>
            <a:ext cx="2331720" cy="23317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Reconstructed</a:t>
            </a:r>
            <a:endParaRPr lang="en-US" sz="1400" dirty="0"/>
          </a:p>
        </p:txBody>
      </p:sp>
      <p:sp>
        <p:nvSpPr>
          <p:cNvPr id="13" name="Text 11"/>
          <p:cNvSpPr/>
          <p:nvPr/>
        </p:nvSpPr>
        <p:spPr>
          <a:xfrm>
            <a:off x="1508760" y="6199632"/>
            <a:ext cx="2514600" cy="457200"/>
          </a:xfrm>
          <a:prstGeom prst="rect">
            <a:avLst/>
          </a:prstGeom>
          <a:noFill/>
          <a:ln/>
        </p:spPr>
        <p:txBody>
          <a:bodyPr wrap="square" lIns="0" tIns="0" rIns="0" bIns="0" rtlCol="0" anchor="ctr"/>
          <a:lstStyle/>
          <a:p>
            <a:pPr algn="ctr" indent="0" marL="0">
              <a:buNone/>
            </a:pPr>
            <a:r>
              <a:rPr lang="en-US" sz="1300" b="1" dirty="0">
                <a:solidFill>
                  <a:srgbClr val="E0457B"/>
                </a:solidFill>
                <a:latin typeface="Calibri" pitchFamily="34" charset="0"/>
                <a:ea typeface="Calibri" pitchFamily="34" charset="-122"/>
                <a:cs typeface="Calibri" pitchFamily="34" charset="-120"/>
              </a:rPr>
              <a:t>CR = ___</a:t>
            </a:r>
            <a:endParaRPr lang="en-US" sz="1300" dirty="0"/>
          </a:p>
          <a:p>
            <a:pPr algn="ctr" indent="0" marL="0">
              <a:buNone/>
            </a:pPr>
            <a:r>
              <a:rPr lang="en-US" sz="1300" dirty="0">
                <a:solidFill>
                  <a:srgbClr val="1F1A33"/>
                </a:solidFill>
                <a:latin typeface="Calibri" pitchFamily="34" charset="0"/>
                <a:ea typeface="Calibri" pitchFamily="34" charset="-122"/>
                <a:cs typeface="Calibri" pitchFamily="34" charset="-120"/>
              </a:rPr>
              <a:t>PSNR 29.67 dB   SSIM 0.8190</a:t>
            </a:r>
            <a:endParaRPr lang="en-US" sz="1300" dirty="0"/>
          </a:p>
        </p:txBody>
      </p:sp>
      <p:sp>
        <p:nvSpPr>
          <p:cNvPr id="14" name="Text 12"/>
          <p:cNvSpPr/>
          <p:nvPr/>
        </p:nvSpPr>
        <p:spPr>
          <a:xfrm>
            <a:off x="4069080" y="1078992"/>
            <a:ext cx="2331720" cy="301752"/>
          </a:xfrm>
          <a:prstGeom prst="rect">
            <a:avLst/>
          </a:prstGeom>
          <a:noFill/>
          <a:ln/>
        </p:spPr>
        <p:txBody>
          <a:bodyPr wrap="square" lIns="0" tIns="0" rIns="0" bIns="0" rtlCol="0" anchor="ctr"/>
          <a:lstStyle/>
          <a:p>
            <a:pPr algn="ctr" indent="0" marL="0">
              <a:buNone/>
            </a:pPr>
            <a:r>
              <a:rPr lang="en-US" sz="1700" b="1" dirty="0">
                <a:solidFill>
                  <a:srgbClr val="2A9D8F"/>
                </a:solidFill>
                <a:latin typeface="Calibri" pitchFamily="34" charset="0"/>
                <a:ea typeface="Calibri" pitchFamily="34" charset="-122"/>
                <a:cs typeface="Calibri" pitchFamily="34" charset="-120"/>
              </a:rPr>
              <a:t>Boat</a:t>
            </a:r>
            <a:endParaRPr lang="en-US" sz="1700" dirty="0"/>
          </a:p>
        </p:txBody>
      </p:sp>
      <p:sp>
        <p:nvSpPr>
          <p:cNvPr id="15" name="Shape 13"/>
          <p:cNvSpPr/>
          <p:nvPr/>
        </p:nvSpPr>
        <p:spPr>
          <a:xfrm>
            <a:off x="4069080" y="1417320"/>
            <a:ext cx="2331720" cy="2331720"/>
          </a:xfrm>
          <a:prstGeom prst="rect">
            <a:avLst/>
          </a:prstGeom>
          <a:solidFill>
            <a:srgbClr val="F5F1FB"/>
          </a:solidFill>
          <a:ln w="19050">
            <a:solidFill>
              <a:srgbClr val="6B4FA3"/>
            </a:solidFill>
            <a:prstDash val="dash"/>
          </a:ln>
        </p:spPr>
      </p:sp>
      <p:sp>
        <p:nvSpPr>
          <p:cNvPr id="16" name="Text 14"/>
          <p:cNvSpPr/>
          <p:nvPr/>
        </p:nvSpPr>
        <p:spPr>
          <a:xfrm>
            <a:off x="4069080" y="1417320"/>
            <a:ext cx="2331720" cy="23317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Original</a:t>
            </a:r>
            <a:endParaRPr lang="en-US" sz="1400" dirty="0"/>
          </a:p>
        </p:txBody>
      </p:sp>
      <p:sp>
        <p:nvSpPr>
          <p:cNvPr id="17" name="Shape 15"/>
          <p:cNvSpPr/>
          <p:nvPr/>
        </p:nvSpPr>
        <p:spPr>
          <a:xfrm>
            <a:off x="4069080" y="3840480"/>
            <a:ext cx="2331720" cy="2331720"/>
          </a:xfrm>
          <a:prstGeom prst="rect">
            <a:avLst/>
          </a:prstGeom>
          <a:solidFill>
            <a:srgbClr val="F5F1FB"/>
          </a:solidFill>
          <a:ln w="19050">
            <a:solidFill>
              <a:srgbClr val="6B4FA3"/>
            </a:solidFill>
            <a:prstDash val="dash"/>
          </a:ln>
        </p:spPr>
      </p:sp>
      <p:sp>
        <p:nvSpPr>
          <p:cNvPr id="18" name="Text 16"/>
          <p:cNvSpPr/>
          <p:nvPr/>
        </p:nvSpPr>
        <p:spPr>
          <a:xfrm>
            <a:off x="4069080" y="3840480"/>
            <a:ext cx="2331720" cy="23317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Reconstructed</a:t>
            </a:r>
            <a:endParaRPr lang="en-US" sz="1400" dirty="0"/>
          </a:p>
        </p:txBody>
      </p:sp>
      <p:sp>
        <p:nvSpPr>
          <p:cNvPr id="19" name="Text 17"/>
          <p:cNvSpPr/>
          <p:nvPr/>
        </p:nvSpPr>
        <p:spPr>
          <a:xfrm>
            <a:off x="3977640" y="6199632"/>
            <a:ext cx="2514600" cy="457200"/>
          </a:xfrm>
          <a:prstGeom prst="rect">
            <a:avLst/>
          </a:prstGeom>
          <a:noFill/>
          <a:ln/>
        </p:spPr>
        <p:txBody>
          <a:bodyPr wrap="square" lIns="0" tIns="0" rIns="0" bIns="0" rtlCol="0" anchor="ctr"/>
          <a:lstStyle/>
          <a:p>
            <a:pPr algn="ctr" indent="0" marL="0">
              <a:buNone/>
            </a:pPr>
            <a:r>
              <a:rPr lang="en-US" sz="1300" b="1" dirty="0">
                <a:solidFill>
                  <a:srgbClr val="E0457B"/>
                </a:solidFill>
                <a:latin typeface="Calibri" pitchFamily="34" charset="0"/>
                <a:ea typeface="Calibri" pitchFamily="34" charset="-122"/>
                <a:cs typeface="Calibri" pitchFamily="34" charset="-120"/>
              </a:rPr>
              <a:t>CR = ___</a:t>
            </a:r>
            <a:endParaRPr lang="en-US" sz="1300" dirty="0"/>
          </a:p>
          <a:p>
            <a:pPr algn="ctr" indent="0" marL="0">
              <a:buNone/>
            </a:pPr>
            <a:r>
              <a:rPr lang="en-US" sz="1300" dirty="0">
                <a:solidFill>
                  <a:srgbClr val="1F1A33"/>
                </a:solidFill>
                <a:latin typeface="Calibri" pitchFamily="34" charset="0"/>
                <a:ea typeface="Calibri" pitchFamily="34" charset="-122"/>
                <a:cs typeface="Calibri" pitchFamily="34" charset="-120"/>
              </a:rPr>
              <a:t>PSNR 29.11 dB   SSIM 0.8394</a:t>
            </a:r>
            <a:endParaRPr lang="en-US" sz="1300" dirty="0"/>
          </a:p>
        </p:txBody>
      </p:sp>
      <p:sp>
        <p:nvSpPr>
          <p:cNvPr id="20" name="Text 18"/>
          <p:cNvSpPr/>
          <p:nvPr/>
        </p:nvSpPr>
        <p:spPr>
          <a:xfrm>
            <a:off x="6537960" y="1078992"/>
            <a:ext cx="2331720" cy="301752"/>
          </a:xfrm>
          <a:prstGeom prst="rect">
            <a:avLst/>
          </a:prstGeom>
          <a:noFill/>
          <a:ln/>
        </p:spPr>
        <p:txBody>
          <a:bodyPr wrap="square" lIns="0" tIns="0" rIns="0" bIns="0" rtlCol="0" anchor="ctr"/>
          <a:lstStyle/>
          <a:p>
            <a:pPr algn="ctr" indent="0" marL="0">
              <a:buNone/>
            </a:pPr>
            <a:r>
              <a:rPr lang="en-US" sz="1700" b="1" dirty="0">
                <a:solidFill>
                  <a:srgbClr val="2A9D8F"/>
                </a:solidFill>
                <a:latin typeface="Calibri" pitchFamily="34" charset="0"/>
                <a:ea typeface="Calibri" pitchFamily="34" charset="-122"/>
                <a:cs typeface="Calibri" pitchFamily="34" charset="-120"/>
              </a:rPr>
              <a:t>Cameraman</a:t>
            </a:r>
            <a:endParaRPr lang="en-US" sz="1700" dirty="0"/>
          </a:p>
        </p:txBody>
      </p:sp>
      <p:sp>
        <p:nvSpPr>
          <p:cNvPr id="21" name="Shape 19"/>
          <p:cNvSpPr/>
          <p:nvPr/>
        </p:nvSpPr>
        <p:spPr>
          <a:xfrm>
            <a:off x="6537960" y="1417320"/>
            <a:ext cx="2331720" cy="2331720"/>
          </a:xfrm>
          <a:prstGeom prst="rect">
            <a:avLst/>
          </a:prstGeom>
          <a:solidFill>
            <a:srgbClr val="F5F1FB"/>
          </a:solidFill>
          <a:ln w="19050">
            <a:solidFill>
              <a:srgbClr val="6B4FA3"/>
            </a:solidFill>
            <a:prstDash val="dash"/>
          </a:ln>
        </p:spPr>
      </p:sp>
      <p:sp>
        <p:nvSpPr>
          <p:cNvPr id="22" name="Text 20"/>
          <p:cNvSpPr/>
          <p:nvPr/>
        </p:nvSpPr>
        <p:spPr>
          <a:xfrm>
            <a:off x="6537960" y="1417320"/>
            <a:ext cx="2331720" cy="23317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Original</a:t>
            </a:r>
            <a:endParaRPr lang="en-US" sz="1400" dirty="0"/>
          </a:p>
        </p:txBody>
      </p:sp>
      <p:sp>
        <p:nvSpPr>
          <p:cNvPr id="23" name="Shape 21"/>
          <p:cNvSpPr/>
          <p:nvPr/>
        </p:nvSpPr>
        <p:spPr>
          <a:xfrm>
            <a:off x="6537960" y="3840480"/>
            <a:ext cx="2331720" cy="2331720"/>
          </a:xfrm>
          <a:prstGeom prst="rect">
            <a:avLst/>
          </a:prstGeom>
          <a:solidFill>
            <a:srgbClr val="F5F1FB"/>
          </a:solidFill>
          <a:ln w="19050">
            <a:solidFill>
              <a:srgbClr val="6B4FA3"/>
            </a:solidFill>
            <a:prstDash val="dash"/>
          </a:ln>
        </p:spPr>
      </p:sp>
      <p:sp>
        <p:nvSpPr>
          <p:cNvPr id="24" name="Text 22"/>
          <p:cNvSpPr/>
          <p:nvPr/>
        </p:nvSpPr>
        <p:spPr>
          <a:xfrm>
            <a:off x="6537960" y="3840480"/>
            <a:ext cx="2331720" cy="23317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Reconstructed</a:t>
            </a:r>
            <a:endParaRPr lang="en-US" sz="1400" dirty="0"/>
          </a:p>
        </p:txBody>
      </p:sp>
      <p:sp>
        <p:nvSpPr>
          <p:cNvPr id="25" name="Text 23"/>
          <p:cNvSpPr/>
          <p:nvPr/>
        </p:nvSpPr>
        <p:spPr>
          <a:xfrm>
            <a:off x="6446520" y="6199632"/>
            <a:ext cx="2514600" cy="457200"/>
          </a:xfrm>
          <a:prstGeom prst="rect">
            <a:avLst/>
          </a:prstGeom>
          <a:noFill/>
          <a:ln/>
        </p:spPr>
        <p:txBody>
          <a:bodyPr wrap="square" lIns="0" tIns="0" rIns="0" bIns="0" rtlCol="0" anchor="ctr"/>
          <a:lstStyle/>
          <a:p>
            <a:pPr algn="ctr" indent="0" marL="0">
              <a:buNone/>
            </a:pPr>
            <a:r>
              <a:rPr lang="en-US" sz="1300" b="1" dirty="0">
                <a:solidFill>
                  <a:srgbClr val="E0457B"/>
                </a:solidFill>
                <a:latin typeface="Calibri" pitchFamily="34" charset="0"/>
                <a:ea typeface="Calibri" pitchFamily="34" charset="-122"/>
                <a:cs typeface="Calibri" pitchFamily="34" charset="-120"/>
              </a:rPr>
              <a:t>CR = ___</a:t>
            </a:r>
            <a:endParaRPr lang="en-US" sz="1300" dirty="0"/>
          </a:p>
          <a:p>
            <a:pPr algn="ctr" indent="0" marL="0">
              <a:buNone/>
            </a:pPr>
            <a:r>
              <a:rPr lang="en-US" sz="1300" dirty="0">
                <a:solidFill>
                  <a:srgbClr val="1F1A33"/>
                </a:solidFill>
                <a:latin typeface="Calibri" pitchFamily="34" charset="0"/>
                <a:ea typeface="Calibri" pitchFamily="34" charset="-122"/>
                <a:cs typeface="Calibri" pitchFamily="34" charset="-120"/>
              </a:rPr>
              <a:t>PSNR 29.75 dB   SSIM 0.8855</a:t>
            </a:r>
            <a:endParaRPr lang="en-US" sz="1300" dirty="0"/>
          </a:p>
        </p:txBody>
      </p:sp>
      <p:sp>
        <p:nvSpPr>
          <p:cNvPr id="26" name="Text 24"/>
          <p:cNvSpPr/>
          <p:nvPr/>
        </p:nvSpPr>
        <p:spPr>
          <a:xfrm>
            <a:off x="9006840" y="1078992"/>
            <a:ext cx="2331720" cy="301752"/>
          </a:xfrm>
          <a:prstGeom prst="rect">
            <a:avLst/>
          </a:prstGeom>
          <a:noFill/>
          <a:ln/>
        </p:spPr>
        <p:txBody>
          <a:bodyPr wrap="square" lIns="0" tIns="0" rIns="0" bIns="0" rtlCol="0" anchor="ctr"/>
          <a:lstStyle/>
          <a:p>
            <a:pPr algn="ctr" indent="0" marL="0">
              <a:buNone/>
            </a:pPr>
            <a:r>
              <a:rPr lang="en-US" sz="1700" b="1" dirty="0">
                <a:solidFill>
                  <a:srgbClr val="2A9D8F"/>
                </a:solidFill>
                <a:latin typeface="Calibri" pitchFamily="34" charset="0"/>
                <a:ea typeface="Calibri" pitchFamily="34" charset="-122"/>
                <a:cs typeface="Calibri" pitchFamily="34" charset="-120"/>
              </a:rPr>
              <a:t>Peppers</a:t>
            </a:r>
            <a:endParaRPr lang="en-US" sz="1700" dirty="0"/>
          </a:p>
        </p:txBody>
      </p:sp>
      <p:sp>
        <p:nvSpPr>
          <p:cNvPr id="27" name="Shape 25"/>
          <p:cNvSpPr/>
          <p:nvPr/>
        </p:nvSpPr>
        <p:spPr>
          <a:xfrm>
            <a:off x="9006840" y="1417320"/>
            <a:ext cx="2331720" cy="2331720"/>
          </a:xfrm>
          <a:prstGeom prst="rect">
            <a:avLst/>
          </a:prstGeom>
          <a:solidFill>
            <a:srgbClr val="F5F1FB"/>
          </a:solidFill>
          <a:ln w="19050">
            <a:solidFill>
              <a:srgbClr val="6B4FA3"/>
            </a:solidFill>
            <a:prstDash val="dash"/>
          </a:ln>
        </p:spPr>
      </p:sp>
      <p:sp>
        <p:nvSpPr>
          <p:cNvPr id="28" name="Text 26"/>
          <p:cNvSpPr/>
          <p:nvPr/>
        </p:nvSpPr>
        <p:spPr>
          <a:xfrm>
            <a:off x="9006840" y="1417320"/>
            <a:ext cx="2331720" cy="23317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Original</a:t>
            </a:r>
            <a:endParaRPr lang="en-US" sz="1400" dirty="0"/>
          </a:p>
        </p:txBody>
      </p:sp>
      <p:sp>
        <p:nvSpPr>
          <p:cNvPr id="29" name="Shape 27"/>
          <p:cNvSpPr/>
          <p:nvPr/>
        </p:nvSpPr>
        <p:spPr>
          <a:xfrm>
            <a:off x="9006840" y="3840480"/>
            <a:ext cx="2331720" cy="2331720"/>
          </a:xfrm>
          <a:prstGeom prst="rect">
            <a:avLst/>
          </a:prstGeom>
          <a:solidFill>
            <a:srgbClr val="F5F1FB"/>
          </a:solidFill>
          <a:ln w="19050">
            <a:solidFill>
              <a:srgbClr val="6B4FA3"/>
            </a:solidFill>
            <a:prstDash val="dash"/>
          </a:ln>
        </p:spPr>
      </p:sp>
      <p:sp>
        <p:nvSpPr>
          <p:cNvPr id="30" name="Text 28"/>
          <p:cNvSpPr/>
          <p:nvPr/>
        </p:nvSpPr>
        <p:spPr>
          <a:xfrm>
            <a:off x="9006840" y="3840480"/>
            <a:ext cx="2331720" cy="23317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Reconstructed</a:t>
            </a:r>
            <a:endParaRPr lang="en-US" sz="1400" dirty="0"/>
          </a:p>
        </p:txBody>
      </p:sp>
      <p:sp>
        <p:nvSpPr>
          <p:cNvPr id="31" name="Text 29"/>
          <p:cNvSpPr/>
          <p:nvPr/>
        </p:nvSpPr>
        <p:spPr>
          <a:xfrm>
            <a:off x="8915400" y="6199632"/>
            <a:ext cx="2514600" cy="457200"/>
          </a:xfrm>
          <a:prstGeom prst="rect">
            <a:avLst/>
          </a:prstGeom>
          <a:noFill/>
          <a:ln/>
        </p:spPr>
        <p:txBody>
          <a:bodyPr wrap="square" lIns="0" tIns="0" rIns="0" bIns="0" rtlCol="0" anchor="ctr"/>
          <a:lstStyle/>
          <a:p>
            <a:pPr algn="ctr" indent="0" marL="0">
              <a:buNone/>
            </a:pPr>
            <a:r>
              <a:rPr lang="en-US" sz="1300" b="1" dirty="0">
                <a:solidFill>
                  <a:srgbClr val="E0457B"/>
                </a:solidFill>
                <a:latin typeface="Calibri" pitchFamily="34" charset="0"/>
                <a:ea typeface="Calibri" pitchFamily="34" charset="-122"/>
                <a:cs typeface="Calibri" pitchFamily="34" charset="-120"/>
              </a:rPr>
              <a:t>CR = ___</a:t>
            </a:r>
            <a:endParaRPr lang="en-US" sz="1300" dirty="0"/>
          </a:p>
          <a:p>
            <a:pPr algn="ctr" indent="0" marL="0">
              <a:buNone/>
            </a:pPr>
            <a:r>
              <a:rPr lang="en-US" sz="1300" dirty="0">
                <a:solidFill>
                  <a:srgbClr val="1F1A33"/>
                </a:solidFill>
                <a:latin typeface="Calibri" pitchFamily="34" charset="0"/>
                <a:ea typeface="Calibri" pitchFamily="34" charset="-122"/>
                <a:cs typeface="Calibri" pitchFamily="34" charset="-120"/>
              </a:rPr>
              <a:t>PSNR 29.41 dB   SSIM 0.7624</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502920"/>
          </a:xfrm>
          <a:prstGeom prst="roundRect">
            <a:avLst>
              <a:gd name="adj" fmla="val 18182"/>
            </a:avLst>
          </a:prstGeom>
          <a:solidFill>
            <a:srgbClr val="2A9D8F"/>
          </a:solidFill>
          <a:ln w="12700">
            <a:solidFill>
              <a:srgbClr val="2A9D8F"/>
            </a:solidFill>
            <a:prstDash val="solid"/>
          </a:ln>
        </p:spPr>
      </p:sp>
      <p:sp>
        <p:nvSpPr>
          <p:cNvPr id="3" name="Text 1"/>
          <p:cNvSpPr/>
          <p:nvPr/>
        </p:nvSpPr>
        <p:spPr>
          <a:xfrm>
            <a:off x="457200" y="320040"/>
            <a:ext cx="173736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Results</a:t>
            </a:r>
            <a:endParaRPr lang="en-US" sz="1800" dirty="0"/>
          </a:p>
        </p:txBody>
      </p:sp>
      <p:sp>
        <p:nvSpPr>
          <p:cNvPr id="4" name="Text 2"/>
          <p:cNvSpPr/>
          <p:nvPr/>
        </p:nvSpPr>
        <p:spPr>
          <a:xfrm>
            <a:off x="2377440" y="274320"/>
            <a:ext cx="932688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Reconstruction Results: Color Images</a:t>
            </a:r>
            <a:endParaRPr lang="en-US" sz="2800" dirty="0"/>
          </a:p>
        </p:txBody>
      </p:sp>
      <p:sp>
        <p:nvSpPr>
          <p:cNvPr id="5" name="Shape 3"/>
          <p:cNvSpPr/>
          <p:nvPr/>
        </p:nvSpPr>
        <p:spPr>
          <a:xfrm>
            <a:off x="457200" y="960120"/>
            <a:ext cx="11274552" cy="36576"/>
          </a:xfrm>
          <a:prstGeom prst="rect">
            <a:avLst/>
          </a:prstGeom>
          <a:solidFill>
            <a:srgbClr val="2A9D8F"/>
          </a:solidFill>
          <a:ln w="12700">
            <a:solidFill>
              <a:srgbClr val="2A9D8F"/>
            </a:solidFill>
            <a:prstDash val="solid"/>
          </a:ln>
        </p:spPr>
      </p:sp>
      <p:sp>
        <p:nvSpPr>
          <p:cNvPr id="6" name="Text 4"/>
          <p:cNvSpPr/>
          <p:nvPr/>
        </p:nvSpPr>
        <p:spPr>
          <a:xfrm>
            <a:off x="411480" y="1417320"/>
            <a:ext cx="1097280" cy="2331720"/>
          </a:xfrm>
          <a:prstGeom prst="rect">
            <a:avLst/>
          </a:prstGeom>
          <a:noFill/>
          <a:ln/>
        </p:spPr>
        <p:txBody>
          <a:bodyPr wrap="square" lIns="0" tIns="0" rIns="0" bIns="0" rtlCol="0" anchor="ctr"/>
          <a:lstStyle/>
          <a:p>
            <a:pPr algn="ctr" indent="0" marL="0">
              <a:buNone/>
            </a:pPr>
            <a:r>
              <a:rPr lang="en-US" sz="1400" b="1" dirty="0">
                <a:solidFill>
                  <a:srgbClr val="2E2055"/>
                </a:solidFill>
                <a:latin typeface="Calibri" pitchFamily="34" charset="0"/>
                <a:ea typeface="Calibri" pitchFamily="34" charset="-122"/>
                <a:cs typeface="Calibri" pitchFamily="34" charset="-120"/>
              </a:rPr>
              <a:t>Original</a:t>
            </a:r>
            <a:endParaRPr lang="en-US" sz="1400" dirty="0"/>
          </a:p>
        </p:txBody>
      </p:sp>
      <p:sp>
        <p:nvSpPr>
          <p:cNvPr id="7" name="Text 5"/>
          <p:cNvSpPr/>
          <p:nvPr/>
        </p:nvSpPr>
        <p:spPr>
          <a:xfrm>
            <a:off x="320040" y="3840480"/>
            <a:ext cx="1234440" cy="2331720"/>
          </a:xfrm>
          <a:prstGeom prst="rect">
            <a:avLst/>
          </a:prstGeom>
          <a:noFill/>
          <a:ln/>
        </p:spPr>
        <p:txBody>
          <a:bodyPr wrap="square" lIns="0" tIns="0" rIns="0" bIns="0" rtlCol="0" anchor="ctr"/>
          <a:lstStyle/>
          <a:p>
            <a:pPr algn="ctr" indent="0" marL="0">
              <a:buNone/>
            </a:pPr>
            <a:r>
              <a:rPr lang="en-US" sz="1300" b="1" dirty="0">
                <a:solidFill>
                  <a:srgbClr val="2E2055"/>
                </a:solidFill>
                <a:latin typeface="Calibri" pitchFamily="34" charset="0"/>
                <a:ea typeface="Calibri" pitchFamily="34" charset="-122"/>
                <a:cs typeface="Calibri" pitchFamily="34" charset="-120"/>
              </a:rPr>
              <a:t>Reconstructed</a:t>
            </a:r>
            <a:endParaRPr lang="en-US" sz="1300" dirty="0"/>
          </a:p>
        </p:txBody>
      </p:sp>
      <p:sp>
        <p:nvSpPr>
          <p:cNvPr id="8" name="Text 6"/>
          <p:cNvSpPr/>
          <p:nvPr/>
        </p:nvSpPr>
        <p:spPr>
          <a:xfrm>
            <a:off x="1600200" y="1078992"/>
            <a:ext cx="2331720" cy="301752"/>
          </a:xfrm>
          <a:prstGeom prst="rect">
            <a:avLst/>
          </a:prstGeom>
          <a:noFill/>
          <a:ln/>
        </p:spPr>
        <p:txBody>
          <a:bodyPr wrap="square" lIns="0" tIns="0" rIns="0" bIns="0" rtlCol="0" anchor="ctr"/>
          <a:lstStyle/>
          <a:p>
            <a:pPr algn="ctr" indent="0" marL="0">
              <a:buNone/>
            </a:pPr>
            <a:r>
              <a:rPr lang="en-US" sz="1700" b="1" dirty="0">
                <a:solidFill>
                  <a:srgbClr val="2A9D8F"/>
                </a:solidFill>
                <a:latin typeface="Calibri" pitchFamily="34" charset="0"/>
                <a:ea typeface="Calibri" pitchFamily="34" charset="-122"/>
                <a:cs typeface="Calibri" pitchFamily="34" charset="-120"/>
              </a:rPr>
              <a:t>Lena</a:t>
            </a:r>
            <a:endParaRPr lang="en-US" sz="1700" dirty="0"/>
          </a:p>
        </p:txBody>
      </p:sp>
      <p:sp>
        <p:nvSpPr>
          <p:cNvPr id="9" name="Shape 7"/>
          <p:cNvSpPr/>
          <p:nvPr/>
        </p:nvSpPr>
        <p:spPr>
          <a:xfrm>
            <a:off x="1600200" y="1417320"/>
            <a:ext cx="2331720" cy="2331720"/>
          </a:xfrm>
          <a:prstGeom prst="rect">
            <a:avLst/>
          </a:prstGeom>
          <a:solidFill>
            <a:srgbClr val="F5F1FB"/>
          </a:solidFill>
          <a:ln w="19050">
            <a:solidFill>
              <a:srgbClr val="6B4FA3"/>
            </a:solidFill>
            <a:prstDash val="dash"/>
          </a:ln>
        </p:spPr>
      </p:sp>
      <p:sp>
        <p:nvSpPr>
          <p:cNvPr id="10" name="Text 8"/>
          <p:cNvSpPr/>
          <p:nvPr/>
        </p:nvSpPr>
        <p:spPr>
          <a:xfrm>
            <a:off x="1600200" y="1417320"/>
            <a:ext cx="2331720" cy="23317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Original</a:t>
            </a:r>
            <a:endParaRPr lang="en-US" sz="1400" dirty="0"/>
          </a:p>
        </p:txBody>
      </p:sp>
      <p:sp>
        <p:nvSpPr>
          <p:cNvPr id="11" name="Shape 9"/>
          <p:cNvSpPr/>
          <p:nvPr/>
        </p:nvSpPr>
        <p:spPr>
          <a:xfrm>
            <a:off x="1600200" y="3840480"/>
            <a:ext cx="2331720" cy="2331720"/>
          </a:xfrm>
          <a:prstGeom prst="rect">
            <a:avLst/>
          </a:prstGeom>
          <a:solidFill>
            <a:srgbClr val="F5F1FB"/>
          </a:solidFill>
          <a:ln w="19050">
            <a:solidFill>
              <a:srgbClr val="6B4FA3"/>
            </a:solidFill>
            <a:prstDash val="dash"/>
          </a:ln>
        </p:spPr>
      </p:sp>
      <p:sp>
        <p:nvSpPr>
          <p:cNvPr id="12" name="Text 10"/>
          <p:cNvSpPr/>
          <p:nvPr/>
        </p:nvSpPr>
        <p:spPr>
          <a:xfrm>
            <a:off x="1600200" y="3840480"/>
            <a:ext cx="2331720" cy="23317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Reconstructed</a:t>
            </a:r>
            <a:endParaRPr lang="en-US" sz="1400" dirty="0"/>
          </a:p>
        </p:txBody>
      </p:sp>
      <p:sp>
        <p:nvSpPr>
          <p:cNvPr id="13" name="Text 11"/>
          <p:cNvSpPr/>
          <p:nvPr/>
        </p:nvSpPr>
        <p:spPr>
          <a:xfrm>
            <a:off x="1508760" y="6199632"/>
            <a:ext cx="2514600" cy="457200"/>
          </a:xfrm>
          <a:prstGeom prst="rect">
            <a:avLst/>
          </a:prstGeom>
          <a:noFill/>
          <a:ln/>
        </p:spPr>
        <p:txBody>
          <a:bodyPr wrap="square" lIns="0" tIns="0" rIns="0" bIns="0" rtlCol="0" anchor="ctr"/>
          <a:lstStyle/>
          <a:p>
            <a:pPr algn="ctr" indent="0" marL="0">
              <a:buNone/>
            </a:pPr>
            <a:r>
              <a:rPr lang="en-US" sz="1300" b="1" dirty="0">
                <a:solidFill>
                  <a:srgbClr val="E0457B"/>
                </a:solidFill>
                <a:latin typeface="Calibri" pitchFamily="34" charset="0"/>
                <a:ea typeface="Calibri" pitchFamily="34" charset="-122"/>
                <a:cs typeface="Calibri" pitchFamily="34" charset="-120"/>
              </a:rPr>
              <a:t>CR = ___</a:t>
            </a:r>
            <a:endParaRPr lang="en-US" sz="1300" dirty="0"/>
          </a:p>
          <a:p>
            <a:pPr algn="ctr" indent="0" marL="0">
              <a:buNone/>
            </a:pPr>
            <a:r>
              <a:rPr lang="en-US" sz="1300" dirty="0">
                <a:solidFill>
                  <a:srgbClr val="1F1A33"/>
                </a:solidFill>
                <a:latin typeface="Calibri" pitchFamily="34" charset="0"/>
                <a:ea typeface="Calibri" pitchFamily="34" charset="-122"/>
                <a:cs typeface="Calibri" pitchFamily="34" charset="-120"/>
              </a:rPr>
              <a:t>PSNR 28.91 dB   SSIM 0.7594</a:t>
            </a:r>
            <a:endParaRPr lang="en-US" sz="1300" dirty="0"/>
          </a:p>
        </p:txBody>
      </p:sp>
      <p:sp>
        <p:nvSpPr>
          <p:cNvPr id="14" name="Text 12"/>
          <p:cNvSpPr/>
          <p:nvPr/>
        </p:nvSpPr>
        <p:spPr>
          <a:xfrm>
            <a:off x="4069080" y="1078992"/>
            <a:ext cx="2331720" cy="301752"/>
          </a:xfrm>
          <a:prstGeom prst="rect">
            <a:avLst/>
          </a:prstGeom>
          <a:noFill/>
          <a:ln/>
        </p:spPr>
        <p:txBody>
          <a:bodyPr wrap="square" lIns="0" tIns="0" rIns="0" bIns="0" rtlCol="0" anchor="ctr"/>
          <a:lstStyle/>
          <a:p>
            <a:pPr algn="ctr" indent="0" marL="0">
              <a:buNone/>
            </a:pPr>
            <a:r>
              <a:rPr lang="en-US" sz="1700" b="1" dirty="0">
                <a:solidFill>
                  <a:srgbClr val="2A9D8F"/>
                </a:solidFill>
                <a:latin typeface="Calibri" pitchFamily="34" charset="0"/>
                <a:ea typeface="Calibri" pitchFamily="34" charset="-122"/>
                <a:cs typeface="Calibri" pitchFamily="34" charset="-120"/>
              </a:rPr>
              <a:t>Peppers</a:t>
            </a:r>
            <a:endParaRPr lang="en-US" sz="1700" dirty="0"/>
          </a:p>
        </p:txBody>
      </p:sp>
      <p:sp>
        <p:nvSpPr>
          <p:cNvPr id="15" name="Shape 13"/>
          <p:cNvSpPr/>
          <p:nvPr/>
        </p:nvSpPr>
        <p:spPr>
          <a:xfrm>
            <a:off x="4069080" y="1417320"/>
            <a:ext cx="2331720" cy="2331720"/>
          </a:xfrm>
          <a:prstGeom prst="rect">
            <a:avLst/>
          </a:prstGeom>
          <a:solidFill>
            <a:srgbClr val="F5F1FB"/>
          </a:solidFill>
          <a:ln w="19050">
            <a:solidFill>
              <a:srgbClr val="6B4FA3"/>
            </a:solidFill>
            <a:prstDash val="dash"/>
          </a:ln>
        </p:spPr>
      </p:sp>
      <p:sp>
        <p:nvSpPr>
          <p:cNvPr id="16" name="Text 14"/>
          <p:cNvSpPr/>
          <p:nvPr/>
        </p:nvSpPr>
        <p:spPr>
          <a:xfrm>
            <a:off x="4069080" y="1417320"/>
            <a:ext cx="2331720" cy="23317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Original</a:t>
            </a:r>
            <a:endParaRPr lang="en-US" sz="1400" dirty="0"/>
          </a:p>
        </p:txBody>
      </p:sp>
      <p:sp>
        <p:nvSpPr>
          <p:cNvPr id="17" name="Shape 15"/>
          <p:cNvSpPr/>
          <p:nvPr/>
        </p:nvSpPr>
        <p:spPr>
          <a:xfrm>
            <a:off x="4069080" y="3840480"/>
            <a:ext cx="2331720" cy="2331720"/>
          </a:xfrm>
          <a:prstGeom prst="rect">
            <a:avLst/>
          </a:prstGeom>
          <a:solidFill>
            <a:srgbClr val="F5F1FB"/>
          </a:solidFill>
          <a:ln w="19050">
            <a:solidFill>
              <a:srgbClr val="6B4FA3"/>
            </a:solidFill>
            <a:prstDash val="dash"/>
          </a:ln>
        </p:spPr>
      </p:sp>
      <p:sp>
        <p:nvSpPr>
          <p:cNvPr id="18" name="Text 16"/>
          <p:cNvSpPr/>
          <p:nvPr/>
        </p:nvSpPr>
        <p:spPr>
          <a:xfrm>
            <a:off x="4069080" y="3840480"/>
            <a:ext cx="2331720" cy="23317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Reconstructed</a:t>
            </a:r>
            <a:endParaRPr lang="en-US" sz="1400" dirty="0"/>
          </a:p>
        </p:txBody>
      </p:sp>
      <p:sp>
        <p:nvSpPr>
          <p:cNvPr id="19" name="Text 17"/>
          <p:cNvSpPr/>
          <p:nvPr/>
        </p:nvSpPr>
        <p:spPr>
          <a:xfrm>
            <a:off x="3977640" y="6199632"/>
            <a:ext cx="2514600" cy="457200"/>
          </a:xfrm>
          <a:prstGeom prst="rect">
            <a:avLst/>
          </a:prstGeom>
          <a:noFill/>
          <a:ln/>
        </p:spPr>
        <p:txBody>
          <a:bodyPr wrap="square" lIns="0" tIns="0" rIns="0" bIns="0" rtlCol="0" anchor="ctr"/>
          <a:lstStyle/>
          <a:p>
            <a:pPr algn="ctr" indent="0" marL="0">
              <a:buNone/>
            </a:pPr>
            <a:r>
              <a:rPr lang="en-US" sz="1300" b="1" dirty="0">
                <a:solidFill>
                  <a:srgbClr val="E0457B"/>
                </a:solidFill>
                <a:latin typeface="Calibri" pitchFamily="34" charset="0"/>
                <a:ea typeface="Calibri" pitchFamily="34" charset="-122"/>
                <a:cs typeface="Calibri" pitchFamily="34" charset="-120"/>
              </a:rPr>
              <a:t>CR = ___</a:t>
            </a:r>
            <a:endParaRPr lang="en-US" sz="1300" dirty="0"/>
          </a:p>
          <a:p>
            <a:pPr algn="ctr" indent="0" marL="0">
              <a:buNone/>
            </a:pPr>
            <a:r>
              <a:rPr lang="en-US" sz="1300" dirty="0">
                <a:solidFill>
                  <a:srgbClr val="1F1A33"/>
                </a:solidFill>
                <a:latin typeface="Calibri" pitchFamily="34" charset="0"/>
                <a:ea typeface="Calibri" pitchFamily="34" charset="-122"/>
                <a:cs typeface="Calibri" pitchFamily="34" charset="-120"/>
              </a:rPr>
              <a:t>PSNR 28.35 dB   SSIM 0.6964</a:t>
            </a:r>
            <a:endParaRPr lang="en-US" sz="1300" dirty="0"/>
          </a:p>
        </p:txBody>
      </p:sp>
      <p:sp>
        <p:nvSpPr>
          <p:cNvPr id="20" name="Text 18"/>
          <p:cNvSpPr/>
          <p:nvPr/>
        </p:nvSpPr>
        <p:spPr>
          <a:xfrm>
            <a:off x="6537960" y="1078992"/>
            <a:ext cx="2331720" cy="301752"/>
          </a:xfrm>
          <a:prstGeom prst="rect">
            <a:avLst/>
          </a:prstGeom>
          <a:noFill/>
          <a:ln/>
        </p:spPr>
        <p:txBody>
          <a:bodyPr wrap="square" lIns="0" tIns="0" rIns="0" bIns="0" rtlCol="0" anchor="ctr"/>
          <a:lstStyle/>
          <a:p>
            <a:pPr algn="ctr" indent="0" marL="0">
              <a:buNone/>
            </a:pPr>
            <a:r>
              <a:rPr lang="en-US" sz="1700" b="1" dirty="0">
                <a:solidFill>
                  <a:srgbClr val="2A9D8F"/>
                </a:solidFill>
                <a:latin typeface="Calibri" pitchFamily="34" charset="0"/>
                <a:ea typeface="Calibri" pitchFamily="34" charset="-122"/>
                <a:cs typeface="Calibri" pitchFamily="34" charset="-120"/>
              </a:rPr>
              <a:t>F16</a:t>
            </a:r>
            <a:endParaRPr lang="en-US" sz="1700" dirty="0"/>
          </a:p>
        </p:txBody>
      </p:sp>
      <p:sp>
        <p:nvSpPr>
          <p:cNvPr id="21" name="Shape 19"/>
          <p:cNvSpPr/>
          <p:nvPr/>
        </p:nvSpPr>
        <p:spPr>
          <a:xfrm>
            <a:off x="6537960" y="1417320"/>
            <a:ext cx="2331720" cy="2331720"/>
          </a:xfrm>
          <a:prstGeom prst="rect">
            <a:avLst/>
          </a:prstGeom>
          <a:solidFill>
            <a:srgbClr val="F5F1FB"/>
          </a:solidFill>
          <a:ln w="19050">
            <a:solidFill>
              <a:srgbClr val="6B4FA3"/>
            </a:solidFill>
            <a:prstDash val="dash"/>
          </a:ln>
        </p:spPr>
      </p:sp>
      <p:sp>
        <p:nvSpPr>
          <p:cNvPr id="22" name="Text 20"/>
          <p:cNvSpPr/>
          <p:nvPr/>
        </p:nvSpPr>
        <p:spPr>
          <a:xfrm>
            <a:off x="6537960" y="1417320"/>
            <a:ext cx="2331720" cy="23317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Original</a:t>
            </a:r>
            <a:endParaRPr lang="en-US" sz="1400" dirty="0"/>
          </a:p>
        </p:txBody>
      </p:sp>
      <p:sp>
        <p:nvSpPr>
          <p:cNvPr id="23" name="Shape 21"/>
          <p:cNvSpPr/>
          <p:nvPr/>
        </p:nvSpPr>
        <p:spPr>
          <a:xfrm>
            <a:off x="6537960" y="3840480"/>
            <a:ext cx="2331720" cy="2331720"/>
          </a:xfrm>
          <a:prstGeom prst="rect">
            <a:avLst/>
          </a:prstGeom>
          <a:solidFill>
            <a:srgbClr val="F5F1FB"/>
          </a:solidFill>
          <a:ln w="19050">
            <a:solidFill>
              <a:srgbClr val="6B4FA3"/>
            </a:solidFill>
            <a:prstDash val="dash"/>
          </a:ln>
        </p:spPr>
      </p:sp>
      <p:sp>
        <p:nvSpPr>
          <p:cNvPr id="24" name="Text 22"/>
          <p:cNvSpPr/>
          <p:nvPr/>
        </p:nvSpPr>
        <p:spPr>
          <a:xfrm>
            <a:off x="6537960" y="3840480"/>
            <a:ext cx="2331720" cy="23317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Reconstructed</a:t>
            </a:r>
            <a:endParaRPr lang="en-US" sz="1400" dirty="0"/>
          </a:p>
        </p:txBody>
      </p:sp>
      <p:sp>
        <p:nvSpPr>
          <p:cNvPr id="25" name="Text 23"/>
          <p:cNvSpPr/>
          <p:nvPr/>
        </p:nvSpPr>
        <p:spPr>
          <a:xfrm>
            <a:off x="6446520" y="6199632"/>
            <a:ext cx="2514600" cy="457200"/>
          </a:xfrm>
          <a:prstGeom prst="rect">
            <a:avLst/>
          </a:prstGeom>
          <a:noFill/>
          <a:ln/>
        </p:spPr>
        <p:txBody>
          <a:bodyPr wrap="square" lIns="0" tIns="0" rIns="0" bIns="0" rtlCol="0" anchor="ctr"/>
          <a:lstStyle/>
          <a:p>
            <a:pPr algn="ctr" indent="0" marL="0">
              <a:buNone/>
            </a:pPr>
            <a:r>
              <a:rPr lang="en-US" sz="1300" b="1" dirty="0">
                <a:solidFill>
                  <a:srgbClr val="E0457B"/>
                </a:solidFill>
                <a:latin typeface="Calibri" pitchFamily="34" charset="0"/>
                <a:ea typeface="Calibri" pitchFamily="34" charset="-122"/>
                <a:cs typeface="Calibri" pitchFamily="34" charset="-120"/>
              </a:rPr>
              <a:t>CR = ___</a:t>
            </a:r>
            <a:endParaRPr lang="en-US" sz="1300" dirty="0"/>
          </a:p>
          <a:p>
            <a:pPr algn="ctr" indent="0" marL="0">
              <a:buNone/>
            </a:pPr>
            <a:r>
              <a:rPr lang="en-US" sz="1300" dirty="0">
                <a:solidFill>
                  <a:srgbClr val="1F1A33"/>
                </a:solidFill>
                <a:latin typeface="Calibri" pitchFamily="34" charset="0"/>
                <a:ea typeface="Calibri" pitchFamily="34" charset="-122"/>
                <a:cs typeface="Calibri" pitchFamily="34" charset="-120"/>
              </a:rPr>
              <a:t>PSNR 29.47 dB   SSIM 0.8539</a:t>
            </a:r>
            <a:endParaRPr lang="en-US" sz="1300" dirty="0"/>
          </a:p>
        </p:txBody>
      </p:sp>
      <p:sp>
        <p:nvSpPr>
          <p:cNvPr id="26" name="Text 24"/>
          <p:cNvSpPr/>
          <p:nvPr/>
        </p:nvSpPr>
        <p:spPr>
          <a:xfrm>
            <a:off x="9006840" y="1078992"/>
            <a:ext cx="2331720" cy="301752"/>
          </a:xfrm>
          <a:prstGeom prst="rect">
            <a:avLst/>
          </a:prstGeom>
          <a:noFill/>
          <a:ln/>
        </p:spPr>
        <p:txBody>
          <a:bodyPr wrap="square" lIns="0" tIns="0" rIns="0" bIns="0" rtlCol="0" anchor="ctr"/>
          <a:lstStyle/>
          <a:p>
            <a:pPr algn="ctr" indent="0" marL="0">
              <a:buNone/>
            </a:pPr>
            <a:r>
              <a:rPr lang="en-US" sz="1700" b="1" dirty="0">
                <a:solidFill>
                  <a:srgbClr val="2A9D8F"/>
                </a:solidFill>
                <a:latin typeface="Calibri" pitchFamily="34" charset="0"/>
                <a:ea typeface="Calibri" pitchFamily="34" charset="-122"/>
                <a:cs typeface="Calibri" pitchFamily="34" charset="-120"/>
              </a:rPr>
              <a:t>Gold Hill</a:t>
            </a:r>
            <a:endParaRPr lang="en-US" sz="1700" dirty="0"/>
          </a:p>
        </p:txBody>
      </p:sp>
      <p:sp>
        <p:nvSpPr>
          <p:cNvPr id="27" name="Shape 25"/>
          <p:cNvSpPr/>
          <p:nvPr/>
        </p:nvSpPr>
        <p:spPr>
          <a:xfrm>
            <a:off x="9006840" y="1417320"/>
            <a:ext cx="2331720" cy="2331720"/>
          </a:xfrm>
          <a:prstGeom prst="rect">
            <a:avLst/>
          </a:prstGeom>
          <a:solidFill>
            <a:srgbClr val="F5F1FB"/>
          </a:solidFill>
          <a:ln w="19050">
            <a:solidFill>
              <a:srgbClr val="6B4FA3"/>
            </a:solidFill>
            <a:prstDash val="dash"/>
          </a:ln>
        </p:spPr>
      </p:sp>
      <p:sp>
        <p:nvSpPr>
          <p:cNvPr id="28" name="Text 26"/>
          <p:cNvSpPr/>
          <p:nvPr/>
        </p:nvSpPr>
        <p:spPr>
          <a:xfrm>
            <a:off x="9006840" y="1417320"/>
            <a:ext cx="2331720" cy="23317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Original</a:t>
            </a:r>
            <a:endParaRPr lang="en-US" sz="1400" dirty="0"/>
          </a:p>
        </p:txBody>
      </p:sp>
      <p:sp>
        <p:nvSpPr>
          <p:cNvPr id="29" name="Shape 27"/>
          <p:cNvSpPr/>
          <p:nvPr/>
        </p:nvSpPr>
        <p:spPr>
          <a:xfrm>
            <a:off x="9006840" y="3840480"/>
            <a:ext cx="2331720" cy="2331720"/>
          </a:xfrm>
          <a:prstGeom prst="rect">
            <a:avLst/>
          </a:prstGeom>
          <a:solidFill>
            <a:srgbClr val="F5F1FB"/>
          </a:solidFill>
          <a:ln w="19050">
            <a:solidFill>
              <a:srgbClr val="6B4FA3"/>
            </a:solidFill>
            <a:prstDash val="dash"/>
          </a:ln>
        </p:spPr>
      </p:sp>
      <p:sp>
        <p:nvSpPr>
          <p:cNvPr id="30" name="Text 28"/>
          <p:cNvSpPr/>
          <p:nvPr/>
        </p:nvSpPr>
        <p:spPr>
          <a:xfrm>
            <a:off x="9006840" y="3840480"/>
            <a:ext cx="2331720" cy="2331720"/>
          </a:xfrm>
          <a:prstGeom prst="rect">
            <a:avLst/>
          </a:prstGeom>
          <a:noFill/>
          <a:ln/>
        </p:spPr>
        <p:txBody>
          <a:bodyPr wrap="square" lIns="1270" tIns="1270" rIns="1270" bIns="1270" rtlCol="0" anchor="ctr"/>
          <a:lstStyle/>
          <a:p>
            <a:pPr algn="ctr" indent="0" marL="0">
              <a:buNone/>
            </a:pPr>
            <a:r>
              <a:rPr lang="en-US" sz="1400" i="1" dirty="0">
                <a:solidFill>
                  <a:srgbClr val="6B4FA3"/>
                </a:solidFill>
                <a:latin typeface="Calibri" pitchFamily="34" charset="0"/>
                <a:ea typeface="Calibri" pitchFamily="34" charset="-122"/>
                <a:cs typeface="Calibri" pitchFamily="34" charset="-120"/>
              </a:rPr>
              <a:t>Reconstructed</a:t>
            </a:r>
            <a:endParaRPr lang="en-US" sz="1400" dirty="0"/>
          </a:p>
        </p:txBody>
      </p:sp>
      <p:sp>
        <p:nvSpPr>
          <p:cNvPr id="31" name="Text 29"/>
          <p:cNvSpPr/>
          <p:nvPr/>
        </p:nvSpPr>
        <p:spPr>
          <a:xfrm>
            <a:off x="8915400" y="6199632"/>
            <a:ext cx="2514600" cy="457200"/>
          </a:xfrm>
          <a:prstGeom prst="rect">
            <a:avLst/>
          </a:prstGeom>
          <a:noFill/>
          <a:ln/>
        </p:spPr>
        <p:txBody>
          <a:bodyPr wrap="square" lIns="0" tIns="0" rIns="0" bIns="0" rtlCol="0" anchor="ctr"/>
          <a:lstStyle/>
          <a:p>
            <a:pPr algn="ctr" indent="0" marL="0">
              <a:buNone/>
            </a:pPr>
            <a:r>
              <a:rPr lang="en-US" sz="1300" b="1" dirty="0">
                <a:solidFill>
                  <a:srgbClr val="E0457B"/>
                </a:solidFill>
                <a:latin typeface="Calibri" pitchFamily="34" charset="0"/>
                <a:ea typeface="Calibri" pitchFamily="34" charset="-122"/>
                <a:cs typeface="Calibri" pitchFamily="34" charset="-120"/>
              </a:rPr>
              <a:t>CR = ___</a:t>
            </a:r>
            <a:endParaRPr lang="en-US" sz="1300" dirty="0"/>
          </a:p>
          <a:p>
            <a:pPr algn="ctr" indent="0" marL="0">
              <a:buNone/>
            </a:pPr>
            <a:r>
              <a:rPr lang="en-US" sz="1300" dirty="0">
                <a:solidFill>
                  <a:srgbClr val="1F1A33"/>
                </a:solidFill>
                <a:latin typeface="Calibri" pitchFamily="34" charset="0"/>
                <a:ea typeface="Calibri" pitchFamily="34" charset="-122"/>
                <a:cs typeface="Calibri" pitchFamily="34" charset="-120"/>
              </a:rPr>
              <a:t>PSNR 28.45 dB   SSIM 0.7520</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502920"/>
          </a:xfrm>
          <a:prstGeom prst="roundRect">
            <a:avLst>
              <a:gd name="adj" fmla="val 18182"/>
            </a:avLst>
          </a:prstGeom>
          <a:solidFill>
            <a:srgbClr val="2A9D8F"/>
          </a:solidFill>
          <a:ln w="12700">
            <a:solidFill>
              <a:srgbClr val="2A9D8F"/>
            </a:solidFill>
            <a:prstDash val="solid"/>
          </a:ln>
        </p:spPr>
      </p:sp>
      <p:sp>
        <p:nvSpPr>
          <p:cNvPr id="3" name="Text 1"/>
          <p:cNvSpPr/>
          <p:nvPr/>
        </p:nvSpPr>
        <p:spPr>
          <a:xfrm>
            <a:off x="457200" y="320040"/>
            <a:ext cx="173736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Results</a:t>
            </a:r>
            <a:endParaRPr lang="en-US" sz="1800" dirty="0"/>
          </a:p>
        </p:txBody>
      </p:sp>
      <p:sp>
        <p:nvSpPr>
          <p:cNvPr id="4" name="Text 2"/>
          <p:cNvSpPr/>
          <p:nvPr/>
        </p:nvSpPr>
        <p:spPr>
          <a:xfrm>
            <a:off x="2377440" y="274320"/>
            <a:ext cx="932688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Compression Results (4 × 4 blocks, K = 64)</a:t>
            </a:r>
            <a:endParaRPr lang="en-US" sz="2800" dirty="0"/>
          </a:p>
        </p:txBody>
      </p:sp>
      <p:sp>
        <p:nvSpPr>
          <p:cNvPr id="5" name="Shape 3"/>
          <p:cNvSpPr/>
          <p:nvPr/>
        </p:nvSpPr>
        <p:spPr>
          <a:xfrm>
            <a:off x="457200" y="960120"/>
            <a:ext cx="11274552" cy="36576"/>
          </a:xfrm>
          <a:prstGeom prst="rect">
            <a:avLst/>
          </a:prstGeom>
          <a:solidFill>
            <a:srgbClr val="2A9D8F"/>
          </a:solidFill>
          <a:ln w="12700">
            <a:solidFill>
              <a:srgbClr val="2A9D8F"/>
            </a:solidFill>
            <a:prstDash val="solid"/>
          </a:ln>
        </p:spPr>
      </p:sp>
      <p:sp>
        <p:nvSpPr>
          <p:cNvPr id="6" name="Shape 4"/>
          <p:cNvSpPr/>
          <p:nvPr/>
        </p:nvSpPr>
        <p:spPr>
          <a:xfrm>
            <a:off x="822960" y="1097280"/>
            <a:ext cx="10515600" cy="822960"/>
          </a:xfrm>
          <a:prstGeom prst="roundRect">
            <a:avLst>
              <a:gd name="adj" fmla="val 8889"/>
            </a:avLst>
          </a:prstGeom>
          <a:solidFill>
            <a:srgbClr val="FDF1E6"/>
          </a:solidFill>
          <a:ln w="15875">
            <a:solidFill>
              <a:srgbClr val="E07B22"/>
            </a:solidFill>
            <a:prstDash val="solid"/>
          </a:ln>
        </p:spPr>
      </p:sp>
      <p:sp>
        <p:nvSpPr>
          <p:cNvPr id="7" name="Text 5"/>
          <p:cNvSpPr/>
          <p:nvPr/>
        </p:nvSpPr>
        <p:spPr>
          <a:xfrm>
            <a:off x="822960" y="1097280"/>
            <a:ext cx="10515600" cy="822960"/>
          </a:xfrm>
          <a:prstGeom prst="rect">
            <a:avLst/>
          </a:prstGeom>
          <a:noFill/>
          <a:ln/>
        </p:spPr>
        <p:txBody>
          <a:bodyPr wrap="square" lIns="508" tIns="508" rIns="508" bIns="508" rtlCol="0" anchor="ctr"/>
          <a:lstStyle/>
          <a:p>
            <a:pPr algn="ctr" indent="0" marL="0">
              <a:buNone/>
            </a:pPr>
            <a:r>
              <a:rPr lang="en-US" sz="1700" b="1" dirty="0">
                <a:solidFill>
                  <a:srgbClr val="2E2055"/>
                </a:solidFill>
                <a:latin typeface="Cambria" pitchFamily="34" charset="0"/>
                <a:ea typeface="Cambria" pitchFamily="34" charset="-122"/>
                <a:cs typeface="Cambria" pitchFamily="34" charset="-120"/>
              </a:rPr>
              <a:t>CR = S_orig / S_comp        BPP = compressed bits / number of pixels</a:t>
            </a:r>
            <a:endParaRPr lang="en-US" sz="1700" dirty="0"/>
          </a:p>
          <a:p>
            <a:pPr algn="ctr" indent="0" marL="0">
              <a:buNone/>
            </a:pPr>
            <a:r>
              <a:rPr lang="en-US" sz="1700" b="1" dirty="0">
                <a:solidFill>
                  <a:srgbClr val="2E2055"/>
                </a:solidFill>
                <a:latin typeface="Cambria" pitchFamily="34" charset="0"/>
                <a:ea typeface="Cambria" pitchFamily="34" charset="-122"/>
                <a:cs typeface="Cambria" pitchFamily="34" charset="-120"/>
              </a:rPr>
              <a:t>MSE = mean (I − Î)²        PSNR = 10·log₁₀(255² / MSE)  dB        SSIM: 11 × 11 Gaussian window, σ = 1.5</a:t>
            </a:r>
            <a:endParaRPr lang="en-US" sz="17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22960" y="2011680"/>
          <a:ext cx="10515600" cy="914400"/>
        </p:xfrm>
        <a:graphic>
          <a:graphicData uri="http://schemas.openxmlformats.org/drawingml/2006/table">
            <a:tbl>
              <a:tblPr/>
              <a:tblGrid>
                <a:gridCol w="2377440"/>
                <a:gridCol w="1097280"/>
                <a:gridCol w="1371600"/>
                <a:gridCol w="1371600"/>
                <a:gridCol w="1371600"/>
                <a:gridCol w="1554480"/>
                <a:gridCol w="1371600"/>
              </a:tblGrid>
              <a:tr h="374904">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Image</a:t>
                      </a:r>
                      <a:endParaRPr lang="en-US" sz="15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9D8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Type</a:t>
                      </a:r>
                      <a:endParaRPr lang="en-US" sz="15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9D8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CR</a:t>
                      </a:r>
                      <a:endParaRPr lang="en-US" sz="15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9D8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BPP</a:t>
                      </a:r>
                      <a:endParaRPr lang="en-US" sz="15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9D8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MSE</a:t>
                      </a:r>
                      <a:endParaRPr lang="en-US" sz="15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9D8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PSNR (dB)</a:t>
                      </a:r>
                      <a:endParaRPr lang="en-US" sz="15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9D8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SSIM</a:t>
                      </a:r>
                      <a:endParaRPr lang="en-US" sz="15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9D8F"/>
                    </a:solidFill>
                  </a:tcPr>
                </a:tc>
              </a:tr>
              <a:tr h="374904">
                <a:tc>
                  <a:txBody>
                    <a:bodyPr/>
                    <a:lstStyle/>
                    <a:p>
                      <a:pPr algn="l" indent="0" marL="0">
                        <a:buNone/>
                      </a:pPr>
                      <a:r>
                        <a:rPr lang="en-US" sz="1400" b="1" dirty="0">
                          <a:solidFill>
                            <a:srgbClr val="1F1A33"/>
                          </a:solidFill>
                          <a:latin typeface="Calibri" pitchFamily="34" charset="0"/>
                          <a:ea typeface="Calibri" pitchFamily="34" charset="-122"/>
                          <a:cs typeface="Calibri" pitchFamily="34" charset="-120"/>
                        </a:rPr>
                        <a:t>Lena</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Gray</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___</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___</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70.13</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29.67</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0.8190</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r>
              <a:tr h="374904">
                <a:tc>
                  <a:txBody>
                    <a:bodyPr/>
                    <a:lstStyle/>
                    <a:p>
                      <a:pPr algn="l" indent="0" marL="0">
                        <a:buNone/>
                      </a:pPr>
                      <a:r>
                        <a:rPr lang="en-US" sz="1400" b="1" dirty="0">
                          <a:solidFill>
                            <a:srgbClr val="1F1A33"/>
                          </a:solidFill>
                          <a:latin typeface="Calibri" pitchFamily="34" charset="0"/>
                          <a:ea typeface="Calibri" pitchFamily="34" charset="-122"/>
                          <a:cs typeface="Calibri" pitchFamily="34" charset="-120"/>
                        </a:rPr>
                        <a:t>Boat</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Gray</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___</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___</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79.88</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29.11</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0.8394</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r>
              <a:tr h="374904">
                <a:tc>
                  <a:txBody>
                    <a:bodyPr/>
                    <a:lstStyle/>
                    <a:p>
                      <a:pPr algn="l" indent="0" marL="0">
                        <a:buNone/>
                      </a:pPr>
                      <a:r>
                        <a:rPr lang="en-US" sz="1400" b="1" dirty="0">
                          <a:solidFill>
                            <a:srgbClr val="1F1A33"/>
                          </a:solidFill>
                          <a:latin typeface="Calibri" pitchFamily="34" charset="0"/>
                          <a:ea typeface="Calibri" pitchFamily="34" charset="-122"/>
                          <a:cs typeface="Calibri" pitchFamily="34" charset="-120"/>
                        </a:rPr>
                        <a:t>Cameraman</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Gray</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___</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___</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68.84</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29.75</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0.8855</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r>
              <a:tr h="374904">
                <a:tc>
                  <a:txBody>
                    <a:bodyPr/>
                    <a:lstStyle/>
                    <a:p>
                      <a:pPr algn="l" indent="0" marL="0">
                        <a:buNone/>
                      </a:pPr>
                      <a:r>
                        <a:rPr lang="en-US" sz="1400" b="1" dirty="0">
                          <a:solidFill>
                            <a:srgbClr val="1F1A33"/>
                          </a:solidFill>
                          <a:latin typeface="Calibri" pitchFamily="34" charset="0"/>
                          <a:ea typeface="Calibri" pitchFamily="34" charset="-122"/>
                          <a:cs typeface="Calibri" pitchFamily="34" charset="-120"/>
                        </a:rPr>
                        <a:t>Peppers</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Gray</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___</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___</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74.47</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29.41</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0.7624</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r>
              <a:tr h="374904">
                <a:tc>
                  <a:txBody>
                    <a:bodyPr/>
                    <a:lstStyle/>
                    <a:p>
                      <a:pPr algn="l" indent="0" marL="0">
                        <a:buNone/>
                      </a:pPr>
                      <a:r>
                        <a:rPr lang="en-US" sz="1400" b="1" dirty="0">
                          <a:solidFill>
                            <a:srgbClr val="1F1A33"/>
                          </a:solidFill>
                          <a:latin typeface="Calibri" pitchFamily="34" charset="0"/>
                          <a:ea typeface="Calibri" pitchFamily="34" charset="-122"/>
                          <a:cs typeface="Calibri" pitchFamily="34" charset="-120"/>
                        </a:rPr>
                        <a:t>Mean (gray)</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FEAE6"/>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Gray</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FEAE6"/>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___</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FEAE6"/>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___</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FEAE6"/>
                    </a:solidFill>
                  </a:tcPr>
                </a:tc>
                <a:tc>
                  <a:txBody>
                    <a:bodyPr/>
                    <a:lstStyle/>
                    <a:p>
                      <a:pPr algn="ctr" indent="0" marL="0">
                        <a:buNone/>
                      </a:pPr>
                      <a:r>
                        <a:rPr lang="en-US" sz="1400" b="1" dirty="0">
                          <a:solidFill>
                            <a:srgbClr val="1F1A33"/>
                          </a:solidFill>
                          <a:latin typeface="Calibri" pitchFamily="34" charset="0"/>
                          <a:ea typeface="Calibri" pitchFamily="34" charset="-122"/>
                          <a:cs typeface="Calibri" pitchFamily="34" charset="-120"/>
                        </a:rPr>
                        <a:t>73.33</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FEAE6"/>
                    </a:solidFill>
                  </a:tcPr>
                </a:tc>
                <a:tc>
                  <a:txBody>
                    <a:bodyPr/>
                    <a:lstStyle/>
                    <a:p>
                      <a:pPr algn="ctr" indent="0" marL="0">
                        <a:buNone/>
                      </a:pPr>
                      <a:r>
                        <a:rPr lang="en-US" sz="1400" b="1" dirty="0">
                          <a:solidFill>
                            <a:srgbClr val="1F1A33"/>
                          </a:solidFill>
                          <a:latin typeface="Calibri" pitchFamily="34" charset="0"/>
                          <a:ea typeface="Calibri" pitchFamily="34" charset="-122"/>
                          <a:cs typeface="Calibri" pitchFamily="34" charset="-120"/>
                        </a:rPr>
                        <a:t>29.49</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FEAE6"/>
                    </a:solidFill>
                  </a:tcPr>
                </a:tc>
                <a:tc>
                  <a:txBody>
                    <a:bodyPr/>
                    <a:lstStyle/>
                    <a:p>
                      <a:pPr algn="ctr" indent="0" marL="0">
                        <a:buNone/>
                      </a:pPr>
                      <a:r>
                        <a:rPr lang="en-US" sz="1400" b="1" dirty="0">
                          <a:solidFill>
                            <a:srgbClr val="1F1A33"/>
                          </a:solidFill>
                          <a:latin typeface="Calibri" pitchFamily="34" charset="0"/>
                          <a:ea typeface="Calibri" pitchFamily="34" charset="-122"/>
                          <a:cs typeface="Calibri" pitchFamily="34" charset="-120"/>
                        </a:rPr>
                        <a:t>0.8266</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FEAE6"/>
                    </a:solidFill>
                  </a:tcPr>
                </a:tc>
              </a:tr>
              <a:tr h="374904">
                <a:tc>
                  <a:txBody>
                    <a:bodyPr/>
                    <a:lstStyle/>
                    <a:p>
                      <a:pPr algn="l" indent="0" marL="0">
                        <a:buNone/>
                      </a:pPr>
                      <a:r>
                        <a:rPr lang="en-US" sz="1400" b="1" dirty="0">
                          <a:solidFill>
                            <a:srgbClr val="1F1A33"/>
                          </a:solidFill>
                          <a:latin typeface="Calibri" pitchFamily="34" charset="0"/>
                          <a:ea typeface="Calibri" pitchFamily="34" charset="-122"/>
                          <a:cs typeface="Calibri" pitchFamily="34" charset="-120"/>
                        </a:rPr>
                        <a:t>Lena</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Color</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___</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___</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83.60</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28.91</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0.7594</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r>
              <a:tr h="374904">
                <a:tc>
                  <a:txBody>
                    <a:bodyPr/>
                    <a:lstStyle/>
                    <a:p>
                      <a:pPr algn="l" indent="0" marL="0">
                        <a:buNone/>
                      </a:pPr>
                      <a:r>
                        <a:rPr lang="en-US" sz="1400" b="1" dirty="0">
                          <a:solidFill>
                            <a:srgbClr val="1F1A33"/>
                          </a:solidFill>
                          <a:latin typeface="Calibri" pitchFamily="34" charset="0"/>
                          <a:ea typeface="Calibri" pitchFamily="34" charset="-122"/>
                          <a:cs typeface="Calibri" pitchFamily="34" charset="-120"/>
                        </a:rPr>
                        <a:t>Peppers</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Color</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___</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___</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95.00</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28.35</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0.6964</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r>
              <a:tr h="374904">
                <a:tc>
                  <a:txBody>
                    <a:bodyPr/>
                    <a:lstStyle/>
                    <a:p>
                      <a:pPr algn="l" indent="0" marL="0">
                        <a:buNone/>
                      </a:pPr>
                      <a:r>
                        <a:rPr lang="en-US" sz="1400" b="1" dirty="0">
                          <a:solidFill>
                            <a:srgbClr val="1F1A33"/>
                          </a:solidFill>
                          <a:latin typeface="Calibri" pitchFamily="34" charset="0"/>
                          <a:ea typeface="Calibri" pitchFamily="34" charset="-122"/>
                          <a:cs typeface="Calibri" pitchFamily="34" charset="-120"/>
                        </a:rPr>
                        <a:t>F16</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Color</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___</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___</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73.41</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29.47</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0.8539</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r>
              <a:tr h="374904">
                <a:tc>
                  <a:txBody>
                    <a:bodyPr/>
                    <a:lstStyle/>
                    <a:p>
                      <a:pPr algn="l" indent="0" marL="0">
                        <a:buNone/>
                      </a:pPr>
                      <a:r>
                        <a:rPr lang="en-US" sz="1400" b="1" dirty="0">
                          <a:solidFill>
                            <a:srgbClr val="1F1A33"/>
                          </a:solidFill>
                          <a:latin typeface="Calibri" pitchFamily="34" charset="0"/>
                          <a:ea typeface="Calibri" pitchFamily="34" charset="-122"/>
                          <a:cs typeface="Calibri" pitchFamily="34" charset="-120"/>
                        </a:rPr>
                        <a:t>Gold Hill</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Color</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___</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___</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92.97</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28.45</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0.7520</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ECF9"/>
                    </a:solidFill>
                  </a:tcPr>
                </a:tc>
              </a:tr>
              <a:tr h="374904">
                <a:tc>
                  <a:txBody>
                    <a:bodyPr/>
                    <a:lstStyle/>
                    <a:p>
                      <a:pPr algn="l" indent="0" marL="0">
                        <a:buNone/>
                      </a:pPr>
                      <a:r>
                        <a:rPr lang="en-US" sz="1400" b="1" dirty="0">
                          <a:solidFill>
                            <a:srgbClr val="1F1A33"/>
                          </a:solidFill>
                          <a:latin typeface="Calibri" pitchFamily="34" charset="0"/>
                          <a:ea typeface="Calibri" pitchFamily="34" charset="-122"/>
                          <a:cs typeface="Calibri" pitchFamily="34" charset="-120"/>
                        </a:rPr>
                        <a:t>Mean (color)</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D2F0"/>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Color</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D2F0"/>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___</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D2F0"/>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___</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D2F0"/>
                    </a:solidFill>
                  </a:tcPr>
                </a:tc>
                <a:tc>
                  <a:txBody>
                    <a:bodyPr/>
                    <a:lstStyle/>
                    <a:p>
                      <a:pPr algn="ctr" indent="0" marL="0">
                        <a:buNone/>
                      </a:pPr>
                      <a:r>
                        <a:rPr lang="en-US" sz="1400" b="1" dirty="0">
                          <a:solidFill>
                            <a:srgbClr val="1F1A33"/>
                          </a:solidFill>
                          <a:latin typeface="Calibri" pitchFamily="34" charset="0"/>
                          <a:ea typeface="Calibri" pitchFamily="34" charset="-122"/>
                          <a:cs typeface="Calibri" pitchFamily="34" charset="-120"/>
                        </a:rPr>
                        <a:t>86.25</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D2F0"/>
                    </a:solidFill>
                  </a:tcPr>
                </a:tc>
                <a:tc>
                  <a:txBody>
                    <a:bodyPr/>
                    <a:lstStyle/>
                    <a:p>
                      <a:pPr algn="ctr" indent="0" marL="0">
                        <a:buNone/>
                      </a:pPr>
                      <a:r>
                        <a:rPr lang="en-US" sz="1400" b="1" dirty="0">
                          <a:solidFill>
                            <a:srgbClr val="1F1A33"/>
                          </a:solidFill>
                          <a:latin typeface="Calibri" pitchFamily="34" charset="0"/>
                          <a:ea typeface="Calibri" pitchFamily="34" charset="-122"/>
                          <a:cs typeface="Calibri" pitchFamily="34" charset="-120"/>
                        </a:rPr>
                        <a:t>28.80</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D2F0"/>
                    </a:solidFill>
                  </a:tcPr>
                </a:tc>
                <a:tc>
                  <a:txBody>
                    <a:bodyPr/>
                    <a:lstStyle/>
                    <a:p>
                      <a:pPr algn="ctr" indent="0" marL="0">
                        <a:buNone/>
                      </a:pPr>
                      <a:r>
                        <a:rPr lang="en-US" sz="1400" b="1" dirty="0">
                          <a:solidFill>
                            <a:srgbClr val="1F1A33"/>
                          </a:solidFill>
                          <a:latin typeface="Calibri" pitchFamily="34" charset="0"/>
                          <a:ea typeface="Calibri" pitchFamily="34" charset="-122"/>
                          <a:cs typeface="Calibri" pitchFamily="34" charset="-120"/>
                        </a:rPr>
                        <a:t>0.7654</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D2F0"/>
                    </a:solidFill>
                  </a:tcPr>
                </a:tc>
              </a:tr>
            </a:tbl>
          </a:graphicData>
        </a:graphic>
      </p:graphicFrame>
      <p:sp>
        <p:nvSpPr>
          <p:cNvPr id="9" name="Text 6"/>
          <p:cNvSpPr/>
          <p:nvPr/>
        </p:nvSpPr>
        <p:spPr>
          <a:xfrm>
            <a:off x="822960" y="6217920"/>
            <a:ext cx="10515600" cy="502920"/>
          </a:xfrm>
          <a:prstGeom prst="rect">
            <a:avLst/>
          </a:prstGeom>
          <a:noFill/>
          <a:ln/>
        </p:spPr>
        <p:txBody>
          <a:bodyPr wrap="square" lIns="0" tIns="0" rIns="0" bIns="0" rtlCol="0" anchor="ctr"/>
          <a:lstStyle/>
          <a:p>
            <a:pPr indent="0" marL="0">
              <a:buNone/>
            </a:pPr>
            <a:r>
              <a:rPr lang="en-US" sz="1200" i="1" dirty="0">
                <a:solidFill>
                  <a:srgbClr val="6B4FA3"/>
                </a:solidFill>
                <a:latin typeface="Calibri" pitchFamily="34" charset="0"/>
                <a:ea typeface="Calibri" pitchFamily="34" charset="-122"/>
                <a:cs typeface="Calibri" pitchFamily="34" charset="-120"/>
              </a:rPr>
              <a:t>Color images: MSE and PSNR are computed over the RGB channels; SSIM is the mean of the channel-wise values. CR = original size / (codebook + Huffman table + Huffman-coded data).</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502920"/>
          </a:xfrm>
          <a:prstGeom prst="roundRect">
            <a:avLst>
              <a:gd name="adj" fmla="val 18182"/>
            </a:avLst>
          </a:prstGeom>
          <a:solidFill>
            <a:srgbClr val="2A9D8F"/>
          </a:solidFill>
          <a:ln w="12700">
            <a:solidFill>
              <a:srgbClr val="2A9D8F"/>
            </a:solidFill>
            <a:prstDash val="solid"/>
          </a:ln>
        </p:spPr>
      </p:sp>
      <p:sp>
        <p:nvSpPr>
          <p:cNvPr id="3" name="Text 1"/>
          <p:cNvSpPr/>
          <p:nvPr/>
        </p:nvSpPr>
        <p:spPr>
          <a:xfrm>
            <a:off x="457200" y="320040"/>
            <a:ext cx="173736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Results</a:t>
            </a:r>
            <a:endParaRPr lang="en-US" sz="1800" dirty="0"/>
          </a:p>
        </p:txBody>
      </p:sp>
      <p:sp>
        <p:nvSpPr>
          <p:cNvPr id="4" name="Text 2"/>
          <p:cNvSpPr/>
          <p:nvPr/>
        </p:nvSpPr>
        <p:spPr>
          <a:xfrm>
            <a:off x="2377440" y="274320"/>
            <a:ext cx="932688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Entropy and Delta–Huffman Coding Efficiency</a:t>
            </a:r>
            <a:endParaRPr lang="en-US" sz="2800" dirty="0"/>
          </a:p>
        </p:txBody>
      </p:sp>
      <p:sp>
        <p:nvSpPr>
          <p:cNvPr id="5" name="Shape 3"/>
          <p:cNvSpPr/>
          <p:nvPr/>
        </p:nvSpPr>
        <p:spPr>
          <a:xfrm>
            <a:off x="457200" y="960120"/>
            <a:ext cx="11274552" cy="36576"/>
          </a:xfrm>
          <a:prstGeom prst="rect">
            <a:avLst/>
          </a:prstGeom>
          <a:solidFill>
            <a:srgbClr val="2A9D8F"/>
          </a:solidFill>
          <a:ln w="12700">
            <a:solidFill>
              <a:srgbClr val="2A9D8F"/>
            </a:solidFill>
            <a:prstDash val="solid"/>
          </a:ln>
        </p:spPr>
      </p:sp>
      <p:sp>
        <p:nvSpPr>
          <p:cNvPr id="6" name="Shape 4"/>
          <p:cNvSpPr/>
          <p:nvPr/>
        </p:nvSpPr>
        <p:spPr>
          <a:xfrm>
            <a:off x="457200" y="1097280"/>
            <a:ext cx="7498080" cy="457200"/>
          </a:xfrm>
          <a:prstGeom prst="roundRect">
            <a:avLst>
              <a:gd name="adj" fmla="val 16000"/>
            </a:avLst>
          </a:prstGeom>
          <a:solidFill>
            <a:srgbClr val="FDF1E6"/>
          </a:solidFill>
          <a:ln w="15875">
            <a:solidFill>
              <a:srgbClr val="E07B22"/>
            </a:solidFill>
            <a:prstDash val="solid"/>
          </a:ln>
        </p:spPr>
      </p:sp>
      <p:sp>
        <p:nvSpPr>
          <p:cNvPr id="7" name="Text 5"/>
          <p:cNvSpPr/>
          <p:nvPr/>
        </p:nvSpPr>
        <p:spPr>
          <a:xfrm>
            <a:off x="457200" y="1097280"/>
            <a:ext cx="7498080" cy="457200"/>
          </a:xfrm>
          <a:prstGeom prst="rect">
            <a:avLst/>
          </a:prstGeom>
          <a:noFill/>
          <a:ln/>
        </p:spPr>
        <p:txBody>
          <a:bodyPr wrap="square" lIns="508" tIns="508" rIns="508" bIns="508" rtlCol="0" anchor="ctr"/>
          <a:lstStyle/>
          <a:p>
            <a:pPr algn="ctr" indent="0" marL="0">
              <a:buNone/>
            </a:pPr>
            <a:r>
              <a:rPr lang="en-US" sz="1900" b="1" dirty="0">
                <a:solidFill>
                  <a:srgbClr val="2E2055"/>
                </a:solidFill>
                <a:latin typeface="Cambria" pitchFamily="34" charset="0"/>
                <a:ea typeface="Cambria" pitchFamily="34" charset="-122"/>
                <a:cs typeface="Cambria" pitchFamily="34" charset="-120"/>
              </a:rPr>
              <a:t>H = −Σ p(s) · log₂ p(s)   (bits / symbol)</a:t>
            </a:r>
            <a:endParaRPr lang="en-US" sz="1900" dirty="0"/>
          </a:p>
        </p:txBody>
      </p:sp>
      <p:sp>
        <p:nvSpPr>
          <p:cNvPr id="8" name="Shape 6"/>
          <p:cNvSpPr/>
          <p:nvPr/>
        </p:nvSpPr>
        <p:spPr>
          <a:xfrm>
            <a:off x="457200" y="1645920"/>
            <a:ext cx="7498080" cy="4617720"/>
          </a:xfrm>
          <a:prstGeom prst="roundRect">
            <a:avLst>
              <a:gd name="adj" fmla="val 1584"/>
            </a:avLst>
          </a:prstGeom>
          <a:solidFill>
            <a:srgbClr val="FFFFFF"/>
          </a:solidFill>
          <a:ln w="15875">
            <a:solidFill>
              <a:srgbClr val="2A9D8F"/>
            </a:solidFill>
            <a:prstDash val="solid"/>
          </a:ln>
        </p:spPr>
      </p:sp>
      <p:pic>
        <p:nvPicPr>
          <p:cNvPr id="9" name="Image 0" descr="assets/entropy_chart.png">    </p:cNvPr>
          <p:cNvPicPr>
            <a:picLocks noChangeAspect="1"/>
          </p:cNvPicPr>
          <p:nvPr/>
        </p:nvPicPr>
        <p:blipFill>
          <a:blip r:embed="rId1"/>
          <a:stretch>
            <a:fillRect/>
          </a:stretch>
        </p:blipFill>
        <p:spPr>
          <a:xfrm>
            <a:off x="457200" y="1672756"/>
            <a:ext cx="7498080" cy="4564049"/>
          </a:xfrm>
          <a:prstGeom prst="rect">
            <a:avLst/>
          </a:prstGeom>
        </p:spPr>
      </p:pic>
      <p:sp>
        <p:nvSpPr>
          <p:cNvPr id="10" name="Shape 7"/>
          <p:cNvSpPr/>
          <p:nvPr/>
        </p:nvSpPr>
        <p:spPr>
          <a:xfrm>
            <a:off x="8183880" y="1234440"/>
            <a:ext cx="3566160" cy="5029200"/>
          </a:xfrm>
          <a:prstGeom prst="roundRect">
            <a:avLst>
              <a:gd name="adj" fmla="val 2051"/>
            </a:avLst>
          </a:prstGeom>
          <a:solidFill>
            <a:srgbClr val="F5F1FB"/>
          </a:solidFill>
          <a:ln w="12700">
            <a:solidFill>
              <a:srgbClr val="F5F1FB"/>
            </a:solidFill>
            <a:prstDash val="solid"/>
          </a:ln>
        </p:spPr>
      </p:sp>
      <p:sp>
        <p:nvSpPr>
          <p:cNvPr id="11" name="Text 8"/>
          <p:cNvSpPr/>
          <p:nvPr/>
        </p:nvSpPr>
        <p:spPr>
          <a:xfrm>
            <a:off x="8275320" y="1325880"/>
            <a:ext cx="3383280" cy="4846320"/>
          </a:xfrm>
          <a:prstGeom prst="rect">
            <a:avLst/>
          </a:prstGeom>
          <a:noFill/>
          <a:ln/>
        </p:spPr>
        <p:txBody>
          <a:bodyPr wrap="square" lIns="1016" tIns="1016" rIns="1016" bIns="1016" rtlCol="0" anchor="t"/>
          <a:lstStyle/>
          <a:p>
            <a:pPr marL="342900" indent="-342900">
              <a:spcAft>
                <a:spcPts val="900"/>
              </a:spcAft>
              <a:buSzPct val="100000"/>
              <a:buChar char="■"/>
            </a:pPr>
            <a:r>
              <a:rPr lang="en-US" sz="1500" dirty="0">
                <a:solidFill>
                  <a:srgbClr val="1F1A33"/>
                </a:solidFill>
                <a:latin typeface="Calibri" pitchFamily="34" charset="0"/>
                <a:ea typeface="Calibri" pitchFamily="34" charset="-122"/>
                <a:cs typeface="Calibri" pitchFamily="34" charset="-120"/>
              </a:rPr>
              <a:t>Delta coding lowers the entropy of the index sequence from 5.30 to 4.19 bits on average (−1.10 bits).</a:t>
            </a:r>
            <a:endParaRPr lang="en-US" sz="1500" dirty="0"/>
          </a:p>
          <a:p>
            <a:pPr marL="342900" indent="-342900">
              <a:spcAft>
                <a:spcPts val="900"/>
              </a:spcAft>
              <a:buSzPct val="100000"/>
              <a:buChar char="■"/>
            </a:pPr>
            <a:r>
              <a:rPr lang="en-US" sz="1500" dirty="0">
                <a:solidFill>
                  <a:srgbClr val="1F1A33"/>
                </a:solidFill>
                <a:latin typeface="Calibri" pitchFamily="34" charset="0"/>
                <a:ea typeface="Calibri" pitchFamily="34" charset="-122"/>
                <a:cs typeface="Calibri" pitchFamily="34" charset="-120"/>
              </a:rPr>
              <a:t>The reduction depends on the spatial correlation of the image: 0.73 bits (Lena) to 1.48 bits (Cameraman).</a:t>
            </a:r>
            <a:endParaRPr lang="en-US" sz="1500" dirty="0"/>
          </a:p>
          <a:p>
            <a:pPr marL="342900" indent="-342900">
              <a:spcAft>
                <a:spcPts val="900"/>
              </a:spcAft>
              <a:buSzPct val="100000"/>
              <a:buChar char="■"/>
            </a:pPr>
            <a:r>
              <a:rPr lang="en-US" sz="1500" dirty="0">
                <a:solidFill>
                  <a:srgbClr val="1F1A33"/>
                </a:solidFill>
                <a:latin typeface="Calibri" pitchFamily="34" charset="0"/>
                <a:ea typeface="Calibri" pitchFamily="34" charset="-122"/>
                <a:cs typeface="Calibri" pitchFamily="34" charset="-120"/>
              </a:rPr>
              <a:t>The Huffman average code length (4.23 bits) is within 0.04 bits of the entropy after delta coding.</a:t>
            </a:r>
            <a:endParaRPr lang="en-US" sz="1500" dirty="0"/>
          </a:p>
          <a:p>
            <a:pPr marL="342900" indent="-342900">
              <a:spcAft>
                <a:spcPts val="900"/>
              </a:spcAft>
              <a:buSzPct val="100000"/>
              <a:buChar char="■"/>
            </a:pPr>
            <a:r>
              <a:rPr lang="en-US" sz="1500" dirty="0">
                <a:solidFill>
                  <a:srgbClr val="1F1A33"/>
                </a:solidFill>
                <a:latin typeface="Calibri" pitchFamily="34" charset="0"/>
                <a:ea typeface="Calibri" pitchFamily="34" charset="-122"/>
                <a:cs typeface="Calibri" pitchFamily="34" charset="-120"/>
              </a:rPr>
              <a:t>Compared with 6-bit fixed-length indices, the index data is 21.5% to 38.3% smaller (mean 29.5%).</a:t>
            </a:r>
            <a:endParaRPr lang="en-US" sz="1500" dirty="0"/>
          </a:p>
          <a:p>
            <a:pPr marL="342900" indent="-342900">
              <a:spcAft>
                <a:spcPts val="900"/>
              </a:spcAft>
              <a:buSzPct val="100000"/>
              <a:buChar char="■"/>
            </a:pPr>
            <a:r>
              <a:rPr lang="en-US" sz="1500" dirty="0">
                <a:solidFill>
                  <a:srgbClr val="1F1A33"/>
                </a:solidFill>
                <a:latin typeface="Calibri" pitchFamily="34" charset="0"/>
                <a:ea typeface="Calibri" pitchFamily="34" charset="-122"/>
                <a:cs typeface="Calibri" pitchFamily="34" charset="-120"/>
              </a:rPr>
              <a:t>Grayscale images, K = 64.</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502920"/>
          </a:xfrm>
          <a:prstGeom prst="roundRect">
            <a:avLst>
              <a:gd name="adj" fmla="val 18182"/>
            </a:avLst>
          </a:prstGeom>
          <a:solidFill>
            <a:srgbClr val="2A9D8F"/>
          </a:solidFill>
          <a:ln w="12700">
            <a:solidFill>
              <a:srgbClr val="2A9D8F"/>
            </a:solidFill>
            <a:prstDash val="solid"/>
          </a:ln>
        </p:spPr>
      </p:sp>
      <p:sp>
        <p:nvSpPr>
          <p:cNvPr id="3" name="Text 1"/>
          <p:cNvSpPr/>
          <p:nvPr/>
        </p:nvSpPr>
        <p:spPr>
          <a:xfrm>
            <a:off x="457200" y="320040"/>
            <a:ext cx="173736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Results</a:t>
            </a:r>
            <a:endParaRPr lang="en-US" sz="1800" dirty="0"/>
          </a:p>
        </p:txBody>
      </p:sp>
      <p:sp>
        <p:nvSpPr>
          <p:cNvPr id="4" name="Text 2"/>
          <p:cNvSpPr/>
          <p:nvPr/>
        </p:nvSpPr>
        <p:spPr>
          <a:xfrm>
            <a:off x="2377440" y="274320"/>
            <a:ext cx="932688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Speedup and Efficiency of LBG Training</a:t>
            </a:r>
            <a:endParaRPr lang="en-US" sz="2800" dirty="0"/>
          </a:p>
        </p:txBody>
      </p:sp>
      <p:sp>
        <p:nvSpPr>
          <p:cNvPr id="5" name="Shape 3"/>
          <p:cNvSpPr/>
          <p:nvPr/>
        </p:nvSpPr>
        <p:spPr>
          <a:xfrm>
            <a:off x="457200" y="960120"/>
            <a:ext cx="11274552" cy="36576"/>
          </a:xfrm>
          <a:prstGeom prst="rect">
            <a:avLst/>
          </a:prstGeom>
          <a:solidFill>
            <a:srgbClr val="2A9D8F"/>
          </a:solidFill>
          <a:ln w="12700">
            <a:solidFill>
              <a:srgbClr val="2A9D8F"/>
            </a:solidFill>
            <a:prstDash val="solid"/>
          </a:ln>
        </p:spPr>
      </p:sp>
      <p:sp>
        <p:nvSpPr>
          <p:cNvPr id="6" name="Shape 4"/>
          <p:cNvSpPr/>
          <p:nvPr/>
        </p:nvSpPr>
        <p:spPr>
          <a:xfrm>
            <a:off x="457200" y="1097280"/>
            <a:ext cx="7498080" cy="457200"/>
          </a:xfrm>
          <a:prstGeom prst="roundRect">
            <a:avLst>
              <a:gd name="adj" fmla="val 16000"/>
            </a:avLst>
          </a:prstGeom>
          <a:solidFill>
            <a:srgbClr val="FDF1E6"/>
          </a:solidFill>
          <a:ln w="15875">
            <a:solidFill>
              <a:srgbClr val="E07B22"/>
            </a:solidFill>
            <a:prstDash val="solid"/>
          </a:ln>
        </p:spPr>
      </p:sp>
      <p:sp>
        <p:nvSpPr>
          <p:cNvPr id="7" name="Text 5"/>
          <p:cNvSpPr/>
          <p:nvPr/>
        </p:nvSpPr>
        <p:spPr>
          <a:xfrm>
            <a:off x="457200" y="1097280"/>
            <a:ext cx="7498080" cy="457200"/>
          </a:xfrm>
          <a:prstGeom prst="rect">
            <a:avLst/>
          </a:prstGeom>
          <a:noFill/>
          <a:ln/>
        </p:spPr>
        <p:txBody>
          <a:bodyPr wrap="square" lIns="508" tIns="508" rIns="508" bIns="508" rtlCol="0" anchor="ctr"/>
          <a:lstStyle/>
          <a:p>
            <a:pPr algn="ctr" indent="0" marL="0">
              <a:buNone/>
            </a:pPr>
            <a:r>
              <a:rPr lang="en-US" sz="2000" b="1" dirty="0">
                <a:solidFill>
                  <a:srgbClr val="2E2055"/>
                </a:solidFill>
                <a:latin typeface="Cambria" pitchFamily="34" charset="0"/>
                <a:ea typeface="Cambria" pitchFamily="34" charset="-122"/>
                <a:cs typeface="Cambria" pitchFamily="34" charset="-120"/>
              </a:rPr>
              <a:t>S = T_seq / T_P          E = S / P</a:t>
            </a:r>
            <a:endParaRPr lang="en-US" sz="2000" dirty="0"/>
          </a:p>
        </p:txBody>
      </p:sp>
      <p:sp>
        <p:nvSpPr>
          <p:cNvPr id="8" name="Shape 6"/>
          <p:cNvSpPr/>
          <p:nvPr/>
        </p:nvSpPr>
        <p:spPr>
          <a:xfrm>
            <a:off x="457200" y="1645920"/>
            <a:ext cx="7498080" cy="4617720"/>
          </a:xfrm>
          <a:prstGeom prst="roundRect">
            <a:avLst>
              <a:gd name="adj" fmla="val 1584"/>
            </a:avLst>
          </a:prstGeom>
          <a:solidFill>
            <a:srgbClr val="FFFFFF"/>
          </a:solidFill>
          <a:ln w="15875">
            <a:solidFill>
              <a:srgbClr val="2A9D8F"/>
            </a:solidFill>
            <a:prstDash val="solid"/>
          </a:ln>
        </p:spPr>
      </p:sp>
      <p:pic>
        <p:nvPicPr>
          <p:cNvPr id="9" name="Image 0" descr="assets/speedup_chart.png">    </p:cNvPr>
          <p:cNvPicPr>
            <a:picLocks noChangeAspect="1"/>
          </p:cNvPicPr>
          <p:nvPr/>
        </p:nvPicPr>
        <p:blipFill>
          <a:blip r:embed="rId1"/>
          <a:stretch>
            <a:fillRect/>
          </a:stretch>
        </p:blipFill>
        <p:spPr>
          <a:xfrm>
            <a:off x="457200" y="1672756"/>
            <a:ext cx="7498080" cy="4564049"/>
          </a:xfrm>
          <a:prstGeom prst="rect">
            <a:avLst/>
          </a:prstGeom>
        </p:spPr>
      </p:pic>
      <p:sp>
        <p:nvSpPr>
          <p:cNvPr id="10" name="Shape 7"/>
          <p:cNvSpPr/>
          <p:nvPr/>
        </p:nvSpPr>
        <p:spPr>
          <a:xfrm>
            <a:off x="8183880" y="1234440"/>
            <a:ext cx="3566160" cy="5029200"/>
          </a:xfrm>
          <a:prstGeom prst="roundRect">
            <a:avLst>
              <a:gd name="adj" fmla="val 2051"/>
            </a:avLst>
          </a:prstGeom>
          <a:solidFill>
            <a:srgbClr val="F5F1FB"/>
          </a:solidFill>
          <a:ln w="12700">
            <a:solidFill>
              <a:srgbClr val="F5F1FB"/>
            </a:solidFill>
            <a:prstDash val="solid"/>
          </a:ln>
        </p:spPr>
      </p:sp>
      <p:sp>
        <p:nvSpPr>
          <p:cNvPr id="11" name="Text 8"/>
          <p:cNvSpPr/>
          <p:nvPr/>
        </p:nvSpPr>
        <p:spPr>
          <a:xfrm>
            <a:off x="8275320" y="1325880"/>
            <a:ext cx="3383280" cy="4846320"/>
          </a:xfrm>
          <a:prstGeom prst="rect">
            <a:avLst/>
          </a:prstGeom>
          <a:noFill/>
          <a:ln/>
        </p:spPr>
        <p:txBody>
          <a:bodyPr wrap="square" lIns="1016" tIns="1016" rIns="1016" bIns="1016" rtlCol="0" anchor="t"/>
          <a:lstStyle/>
          <a:p>
            <a:pPr marL="342900" indent="-342900">
              <a:spcAft>
                <a:spcPts val="900"/>
              </a:spcAft>
              <a:buSzPct val="100000"/>
              <a:buChar char="■"/>
            </a:pPr>
            <a:r>
              <a:rPr lang="en-US" sz="1600" dirty="0">
                <a:solidFill>
                  <a:srgbClr val="1F1A33"/>
                </a:solidFill>
                <a:latin typeface="Calibri" pitchFamily="34" charset="0"/>
                <a:ea typeface="Calibri" pitchFamily="34" charset="-122"/>
                <a:cs typeface="Calibri" pitchFamily="34" charset="-120"/>
              </a:rPr>
              <a:t>LBG speedup reaches 9.19× on 14 processes (efficiency ≈ 66%).</a:t>
            </a:r>
            <a:endParaRPr lang="en-US" sz="1600" dirty="0"/>
          </a:p>
          <a:p>
            <a:pPr marL="342900" indent="-342900">
              <a:spcAft>
                <a:spcPts val="900"/>
              </a:spcAft>
              <a:buSzPct val="100000"/>
              <a:buChar char="■"/>
            </a:pPr>
            <a:r>
              <a:rPr lang="en-US" sz="1600" dirty="0">
                <a:solidFill>
                  <a:srgbClr val="1F1A33"/>
                </a:solidFill>
                <a:latin typeface="Calibri" pitchFamily="34" charset="0"/>
                <a:ea typeface="Calibri" pitchFamily="34" charset="-122"/>
                <a:cs typeface="Calibri" pitchFamily="34" charset="-120"/>
              </a:rPr>
              <a:t>Near-linear for P ≤ 6, where only P-cores are used.</a:t>
            </a:r>
            <a:endParaRPr lang="en-US" sz="1600" dirty="0"/>
          </a:p>
          <a:p>
            <a:pPr marL="342900" indent="-342900">
              <a:spcAft>
                <a:spcPts val="900"/>
              </a:spcAft>
              <a:buSzPct val="100000"/>
              <a:buChar char="■"/>
            </a:pPr>
            <a:r>
              <a:rPr lang="en-US" sz="1600" dirty="0">
                <a:solidFill>
                  <a:srgbClr val="1F1A33"/>
                </a:solidFill>
                <a:latin typeface="Calibri" pitchFamily="34" charset="0"/>
                <a:ea typeface="Calibri" pitchFamily="34" charset="-122"/>
                <a:cs typeface="Calibri" pitchFamily="34" charset="-120"/>
              </a:rPr>
              <a:t>The slope drops once the slower E-cores join.</a:t>
            </a:r>
            <a:endParaRPr lang="en-US" sz="1600" dirty="0"/>
          </a:p>
          <a:p>
            <a:pPr marL="342900" indent="-342900">
              <a:spcAft>
                <a:spcPts val="900"/>
              </a:spcAft>
              <a:buSzPct val="100000"/>
              <a:buChar char="■"/>
            </a:pPr>
            <a:r>
              <a:rPr lang="en-US" sz="1600" dirty="0">
                <a:solidFill>
                  <a:srgbClr val="1F1A33"/>
                </a:solidFill>
                <a:latin typeface="Calibri" pitchFamily="34" charset="0"/>
                <a:ea typeface="Calibri" pitchFamily="34" charset="-122"/>
                <a:cs typeface="Calibri" pitchFamily="34" charset="-120"/>
              </a:rPr>
              <a:t>Karp–Flatt ≈ 0.04 for P ≥ 8: the serial fraction of LBG stays small.</a:t>
            </a:r>
            <a:endParaRPr lang="en-US" sz="1600" dirty="0"/>
          </a:p>
          <a:p>
            <a:pPr marL="342900" indent="-342900">
              <a:spcAft>
                <a:spcPts val="900"/>
              </a:spcAft>
              <a:buSzPct val="100000"/>
              <a:buChar char="■"/>
            </a:pPr>
            <a:r>
              <a:rPr lang="en-US" sz="1600" dirty="0">
                <a:solidFill>
                  <a:srgbClr val="1F1A33"/>
                </a:solidFill>
                <a:latin typeface="Calibri" pitchFamily="34" charset="0"/>
                <a:ea typeface="Calibri" pitchFamily="34" charset="-122"/>
                <a:cs typeface="Calibri" pitchFamily="34" charset="-120"/>
              </a:rPr>
              <a:t>This is the LBG stage (mean of the 8 images). The total speedup is shown separately for gray and color on the next slide.</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502920"/>
          </a:xfrm>
          <a:prstGeom prst="roundRect">
            <a:avLst>
              <a:gd name="adj" fmla="val 18182"/>
            </a:avLst>
          </a:prstGeom>
          <a:solidFill>
            <a:srgbClr val="2A9D8F"/>
          </a:solidFill>
          <a:ln w="12700">
            <a:solidFill>
              <a:srgbClr val="2A9D8F"/>
            </a:solidFill>
            <a:prstDash val="solid"/>
          </a:ln>
        </p:spPr>
      </p:sp>
      <p:sp>
        <p:nvSpPr>
          <p:cNvPr id="3" name="Text 1"/>
          <p:cNvSpPr/>
          <p:nvPr/>
        </p:nvSpPr>
        <p:spPr>
          <a:xfrm>
            <a:off x="457200" y="320040"/>
            <a:ext cx="173736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Results</a:t>
            </a:r>
            <a:endParaRPr lang="en-US" sz="1800" dirty="0"/>
          </a:p>
        </p:txBody>
      </p:sp>
      <p:sp>
        <p:nvSpPr>
          <p:cNvPr id="4" name="Text 2"/>
          <p:cNvSpPr/>
          <p:nvPr/>
        </p:nvSpPr>
        <p:spPr>
          <a:xfrm>
            <a:off x="2377440" y="274320"/>
            <a:ext cx="932688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Total Speedup: Grayscale and Color</a:t>
            </a:r>
            <a:endParaRPr lang="en-US" sz="2800" dirty="0"/>
          </a:p>
        </p:txBody>
      </p:sp>
      <p:sp>
        <p:nvSpPr>
          <p:cNvPr id="5" name="Shape 3"/>
          <p:cNvSpPr/>
          <p:nvPr/>
        </p:nvSpPr>
        <p:spPr>
          <a:xfrm>
            <a:off x="457200" y="960120"/>
            <a:ext cx="11274552" cy="36576"/>
          </a:xfrm>
          <a:prstGeom prst="rect">
            <a:avLst/>
          </a:prstGeom>
          <a:solidFill>
            <a:srgbClr val="2A9D8F"/>
          </a:solidFill>
          <a:ln w="12700">
            <a:solidFill>
              <a:srgbClr val="2A9D8F"/>
            </a:solidFill>
            <a:prstDash val="solid"/>
          </a:ln>
        </p:spPr>
      </p:sp>
      <p:sp>
        <p:nvSpPr>
          <p:cNvPr id="6" name="Shape 4"/>
          <p:cNvSpPr/>
          <p:nvPr/>
        </p:nvSpPr>
        <p:spPr>
          <a:xfrm>
            <a:off x="457200" y="1097280"/>
            <a:ext cx="7498080" cy="457200"/>
          </a:xfrm>
          <a:prstGeom prst="roundRect">
            <a:avLst>
              <a:gd name="adj" fmla="val 16000"/>
            </a:avLst>
          </a:prstGeom>
          <a:solidFill>
            <a:srgbClr val="FDF1E6"/>
          </a:solidFill>
          <a:ln w="15875">
            <a:solidFill>
              <a:srgbClr val="E07B22"/>
            </a:solidFill>
            <a:prstDash val="solid"/>
          </a:ln>
        </p:spPr>
      </p:sp>
      <p:sp>
        <p:nvSpPr>
          <p:cNvPr id="7" name="Text 5"/>
          <p:cNvSpPr/>
          <p:nvPr/>
        </p:nvSpPr>
        <p:spPr>
          <a:xfrm>
            <a:off x="457200" y="1097280"/>
            <a:ext cx="7498080" cy="457200"/>
          </a:xfrm>
          <a:prstGeom prst="rect">
            <a:avLst/>
          </a:prstGeom>
          <a:noFill/>
          <a:ln/>
        </p:spPr>
        <p:txBody>
          <a:bodyPr wrap="square" lIns="508" tIns="508" rIns="508" bIns="508" rtlCol="0" anchor="ctr"/>
          <a:lstStyle/>
          <a:p>
            <a:pPr algn="ctr" indent="0" marL="0">
              <a:buNone/>
            </a:pPr>
            <a:r>
              <a:rPr lang="en-US" sz="2000" b="1" dirty="0">
                <a:solidFill>
                  <a:srgbClr val="2E2055"/>
                </a:solidFill>
                <a:latin typeface="Cambria" pitchFamily="34" charset="0"/>
                <a:ea typeface="Cambria" pitchFamily="34" charset="-122"/>
                <a:cs typeface="Cambria" pitchFamily="34" charset="-120"/>
              </a:rPr>
              <a:t>S = T_seq / T_P          E = S / P</a:t>
            </a:r>
            <a:endParaRPr lang="en-US" sz="2000" dirty="0"/>
          </a:p>
        </p:txBody>
      </p:sp>
      <p:sp>
        <p:nvSpPr>
          <p:cNvPr id="8" name="Shape 6"/>
          <p:cNvSpPr/>
          <p:nvPr/>
        </p:nvSpPr>
        <p:spPr>
          <a:xfrm>
            <a:off x="457200" y="1645920"/>
            <a:ext cx="7498080" cy="4617720"/>
          </a:xfrm>
          <a:prstGeom prst="roundRect">
            <a:avLst>
              <a:gd name="adj" fmla="val 1584"/>
            </a:avLst>
          </a:prstGeom>
          <a:solidFill>
            <a:srgbClr val="FFFFFF"/>
          </a:solidFill>
          <a:ln w="15875">
            <a:solidFill>
              <a:srgbClr val="2A9D8F"/>
            </a:solidFill>
            <a:prstDash val="solid"/>
          </a:ln>
        </p:spPr>
      </p:sp>
      <p:pic>
        <p:nvPicPr>
          <p:cNvPr id="9" name="Image 0" descr="assets/total_speedup_chart.png">    </p:cNvPr>
          <p:cNvPicPr>
            <a:picLocks noChangeAspect="1"/>
          </p:cNvPicPr>
          <p:nvPr/>
        </p:nvPicPr>
        <p:blipFill>
          <a:blip r:embed="rId1"/>
          <a:stretch>
            <a:fillRect/>
          </a:stretch>
        </p:blipFill>
        <p:spPr>
          <a:xfrm>
            <a:off x="457200" y="1672756"/>
            <a:ext cx="7498080" cy="4564049"/>
          </a:xfrm>
          <a:prstGeom prst="rect">
            <a:avLst/>
          </a:prstGeom>
        </p:spPr>
      </p:pic>
      <p:sp>
        <p:nvSpPr>
          <p:cNvPr id="10" name="Shape 7"/>
          <p:cNvSpPr/>
          <p:nvPr/>
        </p:nvSpPr>
        <p:spPr>
          <a:xfrm>
            <a:off x="8183880" y="1234440"/>
            <a:ext cx="3566160" cy="5029200"/>
          </a:xfrm>
          <a:prstGeom prst="roundRect">
            <a:avLst>
              <a:gd name="adj" fmla="val 2051"/>
            </a:avLst>
          </a:prstGeom>
          <a:solidFill>
            <a:srgbClr val="F5F1FB"/>
          </a:solidFill>
          <a:ln w="12700">
            <a:solidFill>
              <a:srgbClr val="F5F1FB"/>
            </a:solidFill>
            <a:prstDash val="solid"/>
          </a:ln>
        </p:spPr>
      </p:sp>
      <p:sp>
        <p:nvSpPr>
          <p:cNvPr id="11" name="Text 8"/>
          <p:cNvSpPr/>
          <p:nvPr/>
        </p:nvSpPr>
        <p:spPr>
          <a:xfrm>
            <a:off x="8275320" y="1325880"/>
            <a:ext cx="3383280" cy="4846320"/>
          </a:xfrm>
          <a:prstGeom prst="rect">
            <a:avLst/>
          </a:prstGeom>
          <a:noFill/>
          <a:ln/>
        </p:spPr>
        <p:txBody>
          <a:bodyPr wrap="square" lIns="1016" tIns="1016" rIns="1016" bIns="1016" rtlCol="0" anchor="t"/>
          <a:lstStyle/>
          <a:p>
            <a:pPr marL="342900" indent="-342900">
              <a:spcAft>
                <a:spcPts val="1000"/>
              </a:spcAft>
              <a:buSzPct val="100000"/>
              <a:buChar char="■"/>
            </a:pPr>
            <a:r>
              <a:rPr lang="en-US" sz="1500" dirty="0">
                <a:solidFill>
                  <a:srgbClr val="1F1A33"/>
                </a:solidFill>
                <a:latin typeface="Calibri" pitchFamily="34" charset="0"/>
                <a:ea typeface="Calibri" pitchFamily="34" charset="-122"/>
                <a:cs typeface="Calibri" pitchFamily="34" charset="-120"/>
              </a:rPr>
              <a:t>Total speedup at P = 14: 5.00× (grayscale) and 6.84× (color); efficiency 35.7% and 48.9%.</a:t>
            </a:r>
            <a:endParaRPr lang="en-US" sz="1500" dirty="0"/>
          </a:p>
          <a:p>
            <a:pPr marL="342900" indent="-342900">
              <a:spcAft>
                <a:spcPts val="1000"/>
              </a:spcAft>
              <a:buSzPct val="100000"/>
              <a:buChar char="■"/>
            </a:pPr>
            <a:r>
              <a:rPr lang="en-US" sz="1500" dirty="0">
                <a:solidFill>
                  <a:srgbClr val="1F1A33"/>
                </a:solidFill>
                <a:latin typeface="Calibri" pitchFamily="34" charset="0"/>
                <a:ea typeface="Calibri" pitchFamily="34" charset="-122"/>
                <a:cs typeface="Calibri" pitchFamily="34" charset="-120"/>
              </a:rPr>
              <a:t>It is lower than the LBG speedup (9.19×) because the other stages (image reading, delta and Huffman coding, reconstruction) remain sequential.</a:t>
            </a:r>
            <a:endParaRPr lang="en-US" sz="1500" dirty="0"/>
          </a:p>
          <a:p>
            <a:pPr marL="342900" indent="-342900">
              <a:spcAft>
                <a:spcPts val="1000"/>
              </a:spcAft>
              <a:buSzPct val="100000"/>
              <a:buChar char="■"/>
            </a:pPr>
            <a:r>
              <a:rPr lang="en-US" sz="1500" dirty="0">
                <a:solidFill>
                  <a:srgbClr val="1F1A33"/>
                </a:solidFill>
                <a:latin typeface="Calibri" pitchFamily="34" charset="0"/>
                <a:ea typeface="Calibri" pitchFamily="34" charset="-122"/>
                <a:cs typeface="Calibri" pitchFamily="34" charset="-120"/>
              </a:rPr>
              <a:t>Color images gain more: LBG is 81% of their sequential time, against 77% for grayscale.</a:t>
            </a:r>
            <a:endParaRPr lang="en-US" sz="1500" dirty="0"/>
          </a:p>
          <a:p>
            <a:pPr marL="342900" indent="-342900">
              <a:spcAft>
                <a:spcPts val="1000"/>
              </a:spcAft>
              <a:buSzPct val="100000"/>
              <a:buChar char="■"/>
            </a:pPr>
            <a:r>
              <a:rPr lang="en-US" sz="1500" dirty="0">
                <a:solidFill>
                  <a:srgbClr val="1F1A33"/>
                </a:solidFill>
                <a:latin typeface="Calibri" pitchFamily="34" charset="0"/>
                <a:ea typeface="Calibri" pitchFamily="34" charset="-122"/>
                <a:cs typeface="Calibri" pitchFamily="34" charset="-120"/>
              </a:rPr>
              <a:t>Total time is the whole program execution; the shaded bands show the minimum to maximum over the images of each type.</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502920"/>
          </a:xfrm>
          <a:prstGeom prst="roundRect">
            <a:avLst>
              <a:gd name="adj" fmla="val 18182"/>
            </a:avLst>
          </a:prstGeom>
          <a:solidFill>
            <a:srgbClr val="2A9D8F"/>
          </a:solidFill>
          <a:ln w="12700">
            <a:solidFill>
              <a:srgbClr val="2A9D8F"/>
            </a:solidFill>
            <a:prstDash val="solid"/>
          </a:ln>
        </p:spPr>
      </p:sp>
      <p:sp>
        <p:nvSpPr>
          <p:cNvPr id="3" name="Text 1"/>
          <p:cNvSpPr/>
          <p:nvPr/>
        </p:nvSpPr>
        <p:spPr>
          <a:xfrm>
            <a:off x="457200" y="320040"/>
            <a:ext cx="173736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Results</a:t>
            </a:r>
            <a:endParaRPr lang="en-US" sz="1800" dirty="0"/>
          </a:p>
        </p:txBody>
      </p:sp>
      <p:sp>
        <p:nvSpPr>
          <p:cNvPr id="4" name="Text 2"/>
          <p:cNvSpPr/>
          <p:nvPr/>
        </p:nvSpPr>
        <p:spPr>
          <a:xfrm>
            <a:off x="2377440" y="274320"/>
            <a:ext cx="932688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Equal vs Adaptive Workload Distribution</a:t>
            </a:r>
            <a:endParaRPr lang="en-US" sz="2800" dirty="0"/>
          </a:p>
        </p:txBody>
      </p:sp>
      <p:sp>
        <p:nvSpPr>
          <p:cNvPr id="5" name="Shape 3"/>
          <p:cNvSpPr/>
          <p:nvPr/>
        </p:nvSpPr>
        <p:spPr>
          <a:xfrm>
            <a:off x="457200" y="960120"/>
            <a:ext cx="11274552" cy="36576"/>
          </a:xfrm>
          <a:prstGeom prst="rect">
            <a:avLst/>
          </a:prstGeom>
          <a:solidFill>
            <a:srgbClr val="2A9D8F"/>
          </a:solidFill>
          <a:ln w="12700">
            <a:solidFill>
              <a:srgbClr val="2A9D8F"/>
            </a:solidFill>
            <a:prstDash val="solid"/>
          </a:ln>
        </p:spPr>
      </p:sp>
      <p:sp>
        <p:nvSpPr>
          <p:cNvPr id="6" name="Shape 4"/>
          <p:cNvSpPr/>
          <p:nvPr/>
        </p:nvSpPr>
        <p:spPr>
          <a:xfrm>
            <a:off x="457200" y="1234440"/>
            <a:ext cx="7498080" cy="5029200"/>
          </a:xfrm>
          <a:prstGeom prst="roundRect">
            <a:avLst>
              <a:gd name="adj" fmla="val 1455"/>
            </a:avLst>
          </a:prstGeom>
          <a:solidFill>
            <a:srgbClr val="FFFFFF"/>
          </a:solidFill>
          <a:ln w="15875">
            <a:solidFill>
              <a:srgbClr val="2A9D8F"/>
            </a:solidFill>
            <a:prstDash val="solid"/>
          </a:ln>
        </p:spPr>
      </p:sp>
      <p:pic>
        <p:nvPicPr>
          <p:cNvPr id="7" name="Image 0" descr="assets/eqad_chart.png">    </p:cNvPr>
          <p:cNvPicPr>
            <a:picLocks noChangeAspect="1"/>
          </p:cNvPicPr>
          <p:nvPr/>
        </p:nvPicPr>
        <p:blipFill>
          <a:blip r:embed="rId1"/>
          <a:stretch>
            <a:fillRect/>
          </a:stretch>
        </p:blipFill>
        <p:spPr>
          <a:xfrm>
            <a:off x="457200" y="1467016"/>
            <a:ext cx="7498080" cy="4564049"/>
          </a:xfrm>
          <a:prstGeom prst="rect">
            <a:avLst/>
          </a:prstGeom>
        </p:spPr>
      </p:pic>
      <p:sp>
        <p:nvSpPr>
          <p:cNvPr id="8" name="Shape 5"/>
          <p:cNvSpPr/>
          <p:nvPr/>
        </p:nvSpPr>
        <p:spPr>
          <a:xfrm>
            <a:off x="8183880" y="1234440"/>
            <a:ext cx="3566160" cy="5029200"/>
          </a:xfrm>
          <a:prstGeom prst="roundRect">
            <a:avLst>
              <a:gd name="adj" fmla="val 2051"/>
            </a:avLst>
          </a:prstGeom>
          <a:solidFill>
            <a:srgbClr val="F5F1FB"/>
          </a:solidFill>
          <a:ln w="12700">
            <a:solidFill>
              <a:srgbClr val="F5F1FB"/>
            </a:solidFill>
            <a:prstDash val="solid"/>
          </a:ln>
        </p:spPr>
      </p:sp>
      <p:sp>
        <p:nvSpPr>
          <p:cNvPr id="9" name="Text 6"/>
          <p:cNvSpPr/>
          <p:nvPr/>
        </p:nvSpPr>
        <p:spPr>
          <a:xfrm>
            <a:off x="8275320" y="1325880"/>
            <a:ext cx="3383280" cy="4846320"/>
          </a:xfrm>
          <a:prstGeom prst="rect">
            <a:avLst/>
          </a:prstGeom>
          <a:noFill/>
          <a:ln/>
        </p:spPr>
        <p:txBody>
          <a:bodyPr wrap="square" lIns="1016" tIns="1016" rIns="1016" bIns="1016" rtlCol="0" anchor="t"/>
          <a:lstStyle/>
          <a:p>
            <a:pPr marL="342900" indent="-342900">
              <a:spcAft>
                <a:spcPts val="800"/>
              </a:spcAft>
              <a:buSzPct val="100000"/>
              <a:buChar char="■"/>
            </a:pPr>
            <a:r>
              <a:rPr lang="en-US" sz="1500" dirty="0">
                <a:solidFill>
                  <a:srgbClr val="1F1A33"/>
                </a:solidFill>
                <a:latin typeface="Calibri" pitchFamily="34" charset="0"/>
                <a:ea typeface="Calibri" pitchFamily="34" charset="-122"/>
                <a:cs typeface="Calibri" pitchFamily="34" charset="-120"/>
              </a:rPr>
              <a:t>With Equal distribution, the faster P-cores finish early and wait for the E-cores: 7.61× at P = 14.</a:t>
            </a:r>
            <a:endParaRPr lang="en-US" sz="1500" dirty="0"/>
          </a:p>
          <a:p>
            <a:pPr marL="342900" indent="-342900">
              <a:spcAft>
                <a:spcPts val="800"/>
              </a:spcAft>
              <a:buSzPct val="100000"/>
              <a:buChar char="■"/>
            </a:pPr>
            <a:r>
              <a:rPr lang="en-US" sz="1500" dirty="0">
                <a:solidFill>
                  <a:srgbClr val="1F1A33"/>
                </a:solidFill>
                <a:latin typeface="Calibri" pitchFamily="34" charset="0"/>
                <a:ea typeface="Calibri" pitchFamily="34" charset="-122"/>
                <a:cs typeface="Calibri" pitchFamily="34" charset="-120"/>
              </a:rPr>
              <a:t>Adaptive distribution reaches 9.19× at P = 14.</a:t>
            </a:r>
            <a:endParaRPr lang="en-US" sz="1500" dirty="0"/>
          </a:p>
          <a:p>
            <a:pPr marL="342900" indent="-342900">
              <a:spcAft>
                <a:spcPts val="800"/>
              </a:spcAft>
              <a:buSzPct val="100000"/>
              <a:buChar char="■"/>
            </a:pPr>
            <a:r>
              <a:rPr lang="en-US" sz="1500" dirty="0">
                <a:solidFill>
                  <a:srgbClr val="1F1A33"/>
                </a:solidFill>
                <a:latin typeface="Calibri" pitchFamily="34" charset="0"/>
                <a:ea typeface="Calibri" pitchFamily="34" charset="-122"/>
                <a:cs typeface="Calibri" pitchFamily="34" charset="-120"/>
              </a:rPr>
              <a:t>LBG time is reduced by 28.3%, 23.6%, 19.8% and 17.2% at P = 8, 10, 12 and 14.</a:t>
            </a:r>
            <a:endParaRPr lang="en-US" sz="1500" dirty="0"/>
          </a:p>
          <a:p>
            <a:pPr marL="342900" indent="-342900">
              <a:spcAft>
                <a:spcPts val="800"/>
              </a:spcAft>
              <a:buSzPct val="100000"/>
              <a:buChar char="■"/>
            </a:pPr>
            <a:r>
              <a:rPr lang="en-US" sz="1500" dirty="0">
                <a:solidFill>
                  <a:srgbClr val="1F1A33"/>
                </a:solidFill>
                <a:latin typeface="Calibri" pitchFamily="34" charset="0"/>
                <a:ea typeface="Calibri" pitchFamily="34" charset="-122"/>
                <a:cs typeface="Calibri" pitchFamily="34" charset="-120"/>
              </a:rPr>
              <a:t>Total time is reduced by 17.9% to 8.8%.</a:t>
            </a:r>
            <a:endParaRPr lang="en-US" sz="1500" dirty="0"/>
          </a:p>
          <a:p>
            <a:pPr marL="342900" indent="-342900">
              <a:spcAft>
                <a:spcPts val="800"/>
              </a:spcAft>
              <a:buSzPct val="100000"/>
              <a:buChar char="■"/>
            </a:pPr>
            <a:r>
              <a:rPr lang="en-US" sz="1500" dirty="0">
                <a:solidFill>
                  <a:srgbClr val="1F1A33"/>
                </a:solidFill>
                <a:latin typeface="Calibri" pitchFamily="34" charset="0"/>
                <a:ea typeface="Calibri" pitchFamily="34" charset="-122"/>
                <a:cs typeface="Calibri" pitchFamily="34" charset="-120"/>
              </a:rPr>
              <a:t>No adaptive-distribution benefit was observed when only P-cores were used (P ≤ 6).</a:t>
            </a:r>
            <a:endParaRPr lang="en-US" sz="1500" dirty="0"/>
          </a:p>
          <a:p>
            <a:pPr marL="342900" indent="-342900">
              <a:spcAft>
                <a:spcPts val="800"/>
              </a:spcAft>
              <a:buSzPct val="100000"/>
              <a:buChar char="■"/>
            </a:pPr>
            <a:r>
              <a:rPr lang="en-US" sz="1500" dirty="0">
                <a:solidFill>
                  <a:srgbClr val="1F1A33"/>
                </a:solidFill>
                <a:latin typeface="Calibri" pitchFamily="34" charset="0"/>
                <a:ea typeface="Calibri" pitchFamily="34" charset="-122"/>
                <a:cs typeface="Calibri" pitchFamily="34" charset="-120"/>
              </a:rPr>
              <a:t>The reconstructed images are identical in both cases.</a:t>
            </a:r>
            <a:endParaRPr lang="en-US" sz="1500" dirty="0"/>
          </a:p>
          <a:p>
            <a:pPr marL="342900" indent="-342900">
              <a:spcAft>
                <a:spcPts val="800"/>
              </a:spcAft>
              <a:buSzPct val="100000"/>
              <a:buChar char="■"/>
            </a:pPr>
            <a:r>
              <a:rPr lang="en-US" sz="1500" dirty="0">
                <a:solidFill>
                  <a:srgbClr val="1F1A33"/>
                </a:solidFill>
                <a:latin typeface="Calibri" pitchFamily="34" charset="0"/>
                <a:ea typeface="Calibri" pitchFamily="34" charset="-122"/>
                <a:cs typeface="Calibri" pitchFamily="34" charset="-120"/>
              </a:rPr>
              <a:t>Adaptive values here come from the Equal-vs-Adaptive runs, so they can differ by up to 0.02× from the main speedup runs.</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502920"/>
          </a:xfrm>
          <a:prstGeom prst="roundRect">
            <a:avLst>
              <a:gd name="adj" fmla="val 18182"/>
            </a:avLst>
          </a:prstGeom>
          <a:solidFill>
            <a:srgbClr val="2A9D8F"/>
          </a:solidFill>
          <a:ln w="12700">
            <a:solidFill>
              <a:srgbClr val="2A9D8F"/>
            </a:solidFill>
            <a:prstDash val="solid"/>
          </a:ln>
        </p:spPr>
      </p:sp>
      <p:sp>
        <p:nvSpPr>
          <p:cNvPr id="3" name="Text 1"/>
          <p:cNvSpPr/>
          <p:nvPr/>
        </p:nvSpPr>
        <p:spPr>
          <a:xfrm>
            <a:off x="457200" y="320040"/>
            <a:ext cx="173736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Results</a:t>
            </a:r>
            <a:endParaRPr lang="en-US" sz="1800" dirty="0"/>
          </a:p>
        </p:txBody>
      </p:sp>
      <p:sp>
        <p:nvSpPr>
          <p:cNvPr id="4" name="Text 2"/>
          <p:cNvSpPr/>
          <p:nvPr/>
        </p:nvSpPr>
        <p:spPr>
          <a:xfrm>
            <a:off x="2377440" y="274320"/>
            <a:ext cx="932688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Throughput</a:t>
            </a:r>
            <a:endParaRPr lang="en-US" sz="2800" dirty="0"/>
          </a:p>
        </p:txBody>
      </p:sp>
      <p:sp>
        <p:nvSpPr>
          <p:cNvPr id="5" name="Shape 3"/>
          <p:cNvSpPr/>
          <p:nvPr/>
        </p:nvSpPr>
        <p:spPr>
          <a:xfrm>
            <a:off x="457200" y="960120"/>
            <a:ext cx="11274552" cy="36576"/>
          </a:xfrm>
          <a:prstGeom prst="rect">
            <a:avLst/>
          </a:prstGeom>
          <a:solidFill>
            <a:srgbClr val="2A9D8F"/>
          </a:solidFill>
          <a:ln w="12700">
            <a:solidFill>
              <a:srgbClr val="2A9D8F"/>
            </a:solidFill>
            <a:prstDash val="solid"/>
          </a:ln>
        </p:spPr>
      </p:sp>
      <p:sp>
        <p:nvSpPr>
          <p:cNvPr id="6" name="Shape 4"/>
          <p:cNvSpPr/>
          <p:nvPr/>
        </p:nvSpPr>
        <p:spPr>
          <a:xfrm>
            <a:off x="457200" y="1097280"/>
            <a:ext cx="7498080" cy="457200"/>
          </a:xfrm>
          <a:prstGeom prst="roundRect">
            <a:avLst>
              <a:gd name="adj" fmla="val 16000"/>
            </a:avLst>
          </a:prstGeom>
          <a:solidFill>
            <a:srgbClr val="FDF1E6"/>
          </a:solidFill>
          <a:ln w="15875">
            <a:solidFill>
              <a:srgbClr val="E07B22"/>
            </a:solidFill>
            <a:prstDash val="solid"/>
          </a:ln>
        </p:spPr>
      </p:sp>
      <p:sp>
        <p:nvSpPr>
          <p:cNvPr id="7" name="Text 5"/>
          <p:cNvSpPr/>
          <p:nvPr/>
        </p:nvSpPr>
        <p:spPr>
          <a:xfrm>
            <a:off x="457200" y="1097280"/>
            <a:ext cx="7498080" cy="457200"/>
          </a:xfrm>
          <a:prstGeom prst="rect">
            <a:avLst/>
          </a:prstGeom>
          <a:noFill/>
          <a:ln/>
        </p:spPr>
        <p:txBody>
          <a:bodyPr wrap="square" lIns="508" tIns="508" rIns="508" bIns="508" rtlCol="0" anchor="ctr"/>
          <a:lstStyle/>
          <a:p>
            <a:pPr algn="ctr" indent="0" marL="0">
              <a:buNone/>
            </a:pPr>
            <a:r>
              <a:rPr lang="en-US" sz="1900" b="1" dirty="0">
                <a:solidFill>
                  <a:srgbClr val="2E2055"/>
                </a:solidFill>
                <a:latin typeface="Cambria" pitchFamily="34" charset="0"/>
                <a:ea typeface="Cambria" pitchFamily="34" charset="-122"/>
                <a:cs typeface="Cambria" pitchFamily="34" charset="-120"/>
              </a:rPr>
              <a:t>Throughput = I_size / T_total   (MiB/s)</a:t>
            </a:r>
            <a:endParaRPr lang="en-US" sz="1900" dirty="0"/>
          </a:p>
        </p:txBody>
      </p:sp>
      <p:sp>
        <p:nvSpPr>
          <p:cNvPr id="8" name="Shape 6"/>
          <p:cNvSpPr/>
          <p:nvPr/>
        </p:nvSpPr>
        <p:spPr>
          <a:xfrm>
            <a:off x="457200" y="1645920"/>
            <a:ext cx="7498080" cy="4617720"/>
          </a:xfrm>
          <a:prstGeom prst="roundRect">
            <a:avLst>
              <a:gd name="adj" fmla="val 1584"/>
            </a:avLst>
          </a:prstGeom>
          <a:solidFill>
            <a:srgbClr val="FFFFFF"/>
          </a:solidFill>
          <a:ln w="15875">
            <a:solidFill>
              <a:srgbClr val="2A9D8F"/>
            </a:solidFill>
            <a:prstDash val="solid"/>
          </a:ln>
        </p:spPr>
      </p:sp>
      <p:pic>
        <p:nvPicPr>
          <p:cNvPr id="9" name="Image 0" descr="assets/throughput_ch4.png">    </p:cNvPr>
          <p:cNvPicPr>
            <a:picLocks noChangeAspect="1"/>
          </p:cNvPicPr>
          <p:nvPr/>
        </p:nvPicPr>
        <p:blipFill>
          <a:blip r:embed="rId1"/>
          <a:stretch>
            <a:fillRect/>
          </a:stretch>
        </p:blipFill>
        <p:spPr>
          <a:xfrm>
            <a:off x="714695" y="1645920"/>
            <a:ext cx="6983091" cy="4617720"/>
          </a:xfrm>
          <a:prstGeom prst="rect">
            <a:avLst/>
          </a:prstGeom>
        </p:spPr>
      </p:pic>
      <p:sp>
        <p:nvSpPr>
          <p:cNvPr id="10" name="Shape 7"/>
          <p:cNvSpPr/>
          <p:nvPr/>
        </p:nvSpPr>
        <p:spPr>
          <a:xfrm>
            <a:off x="8183880" y="1234440"/>
            <a:ext cx="3566160" cy="5029200"/>
          </a:xfrm>
          <a:prstGeom prst="roundRect">
            <a:avLst>
              <a:gd name="adj" fmla="val 2051"/>
            </a:avLst>
          </a:prstGeom>
          <a:solidFill>
            <a:srgbClr val="F5F1FB"/>
          </a:solidFill>
          <a:ln w="12700">
            <a:solidFill>
              <a:srgbClr val="F5F1FB"/>
            </a:solidFill>
            <a:prstDash val="solid"/>
          </a:ln>
        </p:spPr>
      </p:sp>
      <p:sp>
        <p:nvSpPr>
          <p:cNvPr id="11" name="Text 8"/>
          <p:cNvSpPr/>
          <p:nvPr/>
        </p:nvSpPr>
        <p:spPr>
          <a:xfrm>
            <a:off x="8275320" y="1325880"/>
            <a:ext cx="3383280" cy="4846320"/>
          </a:xfrm>
          <a:prstGeom prst="rect">
            <a:avLst/>
          </a:prstGeom>
          <a:noFill/>
          <a:ln/>
        </p:spPr>
        <p:txBody>
          <a:bodyPr wrap="square" lIns="1016" tIns="1016" rIns="1016" bIns="1016" rtlCol="0" anchor="t"/>
          <a:lstStyle/>
          <a:p>
            <a:pPr marL="342900" indent="-342900">
              <a:spcAft>
                <a:spcPts val="900"/>
              </a:spcAft>
              <a:buSzPct val="100000"/>
              <a:buChar char="■"/>
            </a:pPr>
            <a:r>
              <a:rPr lang="en-US" sz="1500" dirty="0">
                <a:solidFill>
                  <a:srgbClr val="1F1A33"/>
                </a:solidFill>
                <a:latin typeface="Calibri" pitchFamily="34" charset="0"/>
                <a:ea typeface="Calibri" pitchFamily="34" charset="-122"/>
                <a:cs typeface="Calibri" pitchFamily="34" charset="-120"/>
              </a:rPr>
              <a:t>Throughput = original image size / total execution time (MiB/s).</a:t>
            </a:r>
            <a:endParaRPr lang="en-US" sz="1500" dirty="0"/>
          </a:p>
          <a:p>
            <a:pPr marL="342900" indent="-342900">
              <a:spcAft>
                <a:spcPts val="900"/>
              </a:spcAft>
              <a:buSzPct val="100000"/>
              <a:buChar char="■"/>
            </a:pPr>
            <a:r>
              <a:rPr lang="en-US" sz="1500" dirty="0">
                <a:solidFill>
                  <a:srgbClr val="1F1A33"/>
                </a:solidFill>
                <a:latin typeface="Calibri" pitchFamily="34" charset="0"/>
                <a:ea typeface="Calibri" pitchFamily="34" charset="-122"/>
                <a:cs typeface="Calibri" pitchFamily="34" charset="-120"/>
              </a:rPr>
              <a:t>Grayscale: 1.30 → 3.35 MiB/s from P = 2 to P = 14.</a:t>
            </a:r>
            <a:endParaRPr lang="en-US" sz="1500" dirty="0"/>
          </a:p>
          <a:p>
            <a:pPr marL="342900" indent="-342900">
              <a:spcAft>
                <a:spcPts val="900"/>
              </a:spcAft>
              <a:buSzPct val="100000"/>
              <a:buChar char="■"/>
            </a:pPr>
            <a:r>
              <a:rPr lang="en-US" sz="1500" dirty="0">
                <a:solidFill>
                  <a:srgbClr val="1F1A33"/>
                </a:solidFill>
                <a:latin typeface="Calibri" pitchFamily="34" charset="0"/>
                <a:ea typeface="Calibri" pitchFamily="34" charset="-122"/>
                <a:cs typeface="Calibri" pitchFamily="34" charset="-120"/>
              </a:rPr>
              <a:t>Color: 1.42 → 4.54 MiB/s.</a:t>
            </a:r>
            <a:endParaRPr lang="en-US" sz="1500" dirty="0"/>
          </a:p>
          <a:p>
            <a:pPr marL="342900" indent="-342900">
              <a:spcAft>
                <a:spcPts val="900"/>
              </a:spcAft>
              <a:buSzPct val="100000"/>
              <a:buChar char="■"/>
            </a:pPr>
            <a:r>
              <a:rPr lang="en-US" sz="1500" dirty="0">
                <a:solidFill>
                  <a:srgbClr val="1F1A33"/>
                </a:solidFill>
                <a:latin typeface="Calibri" pitchFamily="34" charset="0"/>
                <a:ea typeface="Calibri" pitchFamily="34" charset="-122"/>
                <a:cs typeface="Calibri" pitchFamily="34" charset="-120"/>
              </a:rPr>
              <a:t>Color images hold three times more data, but their total time grows by only about 2.2× at P = 14, so their throughput is higher.</a:t>
            </a:r>
            <a:endParaRPr lang="en-US" sz="1500" dirty="0"/>
          </a:p>
          <a:p>
            <a:pPr marL="342900" indent="-342900">
              <a:spcAft>
                <a:spcPts val="900"/>
              </a:spcAft>
              <a:buSzPct val="100000"/>
              <a:buChar char="■"/>
            </a:pPr>
            <a:r>
              <a:rPr lang="en-US" sz="1500" dirty="0">
                <a:solidFill>
                  <a:srgbClr val="1F1A33"/>
                </a:solidFill>
                <a:latin typeface="Calibri" pitchFamily="34" charset="0"/>
                <a:ea typeface="Calibri" pitchFamily="34" charset="-122"/>
                <a:cs typeface="Calibri" pitchFamily="34" charset="-120"/>
              </a:rPr>
              <a:t>Shaded bands: minimum to maximum over the images.</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502920"/>
          </a:xfrm>
          <a:prstGeom prst="roundRect">
            <a:avLst>
              <a:gd name="adj" fmla="val 18182"/>
            </a:avLst>
          </a:prstGeom>
          <a:solidFill>
            <a:srgbClr val="2A9D8F"/>
          </a:solidFill>
          <a:ln w="12700">
            <a:solidFill>
              <a:srgbClr val="2A9D8F"/>
            </a:solidFill>
            <a:prstDash val="solid"/>
          </a:ln>
        </p:spPr>
      </p:sp>
      <p:sp>
        <p:nvSpPr>
          <p:cNvPr id="3" name="Text 1"/>
          <p:cNvSpPr/>
          <p:nvPr/>
        </p:nvSpPr>
        <p:spPr>
          <a:xfrm>
            <a:off x="457200" y="320040"/>
            <a:ext cx="173736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Results</a:t>
            </a:r>
            <a:endParaRPr lang="en-US" sz="1800" dirty="0"/>
          </a:p>
        </p:txBody>
      </p:sp>
      <p:sp>
        <p:nvSpPr>
          <p:cNvPr id="4" name="Text 2"/>
          <p:cNvSpPr/>
          <p:nvPr/>
        </p:nvSpPr>
        <p:spPr>
          <a:xfrm>
            <a:off x="2377440" y="274320"/>
            <a:ext cx="932688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Karp–Flatt Metric</a:t>
            </a:r>
            <a:endParaRPr lang="en-US" sz="2800" dirty="0"/>
          </a:p>
        </p:txBody>
      </p:sp>
      <p:sp>
        <p:nvSpPr>
          <p:cNvPr id="5" name="Shape 3"/>
          <p:cNvSpPr/>
          <p:nvPr/>
        </p:nvSpPr>
        <p:spPr>
          <a:xfrm>
            <a:off x="457200" y="960120"/>
            <a:ext cx="11274552" cy="36576"/>
          </a:xfrm>
          <a:prstGeom prst="rect">
            <a:avLst/>
          </a:prstGeom>
          <a:solidFill>
            <a:srgbClr val="2A9D8F"/>
          </a:solidFill>
          <a:ln w="12700">
            <a:solidFill>
              <a:srgbClr val="2A9D8F"/>
            </a:solidFill>
            <a:prstDash val="solid"/>
          </a:ln>
        </p:spPr>
      </p:sp>
      <p:sp>
        <p:nvSpPr>
          <p:cNvPr id="6" name="Shape 4"/>
          <p:cNvSpPr/>
          <p:nvPr/>
        </p:nvSpPr>
        <p:spPr>
          <a:xfrm>
            <a:off x="457200" y="1143000"/>
            <a:ext cx="7772400" cy="457200"/>
          </a:xfrm>
          <a:prstGeom prst="roundRect">
            <a:avLst>
              <a:gd name="adj" fmla="val 16000"/>
            </a:avLst>
          </a:prstGeom>
          <a:solidFill>
            <a:srgbClr val="FDF1E6"/>
          </a:solidFill>
          <a:ln w="15875">
            <a:solidFill>
              <a:srgbClr val="E07B22"/>
            </a:solidFill>
            <a:prstDash val="solid"/>
          </a:ln>
        </p:spPr>
      </p:sp>
      <p:sp>
        <p:nvSpPr>
          <p:cNvPr id="7" name="Text 5"/>
          <p:cNvSpPr/>
          <p:nvPr/>
        </p:nvSpPr>
        <p:spPr>
          <a:xfrm>
            <a:off x="457200" y="1143000"/>
            <a:ext cx="7772400" cy="457200"/>
          </a:xfrm>
          <a:prstGeom prst="rect">
            <a:avLst/>
          </a:prstGeom>
          <a:noFill/>
          <a:ln/>
        </p:spPr>
        <p:txBody>
          <a:bodyPr wrap="square" lIns="508" tIns="508" rIns="508" bIns="508" rtlCol="0" anchor="ctr"/>
          <a:lstStyle/>
          <a:p>
            <a:pPr algn="ctr" indent="0" marL="0">
              <a:buNone/>
            </a:pPr>
            <a:r>
              <a:rPr lang="en-US" sz="2000" b="1" dirty="0">
                <a:solidFill>
                  <a:srgbClr val="2E2055"/>
                </a:solidFill>
                <a:latin typeface="Cambria" pitchFamily="34" charset="0"/>
                <a:ea typeface="Cambria" pitchFamily="34" charset="-122"/>
                <a:cs typeface="Cambria" pitchFamily="34" charset="-120"/>
              </a:rPr>
              <a:t>e = (1/S − 1/P) / (1 − 1/P)</a:t>
            </a:r>
            <a:endParaRPr lang="en-US" sz="2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7772400" cy="914400"/>
        </p:xfrm>
        <a:graphic>
          <a:graphicData uri="http://schemas.openxmlformats.org/drawingml/2006/table">
            <a:tbl>
              <a:tblPr/>
              <a:tblGrid>
                <a:gridCol w="640080"/>
                <a:gridCol w="1005840"/>
                <a:gridCol w="1188720"/>
                <a:gridCol w="1188720"/>
                <a:gridCol w="1280160"/>
                <a:gridCol w="1188720"/>
                <a:gridCol w="1280160"/>
              </a:tblGrid>
              <a:tr h="50292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9D8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LBG: KF</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9D8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LBG: Eff. (%)</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9D8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Total gray: KF</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9D8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Total gray: Eff. (%)</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9D8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Total color: KF</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9D8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Total color: Eff. (%)</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9D8F"/>
                    </a:solidFill>
                  </a:tcPr>
                </a:tc>
              </a:tr>
              <a:tr h="502920">
                <a:tc>
                  <a:txBody>
                    <a:bodyPr/>
                    <a:lstStyle/>
                    <a:p>
                      <a:pPr algn="ctr" indent="0" marL="0">
                        <a:buNone/>
                      </a:pPr>
                      <a:r>
                        <a:rPr lang="en-US" sz="1400" b="1" dirty="0">
                          <a:solidFill>
                            <a:srgbClr val="1F1A33"/>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b="1" dirty="0">
                          <a:solidFill>
                            <a:srgbClr val="6B4FA3"/>
                          </a:solidFill>
                          <a:latin typeface="Calibri" pitchFamily="34" charset="0"/>
                          <a:ea typeface="Calibri" pitchFamily="34" charset="-122"/>
                          <a:cs typeface="Calibri" pitchFamily="34" charset="-120"/>
                        </a:rPr>
                        <a:t>0.033</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96.8</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0.132</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88.4</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0.072</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93.3</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r>
              <a:tr h="502920">
                <a:tc>
                  <a:txBody>
                    <a:bodyPr/>
                    <a:lstStyle/>
                    <a:p>
                      <a:pPr algn="ctr" indent="0" marL="0">
                        <a:buNone/>
                      </a:pPr>
                      <a:r>
                        <a:rPr lang="en-US" sz="1400" b="1" dirty="0">
                          <a:solidFill>
                            <a:srgbClr val="1F1A33"/>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6B4FA3"/>
                          </a:solidFill>
                          <a:latin typeface="Calibri" pitchFamily="34" charset="0"/>
                          <a:ea typeface="Calibri" pitchFamily="34" charset="-122"/>
                          <a:cs typeface="Calibri" pitchFamily="34" charset="-120"/>
                        </a:rPr>
                        <a:t>0.018</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94.8</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0.112</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74.8</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0.053</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86.3</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502920">
                <a:tc>
                  <a:txBody>
                    <a:bodyPr/>
                    <a:lstStyle/>
                    <a:p>
                      <a:pPr algn="ctr" indent="0" marL="0">
                        <a:buNone/>
                      </a:pPr>
                      <a:r>
                        <a:rPr lang="en-US" sz="1400" b="1" dirty="0">
                          <a:solidFill>
                            <a:srgbClr val="1F1A33"/>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b="1" dirty="0">
                          <a:solidFill>
                            <a:srgbClr val="6B4FA3"/>
                          </a:solidFill>
                          <a:latin typeface="Calibri" pitchFamily="34" charset="0"/>
                          <a:ea typeface="Calibri" pitchFamily="34" charset="-122"/>
                          <a:cs typeface="Calibri" pitchFamily="34" charset="-120"/>
                        </a:rPr>
                        <a:t>0.022</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90.2</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0.117</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63.2</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0.058</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77.5</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r>
              <a:tr h="502920">
                <a:tc>
                  <a:txBody>
                    <a:bodyPr/>
                    <a:lstStyle/>
                    <a:p>
                      <a:pPr algn="ctr" indent="0" marL="0">
                        <a:buNone/>
                      </a:pPr>
                      <a:r>
                        <a:rPr lang="en-US" sz="1400" b="1" dirty="0">
                          <a:solidFill>
                            <a:srgbClr val="1F1A33"/>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6B4FA3"/>
                          </a:solidFill>
                          <a:latin typeface="Calibri" pitchFamily="34" charset="0"/>
                          <a:ea typeface="Calibri" pitchFamily="34" charset="-122"/>
                          <a:cs typeface="Calibri" pitchFamily="34" charset="-120"/>
                        </a:rPr>
                        <a:t>0.038</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78.8</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0.143</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50.1</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0.084</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63.0</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502920">
                <a:tc>
                  <a:txBody>
                    <a:bodyPr/>
                    <a:lstStyle/>
                    <a:p>
                      <a:pPr algn="ctr" indent="0" marL="0">
                        <a:buNone/>
                      </a:pPr>
                      <a:r>
                        <a:rPr lang="en-US" sz="1400" b="1" dirty="0">
                          <a:solidFill>
                            <a:srgbClr val="1F1A33"/>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b="1" dirty="0">
                          <a:solidFill>
                            <a:srgbClr val="6B4FA3"/>
                          </a:solidFill>
                          <a:latin typeface="Calibri" pitchFamily="34" charset="0"/>
                          <a:ea typeface="Calibri" pitchFamily="34" charset="-122"/>
                          <a:cs typeface="Calibri" pitchFamily="34" charset="-120"/>
                        </a:rPr>
                        <a:t>0.040</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73.6</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0.142</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43.9</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0.083</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57.2</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r>
              <a:tr h="502920">
                <a:tc>
                  <a:txBody>
                    <a:bodyPr/>
                    <a:lstStyle/>
                    <a:p>
                      <a:pPr algn="ctr" indent="0" marL="0">
                        <a:buNone/>
                      </a:pPr>
                      <a:r>
                        <a:rPr lang="en-US" sz="1400" b="1" dirty="0">
                          <a:solidFill>
                            <a:srgbClr val="1F1A33"/>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6B4FA3"/>
                          </a:solidFill>
                          <a:latin typeface="Calibri" pitchFamily="34" charset="0"/>
                          <a:ea typeface="Calibri" pitchFamily="34" charset="-122"/>
                          <a:cs typeface="Calibri" pitchFamily="34" charset="-120"/>
                        </a:rPr>
                        <a:t>0.042</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68.6</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0.140</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39.3</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0.082</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52.4</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502920">
                <a:tc>
                  <a:txBody>
                    <a:bodyPr/>
                    <a:lstStyle/>
                    <a:p>
                      <a:pPr algn="ctr" indent="0" marL="0">
                        <a:buNone/>
                      </a:pPr>
                      <a:r>
                        <a:rPr lang="en-US" sz="1400" b="1" dirty="0">
                          <a:solidFill>
                            <a:srgbClr val="1F1A33"/>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b="1" dirty="0">
                          <a:solidFill>
                            <a:srgbClr val="6B4FA3"/>
                          </a:solidFill>
                          <a:latin typeface="Calibri" pitchFamily="34" charset="0"/>
                          <a:ea typeface="Calibri" pitchFamily="34" charset="-122"/>
                          <a:cs typeface="Calibri" pitchFamily="34" charset="-120"/>
                        </a:rPr>
                        <a:t>0.040</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65.7</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0.138</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35.7</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b="1" dirty="0">
                          <a:solidFill>
                            <a:srgbClr val="E0457B"/>
                          </a:solidFill>
                          <a:latin typeface="Calibri" pitchFamily="34" charset="0"/>
                          <a:ea typeface="Calibri" pitchFamily="34" charset="-122"/>
                          <a:cs typeface="Calibri" pitchFamily="34" charset="-120"/>
                        </a:rPr>
                        <a:t>0.080</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c>
                  <a:txBody>
                    <a:bodyPr/>
                    <a:lstStyle/>
                    <a:p>
                      <a:pPr algn="ctr" indent="0" marL="0">
                        <a:buNone/>
                      </a:pPr>
                      <a:r>
                        <a:rPr lang="en-US" sz="1400" dirty="0">
                          <a:solidFill>
                            <a:srgbClr val="1F1A33"/>
                          </a:solidFill>
                          <a:latin typeface="Calibri" pitchFamily="34" charset="0"/>
                          <a:ea typeface="Calibri" pitchFamily="34" charset="-122"/>
                          <a:cs typeface="Calibri" pitchFamily="34" charset="-120"/>
                        </a:rPr>
                        <a:t>48.9</a:t>
                      </a:r>
                      <a:endParaRPr lang="en-US" sz="14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6F4"/>
                    </a:solidFill>
                  </a:tcPr>
                </a:tc>
              </a:tr>
            </a:tbl>
          </a:graphicData>
        </a:graphic>
      </p:graphicFrame>
      <p:sp>
        <p:nvSpPr>
          <p:cNvPr id="9" name="Text 6"/>
          <p:cNvSpPr/>
          <p:nvPr/>
        </p:nvSpPr>
        <p:spPr>
          <a:xfrm>
            <a:off x="457200" y="5852160"/>
            <a:ext cx="7772400" cy="548640"/>
          </a:xfrm>
          <a:prstGeom prst="rect">
            <a:avLst/>
          </a:prstGeom>
          <a:noFill/>
          <a:ln/>
        </p:spPr>
        <p:txBody>
          <a:bodyPr wrap="square" lIns="0" tIns="0" rIns="0" bIns="0" rtlCol="0" anchor="ctr"/>
          <a:lstStyle/>
          <a:p>
            <a:pPr indent="0" marL="0">
              <a:buNone/>
            </a:pPr>
            <a:r>
              <a:rPr lang="en-US" sz="1200" i="1" dirty="0">
                <a:solidFill>
                  <a:srgbClr val="6B4FA3"/>
                </a:solidFill>
                <a:latin typeface="Calibri" pitchFamily="34" charset="0"/>
                <a:ea typeface="Calibri" pitchFamily="34" charset="-122"/>
                <a:cs typeface="Calibri" pitchFamily="34" charset="-120"/>
              </a:rPr>
              <a:t>LBG: mean of the 8 images. Total: mean of the 4 grayscale and of the 4 color images, separately. KF = Karp–Flatt, Eff. = efficiency.</a:t>
            </a:r>
            <a:endParaRPr lang="en-US" sz="1200" dirty="0"/>
          </a:p>
        </p:txBody>
      </p:sp>
      <p:sp>
        <p:nvSpPr>
          <p:cNvPr id="10" name="Shape 7"/>
          <p:cNvSpPr/>
          <p:nvPr/>
        </p:nvSpPr>
        <p:spPr>
          <a:xfrm>
            <a:off x="8458200" y="1280160"/>
            <a:ext cx="3291840" cy="4846320"/>
          </a:xfrm>
          <a:prstGeom prst="roundRect">
            <a:avLst>
              <a:gd name="adj" fmla="val 2222"/>
            </a:avLst>
          </a:prstGeom>
          <a:solidFill>
            <a:srgbClr val="F5F1FB"/>
          </a:solidFill>
          <a:ln w="12700">
            <a:solidFill>
              <a:srgbClr val="F5F1FB"/>
            </a:solidFill>
            <a:prstDash val="solid"/>
          </a:ln>
        </p:spPr>
      </p:sp>
      <p:sp>
        <p:nvSpPr>
          <p:cNvPr id="11" name="Text 8"/>
          <p:cNvSpPr/>
          <p:nvPr/>
        </p:nvSpPr>
        <p:spPr>
          <a:xfrm>
            <a:off x="8549640" y="1371600"/>
            <a:ext cx="3108960" cy="4663440"/>
          </a:xfrm>
          <a:prstGeom prst="rect">
            <a:avLst/>
          </a:prstGeom>
          <a:noFill/>
          <a:ln/>
        </p:spPr>
        <p:txBody>
          <a:bodyPr wrap="square" lIns="1016" tIns="1016" rIns="1016" bIns="1016" rtlCol="0" anchor="t"/>
          <a:lstStyle/>
          <a:p>
            <a:pPr marL="342900" indent="-342900">
              <a:spcAft>
                <a:spcPts val="900"/>
              </a:spcAft>
              <a:buSzPct val="100000"/>
              <a:buChar char="■"/>
            </a:pPr>
            <a:r>
              <a:rPr lang="en-US" sz="1400" dirty="0">
                <a:solidFill>
                  <a:srgbClr val="1F1A33"/>
                </a:solidFill>
                <a:latin typeface="Calibri" pitchFamily="34" charset="0"/>
                <a:ea typeface="Calibri" pitchFamily="34" charset="-122"/>
                <a:cs typeface="Calibri" pitchFamily="34" charset="-120"/>
              </a:rPr>
              <a:t>Karp–Flatt estimates the serial fraction of the program from the measured speedup.</a:t>
            </a:r>
            <a:endParaRPr lang="en-US" sz="1400" dirty="0"/>
          </a:p>
          <a:p>
            <a:pPr marL="342900" indent="-342900">
              <a:spcAft>
                <a:spcPts val="900"/>
              </a:spcAft>
              <a:buSzPct val="100000"/>
              <a:buChar char="■"/>
            </a:pPr>
            <a:r>
              <a:rPr lang="en-US" sz="1400" dirty="0">
                <a:solidFill>
                  <a:srgbClr val="1F1A33"/>
                </a:solidFill>
                <a:latin typeface="Calibri" pitchFamily="34" charset="0"/>
                <a:ea typeface="Calibri" pitchFamily="34" charset="-122"/>
                <a:cs typeface="Calibri" pitchFamily="34" charset="-120"/>
              </a:rPr>
              <a:t>LBG: about 0.04 for P ≥ 8; the serial fraction stays small and does not grow with P.</a:t>
            </a:r>
            <a:endParaRPr lang="en-US" sz="1400" dirty="0"/>
          </a:p>
          <a:p>
            <a:pPr marL="342900" indent="-342900">
              <a:spcAft>
                <a:spcPts val="900"/>
              </a:spcAft>
              <a:buSzPct val="100000"/>
              <a:buChar char="■"/>
            </a:pPr>
            <a:r>
              <a:rPr lang="en-US" sz="1400" dirty="0">
                <a:solidFill>
                  <a:srgbClr val="1F1A33"/>
                </a:solidFill>
                <a:latin typeface="Calibri" pitchFamily="34" charset="0"/>
                <a:ea typeface="Calibri" pitchFamily="34" charset="-122"/>
                <a:cs typeface="Calibri" pitchFamily="34" charset="-120"/>
              </a:rPr>
              <a:t>Total: about 0.14 (gray) and 0.08 (color); the sequential coding and reconstruction stages dominate.</a:t>
            </a:r>
            <a:endParaRPr lang="en-US" sz="1400" dirty="0"/>
          </a:p>
          <a:p>
            <a:pPr marL="342900" indent="-342900">
              <a:spcAft>
                <a:spcPts val="900"/>
              </a:spcAft>
              <a:buSzPct val="100000"/>
              <a:buChar char="■"/>
            </a:pPr>
            <a:r>
              <a:rPr lang="en-US" sz="1400" dirty="0">
                <a:solidFill>
                  <a:srgbClr val="1F1A33"/>
                </a:solidFill>
                <a:latin typeface="Calibri" pitchFamily="34" charset="0"/>
                <a:ea typeface="Calibri" pitchFamily="34" charset="-122"/>
                <a:cs typeface="Calibri" pitchFamily="34" charset="-120"/>
              </a:rPr>
              <a:t>Color is lower because LBG is a larger share of its time (81% against 77%).</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2103120" cy="502920"/>
          </a:xfrm>
          <a:prstGeom prst="roundRect">
            <a:avLst>
              <a:gd name="adj" fmla="val 18182"/>
            </a:avLst>
          </a:prstGeom>
          <a:solidFill>
            <a:srgbClr val="2E2055"/>
          </a:solidFill>
          <a:ln w="12700">
            <a:solidFill>
              <a:srgbClr val="2E2055"/>
            </a:solidFill>
            <a:prstDash val="solid"/>
          </a:ln>
        </p:spPr>
      </p:sp>
      <p:sp>
        <p:nvSpPr>
          <p:cNvPr id="3" name="Text 1"/>
          <p:cNvSpPr/>
          <p:nvPr/>
        </p:nvSpPr>
        <p:spPr>
          <a:xfrm>
            <a:off x="457200" y="320040"/>
            <a:ext cx="21031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Conclusion</a:t>
            </a:r>
            <a:endParaRPr lang="en-US" sz="1600" dirty="0"/>
          </a:p>
        </p:txBody>
      </p:sp>
      <p:sp>
        <p:nvSpPr>
          <p:cNvPr id="4" name="Text 2"/>
          <p:cNvSpPr/>
          <p:nvPr/>
        </p:nvSpPr>
        <p:spPr>
          <a:xfrm>
            <a:off x="2743200" y="274320"/>
            <a:ext cx="941832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Conclusion</a:t>
            </a:r>
            <a:endParaRPr lang="en-US" sz="2800" dirty="0"/>
          </a:p>
        </p:txBody>
      </p:sp>
      <p:sp>
        <p:nvSpPr>
          <p:cNvPr id="5" name="Shape 3"/>
          <p:cNvSpPr/>
          <p:nvPr/>
        </p:nvSpPr>
        <p:spPr>
          <a:xfrm>
            <a:off x="457200" y="960120"/>
            <a:ext cx="11274552" cy="36576"/>
          </a:xfrm>
          <a:prstGeom prst="rect">
            <a:avLst/>
          </a:prstGeom>
          <a:solidFill>
            <a:srgbClr val="2E2055"/>
          </a:solidFill>
          <a:ln w="12700">
            <a:solidFill>
              <a:srgbClr val="2E2055"/>
            </a:solidFill>
            <a:prstDash val="solid"/>
          </a:ln>
        </p:spPr>
      </p:sp>
      <p:sp>
        <p:nvSpPr>
          <p:cNvPr id="6" name="Shape 4"/>
          <p:cNvSpPr/>
          <p:nvPr/>
        </p:nvSpPr>
        <p:spPr>
          <a:xfrm>
            <a:off x="640080" y="1280160"/>
            <a:ext cx="10927080" cy="5029200"/>
          </a:xfrm>
          <a:prstGeom prst="roundRect">
            <a:avLst>
              <a:gd name="adj" fmla="val 1455"/>
            </a:avLst>
          </a:prstGeom>
          <a:solidFill>
            <a:srgbClr val="F5F1FB"/>
          </a:solidFill>
          <a:ln w="12700">
            <a:solidFill>
              <a:srgbClr val="F5F1FB"/>
            </a:solidFill>
            <a:prstDash val="solid"/>
          </a:ln>
        </p:spPr>
      </p:sp>
      <p:sp>
        <p:nvSpPr>
          <p:cNvPr id="7" name="Text 5"/>
          <p:cNvSpPr/>
          <p:nvPr/>
        </p:nvSpPr>
        <p:spPr>
          <a:xfrm>
            <a:off x="777240" y="1371600"/>
            <a:ext cx="10652760" cy="4846320"/>
          </a:xfrm>
          <a:prstGeom prst="rect">
            <a:avLst/>
          </a:prstGeom>
          <a:noFill/>
          <a:ln/>
        </p:spPr>
        <p:txBody>
          <a:bodyPr wrap="square" lIns="1016" tIns="1016" rIns="1016" bIns="1016" rtlCol="0" anchor="t"/>
          <a:lstStyle/>
          <a:p>
            <a:pPr marL="342900" indent="-342900">
              <a:spcAft>
                <a:spcPts val="1000"/>
              </a:spcAft>
              <a:buSzPct val="100000"/>
              <a:buChar char="■"/>
            </a:pPr>
            <a:r>
              <a:rPr lang="en-US" sz="1900" dirty="0">
                <a:solidFill>
                  <a:srgbClr val="1F1A33"/>
                </a:solidFill>
                <a:latin typeface="Calibri" pitchFamily="34" charset="0"/>
                <a:ea typeface="Calibri" pitchFamily="34" charset="-122"/>
                <a:cs typeface="Calibri" pitchFamily="34" charset="-120"/>
              </a:rPr>
              <a:t>A hybrid image compression framework was implemented: LBG vector quantization, delta coding and Huffman coding.</a:t>
            </a:r>
            <a:endParaRPr lang="en-US" sz="1900" dirty="0"/>
          </a:p>
          <a:p>
            <a:pPr marL="342900" indent="-342900">
              <a:spcAft>
                <a:spcPts val="1000"/>
              </a:spcAft>
              <a:buSzPct val="100000"/>
              <a:buChar char="■"/>
            </a:pPr>
            <a:r>
              <a:rPr lang="en-US" sz="1900" dirty="0">
                <a:solidFill>
                  <a:srgbClr val="1F1A33"/>
                </a:solidFill>
                <a:latin typeface="Calibri" pitchFamily="34" charset="0"/>
                <a:ea typeface="Calibri" pitchFamily="34" charset="-122"/>
                <a:cs typeface="Calibri" pitchFamily="34" charset="-120"/>
              </a:rPr>
              <a:t>LBG training was parallelized with MPI: 9.19× speedup on 14 processes (efficiency ≈ 66%); total speedup 5.00× (gray) and 6.84× (color).</a:t>
            </a:r>
            <a:endParaRPr lang="en-US" sz="1900" dirty="0"/>
          </a:p>
          <a:p>
            <a:pPr marL="342900" indent="-342900">
              <a:spcAft>
                <a:spcPts val="1000"/>
              </a:spcAft>
              <a:buSzPct val="100000"/>
              <a:buChar char="■"/>
            </a:pPr>
            <a:r>
              <a:rPr lang="en-US" sz="1900" dirty="0">
                <a:solidFill>
                  <a:srgbClr val="1F1A33"/>
                </a:solidFill>
                <a:latin typeface="Calibri" pitchFamily="34" charset="0"/>
                <a:ea typeface="Calibri" pitchFamily="34" charset="-122"/>
                <a:cs typeface="Calibri" pitchFamily="34" charset="-120"/>
              </a:rPr>
              <a:t>The speed-aware (Adaptive) distribution reduced LBG time by 17.2–28.3% compared with Equal distribution (P = 8 to 14).</a:t>
            </a:r>
            <a:endParaRPr lang="en-US" sz="1900" dirty="0"/>
          </a:p>
          <a:p>
            <a:pPr marL="342900" indent="-342900">
              <a:spcAft>
                <a:spcPts val="1000"/>
              </a:spcAft>
              <a:buSzPct val="100000"/>
              <a:buChar char="■"/>
            </a:pPr>
            <a:r>
              <a:rPr lang="en-US" sz="1900" dirty="0">
                <a:solidFill>
                  <a:srgbClr val="1F1A33"/>
                </a:solidFill>
                <a:latin typeface="Calibri" pitchFamily="34" charset="0"/>
                <a:ea typeface="Calibri" pitchFamily="34" charset="-122"/>
                <a:cs typeface="Calibri" pitchFamily="34" charset="-120"/>
              </a:rPr>
              <a:t>The parallel results were identical to the sequential ones: same reconstructed images and quality metrics.</a:t>
            </a:r>
            <a:endParaRPr lang="en-US" sz="1900" dirty="0"/>
          </a:p>
          <a:p>
            <a:pPr marL="342900" indent="-342900">
              <a:spcAft>
                <a:spcPts val="1000"/>
              </a:spcAft>
              <a:buSzPct val="100000"/>
              <a:buChar char="■"/>
            </a:pPr>
            <a:r>
              <a:rPr lang="en-US" sz="1900" dirty="0">
                <a:solidFill>
                  <a:srgbClr val="1F1A33"/>
                </a:solidFill>
                <a:latin typeface="Calibri" pitchFamily="34" charset="0"/>
                <a:ea typeface="Calibri" pitchFamily="34" charset="-122"/>
                <a:cs typeface="Calibri" pitchFamily="34" charset="-120"/>
              </a:rPr>
              <a:t>Quality: mean PSNR 29.49 dB and SSIM 0.8266 (gray); 28.80 dB and 0.7654 (color), at a compression ratio of ___ (gray) and ___ (color).</a:t>
            </a:r>
            <a:endParaRPr lang="en-US" sz="1900" dirty="0"/>
          </a:p>
          <a:p>
            <a:pPr marL="342900" indent="-342900">
              <a:spcAft>
                <a:spcPts val="1000"/>
              </a:spcAft>
              <a:buSzPct val="100000"/>
              <a:buChar char="■"/>
            </a:pPr>
            <a:r>
              <a:rPr lang="en-US" sz="1900" dirty="0">
                <a:solidFill>
                  <a:srgbClr val="1F1A33"/>
                </a:solidFill>
                <a:latin typeface="Calibri" pitchFamily="34" charset="0"/>
                <a:ea typeface="Calibri" pitchFamily="34" charset="-122"/>
                <a:cs typeface="Calibri" pitchFamily="34" charset="-120"/>
              </a:rPr>
              <a:t>The total speedup is limited by the sequential coding and reconstruction stages.</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2103120" cy="502920"/>
          </a:xfrm>
          <a:prstGeom prst="roundRect">
            <a:avLst>
              <a:gd name="adj" fmla="val 18182"/>
            </a:avLst>
          </a:prstGeom>
          <a:solidFill>
            <a:srgbClr val="2E2055"/>
          </a:solidFill>
          <a:ln w="12700">
            <a:solidFill>
              <a:srgbClr val="2E2055"/>
            </a:solidFill>
            <a:prstDash val="solid"/>
          </a:ln>
        </p:spPr>
      </p:sp>
      <p:sp>
        <p:nvSpPr>
          <p:cNvPr id="3" name="Text 1"/>
          <p:cNvSpPr/>
          <p:nvPr/>
        </p:nvSpPr>
        <p:spPr>
          <a:xfrm>
            <a:off x="457200" y="320040"/>
            <a:ext cx="21031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Future Work</a:t>
            </a:r>
            <a:endParaRPr lang="en-US" sz="1600" dirty="0"/>
          </a:p>
        </p:txBody>
      </p:sp>
      <p:sp>
        <p:nvSpPr>
          <p:cNvPr id="4" name="Text 2"/>
          <p:cNvSpPr/>
          <p:nvPr/>
        </p:nvSpPr>
        <p:spPr>
          <a:xfrm>
            <a:off x="2743200" y="274320"/>
            <a:ext cx="941832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Future Work</a:t>
            </a:r>
            <a:endParaRPr lang="en-US" sz="2800" dirty="0"/>
          </a:p>
        </p:txBody>
      </p:sp>
      <p:sp>
        <p:nvSpPr>
          <p:cNvPr id="5" name="Shape 3"/>
          <p:cNvSpPr/>
          <p:nvPr/>
        </p:nvSpPr>
        <p:spPr>
          <a:xfrm>
            <a:off x="457200" y="960120"/>
            <a:ext cx="11274552" cy="36576"/>
          </a:xfrm>
          <a:prstGeom prst="rect">
            <a:avLst/>
          </a:prstGeom>
          <a:solidFill>
            <a:srgbClr val="2E2055"/>
          </a:solidFill>
          <a:ln w="12700">
            <a:solidFill>
              <a:srgbClr val="2E2055"/>
            </a:solidFill>
            <a:prstDash val="solid"/>
          </a:ln>
        </p:spPr>
      </p:sp>
      <p:sp>
        <p:nvSpPr>
          <p:cNvPr id="6" name="Shape 4"/>
          <p:cNvSpPr/>
          <p:nvPr/>
        </p:nvSpPr>
        <p:spPr>
          <a:xfrm>
            <a:off x="640080" y="1280160"/>
            <a:ext cx="10927080" cy="5029200"/>
          </a:xfrm>
          <a:prstGeom prst="roundRect">
            <a:avLst>
              <a:gd name="adj" fmla="val 1455"/>
            </a:avLst>
          </a:prstGeom>
          <a:solidFill>
            <a:srgbClr val="F5F1FB"/>
          </a:solidFill>
          <a:ln w="12700">
            <a:solidFill>
              <a:srgbClr val="F5F1FB"/>
            </a:solidFill>
            <a:prstDash val="solid"/>
          </a:ln>
        </p:spPr>
      </p:sp>
      <p:sp>
        <p:nvSpPr>
          <p:cNvPr id="7" name="Text 5"/>
          <p:cNvSpPr/>
          <p:nvPr/>
        </p:nvSpPr>
        <p:spPr>
          <a:xfrm>
            <a:off x="777240" y="1371600"/>
            <a:ext cx="10652760" cy="4846320"/>
          </a:xfrm>
          <a:prstGeom prst="rect">
            <a:avLst/>
          </a:prstGeom>
          <a:noFill/>
          <a:ln/>
        </p:spPr>
        <p:txBody>
          <a:bodyPr wrap="square" lIns="1016" tIns="1016" rIns="1016" bIns="1016" rtlCol="0" anchor="t"/>
          <a:lstStyle/>
          <a:p>
            <a:pPr marL="342900" indent="-342900">
              <a:spcAft>
                <a:spcPts val="1000"/>
              </a:spcAft>
              <a:buSzPct val="100000"/>
              <a:buChar char="■"/>
            </a:pPr>
            <a:r>
              <a:rPr lang="en-US" sz="2100" dirty="0">
                <a:solidFill>
                  <a:srgbClr val="1F1A33"/>
                </a:solidFill>
                <a:latin typeface="Calibri" pitchFamily="34" charset="0"/>
                <a:ea typeface="Calibri" pitchFamily="34" charset="-122"/>
                <a:cs typeface="Calibri" pitchFamily="34" charset="-120"/>
              </a:rPr>
              <a:t>Parallelize the delta coding, Huffman coding and reconstruction stages.</a:t>
            </a:r>
            <a:endParaRPr lang="en-US" sz="2100" dirty="0"/>
          </a:p>
          <a:p>
            <a:pPr marL="342900" indent="-342900">
              <a:spcAft>
                <a:spcPts val="1000"/>
              </a:spcAft>
              <a:buSzPct val="100000"/>
              <a:buChar char="■"/>
            </a:pPr>
            <a:r>
              <a:rPr lang="en-US" sz="2100" dirty="0">
                <a:solidFill>
                  <a:srgbClr val="1F1A33"/>
                </a:solidFill>
                <a:latin typeface="Calibri" pitchFamily="34" charset="0"/>
                <a:ea typeface="Calibri" pitchFamily="34" charset="-122"/>
                <a:cs typeface="Calibri" pitchFamily="34" charset="-120"/>
              </a:rPr>
              <a:t>Evaluate other block sizes, codebook sizes and larger images.</a:t>
            </a:r>
            <a:endParaRPr lang="en-US" sz="2100" dirty="0"/>
          </a:p>
          <a:p>
            <a:pPr marL="342900" indent="-342900">
              <a:spcAft>
                <a:spcPts val="1000"/>
              </a:spcAft>
              <a:buSzPct val="100000"/>
              <a:buChar char="■"/>
            </a:pPr>
            <a:r>
              <a:rPr lang="en-US" sz="2100" dirty="0">
                <a:solidFill>
                  <a:srgbClr val="1F1A33"/>
                </a:solidFill>
                <a:latin typeface="Calibri" pitchFamily="34" charset="0"/>
                <a:ea typeface="Calibri" pitchFamily="34" charset="-122"/>
                <a:cs typeface="Calibri" pitchFamily="34" charset="-120"/>
              </a:rPr>
              <a:t>Define an efficiency measure that accounts for the different speeds of P-cores and E-cores.</a:t>
            </a:r>
            <a:endParaRPr lang="en-US" sz="2100" dirty="0"/>
          </a:p>
          <a:p>
            <a:pPr marL="342900" indent="-342900">
              <a:spcAft>
                <a:spcPts val="1000"/>
              </a:spcAft>
              <a:buSzPct val="100000"/>
              <a:buChar char="■"/>
            </a:pPr>
            <a:r>
              <a:rPr lang="en-US" sz="2100" dirty="0">
                <a:solidFill>
                  <a:srgbClr val="1F1A33"/>
                </a:solidFill>
                <a:latin typeface="Calibri" pitchFamily="34" charset="0"/>
                <a:ea typeface="Calibri" pitchFamily="34" charset="-122"/>
                <a:cs typeface="Calibri" pitchFamily="34" charset="-120"/>
              </a:rPr>
              <a:t>Implement a complete container file format (stored Huffman table and header) with a stand-alone decoder; the current program only accounts the compressed size.</a:t>
            </a:r>
            <a:endParaRPr lang="en-US" sz="2100" dirty="0"/>
          </a:p>
          <a:p>
            <a:pPr marL="342900" indent="-342900">
              <a:spcAft>
                <a:spcPts val="1000"/>
              </a:spcAft>
              <a:buSzPct val="100000"/>
              <a:buChar char="■"/>
            </a:pPr>
            <a:r>
              <a:rPr lang="en-US" sz="2100" dirty="0">
                <a:solidFill>
                  <a:srgbClr val="1F1A33"/>
                </a:solidFill>
                <a:latin typeface="Calibri" pitchFamily="34" charset="0"/>
                <a:ea typeface="Calibri" pitchFamily="34" charset="-122"/>
                <a:cs typeface="Calibri" pitchFamily="34" charset="-120"/>
              </a:rPr>
              <a:t>Extend the study to other hybrid CPUs and to hybrid MPI + OpenMP implementations.</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2103120" cy="502920"/>
          </a:xfrm>
          <a:prstGeom prst="roundRect">
            <a:avLst>
              <a:gd name="adj" fmla="val 18182"/>
            </a:avLst>
          </a:prstGeom>
          <a:solidFill>
            <a:srgbClr val="2E2055"/>
          </a:solidFill>
          <a:ln w="12700">
            <a:solidFill>
              <a:srgbClr val="2E2055"/>
            </a:solidFill>
            <a:prstDash val="solid"/>
          </a:ln>
        </p:spPr>
      </p:sp>
      <p:sp>
        <p:nvSpPr>
          <p:cNvPr id="3" name="Text 1"/>
          <p:cNvSpPr/>
          <p:nvPr/>
        </p:nvSpPr>
        <p:spPr>
          <a:xfrm>
            <a:off x="457200" y="320040"/>
            <a:ext cx="21031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References</a:t>
            </a:r>
            <a:endParaRPr lang="en-US" sz="1600" dirty="0"/>
          </a:p>
        </p:txBody>
      </p:sp>
      <p:sp>
        <p:nvSpPr>
          <p:cNvPr id="4" name="Text 2"/>
          <p:cNvSpPr/>
          <p:nvPr/>
        </p:nvSpPr>
        <p:spPr>
          <a:xfrm>
            <a:off x="2743200" y="274320"/>
            <a:ext cx="9418320" cy="594360"/>
          </a:xfrm>
          <a:prstGeom prst="rect">
            <a:avLst/>
          </a:prstGeom>
          <a:noFill/>
          <a:ln/>
        </p:spPr>
        <p:txBody>
          <a:bodyPr wrap="square" lIns="0" tIns="0" rIns="0" bIns="0" rtlCol="0" anchor="ctr"/>
          <a:lstStyle/>
          <a:p>
            <a:pPr indent="0" marL="0">
              <a:buNone/>
            </a:pPr>
            <a:r>
              <a:rPr lang="en-US" sz="2800" b="1" dirty="0">
                <a:solidFill>
                  <a:srgbClr val="2E2055"/>
                </a:solidFill>
                <a:latin typeface="Cambria" pitchFamily="34" charset="0"/>
                <a:ea typeface="Cambria" pitchFamily="34" charset="-122"/>
                <a:cs typeface="Cambria" pitchFamily="34" charset="-120"/>
              </a:rPr>
              <a:t>References</a:t>
            </a:r>
            <a:endParaRPr lang="en-US" sz="2800" dirty="0"/>
          </a:p>
        </p:txBody>
      </p:sp>
      <p:sp>
        <p:nvSpPr>
          <p:cNvPr id="5" name="Shape 3"/>
          <p:cNvSpPr/>
          <p:nvPr/>
        </p:nvSpPr>
        <p:spPr>
          <a:xfrm>
            <a:off x="457200" y="960120"/>
            <a:ext cx="11274552" cy="36576"/>
          </a:xfrm>
          <a:prstGeom prst="rect">
            <a:avLst/>
          </a:prstGeom>
          <a:solidFill>
            <a:srgbClr val="2E2055"/>
          </a:solidFill>
          <a:ln w="12700">
            <a:solidFill>
              <a:srgbClr val="2E2055"/>
            </a:solidFill>
            <a:prstDash val="solid"/>
          </a:ln>
        </p:spPr>
      </p:sp>
      <p:sp>
        <p:nvSpPr>
          <p:cNvPr id="6" name="Shape 4"/>
          <p:cNvSpPr/>
          <p:nvPr/>
        </p:nvSpPr>
        <p:spPr>
          <a:xfrm>
            <a:off x="640080" y="1280160"/>
            <a:ext cx="10927080" cy="5029200"/>
          </a:xfrm>
          <a:prstGeom prst="roundRect">
            <a:avLst>
              <a:gd name="adj" fmla="val 1455"/>
            </a:avLst>
          </a:prstGeom>
          <a:solidFill>
            <a:srgbClr val="F5F1FB"/>
          </a:solidFill>
          <a:ln w="12700">
            <a:solidFill>
              <a:srgbClr val="F5F1FB"/>
            </a:solidFill>
            <a:prstDash val="solid"/>
          </a:ln>
        </p:spPr>
      </p:sp>
      <p:sp>
        <p:nvSpPr>
          <p:cNvPr id="7" name="Text 5"/>
          <p:cNvSpPr/>
          <p:nvPr/>
        </p:nvSpPr>
        <p:spPr>
          <a:xfrm>
            <a:off x="777240" y="1371600"/>
            <a:ext cx="10652760" cy="4846320"/>
          </a:xfrm>
          <a:prstGeom prst="rect">
            <a:avLst/>
          </a:prstGeom>
          <a:noFill/>
          <a:ln/>
        </p:spPr>
        <p:txBody>
          <a:bodyPr wrap="square" lIns="1016" tIns="1016" rIns="1016" bIns="1016" rtlCol="0" anchor="t"/>
          <a:lstStyle/>
          <a:p>
            <a:pPr marL="342900" indent="-342900">
              <a:spcAft>
                <a:spcPts val="1000"/>
              </a:spcAft>
              <a:buSzPct val="100000"/>
              <a:buChar char="■"/>
            </a:pPr>
            <a:r>
              <a:rPr lang="en-US" sz="1600" dirty="0">
                <a:solidFill>
                  <a:srgbClr val="1F1A33"/>
                </a:solidFill>
                <a:latin typeface="Calibri" pitchFamily="34" charset="0"/>
                <a:ea typeface="Calibri" pitchFamily="34" charset="-122"/>
                <a:cs typeface="Calibri" pitchFamily="34" charset="-120"/>
              </a:rPr>
              <a:t>[6] Thomas, S., Krishna, A., Govind, S., Sahu, A.K. (2025). A novel image compression method using wavelet coefficients and Huffman coding. J. Eng. Res., 13(1): 361-370.</a:t>
            </a:r>
            <a:endParaRPr lang="en-US" sz="1600" dirty="0"/>
          </a:p>
          <a:p>
            <a:pPr marL="342900" indent="-342900">
              <a:spcAft>
                <a:spcPts val="1000"/>
              </a:spcAft>
              <a:buSzPct val="100000"/>
              <a:buChar char="■"/>
            </a:pPr>
            <a:r>
              <a:rPr lang="en-US" sz="1600" dirty="0">
                <a:solidFill>
                  <a:srgbClr val="1F1A33"/>
                </a:solidFill>
                <a:latin typeface="Calibri" pitchFamily="34" charset="0"/>
                <a:ea typeface="Calibri" pitchFamily="34" charset="-122"/>
                <a:cs typeface="Calibri" pitchFamily="34" charset="-120"/>
              </a:rPr>
              <a:t>[16] Ranjan, R., Kumar, P. (2023). An improved image compression algorithm using 2D DWT and PCA with canonical Huffman encoding. Entropy, 25(10): 1382.</a:t>
            </a:r>
            <a:endParaRPr lang="en-US" sz="1600" dirty="0"/>
          </a:p>
          <a:p>
            <a:pPr marL="342900" indent="-342900">
              <a:spcAft>
                <a:spcPts val="1000"/>
              </a:spcAft>
              <a:buSzPct val="100000"/>
              <a:buChar char="■"/>
            </a:pPr>
            <a:r>
              <a:rPr lang="en-US" sz="1600" dirty="0">
                <a:solidFill>
                  <a:srgbClr val="1F1A33"/>
                </a:solidFill>
                <a:latin typeface="Calibri" pitchFamily="34" charset="0"/>
                <a:ea typeface="Calibri" pitchFamily="34" charset="-122"/>
                <a:cs typeface="Calibri" pitchFamily="34" charset="-120"/>
              </a:rPr>
              <a:t>[17] Bilal, M., Ullah, Z., Mujahid, O., Fouzder, T. (2024). Fast Linde–Buzo–Gray (FLBG) algorithm for image compression through rescaling using bilinear interpolation. J. Imaging, 10(5): 124.</a:t>
            </a:r>
            <a:endParaRPr lang="en-US" sz="1600" dirty="0"/>
          </a:p>
          <a:p>
            <a:pPr marL="342900" indent="-342900">
              <a:spcAft>
                <a:spcPts val="1000"/>
              </a:spcAft>
              <a:buSzPct val="100000"/>
              <a:buChar char="■"/>
            </a:pPr>
            <a:r>
              <a:rPr lang="en-US" sz="1600" dirty="0">
                <a:solidFill>
                  <a:srgbClr val="1F1A33"/>
                </a:solidFill>
                <a:latin typeface="Calibri" pitchFamily="34" charset="0"/>
                <a:ea typeface="Calibri" pitchFamily="34" charset="-122"/>
                <a:cs typeface="Calibri" pitchFamily="34" charset="-120"/>
              </a:rPr>
              <a:t>Linde, Y., Buzo, A., Gray, R.M. (1980). An algorithm for vector quantizer design. IEEE Trans. Commun., 28(1): 84-95.</a:t>
            </a:r>
            <a:endParaRPr lang="en-US" sz="1600" dirty="0"/>
          </a:p>
          <a:p>
            <a:pPr marL="342900" indent="-342900">
              <a:spcAft>
                <a:spcPts val="1000"/>
              </a:spcAft>
              <a:buSzPct val="100000"/>
              <a:buChar char="■"/>
            </a:pPr>
            <a:r>
              <a:rPr lang="en-US" sz="1600" dirty="0">
                <a:solidFill>
                  <a:srgbClr val="1F1A33"/>
                </a:solidFill>
                <a:latin typeface="Calibri" pitchFamily="34" charset="0"/>
                <a:ea typeface="Calibri" pitchFamily="34" charset="-122"/>
                <a:cs typeface="Calibri" pitchFamily="34" charset="-120"/>
              </a:rPr>
              <a:t>Tanović, A. et al. (2024). ZINC 2024.  Papakyriakou, D. et al. (2025). Int. J. Comput. Appl.  Bystrov, O. et al. (2023). Proc. 7th Int. Conf. on Parallel, Distributed, GPU and Cloud Computing for Engineering.  Paul, R.K. et al. (2024).  Zangana, H.M. (2025).</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2026-10-17T11:54:07Z</dcterms:created>
  <dcterms:modified xsi:type="dcterms:W3CDTF">2026-10-17T11:54:07Z</dcterms:modified>
</cp:coreProperties>
</file>