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 values of 'This work' are those of the original (approved) implementation, thesis Tables 4.5 and 4.6. Source values checked against the papers: [6] Table 1 and Table 3; [16] Table 1; [17] Table 1 (Cameraman, FLBG).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0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SEMINAR  |  University of Babylon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Image Compression Using High-Performance Computing Strategies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quantization, delta coding and Huffman coding with speed-aware MPI on a hybrid P/E-core CPU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Student Ibtihal Hussien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Ahmed Badri  ·  Dr. Esraa Hadi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30936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406908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30936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Image Compression?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32552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image collections require a large amount of storage space.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1389888"/>
            <a:ext cx="109728" cy="32552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images reach the receiver sooner and use less network bandwidth.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89888"/>
            <a:ext cx="109728" cy="32552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compression ratio needs complex methods, so the compression itself must stay fast.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compression reduces the amount of data needed to represent an image.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Lossless and Lossy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298094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image is recovered exactly. Examples: RLE, Huffman, LZW.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89888"/>
            <a:ext cx="109728" cy="298094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information is discarded to reach a higher compression ratio. Examples: VQ, DCT, DWT.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709160"/>
            <a:ext cx="10561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 LBG vector quantization, followed by lossless delta coding and Huffman coding.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in Image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improves processing speed and efficiency when handling large data.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487168"/>
            <a:ext cx="109728" cy="307238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dominates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most time-consuming stage of the sequential program, so it is the stage worth parallelizing.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1688" y="2487168"/>
            <a:ext cx="109728" cy="307238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Data-parallel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training vector is assigned to its nearest codeword independently, so the work can be split across processes.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2487168"/>
            <a:ext cx="109728" cy="30723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CPU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P-cores and E-cores have different speeds, so an equal split can leave fast cores waiting.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Compression 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2011680"/>
                <a:gridCol w="3657600"/>
                <a:gridCol w="12801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Ranjan and Kumar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DWT + PCA + canonical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FLBG (LBG with bilinear rescaling)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25.3–26.8*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[16]: Lena 512 × 512, Table 1 (CR 4.4058, PSNR 34.7809 dB). [6]: near-lossless scheme. * [17]: FLBG PSNR over 0.15–0.625 bpp (CR not reported).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 reaches a much higher compression ratio than [6] and [16], at a lower PSNR.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Parallel Speedup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651760"/>
                <a:gridCol w="128016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Resources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Speedup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Zangana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1–16 GPUs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9.09× (16 GPUs)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Papakyriakou et al.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k-means clustering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2–48 MPI processes (24 Raspberry Pi nodes)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10× (181.8 s to 18.1 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Bystrov et al. (2023)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Discrete-element simulation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heterogeneous containers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6.0×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LBG 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MPI processes (6 P + 8 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9.19× (LBG); 5.00× (gray total); 6.84× (color total)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5F1FB"/>
          </a:solidFill>
          <a:ln w="25400">
            <a:solidFill>
              <a:srgbClr val="E0457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parallel studies use other compression algorithms on GPUs, or target clustering and simulation workloads. To our knowledge, none of the reviewed studies evaluates MPI-parallel LBG for image compression on a hybrid P/E-core CPU.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2801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Transmitting and storing uncompressed images consumes bandwidth and storage capacity.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97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514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 gives a compact representation, but codebook training is computationally expensive: it repeatedly computes distances between training vectors and codewords.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hybrid CPU, an equal distribution of training vectors causes workload imbalance: the faster P-cores finish early and wait for the slower E-cores at synchronization points.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LBG training and total compression time through speed-aware workload distribution, while preserving the compression ratio and the reconstruction quality of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252728"/>
            <a:ext cx="109728" cy="110642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Image Compression Framework Development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compress grayscale and color images by combining LBG vector quantization, delta coding, and Huffman coding.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32888"/>
            <a:ext cx="109728" cy="110642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LBG Execution-Time Reduction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reduce codebook-training time by parallelizing the computationally intensive operations of LBG using MPI.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13048"/>
            <a:ext cx="109728" cy="11064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4048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Distribution Improvement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distribute the training vectors according to the measured throughput of each MPI process on the P-cores and E-cores, and to improve performance compared with equal distribution.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093208"/>
            <a:ext cx="109728" cy="11064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Performance Evaluation and Result Verification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compression, reconstruction quality and parallel performance, and to verify that the parallel results match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per channel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processes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process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Process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processes work together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Process 0 only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F6FB5"/>
            </a:solidFill>
            <a:prstDash val="solid"/>
          </a:ln>
        </p:spPr>
      </p:sp>
      <p:pic>
        <p:nvPicPr>
          <p:cNvPr id="7" name="Image 0" descr="assets/ch3_fig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857"/>
            <a:ext cx="7132320" cy="31926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245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Block-based vector quantization (illustrative)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is divided into non-overlapping 4 × 4 blocks.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becomes a 16-dimensional vector.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× 512 image gives N = 16,384 training vectors.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the R, G and B channels are processed independently.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LBG Codebook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lbg_flow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77" y="1325880"/>
            <a:ext cx="6730646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global mean as the first codeword.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splitting (δ = 0.01) doubles the codebook size.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Lloyd refinement: assign each vector to its nearest codeword, then update the centroids.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ΔD ≤ ε or 100 iterations; repeat until K = 64.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LBG Training (MPI)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parallel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179" y="1234440"/>
            <a:ext cx="9898594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SPMD: every process runs the same program on its own chunk of vectors.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Nearest-codeword assignment is local and is the main cost of LBG.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combines sums, counts and distortion; every process updates the same codebook.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Gatherv collects the final indices on Process 0.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Balanced and Unbalanced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Workload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130" y="1325880"/>
            <a:ext cx="7049339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(Equal), P ≤ 4: each process gets N/P training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Unbalanced (Adaptive), P &gt; 4: each process gets a share proportional to its measured speed.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process r: q_r = N · s_r / Σ s_j, where s_r is the speed of process 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s_r is measured once by a short calibration run (3 trials, the first is a warm-up).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7794"/>
            <a:ext cx="7132320" cy="321677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difference between successive VQ indices (offset 128).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blocks are correlated, so the differences cluster around the offset.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(Lena): entropy falls from 5.39 to 4.67 bits per symbol.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490"/>
            <a:ext cx="11091672" cy="11818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154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246120"/>
            <a:ext cx="11091672" cy="2880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symbols receive shorter codewords, rare symbols longer ones (lossless).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Huffman codes and the encoded bitstream.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compressed size = codebook (K × 16 bytes, one byte per codeword element) + Huffman table + Huffman-coded data.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accounted as 5 bytes per used symbol (1 byte symbol + 4 bytes frequency) plus 10 bytes of fixed metadata. The program accounts this size; it does not write a stand-alone compressed file.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and Evaluation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→ delta values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9923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3756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deltas → VQ indices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87959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Codebook lookup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→ 4×4 block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75995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09828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9828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Reconstructed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→ 512×512 image</a:t>
            </a:r>
            <a:endParaRPr lang="en-US" sz="1600" dirty="0"/>
          </a:p>
        </p:txBody>
      </p:sp>
      <p:pic>
        <p:nvPicPr>
          <p:cNvPr id="17" name="Image 0" descr="assets/lena_color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2926080" cy="2926080"/>
          </a:xfrm>
          <a:prstGeom prst="rect">
            <a:avLst/>
          </a:prstGeom>
        </p:spPr>
      </p:pic>
      <p:pic>
        <p:nvPicPr>
          <p:cNvPr id="18" name="Image 1" descr="assets/lena_color_r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33172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1188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7200" y="562356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 (color): PSNR 28.91 dB, SSIM 0.7594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0" y="2331720"/>
            <a:ext cx="4892040" cy="3886200"/>
          </a:xfrm>
          <a:prstGeom prst="roundRect">
            <a:avLst>
              <a:gd name="adj" fmla="val 188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949440" y="2423160"/>
            <a:ext cx="4709160" cy="3703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reconstruction run on Process 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MSE, PSNR and SSIM (SSIM is computed in parallel); size: CR and BPP.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performance: time, speedup, efficiency, throughput, Karp–Flatt.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the reconstructed image (MD5) and the metrics are identical for the sequential run, P = 4, and P = 14 (Adaptive and Equal).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44168"/>
            <a:ext cx="109728" cy="14264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Core i7-13650HX: 6 P-cores and 8 E-cores (14 cores in total).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44168"/>
            <a:ext cx="109728" cy="142646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24.04, GCC 13.3 (-O2), Open MPI 4.1.6, written in C.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90088"/>
            <a:ext cx="109728" cy="14264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of 5 runs; governor set to performance; processes bound to cores, P-cores first.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220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0488" y="2990088"/>
            <a:ext cx="109728" cy="14264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standard 512 × 512 images: 4 grayscale and 4 color.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E20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36008"/>
            <a:ext cx="109728" cy="1426464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settings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 blocks, K = 64 codewords, δ = 0.01, ε = 0.0001 (relative improvement in distortion), at most 100 iterations per level.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17220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F2B1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636008"/>
            <a:ext cx="109728" cy="1426464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 for P ≤ 4) and Adaptive speed-aware (P &gt; 4).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and Quality Evaluation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Quality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EEF8F6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(CR)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Per Pixel (BPP)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Metric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formula is shown next to the result it measures.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6112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Grayscale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23.50   BPP 0.340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29.67 dB   SSIM 0.8190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26.54   BPP 0.301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29.11 dB   SSIM 0.8394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28.88   BPP 0.277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29.75 dB   SSIM 0.8855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24.75   BPP 0.323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29.41 dB   SSIM 0.7624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Color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24.00   BPP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28.91 dB   SSIM 0.7594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23.89   BPP 1.005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28.35 dB   SSIM 0.6964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26.44   BPP 0.908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29.47 dB   SSIM 0.8539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23.54   BPP 1.020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28.45 dB   SSIM 0.7520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Results (4 × 4 blocks, K = 64)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09728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 = S_orig / S_comp        BPP = 8 · S_comp / (M × N)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MSE = mean (I − Î)²        PSNR = 10·log₁₀(255² / MSE)  dB        SSIM: 11 × 11 Gaussian window, σ = 1.5</a:t>
            </a:r>
            <a:endParaRPr lang="en-US" sz="17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371600"/>
                <a:gridCol w="1371600"/>
                <a:gridCol w="1554480"/>
                <a:gridCol w="137160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(gray)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(color)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6217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MSE and PSNR are computed over the RGB channels; SSIM is the mean of the channel-wise values. CR = original size / (codebook + Huffman table + Huffman-coded data).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Entropy and Delta–Huffman Coding Efficiency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−Σ p(s) · log₂ p(s)   (bits / symbol)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ntrop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coding lowers the entropy of the index sequence from 5.30 to 4.19 bits on average (−1.10 bits).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 depends on the spatial correlation of the image: 0.73 bits (Lena) to 1.48 bits (Cameraman).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Huffman average code length (4.23 bits) is within 0.04 bits of the entropy after delta coding.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6-bit fixed-length indices, the index data is 21.5% to 38.3% smaller (mean 29.5%).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images, K = 64.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Verification: Parallel Results Equal Sequential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80160"/>
          <a:ext cx="10881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371600"/>
                <a:gridCol w="1280160"/>
                <a:gridCol w="1737360"/>
                <a:gridCol w="182880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 iterations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MD5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sequential run: parallel P = 4 (automatic), P = 14 (Adaptive) and P = 14 (forced Equal). Metrics: compression ratio, MSE, PSNR, SSIM and iteration count. MD5: checksum of the reconstructed image. Values shown are identical in all four runs.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Speedup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speedup reaches 9.19× on 14 processes.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Near-linear for P ≤ 6, where only P-cores are used.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slope drops once the slower E-cores join.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images; the bars show the minimum and maximum.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LBG stage. The total speedup is shown separately for gray and color two slides later.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Efficiency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S / 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fficienc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97% at P = 2 and stays at 90% or more up to P = 6 (P-cores only).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drops to 79% at P = 8, where the E-cores start to be used, and reaches 66% at P = 14.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E-cores are slower than the P-cores, so each added process contributes less than a full core.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stays near 0.04 for P ≥ 8: the serial fraction of LBG remains small.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Speedup: Grayscale and Color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otal_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speedup at P = 14: 5.00× (grayscale) and 6.84× (color); efficiency 35.7% and 48.9%.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lower than the LBG speedup (9.19×) because the work outside LBG (mainly image reading and file output) runs on Process 0.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gain more: LBG is 81% of their sequential time, against 77% for grayscale.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the whole program execution; the shaded bands show the minimum to maximum over the images of each type.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Time Goes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breakdow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741"/>
            <a:ext cx="7498080" cy="45625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is 77% (gray) and 81% (color) of the sequential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 = 14 it shrinks to 42% and 60% of the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stages do not shrink in the same way, so they become the larger part: about 58% (gray) and 40% (color).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Amdahl's law this limits the total speedup to 5.00× (gray) and 6.84× (color), against 9.19× for LBG alone.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vs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eqad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016"/>
            <a:ext cx="7498080" cy="45640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Equal distribution, the faster P-cores finish early and wait for the E-cores: 7.61×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distribution reaches 9.19×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time is reduced by 28.3%, 23.6%, 19.8% and 17.2% at P = 8, 10, 12 and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reduced by 17.9% to 8.8%.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adaptive-distribution benefit was observed when only P-cores were used (P ≤ 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reconstructed images are identical in both cases.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values here come from the Equal-vs-Adaptive runs, so they can differ by up to 0.02× from the main speedup runs.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= I_size / T_total   (MiB/s)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hroughput_ch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695" y="1645920"/>
            <a:ext cx="6983091" cy="4617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= original image size / total execution time (MiB/s).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Grayscale: 1.30 → 3.35 MiB/s from P = 2 to P = 14.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Color: 1.42 → 4.54 MiB/s.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hold three times more data, but their total time grows by only about 2.2× at P = 14, so their throughput is higher.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bands: minimum to maximum over the images.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Karp–Flatt Metric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777240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77724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(1/S − 1/P) / (1 − 1/P)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7772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188720"/>
                <a:gridCol w="1188720"/>
                <a:gridCol w="1280160"/>
                <a:gridCol w="118872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852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mean of the 8 images. Total: mean of the 4 grayscale and of the 4 color images, separately. KF = Karp–Flatt, Eff. = efficiency.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458200" y="1280160"/>
            <a:ext cx="3291840" cy="4846320"/>
          </a:xfrm>
          <a:prstGeom prst="roundRect">
            <a:avLst>
              <a:gd name="adj" fmla="val 222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49640" y="1371600"/>
            <a:ext cx="3108960" cy="4663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estimates the serial fraction of the program from the measured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about 0.04 for P ≥ 8; the serial fraction stays small and does not grow with 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about 0.14 (gray) and 0.08 (color); the work on Process 0 (mainly image reading and file output) limits the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is lower because LBG is a larger share of its time (81% against 77%).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image compression framework was implemented: LBG vector quantization, delta coding and Huffman coding.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was parallelized with MPI: 9.19× speedup on 14 processes (efficiency ≈ 66%); total speedup 5.00× (gray) and 6.84×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speed-aware (Adaptive) distribution reduced LBG time by 17.2–28.3% compared with Equal distribution (P = 8 to 14).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parallel results were identical to the sequential ones: same reconstructed images and quality metrics.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mean PSNR 29.49 dB and SSIM 0.8266 (gray); 28.80 dB and 0.7654 (color), at a mean compression ratio of 25.92 (gray) and 24.47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speedup is limited by the work that runs on Process 0, mainly image reading and file output.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the rate–distortion performance: color transform (YCbCr instead of RGB), prediction or context modeling of the VQ indices, and variable block sizes.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the LBG assignment step, which dominates the run time, with GPUs (CUDA or OpenCL) combined with MPI.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multi-node clusters, larger images and image sequences that share one codebook.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the workload during the run, using the measured compute time of each process and a load-imbalance measure.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Thomas, S., Krishna, A., Govind, S., Sahu, A.K. (2025). A novel image compression method using wavelet coefficients and Huffman coding. J. Eng. Res., 13(1): 361-370.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Ranjan, R., Kumar, P. (2023). An improved image compression algorithm using 2D DWT and PCA with canonical Huffman encoding. Entropy, 25(10): 1382.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Bilal, M., Ullah, Z., Mujahid, O., Fouzder, T. (2024). Fast Linde–Buzo–Gray (FLBG) algorithm for image compression through rescaling using bilinear interpolation. J. Imaging, 10(5): 124.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Linde, Y., Buzo, A., Gray, R.M. (1980). An algorithm for vector quantizer design. IEEE Trans. Commun., 28(1): 84-95.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Zangana, H.M. (2025). Design and implementation of a novel parallel algorithm for efficient image compression in high-performance computing. EAI Endorsed Trans. AI Robot., 4. doi:10.4108/airo.7832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Bystrov, O., Pacevič, R., Kačeniauskas, A. (2023). Hybrid parallelization of discrete element software for heterogeneous resources. Proc. 7th Int. Conf. on Parallel, Distributed, GPU and Cloud Computing for Engineering, Civil-Comp Press, Paper 4.1. doi:10.4203/ccc.4.4.1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Papakyriakou, D., Barbounakis, I.S. (2025). Parallel k-means benchmarking on a CPU-bound Beowulf cluster of Raspberry Pi nodes: an MPI-based scaling analysis with CPU-centric performance evaluation. Int. J. Comput. Appl., 187(32).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Paul, R.K., Jena, S., Chandran, S., Bandyopadhyay, A., Swain, S. (2024). Image compression scheme based on optimized K-means clustering and higher-level decomposed DWT. Procedia Comput. Sci., 235: 642-655.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E"/>
          </a:solidFill>
          <a:ln w="12700">
            <a:solidFill>
              <a:srgbClr val="FFF8E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880000">
            <a:off x="4626864" y="429768"/>
            <a:ext cx="438912" cy="43891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978408" y="70408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7100000">
            <a:off x="4690872" y="6190488"/>
            <a:ext cx="329184" cy="329184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7160000">
            <a:off x="1837944" y="877824"/>
            <a:ext cx="246888" cy="246888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6800000">
            <a:off x="6757416" y="1325880"/>
            <a:ext cx="192024" cy="1920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60000">
            <a:off x="9281160" y="4526280"/>
            <a:ext cx="256032" cy="256032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18660000">
            <a:off x="10149840" y="4672584"/>
            <a:ext cx="320040" cy="320040"/>
          </a:xfrm>
          <a:prstGeom prst="triangl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180000">
            <a:off x="8951976" y="941832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7080000">
            <a:off x="11365992" y="4343400"/>
            <a:ext cx="374904" cy="374904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780000">
            <a:off x="6135624" y="1033272"/>
            <a:ext cx="438912" cy="438912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580000">
            <a:off x="6144768" y="256032"/>
            <a:ext cx="320040" cy="3200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9740000">
            <a:off x="10332720" y="1088136"/>
            <a:ext cx="393192" cy="393192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4040000">
            <a:off x="8449056" y="256032"/>
            <a:ext cx="256032" cy="25603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3180000">
            <a:off x="914400" y="6263640"/>
            <a:ext cx="310896" cy="310896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12780000">
            <a:off x="1581912" y="210312"/>
            <a:ext cx="237744" cy="23774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60000">
            <a:off x="9592056" y="1051560"/>
            <a:ext cx="192024" cy="19202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5720000">
            <a:off x="7470648" y="411480"/>
            <a:ext cx="374904" cy="37490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9200000">
            <a:off x="5340096" y="457200"/>
            <a:ext cx="274320" cy="27432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5420000">
            <a:off x="219456" y="5111496"/>
            <a:ext cx="310896" cy="310896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180000">
            <a:off x="9729216" y="146304"/>
            <a:ext cx="347472" cy="34747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8880000">
            <a:off x="2386584" y="210312"/>
            <a:ext cx="438912" cy="438912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4620000">
            <a:off x="2971800" y="795528"/>
            <a:ext cx="493776" cy="493776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7140000">
            <a:off x="9043416" y="146304"/>
            <a:ext cx="292608" cy="29260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6200000">
            <a:off x="3630168" y="932688"/>
            <a:ext cx="356616" cy="356616"/>
          </a:xfrm>
          <a:prstGeom prst="ellips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7560000">
            <a:off x="10442448" y="329184"/>
            <a:ext cx="274320" cy="27432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7220000">
            <a:off x="3200400" y="210312"/>
            <a:ext cx="283464" cy="28346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7980000">
            <a:off x="7662672" y="1234440"/>
            <a:ext cx="292608" cy="292608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3240000">
            <a:off x="8714232" y="4489704"/>
            <a:ext cx="420624" cy="42062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2240000">
            <a:off x="8211312" y="5769864"/>
            <a:ext cx="237744" cy="237744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2640000">
            <a:off x="8375904" y="941832"/>
            <a:ext cx="219456" cy="219456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4740000">
            <a:off x="6922008" y="6272784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6660000">
            <a:off x="7909560" y="6419088"/>
            <a:ext cx="164592" cy="164592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4100000">
            <a:off x="6793992" y="192024"/>
            <a:ext cx="438912" cy="43891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520000">
            <a:off x="4005072" y="6227064"/>
            <a:ext cx="411480" cy="41148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480000">
            <a:off x="11237976" y="1024128"/>
            <a:ext cx="411480" cy="41148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2100000">
            <a:off x="310896" y="804672"/>
            <a:ext cx="429768" cy="42976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rot="16980000">
            <a:off x="301752" y="155448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2520000">
            <a:off x="5586984" y="6373368"/>
            <a:ext cx="173736" cy="17373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4500000">
            <a:off x="210312" y="1527048"/>
            <a:ext cx="320040" cy="320040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2220000">
            <a:off x="2642616" y="6208776"/>
            <a:ext cx="265176" cy="265176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320000">
            <a:off x="4800600" y="1115568"/>
            <a:ext cx="393192" cy="39319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6080000">
            <a:off x="1682496" y="6391656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1680000">
            <a:off x="4005072" y="210312"/>
            <a:ext cx="320040" cy="320040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10620000">
            <a:off x="5541264" y="1143000"/>
            <a:ext cx="246888" cy="2468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9780000">
            <a:off x="11338560" y="301752"/>
            <a:ext cx="374904" cy="374904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rot="19500000">
            <a:off x="3282696" y="6208776"/>
            <a:ext cx="292608" cy="292608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16260000">
            <a:off x="338328" y="3090672"/>
            <a:ext cx="173736" cy="17373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4640000">
            <a:off x="10725912" y="4745736"/>
            <a:ext cx="192024" cy="192024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169164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6B4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</a:t>
            </a:r>
            <a:pPr algn="ctr" indent="0" marL="0">
              <a:buNone/>
            </a:pPr>
            <a:r>
              <a:rPr lang="en-US" sz="8800" b="1" dirty="0">
                <a:solidFill>
                  <a:srgbClr val="E045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You!</a:t>
            </a:r>
            <a:endParaRPr lang="en-US" sz="8800" dirty="0"/>
          </a:p>
        </p:txBody>
      </p:sp>
      <p:sp>
        <p:nvSpPr>
          <p:cNvPr id="52" name="Text 50"/>
          <p:cNvSpPr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attention</a:t>
            </a:r>
            <a:endParaRPr lang="en-US" sz="3600" dirty="0"/>
          </a:p>
        </p:txBody>
      </p:sp>
      <p:sp>
        <p:nvSpPr>
          <p:cNvPr id="53" name="Shape 51"/>
          <p:cNvSpPr/>
          <p:nvPr/>
        </p:nvSpPr>
        <p:spPr>
          <a:xfrm>
            <a:off x="1097280" y="4617720"/>
            <a:ext cx="1463040" cy="1463040"/>
          </a:xfrm>
          <a:prstGeom prst="smileyFace">
            <a:avLst/>
          </a:prstGeom>
          <a:solidFill>
            <a:srgbClr val="FFC93C"/>
          </a:solidFill>
          <a:ln w="38100">
            <a:solidFill>
              <a:srgbClr val="2E205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26080" y="4800600"/>
            <a:ext cx="5120640" cy="1097280"/>
          </a:xfrm>
          <a:prstGeom prst="roundRect">
            <a:avLst>
              <a:gd name="adj" fmla="val 25000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rot="16200000">
            <a:off x="2606040" y="5166360"/>
            <a:ext cx="411480" cy="365760"/>
          </a:xfrm>
          <a:prstGeom prst="triangl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2608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3600" dirty="0"/>
          </a:p>
        </p:txBody>
      </p:sp>
      <p:sp>
        <p:nvSpPr>
          <p:cNvPr id="57" name="Text 55"/>
          <p:cNvSpPr/>
          <p:nvPr/>
        </p:nvSpPr>
        <p:spPr>
          <a:xfrm>
            <a:off x="8686800" y="5349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Ibtihal Hussien</a:t>
            </a:r>
            <a:endParaRPr lang="en-US" sz="18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Babylon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2026-10-19T14:32:08Z</dcterms:created>
  <dcterms:modified xsi:type="dcterms:W3CDTF">2026-10-19T14:32:08Z</dcterms:modified>
</cp:coreProperties>
</file>