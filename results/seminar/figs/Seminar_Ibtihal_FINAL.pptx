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notesMasterIdLst>
    <p:notesMasterId r:id="rId3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notesMaster" Target="notesMasters/notesMaster1.xml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 values of 'This work' come from the previous Huffman-table accounting. Replace them with the CR column of correctness.csv after the rerun (expected change about -1.2%). Source values checked against the papers: [6] Table 1 and Table 3; [16] Table 1; [17] Table 1 (Cameraman, FLBG).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E20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E2055"/>
          </a:solidFill>
          <a:ln w="12700">
            <a:solidFill>
              <a:srgbClr val="2E205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6400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BD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MSc SEMINAR  |  University of Babylon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146304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Parallel Image Compression Using High-Performance Computing Strategies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822960" y="33832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LBG vector quantization, delta coding and Huffman coding with speed-aware MPI on a hybrid P/E-core CPU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22960" y="484632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C9BD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 </a:t>
            </a:r>
            <a:pPr indent="0" marL="0">
              <a:spcAft>
                <a:spcPts val="800"/>
              </a:spcAft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MSc. Student Ibtihal Hussien</a:t>
            </a:r>
            <a:endParaRPr lang="en-US" sz="20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C9BD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Supervised by  </a:t>
            </a:r>
            <a:pPr indent="0" marL="0">
              <a:spcAft>
                <a:spcPts val="800"/>
              </a:spcAft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Ahmed Badri  ·  Dr. Esraa Hadi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920240" cy="502920"/>
          </a:xfrm>
          <a:prstGeom prst="roundRect">
            <a:avLst>
              <a:gd name="adj" fmla="val 18182"/>
            </a:avLst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Outline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5603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Outline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325880"/>
            <a:ext cx="5303520" cy="1005840"/>
          </a:xfrm>
          <a:prstGeom prst="roundRect">
            <a:avLst>
              <a:gd name="adj" fmla="val 9091"/>
            </a:avLst>
          </a:prstGeom>
          <a:solidFill>
            <a:srgbClr val="F5F1FB"/>
          </a:solidFill>
          <a:ln w="19050">
            <a:solidFill>
              <a:srgbClr val="6B4FA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508760"/>
            <a:ext cx="640080" cy="640080"/>
          </a:xfrm>
          <a:prstGeom prst="ellipse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15087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645920" y="132588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Introduction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6309360" y="1325880"/>
            <a:ext cx="5303520" cy="1005840"/>
          </a:xfrm>
          <a:prstGeom prst="roundRect">
            <a:avLst>
              <a:gd name="adj" fmla="val 9091"/>
            </a:avLst>
          </a:prstGeom>
          <a:solidFill>
            <a:srgbClr val="F5F1FB"/>
          </a:solidFill>
          <a:ln w="19050">
            <a:solidFill>
              <a:srgbClr val="6B4FA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92240" y="1508760"/>
            <a:ext cx="640080" cy="640080"/>
          </a:xfrm>
          <a:prstGeom prst="ellipse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92240" y="15087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7315200" y="132588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Literature Review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640080" y="2606040"/>
            <a:ext cx="5303520" cy="1005840"/>
          </a:xfrm>
          <a:prstGeom prst="roundRect">
            <a:avLst>
              <a:gd name="adj" fmla="val 9091"/>
            </a:avLst>
          </a:prstGeom>
          <a:solidFill>
            <a:srgbClr val="F5F1FB"/>
          </a:solidFill>
          <a:ln w="19050">
            <a:solidFill>
              <a:srgbClr val="E0457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" y="2788920"/>
            <a:ext cx="640080" cy="640080"/>
          </a:xfrm>
          <a:prstGeom prst="ellipse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2788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645920" y="260604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 Statement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6309360" y="2606040"/>
            <a:ext cx="5303520" cy="1005840"/>
          </a:xfrm>
          <a:prstGeom prst="roundRect">
            <a:avLst>
              <a:gd name="adj" fmla="val 9091"/>
            </a:avLst>
          </a:prstGeom>
          <a:solidFill>
            <a:srgbClr val="F5F1FB"/>
          </a:solidFill>
          <a:ln w="19050">
            <a:solidFill>
              <a:srgbClr val="E0457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92240" y="2788920"/>
            <a:ext cx="640080" cy="640080"/>
          </a:xfrm>
          <a:prstGeom prst="ellipse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92240" y="2788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7315200" y="260604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Thesis Objectives</a:t>
            </a:r>
            <a:endParaRPr lang="en-US" sz="2400" dirty="0"/>
          </a:p>
        </p:txBody>
      </p:sp>
      <p:sp>
        <p:nvSpPr>
          <p:cNvPr id="22" name="Shape 20"/>
          <p:cNvSpPr/>
          <p:nvPr/>
        </p:nvSpPr>
        <p:spPr>
          <a:xfrm>
            <a:off x="640080" y="3886200"/>
            <a:ext cx="5303520" cy="1005840"/>
          </a:xfrm>
          <a:prstGeom prst="roundRect">
            <a:avLst>
              <a:gd name="adj" fmla="val 9091"/>
            </a:avLst>
          </a:prstGeom>
          <a:solidFill>
            <a:srgbClr val="F5F1FB"/>
          </a:solidFill>
          <a:ln w="19050">
            <a:solidFill>
              <a:srgbClr val="E07B2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22960" y="4069080"/>
            <a:ext cx="640080" cy="640080"/>
          </a:xfrm>
          <a:prstGeom prst="ellipse">
            <a:avLst/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2960" y="40690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1645920" y="388620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Proposed Work</a:t>
            </a:r>
            <a:endParaRPr lang="en-US" sz="2400" dirty="0"/>
          </a:p>
        </p:txBody>
      </p:sp>
      <p:sp>
        <p:nvSpPr>
          <p:cNvPr id="26" name="Shape 24"/>
          <p:cNvSpPr/>
          <p:nvPr/>
        </p:nvSpPr>
        <p:spPr>
          <a:xfrm>
            <a:off x="6309360" y="3886200"/>
            <a:ext cx="5303520" cy="1005840"/>
          </a:xfrm>
          <a:prstGeom prst="roundRect">
            <a:avLst>
              <a:gd name="adj" fmla="val 9091"/>
            </a:avLst>
          </a:prstGeom>
          <a:solidFill>
            <a:srgbClr val="F5F1FB"/>
          </a:solidFill>
          <a:ln w="19050">
            <a:solidFill>
              <a:srgbClr val="2A9D8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492240" y="406908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92240" y="40690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7315200" y="388620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Experimental Results</a:t>
            </a:r>
            <a:endParaRPr lang="en-US" sz="2400" dirty="0"/>
          </a:p>
        </p:txBody>
      </p:sp>
      <p:sp>
        <p:nvSpPr>
          <p:cNvPr id="30" name="Shape 28"/>
          <p:cNvSpPr/>
          <p:nvPr/>
        </p:nvSpPr>
        <p:spPr>
          <a:xfrm>
            <a:off x="640080" y="5166360"/>
            <a:ext cx="5303520" cy="1005840"/>
          </a:xfrm>
          <a:prstGeom prst="roundRect">
            <a:avLst>
              <a:gd name="adj" fmla="val 9091"/>
            </a:avLst>
          </a:prstGeom>
          <a:solidFill>
            <a:srgbClr val="F5F1FB"/>
          </a:solidFill>
          <a:ln w="19050">
            <a:solidFill>
              <a:srgbClr val="2E205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22960" y="5349240"/>
            <a:ext cx="640080" cy="640080"/>
          </a:xfrm>
          <a:prstGeom prst="ellipse">
            <a:avLst/>
          </a:prstGeom>
          <a:solidFill>
            <a:srgbClr val="2E2055"/>
          </a:solidFill>
          <a:ln w="12700">
            <a:solidFill>
              <a:srgbClr val="2E205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22960" y="53492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1645920" y="516636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</a:t>
            </a:r>
            <a:endParaRPr lang="en-US" sz="2400" dirty="0"/>
          </a:p>
        </p:txBody>
      </p:sp>
      <p:sp>
        <p:nvSpPr>
          <p:cNvPr id="34" name="Shape 32"/>
          <p:cNvSpPr/>
          <p:nvPr/>
        </p:nvSpPr>
        <p:spPr>
          <a:xfrm>
            <a:off x="6309360" y="5166360"/>
            <a:ext cx="5303520" cy="1005840"/>
          </a:xfrm>
          <a:prstGeom prst="roundRect">
            <a:avLst>
              <a:gd name="adj" fmla="val 9091"/>
            </a:avLst>
          </a:prstGeom>
          <a:solidFill>
            <a:srgbClr val="F5F1FB"/>
          </a:solidFill>
          <a:ln w="19050">
            <a:solidFill>
              <a:srgbClr val="2E205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492240" y="5349240"/>
            <a:ext cx="640080" cy="640080"/>
          </a:xfrm>
          <a:prstGeom prst="ellipse">
            <a:avLst/>
          </a:prstGeom>
          <a:solidFill>
            <a:srgbClr val="2E2055"/>
          </a:solidFill>
          <a:ln w="12700">
            <a:solidFill>
              <a:srgbClr val="2E205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92240" y="53492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2200" dirty="0"/>
          </a:p>
        </p:txBody>
      </p:sp>
      <p:sp>
        <p:nvSpPr>
          <p:cNvPr id="37" name="Text 35"/>
          <p:cNvSpPr/>
          <p:nvPr/>
        </p:nvSpPr>
        <p:spPr>
          <a:xfrm>
            <a:off x="7315200" y="516636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Future Work</a:t>
            </a:r>
            <a:endParaRPr lang="en-US" sz="2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920240" cy="502920"/>
          </a:xfrm>
          <a:prstGeom prst="roundRect">
            <a:avLst>
              <a:gd name="adj" fmla="val 18182"/>
            </a:avLst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5603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Image Compression?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371600"/>
            <a:ext cx="352044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22225">
            <a:solidFill>
              <a:srgbClr val="6B4FA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1389888"/>
            <a:ext cx="109728" cy="3255264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1417320"/>
            <a:ext cx="3108960" cy="3200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</a:t>
            </a:r>
            <a:endParaRPr lang="en-US" sz="2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image collections require a large amount of storage space.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4343400" y="1371600"/>
            <a:ext cx="352044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22225">
            <a:solidFill>
              <a:srgbClr val="E0457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61688" y="1389888"/>
            <a:ext cx="109728" cy="3255264"/>
          </a:xfrm>
          <a:prstGeom prst="rect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17720" y="1417320"/>
            <a:ext cx="3108960" cy="3200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Transmission</a:t>
            </a:r>
            <a:endParaRPr lang="en-US" sz="2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Smaller images reach the receiver sooner and use less network bandwidth.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8046720" y="1371600"/>
            <a:ext cx="352044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22225">
            <a:solidFill>
              <a:srgbClr val="2A9D8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065008" y="1389888"/>
            <a:ext cx="109728" cy="32552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21040" y="1417320"/>
            <a:ext cx="3108960" cy="3200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Computation</a:t>
            </a:r>
            <a:endParaRPr lang="en-US" sz="2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good compression ratio needs complex methods, so the compression itself must stay fast.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640080" y="507492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Image compression reduces the amount of data needed to represent an image.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920240" cy="502920"/>
          </a:xfrm>
          <a:prstGeom prst="roundRect">
            <a:avLst>
              <a:gd name="adj" fmla="val 18182"/>
            </a:avLst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5603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Lossless and Lossy Compression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371600"/>
            <a:ext cx="5394960" cy="301752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22225">
            <a:solidFill>
              <a:srgbClr val="2A9D8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1389888"/>
            <a:ext cx="109728" cy="298094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1417320"/>
            <a:ext cx="4983480" cy="2926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6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Lossless</a:t>
            </a:r>
            <a:endParaRPr lang="en-US" sz="2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original image is recovered exactly. Examples: RLE, Huffman, LZW.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6172200" y="1371600"/>
            <a:ext cx="5394960" cy="301752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22225">
            <a:solidFill>
              <a:srgbClr val="E07B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190488" y="1389888"/>
            <a:ext cx="109728" cy="2980944"/>
          </a:xfrm>
          <a:prstGeom prst="rect">
            <a:avLst/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46520" y="1417320"/>
            <a:ext cx="4983480" cy="2926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6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Lossy</a:t>
            </a:r>
            <a:endParaRPr lang="en-US" sz="2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information is discarded to reach a higher compression ratio. Examples: VQ, DCT, DWT.</a:t>
            </a:r>
            <a:endParaRPr lang="en-US" sz="2600" dirty="0"/>
          </a:p>
        </p:txBody>
      </p:sp>
      <p:sp>
        <p:nvSpPr>
          <p:cNvPr id="12" name="Shape 10"/>
          <p:cNvSpPr/>
          <p:nvPr/>
        </p:nvSpPr>
        <p:spPr>
          <a:xfrm>
            <a:off x="640080" y="4709160"/>
            <a:ext cx="10927080" cy="1188720"/>
          </a:xfrm>
          <a:prstGeom prst="roundRect">
            <a:avLst>
              <a:gd name="adj" fmla="val 7692"/>
            </a:avLst>
          </a:prstGeom>
          <a:solidFill>
            <a:srgbClr val="F5F1FB"/>
          </a:solidFill>
          <a:ln w="19050">
            <a:solidFill>
              <a:srgbClr val="6B4FA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4709160"/>
            <a:ext cx="10561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work: </a:t>
            </a:r>
            <a:pPr indent="0" marL="0">
              <a:buNone/>
            </a:pPr>
            <a:r>
              <a:rPr lang="en-US" sz="21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lossy LBG vector quantization, followed by lossless delta coding and Huffman coding.</a:t>
            </a:r>
            <a:endParaRPr lang="en-US" sz="2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920240" cy="502920"/>
          </a:xfrm>
          <a:prstGeom prst="roundRect">
            <a:avLst>
              <a:gd name="adj" fmla="val 18182"/>
            </a:avLst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5603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Parallel Processing in Image Compression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28016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Parallel processing improves processing speed and efficiency when handling large data.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640080" y="2468880"/>
            <a:ext cx="3520440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22225">
            <a:solidFill>
              <a:srgbClr val="E07B2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58368" y="2487168"/>
            <a:ext cx="109728" cy="3072384"/>
          </a:xfrm>
          <a:prstGeom prst="rect">
            <a:avLst/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2514600"/>
            <a:ext cx="3108960" cy="3017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LBG training dominates</a:t>
            </a:r>
            <a:endParaRPr lang="en-US" sz="2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the most time-consuming stage of the sequential program, so it is the stage worth parallelizing.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343400" y="2468880"/>
            <a:ext cx="3520440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22225">
            <a:solidFill>
              <a:srgbClr val="6B4FA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361688" y="2487168"/>
            <a:ext cx="109728" cy="3072384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17720" y="2514600"/>
            <a:ext cx="3108960" cy="3017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Data-parallel</a:t>
            </a:r>
            <a:endParaRPr lang="en-US" sz="2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training vector is assigned to its nearest codeword independently, so the work can be split across processes.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8046720" y="2468880"/>
            <a:ext cx="3520440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22225">
            <a:solidFill>
              <a:srgbClr val="2A9D8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065008" y="2487168"/>
            <a:ext cx="109728" cy="307238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21040" y="2514600"/>
            <a:ext cx="3108960" cy="3017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CPU</a:t>
            </a:r>
            <a:endParaRPr lang="en-US" sz="2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P-cores and E-cores have different speeds, so an equal split can leave fast cores waiting.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377440" cy="502920"/>
          </a:xfrm>
          <a:prstGeom prst="roundRect">
            <a:avLst>
              <a:gd name="adj" fmla="val 18182"/>
            </a:avLst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Review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3017520" y="274320"/>
            <a:ext cx="9144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Related Work: Compression Quality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234440"/>
          <a:ext cx="1088136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1371600"/>
                <a:gridCol w="2011680"/>
                <a:gridCol w="3657600"/>
                <a:gridCol w="1280160"/>
                <a:gridCol w="173736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Image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Study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Algorithm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PSNR (dB)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[6]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Lena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Thomas et al.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Wavelet coefficients + Huffman coding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54.28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[16]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Lena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Ranjan and Kumar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2D DWT + PCA + canonical Huffman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4.41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34.78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This work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LBG-VQ + delta + Huffman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23.50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29.67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[6]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Boat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Thomas et al.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Wavelet coefficients + Huffman coding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54.07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This work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LBG-VQ + delta + Huffman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26.54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29.11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[17]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Cameraman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Bilal et al.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FLBG (LBG with bilinear rescaling)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25.3–26.8*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This work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LBG-VQ + delta + Huffman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28.88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29.75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640080" y="50749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[16]: Lena 512 × 512, Table 1 (CR 4.4058, PSNR 34.7809 dB). [6]: near-lossless scheme. * [17]: FLBG PSNR over 0.15–0.625 bpp (CR not reported).</a:t>
            </a:r>
            <a:endParaRPr lang="en-US" sz="1200" dirty="0"/>
          </a:p>
        </p:txBody>
      </p:sp>
      <p:sp>
        <p:nvSpPr>
          <p:cNvPr id="9" name="Text 5"/>
          <p:cNvSpPr/>
          <p:nvPr/>
        </p:nvSpPr>
        <p:spPr>
          <a:xfrm>
            <a:off x="640080" y="585216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work reaches a much higher compression ratio than [6] and [16], at a lower PSNR.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377440" cy="502920"/>
          </a:xfrm>
          <a:prstGeom prst="roundRect">
            <a:avLst>
              <a:gd name="adj" fmla="val 18182"/>
            </a:avLst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Review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3017520" y="274320"/>
            <a:ext cx="9144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Related Work: Parallel Speedup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234440"/>
          <a:ext cx="108813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468880"/>
                <a:gridCol w="2651760"/>
                <a:gridCol w="1280160"/>
                <a:gridCol w="2103120"/>
              </a:tblGrid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Study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Application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Parallel Resources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Reported Speedup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Zangana (2025)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Image compression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1–16 GPUs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GPU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9.09× (16 GPUs)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C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Papakyriakou et al. (2025)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MPI-based k-means clustering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2–48 MPI processes (24 Raspberry Pi nodes)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processes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10× (181.8 s to 18.1 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Bystrov et al. (2023)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Discrete-element simulation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 heterogeneous containers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Sequential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 to 6.0×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C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This work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6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MPI-based LBG image compression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6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 MPI processes (6 P + 8 E)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6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Sequential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6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9.19× (LBG); 5.00× (gray total); 6.84× (color total)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6F6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40080" y="4754880"/>
            <a:ext cx="10881360" cy="1417320"/>
          </a:xfrm>
          <a:prstGeom prst="roundRect">
            <a:avLst>
              <a:gd name="adj" fmla="val 6452"/>
            </a:avLst>
          </a:prstGeom>
          <a:solidFill>
            <a:srgbClr val="F5F1FB"/>
          </a:solidFill>
          <a:ln w="25400">
            <a:solidFill>
              <a:srgbClr val="E0457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4754880"/>
            <a:ext cx="105156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gap  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parallel studies use other compression algorithms on GPUs, or target clustering and simulation workloads. To our knowledge, none of the reviewed studies evaluates MPI-parallel LBG for image compression on a hybrid P/E-core CPU.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286000" cy="502920"/>
          </a:xfrm>
          <a:prstGeom prst="roundRect">
            <a:avLst>
              <a:gd name="adj" fmla="val 18182"/>
            </a:avLst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926080" y="274320"/>
            <a:ext cx="9235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 Statement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463040"/>
            <a:ext cx="685800" cy="685800"/>
          </a:xfrm>
          <a:prstGeom prst="ellipse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46304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554480" y="1280160"/>
            <a:ext cx="9966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Transmitting and storing uncompressed images consumes bandwidth and storage capacity.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40080" y="2697480"/>
            <a:ext cx="685800" cy="685800"/>
          </a:xfrm>
          <a:prstGeom prst="ellipse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974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554480" y="2514600"/>
            <a:ext cx="9966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LBG vector quantization gives a compact representation, but codebook training is computationally expensive: it repeatedly computes distances between training vectors and codewords.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640080" y="3931920"/>
            <a:ext cx="685800" cy="685800"/>
          </a:xfrm>
          <a:prstGeom prst="ellipse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39319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554480" y="3749040"/>
            <a:ext cx="9966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 hybrid CPU, an equal distribution of training vectors causes workload imbalance: the faster P-cores finish early and wait for the slower E-cores at synchronization points.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640080" y="5074920"/>
            <a:ext cx="10927080" cy="1280160"/>
          </a:xfrm>
          <a:prstGeom prst="roundRect">
            <a:avLst>
              <a:gd name="adj" fmla="val 7143"/>
            </a:avLst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8680" y="5074920"/>
            <a:ext cx="10469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LBG training and total compression time through speed-aware workload distribution, while preserving the compression ratio and the reconstruction quality of the sequential implementation.</a:t>
            </a:r>
            <a:endParaRPr lang="en-US" sz="1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286000" cy="502920"/>
          </a:xfrm>
          <a:prstGeom prst="roundRect">
            <a:avLst>
              <a:gd name="adj" fmla="val 18182"/>
            </a:avLst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926080" y="274320"/>
            <a:ext cx="9235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Thesis Objectives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234440"/>
            <a:ext cx="1092708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6B4FA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1252728"/>
            <a:ext cx="109728" cy="1106424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1280160"/>
            <a:ext cx="10515600" cy="1051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9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Image Compression Framework Development</a:t>
            </a:r>
            <a:endParaRPr lang="en-US" sz="19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compress grayscale and color images by combining LBG vector quantization, delta coding, and Huffman coding.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640080" y="2514600"/>
            <a:ext cx="1092708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E07B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2532888"/>
            <a:ext cx="109728" cy="1106424"/>
          </a:xfrm>
          <a:prstGeom prst="rect">
            <a:avLst/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2560320"/>
            <a:ext cx="10515600" cy="1051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9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LBG Execution-Time Reduction</a:t>
            </a:r>
            <a:endParaRPr lang="en-US" sz="19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reduce codebook-training time by parallelizing the computationally intensive operations of LBG using MPI.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640080" y="3794760"/>
            <a:ext cx="1092708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2A9D8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3813048"/>
            <a:ext cx="109728" cy="110642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3840480"/>
            <a:ext cx="10515600" cy="1051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9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Workload Distribution Improvement</a:t>
            </a:r>
            <a:endParaRPr lang="en-US" sz="19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distribute the training vectors according to the measured throughput of each MPI process on the P-cores and E-cores, and to improve performance compared with equal distribution.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640080" y="5074920"/>
            <a:ext cx="1092708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E0457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58368" y="5093208"/>
            <a:ext cx="109728" cy="1106424"/>
          </a:xfrm>
          <a:prstGeom prst="rect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5120640"/>
            <a:ext cx="10515600" cy="1051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9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Performance Evaluation and Result Verification</a:t>
            </a:r>
            <a:endParaRPr lang="en-US" sz="19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evaluate compression, reconstruction quality and parallel performance, and to verify that the parallel results match the sequential implementation.</a:t>
            </a:r>
            <a:endParaRPr lang="en-US" sz="1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82880"/>
            <a:ext cx="11503152" cy="1417320"/>
          </a:xfrm>
          <a:prstGeom prst="roundRect">
            <a:avLst>
              <a:gd name="adj" fmla="val 6452"/>
            </a:avLst>
          </a:prstGeom>
          <a:solidFill>
            <a:srgbClr val="E3EEFA"/>
          </a:solidFill>
          <a:ln w="12700">
            <a:solidFill>
              <a:srgbClr val="2F6FB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65760" y="228600"/>
            <a:ext cx="2240280" cy="1325880"/>
          </a:xfrm>
          <a:prstGeom prst="roundRect">
            <a:avLst>
              <a:gd name="adj" fmla="val 5517"/>
            </a:avLst>
          </a:prstGeom>
          <a:solidFill>
            <a:srgbClr val="2F6FB5"/>
          </a:solidFill>
          <a:ln w="12700">
            <a:solidFill>
              <a:srgbClr val="2F6FB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28600"/>
            <a:ext cx="2240280" cy="10058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1</a:t>
            </a:r>
            <a:endParaRPr lang="en-US" sz="2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</a:t>
            </a:r>
            <a:endParaRPr lang="en-US" sz="2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Formation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75488" y="1188720"/>
            <a:ext cx="202082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75488" y="1188720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SEQUENTIAL: Process 0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788920" y="320040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2F6FB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88920" y="320040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Input image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512×512,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gray / color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828032" y="772668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074920" y="320040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2F6FB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74920" y="320040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4×4 blocks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non-overlapping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7114032" y="772668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360920" y="320040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2F6FB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60920" y="320040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Training vectors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16-D, N = 16,384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channel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355080" y="1591056"/>
            <a:ext cx="5394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16,384 training vectors per channel (16-D)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989320" y="1609344"/>
            <a:ext cx="237744" cy="192024"/>
          </a:xfrm>
          <a:prstGeom prst="down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20040" y="1810512"/>
            <a:ext cx="11503152" cy="1417320"/>
          </a:xfrm>
          <a:prstGeom prst="roundRect">
            <a:avLst>
              <a:gd name="adj" fmla="val 6452"/>
            </a:avLst>
          </a:prstGeom>
          <a:solidFill>
            <a:srgbClr val="FDEBD9"/>
          </a:solidFill>
          <a:ln w="31750">
            <a:solidFill>
              <a:srgbClr val="E07B22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365760" y="1856232"/>
            <a:ext cx="2240280" cy="1325880"/>
          </a:xfrm>
          <a:prstGeom prst="roundRect">
            <a:avLst>
              <a:gd name="adj" fmla="val 5517"/>
            </a:avLst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1856232"/>
            <a:ext cx="2240280" cy="10058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</a:t>
            </a:r>
            <a:endParaRPr lang="en-US" sz="2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LBG</a:t>
            </a:r>
            <a:endParaRPr lang="en-US" sz="2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(MPI)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475488" y="2816352"/>
            <a:ext cx="202082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75488" y="2816352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PARALLEL: all processes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2788920" y="1947672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E07B2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788920" y="1947672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Distribute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MPI_Scatterv: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 / Adaptive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4828032" y="2400300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74920" y="1947672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E07B2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074920" y="1947672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Assign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nearest codeword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each process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7114032" y="2400300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360920" y="1947672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E07B2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360920" y="1947672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Combine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Allreduce: sums,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counts, distortion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9400032" y="2400300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646920" y="1947672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E07B22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646920" y="1947672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Refine and split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level,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until K = 64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6355080" y="3218688"/>
            <a:ext cx="5394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codebook C + index array L (gathered on Process 0)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5989320" y="3236976"/>
            <a:ext cx="237744" cy="192024"/>
          </a:xfrm>
          <a:prstGeom prst="down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" y="3438144"/>
            <a:ext cx="11503152" cy="1417320"/>
          </a:xfrm>
          <a:prstGeom prst="roundRect">
            <a:avLst>
              <a:gd name="adj" fmla="val 6452"/>
            </a:avLst>
          </a:prstGeom>
          <a:solidFill>
            <a:srgbClr val="DDF3F0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65760" y="3483864"/>
            <a:ext cx="2240280" cy="1325880"/>
          </a:xfrm>
          <a:prstGeom prst="roundRect">
            <a:avLst>
              <a:gd name="adj" fmla="val 5517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3483864"/>
            <a:ext cx="2240280" cy="10058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3</a:t>
            </a:r>
            <a:endParaRPr lang="en-US" sz="2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Lossless Index</a:t>
            </a:r>
            <a:endParaRPr lang="en-US" sz="2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Coding</a:t>
            </a:r>
            <a:endParaRPr lang="en-US" sz="2200" dirty="0"/>
          </a:p>
        </p:txBody>
      </p:sp>
      <p:sp>
        <p:nvSpPr>
          <p:cNvPr id="38" name="Shape 36"/>
          <p:cNvSpPr/>
          <p:nvPr/>
        </p:nvSpPr>
        <p:spPr>
          <a:xfrm>
            <a:off x="475488" y="4443984"/>
            <a:ext cx="202082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75488" y="4443984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SEQUENTIAL: Process 0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2788920" y="3575304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2A9D8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788920" y="3575304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Delta coding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differences of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VQ indices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4828032" y="4027932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074920" y="3575304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2A9D8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074920" y="3575304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Huffman coding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variable-length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codes</a:t>
            </a:r>
            <a:endParaRPr lang="en-US" sz="1600" dirty="0"/>
          </a:p>
        </p:txBody>
      </p:sp>
      <p:sp>
        <p:nvSpPr>
          <p:cNvPr id="45" name="Shape 43"/>
          <p:cNvSpPr/>
          <p:nvPr/>
        </p:nvSpPr>
        <p:spPr>
          <a:xfrm>
            <a:off x="7114032" y="4027932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360920" y="3575304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2A9D8F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360920" y="3575304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Compressed size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codebook + Huffman table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coded indices</a:t>
            </a:r>
            <a:endParaRPr lang="en-US" sz="1600" dirty="0"/>
          </a:p>
        </p:txBody>
      </p:sp>
      <p:sp>
        <p:nvSpPr>
          <p:cNvPr id="48" name="Text 46"/>
          <p:cNvSpPr/>
          <p:nvPr/>
        </p:nvSpPr>
        <p:spPr>
          <a:xfrm>
            <a:off x="6355080" y="4846320"/>
            <a:ext cx="5394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accounted size: codebook + Huffman table + coded indices</a:t>
            </a:r>
            <a:endParaRPr lang="en-US" sz="1300" dirty="0"/>
          </a:p>
        </p:txBody>
      </p:sp>
      <p:sp>
        <p:nvSpPr>
          <p:cNvPr id="49" name="Shape 47"/>
          <p:cNvSpPr/>
          <p:nvPr/>
        </p:nvSpPr>
        <p:spPr>
          <a:xfrm>
            <a:off x="5989320" y="4864608"/>
            <a:ext cx="237744" cy="192024"/>
          </a:xfrm>
          <a:prstGeom prst="down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20040" y="5065776"/>
            <a:ext cx="11503152" cy="1417320"/>
          </a:xfrm>
          <a:prstGeom prst="roundRect">
            <a:avLst>
              <a:gd name="adj" fmla="val 6452"/>
            </a:avLst>
          </a:prstGeom>
          <a:solidFill>
            <a:srgbClr val="ECE6F6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65760" y="5111496"/>
            <a:ext cx="2240280" cy="1325880"/>
          </a:xfrm>
          <a:prstGeom prst="roundRect">
            <a:avLst>
              <a:gd name="adj" fmla="val 5517"/>
            </a:avLst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65760" y="5111496"/>
            <a:ext cx="2240280" cy="10058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4</a:t>
            </a:r>
            <a:endParaRPr lang="en-US" sz="2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Decoding and</a:t>
            </a:r>
            <a:endParaRPr lang="en-US" sz="2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</a:t>
            </a:r>
            <a:endParaRPr lang="en-US" sz="2200" dirty="0"/>
          </a:p>
        </p:txBody>
      </p:sp>
      <p:sp>
        <p:nvSpPr>
          <p:cNvPr id="53" name="Shape 51"/>
          <p:cNvSpPr/>
          <p:nvPr/>
        </p:nvSpPr>
        <p:spPr>
          <a:xfrm>
            <a:off x="475488" y="6071616"/>
            <a:ext cx="202082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75488" y="6071616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SEQUENTIAL: Process 0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2788920" y="5202936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6B4FA3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2788920" y="5202936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Huffman decoding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 stream to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delta values</a:t>
            </a:r>
            <a:endParaRPr lang="en-US" sz="1600" dirty="0"/>
          </a:p>
        </p:txBody>
      </p:sp>
      <p:sp>
        <p:nvSpPr>
          <p:cNvPr id="57" name="Shape 55"/>
          <p:cNvSpPr/>
          <p:nvPr/>
        </p:nvSpPr>
        <p:spPr>
          <a:xfrm>
            <a:off x="4828032" y="5655564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074920" y="5202936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6B4FA3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074920" y="5202936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Inverse delta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VQ indices</a:t>
            </a:r>
            <a:endParaRPr lang="en-US" sz="1600" dirty="0"/>
          </a:p>
        </p:txBody>
      </p:sp>
      <p:sp>
        <p:nvSpPr>
          <p:cNvPr id="60" name="Shape 58"/>
          <p:cNvSpPr/>
          <p:nvPr/>
        </p:nvSpPr>
        <p:spPr>
          <a:xfrm>
            <a:off x="7114032" y="5655564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7360920" y="5202936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6B4FA3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360920" y="5202936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Reconstruction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codebook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lookup</a:t>
            </a:r>
            <a:endParaRPr lang="en-US" sz="1600" dirty="0"/>
          </a:p>
        </p:txBody>
      </p:sp>
      <p:sp>
        <p:nvSpPr>
          <p:cNvPr id="63" name="Shape 61"/>
          <p:cNvSpPr/>
          <p:nvPr/>
        </p:nvSpPr>
        <p:spPr>
          <a:xfrm>
            <a:off x="2377440" y="6473952"/>
            <a:ext cx="457200" cy="219456"/>
          </a:xfrm>
          <a:prstGeom prst="roundRect">
            <a:avLst>
              <a:gd name="adj" fmla="val 50000"/>
            </a:avLst>
          </a:prstGeom>
          <a:solidFill>
            <a:srgbClr val="E07B2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2926080" y="645566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Parallel: all MPI processes work together</a:t>
            </a:r>
            <a:endParaRPr lang="en-US" sz="1300" dirty="0"/>
          </a:p>
        </p:txBody>
      </p:sp>
      <p:sp>
        <p:nvSpPr>
          <p:cNvPr id="65" name="Shape 63"/>
          <p:cNvSpPr/>
          <p:nvPr/>
        </p:nvSpPr>
        <p:spPr>
          <a:xfrm>
            <a:off x="6766560" y="6473952"/>
            <a:ext cx="457200" cy="219456"/>
          </a:xfrm>
          <a:prstGeom prst="roundRect">
            <a:avLst>
              <a:gd name="adj" fmla="val 50000"/>
            </a:avLst>
          </a:prstGeom>
          <a:solidFill>
            <a:srgbClr val="5B677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315200" y="645566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Sequential: executed on Process 0 only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463040" cy="502920"/>
          </a:xfrm>
          <a:prstGeom prst="roundRect">
            <a:avLst>
              <a:gd name="adj" fmla="val 18182"/>
            </a:avLst>
          </a:prstGeom>
          <a:solidFill>
            <a:srgbClr val="2F6FB5"/>
          </a:solidFill>
          <a:ln w="12700">
            <a:solidFill>
              <a:srgbClr val="2F6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1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1031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Block Formation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F6FB5"/>
          </a:solidFill>
          <a:ln w="12700">
            <a:solidFill>
              <a:srgbClr val="2F6FB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34440"/>
            <a:ext cx="7315200" cy="4983480"/>
          </a:xfrm>
          <a:prstGeom prst="roundRect">
            <a:avLst>
              <a:gd name="adj" fmla="val 1468"/>
            </a:avLst>
          </a:prstGeom>
          <a:solidFill>
            <a:srgbClr val="FFFFFF"/>
          </a:solidFill>
          <a:ln w="15875">
            <a:solidFill>
              <a:srgbClr val="2F6FB5"/>
            </a:solidFill>
            <a:prstDash val="solid"/>
          </a:ln>
        </p:spPr>
      </p:sp>
      <p:pic>
        <p:nvPicPr>
          <p:cNvPr id="7" name="Image 0" descr="assets/ch3_fig3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129857"/>
            <a:ext cx="7132320" cy="3192647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2453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Block-based vector quantization (illustrative)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8001000" y="1234440"/>
            <a:ext cx="3749040" cy="4983480"/>
          </a:xfrm>
          <a:prstGeom prst="roundRect">
            <a:avLst>
              <a:gd name="adj" fmla="val 19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092440" y="1325880"/>
            <a:ext cx="3566160" cy="48006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image is divided into non-overlapping 4 × 4 blocks.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block becomes a 16-dimensional vector.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512 × 512 image gives N = 16,384 training vectors.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 images: the R, G and B channels are processed independently.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463040" cy="502920"/>
          </a:xfrm>
          <a:prstGeom prst="roundRect">
            <a:avLst>
              <a:gd name="adj" fmla="val 18182"/>
            </a:avLst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1031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LBG Codebook Training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34440"/>
            <a:ext cx="7315200" cy="4983480"/>
          </a:xfrm>
          <a:prstGeom prst="roundRect">
            <a:avLst>
              <a:gd name="adj" fmla="val 1468"/>
            </a:avLst>
          </a:prstGeom>
          <a:solidFill>
            <a:srgbClr val="FFFFFF"/>
          </a:solidFill>
          <a:ln w="15875">
            <a:solidFill>
              <a:srgbClr val="E07B22"/>
            </a:solidFill>
            <a:prstDash val="solid"/>
          </a:ln>
        </p:spPr>
      </p:sp>
      <p:pic>
        <p:nvPicPr>
          <p:cNvPr id="7" name="Image 0" descr="assets/lbg_flow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477" y="1325880"/>
            <a:ext cx="6730646" cy="48006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001000" y="1234440"/>
            <a:ext cx="3749040" cy="4983480"/>
          </a:xfrm>
          <a:prstGeom prst="roundRect">
            <a:avLst>
              <a:gd name="adj" fmla="val 19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092440" y="1325880"/>
            <a:ext cx="3566160" cy="48006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from the global mean as the first codeword.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Binary splitting (δ = 0.01) doubles the codebook size.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Lloyd refinement: assign each vector to its nearest codeword, then update the centroids.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at ΔD ≤ ε or 100 iterations; repeat until K = 64.</a:t>
            </a:r>
            <a:endParaRPr lang="en-US" sz="1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463040" cy="502920"/>
          </a:xfrm>
          <a:prstGeom prst="roundRect">
            <a:avLst>
              <a:gd name="adj" fmla="val 18182"/>
            </a:avLst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1031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Parallel LBG Training (MPI)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143000"/>
            <a:ext cx="11274552" cy="4206240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 w="15875">
            <a:solidFill>
              <a:srgbClr val="E07B22"/>
            </a:solidFill>
            <a:prstDash val="solid"/>
          </a:ln>
        </p:spPr>
      </p:sp>
      <p:pic>
        <p:nvPicPr>
          <p:cNvPr id="7" name="Image 0" descr="figs/parallel_overvie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5179" y="1234440"/>
            <a:ext cx="9898594" cy="402336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5440680"/>
            <a:ext cx="5559552" cy="1234440"/>
          </a:xfrm>
          <a:prstGeom prst="roundRect">
            <a:avLst>
              <a:gd name="adj" fmla="val 5926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48640" y="5532120"/>
            <a:ext cx="5376672" cy="10515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4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SPMD: every process runs the same program on its own chunk of vectors.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4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Nearest-codeword assignment is local and is the main cost of LBG.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172200" y="5440680"/>
            <a:ext cx="5559552" cy="1234440"/>
          </a:xfrm>
          <a:prstGeom prst="roundRect">
            <a:avLst>
              <a:gd name="adj" fmla="val 5926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263640" y="5532120"/>
            <a:ext cx="5376672" cy="10515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4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Allreduce combines sums, counts and distortion; every process updates the same codebook.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4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Gatherv collects the final indices on Process 0.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463040" cy="502920"/>
          </a:xfrm>
          <a:prstGeom prst="roundRect">
            <a:avLst>
              <a:gd name="adj" fmla="val 18182"/>
            </a:avLst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1031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Balanced and Unbalanced Workload Distribution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34440"/>
            <a:ext cx="7315200" cy="4983480"/>
          </a:xfrm>
          <a:prstGeom prst="roundRect">
            <a:avLst>
              <a:gd name="adj" fmla="val 1468"/>
            </a:avLst>
          </a:prstGeom>
          <a:solidFill>
            <a:srgbClr val="FFFFFF"/>
          </a:solidFill>
          <a:ln w="15875">
            <a:solidFill>
              <a:srgbClr val="E07B22"/>
            </a:solidFill>
            <a:prstDash val="solid"/>
          </a:ln>
        </p:spPr>
      </p:sp>
      <p:pic>
        <p:nvPicPr>
          <p:cNvPr id="7" name="Image 0" descr="figs/Workload_distribu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0130" y="1325880"/>
            <a:ext cx="7049339" cy="48006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001000" y="1234440"/>
            <a:ext cx="3749040" cy="4983480"/>
          </a:xfrm>
          <a:prstGeom prst="roundRect">
            <a:avLst>
              <a:gd name="adj" fmla="val 19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092440" y="1325880"/>
            <a:ext cx="3566160" cy="48006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Balanced (Equal), P ≤ 4: each process gets N/P training vectors.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Unbalanced (Adaptive), P &gt; 4: each process gets a share proportional to its measured speed.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process r: q_r = N · s_r / Σ s_j, where s_r is the speed of process r.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 s_r is measured once by a short calibration run (3 trials, the first is a warm-up).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46304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3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1031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Delta Coding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34440"/>
            <a:ext cx="7315200" cy="4983480"/>
          </a:xfrm>
          <a:prstGeom prst="roundRect">
            <a:avLst>
              <a:gd name="adj" fmla="val 1468"/>
            </a:avLst>
          </a:prstGeom>
          <a:solidFill>
            <a:srgbClr val="FFFFFF"/>
          </a:solidFill>
          <a:ln w="15875">
            <a:solidFill>
              <a:srgbClr val="2A9D8F"/>
            </a:solidFill>
            <a:prstDash val="solid"/>
          </a:ln>
        </p:spPr>
      </p:sp>
      <p:pic>
        <p:nvPicPr>
          <p:cNvPr id="7" name="Image 0" descr="assets/ch3_fig3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117794"/>
            <a:ext cx="7132320" cy="3216773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001000" y="1234440"/>
            <a:ext cx="3749040" cy="4983480"/>
          </a:xfrm>
          <a:prstGeom prst="roundRect">
            <a:avLst>
              <a:gd name="adj" fmla="val 19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092440" y="1325880"/>
            <a:ext cx="3566160" cy="48006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Stores the difference between successive VQ indices (offset 128).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Neighbouring blocks are correlated, so the differences cluster around the offset.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(Lena): entropy falls from 5.39 to 4.67 bits per symbol.</a:t>
            </a:r>
            <a:endParaRPr lang="en-US" sz="17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46304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3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1031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Huffman Coding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80160"/>
            <a:ext cx="11274552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5875">
            <a:solidFill>
              <a:srgbClr val="2A9D8F"/>
            </a:solidFill>
            <a:prstDash val="solid"/>
          </a:ln>
        </p:spPr>
      </p:sp>
      <p:pic>
        <p:nvPicPr>
          <p:cNvPr id="7" name="Image 0" descr="assets/ch3_fig3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66490"/>
            <a:ext cx="11091672" cy="118182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3154680"/>
            <a:ext cx="11274552" cy="3063240"/>
          </a:xfrm>
          <a:prstGeom prst="roundRect">
            <a:avLst>
              <a:gd name="adj" fmla="val 2388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48640" y="3246120"/>
            <a:ext cx="11091672" cy="28803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Frequent symbols receive shorter codewords, rare symbols longer ones (lossless).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the Huffman codes and the encoded bitstream.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Accounted compressed size = codebook (K × 16 bytes, one byte per codeword element) + Huffman table + Huffman-coded data.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table is accounted as 5 bytes per used symbol (1 byte symbol + 4 bytes frequency) plus 10 bytes of fixed metadata. The program accounts this size; it does not write a stand-alone compressed file.</a:t>
            </a:r>
            <a:endParaRPr lang="en-US" sz="1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463040" cy="502920"/>
          </a:xfrm>
          <a:prstGeom prst="roundRect">
            <a:avLst>
              <a:gd name="adj" fmla="val 18182"/>
            </a:avLst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4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1031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Decoding and Evaluation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143000"/>
            <a:ext cx="2560320" cy="960120"/>
          </a:xfrm>
          <a:prstGeom prst="roundRect">
            <a:avLst>
              <a:gd name="adj" fmla="val 9524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143000"/>
            <a:ext cx="2560320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Huffman decoding</a:t>
            </a:r>
            <a:endParaRPr lang="en-US" sz="160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 stream → delta values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3044952" y="1508760"/>
            <a:ext cx="31089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383280" y="1143000"/>
            <a:ext cx="2560320" cy="960120"/>
          </a:xfrm>
          <a:prstGeom prst="roundRect">
            <a:avLst>
              <a:gd name="adj" fmla="val 9524"/>
            </a:avLst>
          </a:prstGeom>
          <a:solidFill>
            <a:srgbClr val="2F6DB5"/>
          </a:solidFill>
          <a:ln w="12700">
            <a:solidFill>
              <a:srgbClr val="2F6DB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83280" y="1143000"/>
            <a:ext cx="2560320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Inverse delta</a:t>
            </a:r>
            <a:endParaRPr lang="en-US" sz="160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deltas → VQ indices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971032" y="1508760"/>
            <a:ext cx="31089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09360" y="1143000"/>
            <a:ext cx="2560320" cy="960120"/>
          </a:xfrm>
          <a:prstGeom prst="roundRect">
            <a:avLst>
              <a:gd name="adj" fmla="val 9524"/>
            </a:avLst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09360" y="1143000"/>
            <a:ext cx="2560320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Codebook lookup</a:t>
            </a:r>
            <a:endParaRPr lang="en-US" sz="160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 → 4×4 block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897112" y="1508760"/>
            <a:ext cx="31089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235440" y="1143000"/>
            <a:ext cx="2560320" cy="960120"/>
          </a:xfrm>
          <a:prstGeom prst="roundRect">
            <a:avLst>
              <a:gd name="adj" fmla="val 9524"/>
            </a:avLst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235440" y="1143000"/>
            <a:ext cx="2560320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Reconstructed image</a:t>
            </a:r>
            <a:endParaRPr lang="en-US" sz="160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blocks → 512×512 image</a:t>
            </a:r>
            <a:endParaRPr lang="en-US" sz="1600" dirty="0"/>
          </a:p>
        </p:txBody>
      </p:sp>
      <p:pic>
        <p:nvPicPr>
          <p:cNvPr id="17" name="Image 0" descr="assets/cam_or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331720"/>
            <a:ext cx="2926080" cy="2926080"/>
          </a:xfrm>
          <a:prstGeom prst="rect">
            <a:avLst/>
          </a:prstGeom>
        </p:spPr>
      </p:pic>
      <p:pic>
        <p:nvPicPr>
          <p:cNvPr id="18" name="Image 1" descr="assets/cam_re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1880" y="2331720"/>
            <a:ext cx="2926080" cy="2926080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457200" y="528523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20" name="Text 16"/>
          <p:cNvSpPr/>
          <p:nvPr/>
        </p:nvSpPr>
        <p:spPr>
          <a:xfrm>
            <a:off x="3611880" y="528523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400" dirty="0"/>
          </a:p>
        </p:txBody>
      </p:sp>
      <p:sp>
        <p:nvSpPr>
          <p:cNvPr id="21" name="Text 17"/>
          <p:cNvSpPr/>
          <p:nvPr/>
        </p:nvSpPr>
        <p:spPr>
          <a:xfrm>
            <a:off x="457200" y="5623560"/>
            <a:ext cx="6080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Cameraman: PSNR 29.75 dB, SSIM 0.8855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6858000" y="2331720"/>
            <a:ext cx="4892040" cy="3886200"/>
          </a:xfrm>
          <a:prstGeom prst="roundRect">
            <a:avLst>
              <a:gd name="adj" fmla="val 1882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6949440" y="2423160"/>
            <a:ext cx="4709160" cy="3703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Decoding and reconstruction run on Process 0.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Quality: MSE, PSNR and SSIM (SSIM is computed in parallel); size: CR and BPP.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performance: time, speedup, efficiency, throughput, Karp–Flatt.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Verification: the reconstructed image (MD5) and the metrics are identical for the sequential run, P = 4, and P = 14 (Adaptive and Equal).</a:t>
            </a:r>
            <a:endParaRPr lang="en-US"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301752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Experimental Results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3657600" y="27432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Experimental Setup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325880"/>
            <a:ext cx="539496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22225">
            <a:solidFill>
              <a:srgbClr val="6B4FA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1344168"/>
            <a:ext cx="109728" cy="1426464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1371600"/>
            <a:ext cx="498348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</a:t>
            </a:r>
            <a:endParaRPr lang="en-US" sz="2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 Core i7-13650HX: 6 P-cores and 8 E-cores (14 cores in total).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6172200" y="1325880"/>
            <a:ext cx="539496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22225">
            <a:solidFill>
              <a:srgbClr val="E07B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190488" y="1344168"/>
            <a:ext cx="109728" cy="1426464"/>
          </a:xfrm>
          <a:prstGeom prst="rect">
            <a:avLst/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46520" y="1371600"/>
            <a:ext cx="498348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</a:t>
            </a:r>
            <a:endParaRPr lang="en-US" sz="2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Ubuntu 24.04, GCC 13.3 (-O2), Open MPI 4.1.6, written in C.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640080" y="2971800"/>
            <a:ext cx="539496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22225">
            <a:solidFill>
              <a:srgbClr val="2A9D8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2990088"/>
            <a:ext cx="109728" cy="14264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3017520"/>
            <a:ext cx="498348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</a:t>
            </a:r>
            <a:endParaRPr lang="en-US" sz="2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of 5 runs; governor set to performance; processes bound to cores, P-cores first.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6172200" y="2971800"/>
            <a:ext cx="539496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22225">
            <a:solidFill>
              <a:srgbClr val="E0457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90488" y="2990088"/>
            <a:ext cx="109728" cy="1426464"/>
          </a:xfrm>
          <a:prstGeom prst="rect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46520" y="3017520"/>
            <a:ext cx="498348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2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standard 512 × 512 images: 4 grayscale and 4 color.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640080" y="4617720"/>
            <a:ext cx="539496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22225">
            <a:solidFill>
              <a:srgbClr val="2E205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58368" y="4636008"/>
            <a:ext cx="109728" cy="1426464"/>
          </a:xfrm>
          <a:prstGeom prst="rect">
            <a:avLst/>
          </a:prstGeom>
          <a:solidFill>
            <a:srgbClr val="2E2055"/>
          </a:solidFill>
          <a:ln w="12700">
            <a:solidFill>
              <a:srgbClr val="2E205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4663440"/>
            <a:ext cx="498348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2E2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LBG settings</a:t>
            </a:r>
            <a:endParaRPr lang="en-US" sz="2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× 4 blocks, K = 64 codewords, δ = 0.01, ε = 0.0001 (relative improvement in distortion), at most 100 iterations per level.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6172200" y="4617720"/>
            <a:ext cx="539496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22225">
            <a:solidFill>
              <a:srgbClr val="F2B13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190488" y="4636008"/>
            <a:ext cx="109728" cy="1426464"/>
          </a:xfrm>
          <a:prstGeom prst="rect">
            <a:avLst/>
          </a:prstGeom>
          <a:solidFill>
            <a:srgbClr val="F2B134"/>
          </a:solidFill>
          <a:ln w="12700">
            <a:solidFill>
              <a:srgbClr val="F2B13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46520" y="4663440"/>
            <a:ext cx="498348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F2B1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Strategies</a:t>
            </a:r>
            <a:endParaRPr lang="en-US" sz="2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 (default for P ≤ 4) and Adaptive speed-aware (P &gt; 4).</a:t>
            </a:r>
            <a:endParaRPr lang="en-US" sz="2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46304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103120" y="274320"/>
            <a:ext cx="10058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Performance and Quality Evaluation Metrics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1371600"/>
            <a:ext cx="5029200" cy="640080"/>
          </a:xfrm>
          <a:prstGeom prst="roundRect">
            <a:avLst>
              <a:gd name="adj" fmla="val 11429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137160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Compression Quality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822960" y="2103120"/>
            <a:ext cx="5029200" cy="3291840"/>
          </a:xfrm>
          <a:prstGeom prst="roundRect">
            <a:avLst>
              <a:gd name="adj" fmla="val 2222"/>
            </a:avLst>
          </a:prstGeom>
          <a:solidFill>
            <a:srgbClr val="EEF8F6"/>
          </a:solidFill>
          <a:ln w="15875">
            <a:solidFill>
              <a:srgbClr val="2A9D8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7280" y="2194560"/>
            <a:ext cx="4480560" cy="3108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Compression Ratio (CR)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Bits Per Pixel (BPP)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MSE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SSIM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6309360" y="1371600"/>
            <a:ext cx="5029200" cy="640080"/>
          </a:xfrm>
          <a:prstGeom prst="roundRect">
            <a:avLst>
              <a:gd name="adj" fmla="val 11429"/>
            </a:avLst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09360" y="137160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Performance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6309360" y="2103120"/>
            <a:ext cx="5029200" cy="3291840"/>
          </a:xfrm>
          <a:prstGeom prst="roundRect">
            <a:avLst>
              <a:gd name="adj" fmla="val 2222"/>
            </a:avLst>
          </a:prstGeom>
          <a:solidFill>
            <a:srgbClr val="FDF1E6"/>
          </a:solidFill>
          <a:ln w="15875">
            <a:solidFill>
              <a:srgbClr val="E07B2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83680" y="2194560"/>
            <a:ext cx="4480560" cy="3108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 Time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Speedup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Efficiency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Throughput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Karp–Flatt Metric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822960" y="56692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formula is shown next to the result it measures.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 Images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09728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Grayscale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2103120" cy="21031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457200" y="1417320"/>
            <a:ext cx="2103120" cy="21031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image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354787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291840" y="1417320"/>
            <a:ext cx="2103120" cy="21031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1" name="Text 9"/>
          <p:cNvSpPr/>
          <p:nvPr/>
        </p:nvSpPr>
        <p:spPr>
          <a:xfrm>
            <a:off x="3291840" y="1417320"/>
            <a:ext cx="2103120" cy="21031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image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291840" y="354787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126480" y="1417320"/>
            <a:ext cx="2103120" cy="21031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4" name="Text 12"/>
          <p:cNvSpPr/>
          <p:nvPr/>
        </p:nvSpPr>
        <p:spPr>
          <a:xfrm>
            <a:off x="6126480" y="1417320"/>
            <a:ext cx="2103120" cy="21031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image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126480" y="354787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Cameraman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961120" y="1417320"/>
            <a:ext cx="2103120" cy="21031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8961120" y="1417320"/>
            <a:ext cx="2103120" cy="21031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image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961120" y="354787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Peppers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7200" y="388620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457200" y="4206240"/>
            <a:ext cx="2103120" cy="21031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" y="4206240"/>
            <a:ext cx="2103120" cy="21031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image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" y="633679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Lena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3291840" y="4206240"/>
            <a:ext cx="2103120" cy="21031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24" name="Text 22"/>
          <p:cNvSpPr/>
          <p:nvPr/>
        </p:nvSpPr>
        <p:spPr>
          <a:xfrm>
            <a:off x="3291840" y="4206240"/>
            <a:ext cx="2103120" cy="21031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image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3291840" y="633679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Peppers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126480" y="4206240"/>
            <a:ext cx="2103120" cy="21031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27" name="Text 25"/>
          <p:cNvSpPr/>
          <p:nvPr/>
        </p:nvSpPr>
        <p:spPr>
          <a:xfrm>
            <a:off x="6126480" y="4206240"/>
            <a:ext cx="2103120" cy="21031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image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126480" y="633679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F16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8961120" y="4206240"/>
            <a:ext cx="2103120" cy="21031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8961120" y="4206240"/>
            <a:ext cx="2103120" cy="21031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image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8961120" y="633679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 Hill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Reconstruction Results: Grayscale Images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" y="1417320"/>
            <a:ext cx="109728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2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20040" y="3840480"/>
            <a:ext cx="123444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2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600200" y="1078992"/>
            <a:ext cx="2331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Lena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1600200" y="141732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1600200" y="141732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600200" y="384048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1600200" y="384048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508760" y="619963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 = ___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29.67 dB   SSIM 0.8190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069080" y="1078992"/>
            <a:ext cx="2331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Boat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4069080" y="141732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4069080" y="141732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069080" y="384048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8" name="Text 16"/>
          <p:cNvSpPr/>
          <p:nvPr/>
        </p:nvSpPr>
        <p:spPr>
          <a:xfrm>
            <a:off x="4069080" y="384048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977640" y="619963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 = ___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29.11 dB   SSIM 0.8394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537960" y="1078992"/>
            <a:ext cx="2331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Cameraman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6537960" y="141732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6537960" y="141732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537960" y="384048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24" name="Text 22"/>
          <p:cNvSpPr/>
          <p:nvPr/>
        </p:nvSpPr>
        <p:spPr>
          <a:xfrm>
            <a:off x="6537960" y="384048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446520" y="619963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 = ___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29.75 dB   SSIM 0.8855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9006840" y="1078992"/>
            <a:ext cx="2331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Peppers</a:t>
            </a:r>
            <a:endParaRPr lang="en-US" sz="1700" dirty="0"/>
          </a:p>
        </p:txBody>
      </p:sp>
      <p:sp>
        <p:nvSpPr>
          <p:cNvPr id="27" name="Shape 25"/>
          <p:cNvSpPr/>
          <p:nvPr/>
        </p:nvSpPr>
        <p:spPr>
          <a:xfrm>
            <a:off x="9006840" y="141732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9006840" y="141732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9006840" y="384048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9006840" y="384048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8915400" y="619963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 = ___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29.41 dB   SSIM 0.7624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Reconstruction Results: Color Images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" y="1417320"/>
            <a:ext cx="109728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2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20040" y="3840480"/>
            <a:ext cx="123444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2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600200" y="1078992"/>
            <a:ext cx="2331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Lena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1600200" y="141732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1600200" y="141732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600200" y="384048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1600200" y="384048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508760" y="619963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 = ___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28.91 dB   SSIM 0.7594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069080" y="1078992"/>
            <a:ext cx="2331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Peppers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4069080" y="141732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4069080" y="141732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069080" y="384048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8" name="Text 16"/>
          <p:cNvSpPr/>
          <p:nvPr/>
        </p:nvSpPr>
        <p:spPr>
          <a:xfrm>
            <a:off x="4069080" y="384048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977640" y="619963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 = ___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28.35 dB   SSIM 0.6964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537960" y="1078992"/>
            <a:ext cx="2331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F16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6537960" y="141732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6537960" y="141732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537960" y="384048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24" name="Text 22"/>
          <p:cNvSpPr/>
          <p:nvPr/>
        </p:nvSpPr>
        <p:spPr>
          <a:xfrm>
            <a:off x="6537960" y="384048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446520" y="619963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 = ___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29.47 dB   SSIM 0.8539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9006840" y="1078992"/>
            <a:ext cx="2331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 Hill</a:t>
            </a:r>
            <a:endParaRPr lang="en-US" sz="1700" dirty="0"/>
          </a:p>
        </p:txBody>
      </p:sp>
      <p:sp>
        <p:nvSpPr>
          <p:cNvPr id="27" name="Shape 25"/>
          <p:cNvSpPr/>
          <p:nvPr/>
        </p:nvSpPr>
        <p:spPr>
          <a:xfrm>
            <a:off x="9006840" y="141732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9006840" y="141732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9006840" y="384048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9006840" y="384048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8915400" y="619963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 = ___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28.45 dB   SSIM 0.7520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Compression Results (4 × 4 blocks, K = 64)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1097280"/>
            <a:ext cx="10515600" cy="822960"/>
          </a:xfrm>
          <a:prstGeom prst="roundRect">
            <a:avLst>
              <a:gd name="adj" fmla="val 8889"/>
            </a:avLst>
          </a:prstGeom>
          <a:solidFill>
            <a:srgbClr val="FDF1E6"/>
          </a:solidFill>
          <a:ln w="15875">
            <a:solidFill>
              <a:srgbClr val="E07B2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1097280"/>
            <a:ext cx="10515600" cy="822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 = S_orig / S_comp        BPP = compressed bits / number of pixels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MSE = mean (I − Î)²        PSNR = 10·log₁₀(255² / MSE)  dB        SSIM: 11 × 11 Gaussian window, σ = 1.5</a:t>
            </a:r>
            <a:endParaRPr lang="en-US" sz="17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11680"/>
          <a:ext cx="10515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097280"/>
                <a:gridCol w="1371600"/>
                <a:gridCol w="1371600"/>
                <a:gridCol w="1371600"/>
                <a:gridCol w="1554480"/>
                <a:gridCol w="1371600"/>
              </a:tblGrid>
              <a:tr h="3749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Image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BPP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MSE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PSNR (dB)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SSIM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Lena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70.13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29.67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0.8190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Boat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79.88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29.11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0.8394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Cameraman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68.84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29.75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0.8855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Peppers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74.47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29.41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0.7624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 (gray)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A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A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A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A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73.33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A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29.49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A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0.8266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AE6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Lena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83.60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28.91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0.7594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Peppers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28.35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0.6964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F16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73.41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29.47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0.8539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Gold Hill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92.97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28.45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0.7520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 (color)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D2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D2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D2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D2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86.25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D2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28.80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D2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0.7654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D2F0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822960" y="621792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 images: MSE and PSNR are computed over the RGB channels; SSIM is the mean of the channel-wise values. CR = original size / (codebook + Huffman table + Huffman-coded data).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Entropy and Delta–Huffman Coding Efficiency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097280"/>
            <a:ext cx="7498080" cy="457200"/>
          </a:xfrm>
          <a:prstGeom prst="roundRect">
            <a:avLst>
              <a:gd name="adj" fmla="val 16000"/>
            </a:avLst>
          </a:prstGeom>
          <a:solidFill>
            <a:srgbClr val="FDF1E6"/>
          </a:solidFill>
          <a:ln w="15875">
            <a:solidFill>
              <a:srgbClr val="E07B2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097280"/>
            <a:ext cx="749808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 = −Σ p(s) · log₂ p(s)   (bits / symbol)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457200" y="1645920"/>
            <a:ext cx="7498080" cy="4617720"/>
          </a:xfrm>
          <a:prstGeom prst="roundRect">
            <a:avLst>
              <a:gd name="adj" fmla="val 1584"/>
            </a:avLst>
          </a:prstGeom>
          <a:solidFill>
            <a:srgbClr val="FFFFFF"/>
          </a:solidFill>
          <a:ln w="15875">
            <a:solidFill>
              <a:srgbClr val="2A9D8F"/>
            </a:solidFill>
            <a:prstDash val="solid"/>
          </a:ln>
        </p:spPr>
      </p:sp>
      <p:pic>
        <p:nvPicPr>
          <p:cNvPr id="9" name="Image 0" descr="assets/entropy_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672756"/>
            <a:ext cx="7498080" cy="4564049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8183880" y="1234440"/>
            <a:ext cx="3566160" cy="5029200"/>
          </a:xfrm>
          <a:prstGeom prst="roundRect">
            <a:avLst>
              <a:gd name="adj" fmla="val 20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75320" y="1325880"/>
            <a:ext cx="3383280" cy="4846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Delta coding lowers the entropy of the index sequence from 5.30 to 4.19 bits on average (−1.10 bits).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reduction depends on the spatial correlation of the image: 0.73 bits (Lena) to 1.48 bits (Cameraman).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Huffman average code length (4.23 bits) is within 0.04 bits of the entropy after delta coding.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Compared with 6-bit fixed-length indices, the index data is 21.5% to 38.3% smaller (mean 29.5%).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Grayscale images, K = 64.</a:t>
            </a:r>
            <a:endParaRPr lang="en-US" sz="15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Verification: Parallel Results Equal Sequential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280160"/>
          <a:ext cx="1088136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005840"/>
                <a:gridCol w="1371600"/>
                <a:gridCol w="1280160"/>
                <a:gridCol w="1737360"/>
                <a:gridCol w="1828800"/>
                <a:gridCol w="173736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Image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PSNR (dB)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SSIM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LBG iterations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Metrics identical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MD5 identical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Lena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29.67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0.8190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Boat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29.11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0.8394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Cameraman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29.75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0.8855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Peppers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29.41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0.7624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Lena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28.91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0.7594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Peppers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28.35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0.6964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438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F16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29.47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0.8539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479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Gold Hill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28.45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0.7520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479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640080" y="55778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Compared with the sequential run: parallel P = 4 (automatic), P = 14 (Adaptive) and P = 14 (forced Equal). Metrics: compression ratio, MSE, PSNR, SSIM and iteration count. MD5: checksum of the reconstructed image. Values shown are identical in all four runs.</a:t>
            </a:r>
            <a:endParaRPr lang="en-US" sz="14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Speedup of LBG Training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097280"/>
            <a:ext cx="7498080" cy="457200"/>
          </a:xfrm>
          <a:prstGeom prst="roundRect">
            <a:avLst>
              <a:gd name="adj" fmla="val 16000"/>
            </a:avLst>
          </a:prstGeom>
          <a:solidFill>
            <a:srgbClr val="FDF1E6"/>
          </a:solidFill>
          <a:ln w="15875">
            <a:solidFill>
              <a:srgbClr val="E07B2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097280"/>
            <a:ext cx="749808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 = T_seq / T_P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57200" y="1645920"/>
            <a:ext cx="7498080" cy="4617720"/>
          </a:xfrm>
          <a:prstGeom prst="roundRect">
            <a:avLst>
              <a:gd name="adj" fmla="val 1584"/>
            </a:avLst>
          </a:prstGeom>
          <a:solidFill>
            <a:srgbClr val="FFFFFF"/>
          </a:solidFill>
          <a:ln w="15875">
            <a:solidFill>
              <a:srgbClr val="2A9D8F"/>
            </a:solidFill>
            <a:prstDash val="solid"/>
          </a:ln>
        </p:spPr>
      </p:sp>
      <p:pic>
        <p:nvPicPr>
          <p:cNvPr id="9" name="Image 0" descr="assets/speedup_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672756"/>
            <a:ext cx="7498080" cy="4564049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8183880" y="1234440"/>
            <a:ext cx="3566160" cy="5029200"/>
          </a:xfrm>
          <a:prstGeom prst="roundRect">
            <a:avLst>
              <a:gd name="adj" fmla="val 20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75320" y="1325880"/>
            <a:ext cx="3383280" cy="4846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LBG speedup reaches 9.19× on 14 processes.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Near-linear for P ≤ 6, where only P-cores are used.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slope drops once the slower E-cores join.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of the 8 images; the bars show the minimum and maximum.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LBG stage. The total speedup is shown separately for gray and color two slides later.</a:t>
            </a:r>
            <a:endParaRPr lang="en-US" sz="16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Parallel Efficiency of LBG Training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097280"/>
            <a:ext cx="7498080" cy="457200"/>
          </a:xfrm>
          <a:prstGeom prst="roundRect">
            <a:avLst>
              <a:gd name="adj" fmla="val 16000"/>
            </a:avLst>
          </a:prstGeom>
          <a:solidFill>
            <a:srgbClr val="FDF1E6"/>
          </a:solidFill>
          <a:ln w="15875">
            <a:solidFill>
              <a:srgbClr val="E07B2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097280"/>
            <a:ext cx="749808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 = S / P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57200" y="1645920"/>
            <a:ext cx="7498080" cy="4617720"/>
          </a:xfrm>
          <a:prstGeom prst="roundRect">
            <a:avLst>
              <a:gd name="adj" fmla="val 1584"/>
            </a:avLst>
          </a:prstGeom>
          <a:solidFill>
            <a:srgbClr val="FFFFFF"/>
          </a:solidFill>
          <a:ln w="15875">
            <a:solidFill>
              <a:srgbClr val="2A9D8F"/>
            </a:solidFill>
            <a:prstDash val="solid"/>
          </a:ln>
        </p:spPr>
      </p:sp>
      <p:pic>
        <p:nvPicPr>
          <p:cNvPr id="9" name="Image 0" descr="assets/efficiency_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672756"/>
            <a:ext cx="7498080" cy="4564049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8183880" y="1234440"/>
            <a:ext cx="3566160" cy="5029200"/>
          </a:xfrm>
          <a:prstGeom prst="roundRect">
            <a:avLst>
              <a:gd name="adj" fmla="val 20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75320" y="1325880"/>
            <a:ext cx="3383280" cy="4846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Efficiency is 97% at P = 2 and stays at 90% or more up to P = 6 (P-cores only).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drops to 79% at P = 8, where the E-cores start to be used, and reaches 66% at P = 14.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E-cores are slower than the P-cores, so each added process contributes less than a full core.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Karp–Flatt stays near 0.04 for P ≥ 8: the serial fraction of LBG remains small.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of the 8 images.</a:t>
            </a:r>
            <a:endParaRPr lang="en-US" sz="16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Total Speedup: Grayscale and Color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097280"/>
            <a:ext cx="7498080" cy="457200"/>
          </a:xfrm>
          <a:prstGeom prst="roundRect">
            <a:avLst>
              <a:gd name="adj" fmla="val 16000"/>
            </a:avLst>
          </a:prstGeom>
          <a:solidFill>
            <a:srgbClr val="FDF1E6"/>
          </a:solidFill>
          <a:ln w="15875">
            <a:solidFill>
              <a:srgbClr val="E07B2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097280"/>
            <a:ext cx="749808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 = T_seq / T_P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57200" y="1645920"/>
            <a:ext cx="7498080" cy="4617720"/>
          </a:xfrm>
          <a:prstGeom prst="roundRect">
            <a:avLst>
              <a:gd name="adj" fmla="val 1584"/>
            </a:avLst>
          </a:prstGeom>
          <a:solidFill>
            <a:srgbClr val="FFFFFF"/>
          </a:solidFill>
          <a:ln w="15875">
            <a:solidFill>
              <a:srgbClr val="2A9D8F"/>
            </a:solidFill>
            <a:prstDash val="solid"/>
          </a:ln>
        </p:spPr>
      </p:sp>
      <p:pic>
        <p:nvPicPr>
          <p:cNvPr id="9" name="Image 0" descr="assets/total_speedup_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672756"/>
            <a:ext cx="7498080" cy="4564049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8183880" y="1234440"/>
            <a:ext cx="3566160" cy="5029200"/>
          </a:xfrm>
          <a:prstGeom prst="roundRect">
            <a:avLst>
              <a:gd name="adj" fmla="val 20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75320" y="1325880"/>
            <a:ext cx="3383280" cy="4846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speedup at P = 14: 5.00× (grayscale) and 6.84× (color); efficiency 35.7% and 48.9%.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lower than the LBG speedup (9.19×) because the work outside LBG (mainly image reading and file output) runs on Process 0.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 images gain more: LBG is 81% of their sequential time, against 77% for grayscale.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time is the whole program execution; the shaded bands show the minimum to maximum over the images of each type.</a:t>
            </a:r>
            <a:endParaRPr lang="en-US" sz="15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Time Goes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34440"/>
            <a:ext cx="7498080" cy="5029200"/>
          </a:xfrm>
          <a:prstGeom prst="roundRect">
            <a:avLst>
              <a:gd name="adj" fmla="val 1455"/>
            </a:avLst>
          </a:prstGeom>
          <a:solidFill>
            <a:srgbClr val="FFFFFF"/>
          </a:solidFill>
          <a:ln w="15875">
            <a:solidFill>
              <a:srgbClr val="2A9D8F"/>
            </a:solidFill>
            <a:prstDash val="solid"/>
          </a:ln>
        </p:spPr>
      </p:sp>
      <p:pic>
        <p:nvPicPr>
          <p:cNvPr id="7" name="Image 0" descr="assets/breakdown_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67741"/>
            <a:ext cx="7498080" cy="456259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183880" y="1234440"/>
            <a:ext cx="3566160" cy="5029200"/>
          </a:xfrm>
          <a:prstGeom prst="roundRect">
            <a:avLst>
              <a:gd name="adj" fmla="val 20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75320" y="1325880"/>
            <a:ext cx="3383280" cy="4846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LBG training is 77% (gray) and 81% (color) of the sequential run time.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P = 14 it shrinks to 42% and 60% of the run time.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other stages do not shrink in the same way, so they become the larger part: about 58% (gray) and 40% (color).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Amdahl's law this limits the total speedup to 5.00× (gray) and 6.84× (color), against 9.19× for LBG alone.</a:t>
            </a:r>
            <a:endParaRPr lang="en-US" sz="16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Equal vs Adaptive Workload Distribution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34440"/>
            <a:ext cx="7498080" cy="5029200"/>
          </a:xfrm>
          <a:prstGeom prst="roundRect">
            <a:avLst>
              <a:gd name="adj" fmla="val 1455"/>
            </a:avLst>
          </a:prstGeom>
          <a:solidFill>
            <a:srgbClr val="FFFFFF"/>
          </a:solidFill>
          <a:ln w="15875">
            <a:solidFill>
              <a:srgbClr val="2A9D8F"/>
            </a:solidFill>
            <a:prstDash val="solid"/>
          </a:ln>
        </p:spPr>
      </p:sp>
      <p:pic>
        <p:nvPicPr>
          <p:cNvPr id="7" name="Image 0" descr="assets/eqad_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67016"/>
            <a:ext cx="7498080" cy="4564049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183880" y="1234440"/>
            <a:ext cx="3566160" cy="5029200"/>
          </a:xfrm>
          <a:prstGeom prst="roundRect">
            <a:avLst>
              <a:gd name="adj" fmla="val 20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75320" y="1325880"/>
            <a:ext cx="3383280" cy="4846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Equal distribution, the faster P-cores finish early and wait for the E-cores: 7.61× at P = 14.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distribution reaches 9.19× at P = 14.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LBG time is reduced by 28.3%, 23.6%, 19.8% and 17.2% at P = 8, 10, 12 and 14.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time is reduced by 17.9% to 8.8%.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adaptive-distribution benefit was observed when only P-cores were used (P ≤ 6).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reconstructed images are identical in both cases.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values here come from the Equal-vs-Adaptive runs, so they can differ by up to 0.02× from the main speedup runs.</a:t>
            </a:r>
            <a:endParaRPr lang="en-US" sz="15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Throughput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097280"/>
            <a:ext cx="7498080" cy="457200"/>
          </a:xfrm>
          <a:prstGeom prst="roundRect">
            <a:avLst>
              <a:gd name="adj" fmla="val 16000"/>
            </a:avLst>
          </a:prstGeom>
          <a:solidFill>
            <a:srgbClr val="FDF1E6"/>
          </a:solidFill>
          <a:ln w="15875">
            <a:solidFill>
              <a:srgbClr val="E07B2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097280"/>
            <a:ext cx="749808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Throughput = I_size / T_total   (MiB/s)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457200" y="1645920"/>
            <a:ext cx="7498080" cy="4617720"/>
          </a:xfrm>
          <a:prstGeom prst="roundRect">
            <a:avLst>
              <a:gd name="adj" fmla="val 1584"/>
            </a:avLst>
          </a:prstGeom>
          <a:solidFill>
            <a:srgbClr val="FFFFFF"/>
          </a:solidFill>
          <a:ln w="15875">
            <a:solidFill>
              <a:srgbClr val="2A9D8F"/>
            </a:solidFill>
            <a:prstDash val="solid"/>
          </a:ln>
        </p:spPr>
      </p:sp>
      <p:pic>
        <p:nvPicPr>
          <p:cNvPr id="9" name="Image 0" descr="assets/throughput_ch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4695" y="1645920"/>
            <a:ext cx="6983091" cy="461772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8183880" y="1234440"/>
            <a:ext cx="3566160" cy="5029200"/>
          </a:xfrm>
          <a:prstGeom prst="roundRect">
            <a:avLst>
              <a:gd name="adj" fmla="val 20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75320" y="1325880"/>
            <a:ext cx="3383280" cy="4846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Throughput = original image size / total execution time (MiB/s).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Grayscale: 1.30 → 3.35 MiB/s from P = 2 to P = 14.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Color: 1.42 → 4.54 MiB/s.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 images hold three times more data, but their total time grows by only about 2.2× at P = 14, so their throughput is higher.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Shaded bands: minimum to maximum over the images.</a:t>
            </a:r>
            <a:endParaRPr lang="en-US" sz="15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Karp–Flatt Metric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143000"/>
            <a:ext cx="7772400" cy="457200"/>
          </a:xfrm>
          <a:prstGeom prst="roundRect">
            <a:avLst>
              <a:gd name="adj" fmla="val 16000"/>
            </a:avLst>
          </a:prstGeom>
          <a:solidFill>
            <a:srgbClr val="FDF1E6"/>
          </a:solidFill>
          <a:ln w="15875">
            <a:solidFill>
              <a:srgbClr val="E07B2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143000"/>
            <a:ext cx="77724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 = (1/S − 1/P) / (1 − 1/P)</a:t>
            </a:r>
            <a:endParaRPr lang="en-US" sz="20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37360"/>
          <a:ext cx="777240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005840"/>
                <a:gridCol w="1188720"/>
                <a:gridCol w="1188720"/>
                <a:gridCol w="1280160"/>
                <a:gridCol w="1188720"/>
                <a:gridCol w="128016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LBG: KF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LBG: Eff. (%)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gray: KF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gray: Eff. (%)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color: KF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color: Eff. (%)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6B4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6B4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6B4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6B4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0.084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6B4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0.083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6B4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0.082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6B4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0.080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457200" y="58521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LBG: mean of the 8 images. Total: mean of the 4 grayscale and of the 4 color images, separately. KF = Karp–Flatt, Eff. = efficiency.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8458200" y="1280160"/>
            <a:ext cx="3291840" cy="4846320"/>
          </a:xfrm>
          <a:prstGeom prst="roundRect">
            <a:avLst>
              <a:gd name="adj" fmla="val 2222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549640" y="1371600"/>
            <a:ext cx="3108960" cy="46634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4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Karp–Flatt estimates the serial fraction of the program from the measured speedup.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4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LBG: about 0.04 for P ≥ 8; the serial fraction stays small and does not grow with P.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4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about 0.14 (gray) and 0.08 (color); the work on Process 0 (mainly image reading and file output) limits the speedup.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4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 is lower because LBG is a larger share of its time (81% against 77%).</a:t>
            </a:r>
            <a:endParaRPr lang="en-US" sz="14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103120" cy="502920"/>
          </a:xfrm>
          <a:prstGeom prst="roundRect">
            <a:avLst>
              <a:gd name="adj" fmla="val 18182"/>
            </a:avLst>
          </a:prstGeom>
          <a:solidFill>
            <a:srgbClr val="2E2055"/>
          </a:solidFill>
          <a:ln w="12700">
            <a:solidFill>
              <a:srgbClr val="2E205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743200" y="274320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E2055"/>
          </a:solidFill>
          <a:ln w="12700">
            <a:solidFill>
              <a:srgbClr val="2E205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280160"/>
            <a:ext cx="10927080" cy="5029200"/>
          </a:xfrm>
          <a:prstGeom prst="roundRect">
            <a:avLst>
              <a:gd name="adj" fmla="val 1455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371600"/>
            <a:ext cx="10652760" cy="4846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hybrid image compression framework was implemented: LBG vector quantization, delta coding and Huffman coding.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LBG training was parallelized with MPI: 9.19× speedup on 14 processes (efficiency ≈ 66%); total speedup 5.00× (gray) and 6.84× (color).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speed-aware (Adaptive) distribution reduced LBG time by 17.2–28.3% compared with Equal distribution (P = 8 to 14).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parallel results were identical to the sequential ones: same reconstructed images and quality metrics.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Quality: mean PSNR 29.49 dB and SSIM 0.8266 (gray); 28.80 dB and 0.7654 (color), at a compression ratio of ___ (gray) and ___ (color).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total speedup is limited by the work that runs on Process 0, mainly image reading and file output.</a:t>
            </a:r>
            <a:endParaRPr lang="en-US" sz="1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103120" cy="502920"/>
          </a:xfrm>
          <a:prstGeom prst="roundRect">
            <a:avLst>
              <a:gd name="adj" fmla="val 18182"/>
            </a:avLst>
          </a:prstGeom>
          <a:solidFill>
            <a:srgbClr val="2E2055"/>
          </a:solidFill>
          <a:ln w="12700">
            <a:solidFill>
              <a:srgbClr val="2E205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743200" y="274320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Future Work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E2055"/>
          </a:solidFill>
          <a:ln w="12700">
            <a:solidFill>
              <a:srgbClr val="2E205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280160"/>
            <a:ext cx="10927080" cy="5029200"/>
          </a:xfrm>
          <a:prstGeom prst="roundRect">
            <a:avLst>
              <a:gd name="adj" fmla="val 1455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371600"/>
            <a:ext cx="10652760" cy="4846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Improve the rate–distortion performance: color transform (YCbCr instead of RGB), prediction or context modeling of the VQ indices, and variable block sizes.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Accelerate the LBG assignment step, which dominates the run time, with GPUs (CUDA or OpenCL) combined with MPI.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to multi-node clusters, larger images and image sequences that share one codebook.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Rebalance the workload during the run, using the measured compute time of each process and a load-imbalance measure.</a:t>
            </a:r>
            <a:endParaRPr lang="en-US" sz="22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103120" cy="502920"/>
          </a:xfrm>
          <a:prstGeom prst="roundRect">
            <a:avLst>
              <a:gd name="adj" fmla="val 18182"/>
            </a:avLst>
          </a:prstGeom>
          <a:solidFill>
            <a:srgbClr val="2E2055"/>
          </a:solidFill>
          <a:ln w="12700">
            <a:solidFill>
              <a:srgbClr val="2E205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743200" y="274320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E2055"/>
          </a:solidFill>
          <a:ln w="12700">
            <a:solidFill>
              <a:srgbClr val="2E205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280160"/>
            <a:ext cx="10927080" cy="5029200"/>
          </a:xfrm>
          <a:prstGeom prst="roundRect">
            <a:avLst>
              <a:gd name="adj" fmla="val 1455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371600"/>
            <a:ext cx="10652760" cy="4846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[6] Thomas, S., Krishna, A., Govind, S., Sahu, A.K. (2025). A novel image compression method using wavelet coefficients and Huffman coding. J. Eng. Res., 13(1): 361-370.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[16] Ranjan, R., Kumar, P. (2023). An improved image compression algorithm using 2D DWT and PCA with canonical Huffman encoding. Entropy, 25(10): 1382.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[17] Bilal, M., Ullah, Z., Mujahid, O., Fouzder, T. (2024). Fast Linde–Buzo–Gray (FLBG) algorithm for image compression through rescaling using bilinear interpolation. J. Imaging, 10(5): 124.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Linde, Y., Buzo, A., Gray, R.M. (1980). An algorithm for vector quantizer design. IEEE Trans. Commun., 28(1): 84-95.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Zangana, H.M. (2025). Design and implementation of a novel parallel algorithm for efficient image compression in high-performance computing. EAI Endorsed Trans. AI Robot., 4. doi:10.4108/airo.7832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Bystrov, O., Pacevič, R., Kačeniauskas, A. (2023). Hybrid parallelization of discrete element software for heterogeneous resources. Proc. 7th Int. Conf. on Parallel, Distributed, GPU and Cloud Computing for Engineering, Civil-Comp Press, Paper 4.1. doi:10.4203/ccc.4.4.1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Papakyriakou, D., Barbounakis, I.S. (2025). Parallel k-means benchmarking on a CPU-bound Beowulf cluster of Raspberry Pi nodes: an MPI-based scaling analysis with CPU-centric performance evaluation. Int. J. Comput. Appl., 187(32).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Paul, R.K., Jena, S., Chandran, S., Bandyopadhyay, A., Swain, S. (2024). Image compression scheme based on optimized K-means clustering and higher-level decomposed DWT. Procedia Comput. Sci., 235: 642-655.</a:t>
            </a:r>
            <a:endParaRPr lang="en-US" sz="16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8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E"/>
          </a:solidFill>
          <a:ln w="12700">
            <a:solidFill>
              <a:srgbClr val="FFF8E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2880000">
            <a:off x="4626864" y="429768"/>
            <a:ext cx="438912" cy="438912"/>
          </a:xfrm>
          <a:prstGeom prst="triangle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rot="1800000">
            <a:off x="978408" y="704088"/>
            <a:ext cx="292608" cy="29260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rot="17100000">
            <a:off x="4690872" y="6190488"/>
            <a:ext cx="329184" cy="329184"/>
          </a:xfrm>
          <a:prstGeom prst="ellipse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17160000">
            <a:off x="1837944" y="877824"/>
            <a:ext cx="246888" cy="246888"/>
          </a:xfrm>
          <a:prstGeom prst="rect">
            <a:avLst/>
          </a:prstGeom>
          <a:solidFill>
            <a:srgbClr val="F2993A"/>
          </a:solidFill>
          <a:ln w="12700">
            <a:solidFill>
              <a:srgbClr val="F2993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rot="16800000">
            <a:off x="6757416" y="1325880"/>
            <a:ext cx="192024" cy="192024"/>
          </a:xfrm>
          <a:prstGeom prst="rect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rot="2460000">
            <a:off x="9281160" y="4526280"/>
            <a:ext cx="256032" cy="256032"/>
          </a:xfrm>
          <a:prstGeom prst="triangle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rot="18660000">
            <a:off x="10149840" y="4672584"/>
            <a:ext cx="320040" cy="320040"/>
          </a:xfrm>
          <a:prstGeom prst="triangle">
            <a:avLst/>
          </a:prstGeom>
          <a:solidFill>
            <a:srgbClr val="F2993A"/>
          </a:solidFill>
          <a:ln w="12700">
            <a:solidFill>
              <a:srgbClr val="F2993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12180000">
            <a:off x="8951976" y="941832"/>
            <a:ext cx="283464" cy="283464"/>
          </a:xfrm>
          <a:prstGeom prst="star5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rot="7080000">
            <a:off x="11365992" y="4343400"/>
            <a:ext cx="374904" cy="374904"/>
          </a:xfrm>
          <a:prstGeom prst="triangl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rot="780000">
            <a:off x="6135624" y="1033272"/>
            <a:ext cx="438912" cy="438912"/>
          </a:xfrm>
          <a:prstGeom prst="rect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rot="5580000">
            <a:off x="6144768" y="256032"/>
            <a:ext cx="320040" cy="32004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rot="19740000">
            <a:off x="10332720" y="1088136"/>
            <a:ext cx="393192" cy="393192"/>
          </a:xfrm>
          <a:prstGeom prst="triangle">
            <a:avLst/>
          </a:prstGeom>
          <a:solidFill>
            <a:srgbClr val="4DA3FF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rot="14040000">
            <a:off x="8449056" y="256032"/>
            <a:ext cx="256032" cy="256032"/>
          </a:xfrm>
          <a:prstGeom prst="triangle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rot="3180000">
            <a:off x="914400" y="6263640"/>
            <a:ext cx="310896" cy="310896"/>
          </a:xfrm>
          <a:prstGeom prst="triangle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rot="12780000">
            <a:off x="1581912" y="210312"/>
            <a:ext cx="237744" cy="237744"/>
          </a:xfrm>
          <a:prstGeom prst="ellipse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rot="1260000">
            <a:off x="9592056" y="1051560"/>
            <a:ext cx="192024" cy="192024"/>
          </a:xfrm>
          <a:prstGeom prst="ellipse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rot="15720000">
            <a:off x="7470648" y="411480"/>
            <a:ext cx="374904" cy="374904"/>
          </a:xfrm>
          <a:prstGeom prst="triangle">
            <a:avLst/>
          </a:prstGeom>
          <a:solidFill>
            <a:srgbClr val="4DA3FF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rot="19200000">
            <a:off x="5340096" y="457200"/>
            <a:ext cx="274320" cy="274320"/>
          </a:xfrm>
          <a:prstGeom prst="ellipse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rot="15420000">
            <a:off x="219456" y="5111496"/>
            <a:ext cx="310896" cy="310896"/>
          </a:xfrm>
          <a:prstGeom prst="rect">
            <a:avLst/>
          </a:prstGeom>
          <a:solidFill>
            <a:srgbClr val="4DA3FF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rot="12180000">
            <a:off x="9729216" y="146304"/>
            <a:ext cx="347472" cy="347472"/>
          </a:xfrm>
          <a:prstGeom prst="star5">
            <a:avLst/>
          </a:prstGeom>
          <a:solidFill>
            <a:srgbClr val="F2993A"/>
          </a:solidFill>
          <a:ln w="12700">
            <a:solidFill>
              <a:srgbClr val="F2993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rot="8880000">
            <a:off x="2386584" y="210312"/>
            <a:ext cx="438912" cy="438912"/>
          </a:xfrm>
          <a:prstGeom prst="ellipse">
            <a:avLst/>
          </a:prstGeom>
          <a:solidFill>
            <a:srgbClr val="4DA3FF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rot="4620000">
            <a:off x="2971800" y="795528"/>
            <a:ext cx="493776" cy="493776"/>
          </a:xfrm>
          <a:prstGeom prst="star5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rot="7140000">
            <a:off x="9043416" y="146304"/>
            <a:ext cx="292608" cy="292608"/>
          </a:xfrm>
          <a:prstGeom prst="star5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rot="16200000">
            <a:off x="3630168" y="932688"/>
            <a:ext cx="356616" cy="356616"/>
          </a:xfrm>
          <a:prstGeom prst="ellipse">
            <a:avLst/>
          </a:prstGeom>
          <a:solidFill>
            <a:srgbClr val="F2993A"/>
          </a:solidFill>
          <a:ln w="12700">
            <a:solidFill>
              <a:srgbClr val="F2993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rot="7560000">
            <a:off x="10442448" y="329184"/>
            <a:ext cx="274320" cy="274320"/>
          </a:xfrm>
          <a:prstGeom prst="triangl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rot="17220000">
            <a:off x="3200400" y="210312"/>
            <a:ext cx="283464" cy="283464"/>
          </a:xfrm>
          <a:prstGeom prst="triangle">
            <a:avLst/>
          </a:prstGeom>
          <a:solidFill>
            <a:srgbClr val="4DA3FF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rot="7980000">
            <a:off x="7662672" y="1234440"/>
            <a:ext cx="292608" cy="292608"/>
          </a:xfrm>
          <a:prstGeom prst="star5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rot="3240000">
            <a:off x="8714232" y="4489704"/>
            <a:ext cx="420624" cy="420624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rot="12240000">
            <a:off x="8211312" y="5769864"/>
            <a:ext cx="237744" cy="237744"/>
          </a:xfrm>
          <a:prstGeom prst="triangle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rot="2640000">
            <a:off x="8375904" y="941832"/>
            <a:ext cx="219456" cy="219456"/>
          </a:xfrm>
          <a:prstGeom prst="triangle">
            <a:avLst/>
          </a:prstGeom>
          <a:solidFill>
            <a:srgbClr val="4DA3FF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rot="4740000">
            <a:off x="6922008" y="6272784"/>
            <a:ext cx="365760" cy="365760"/>
          </a:xfrm>
          <a:prstGeom prst="ellipse">
            <a:avLst/>
          </a:prstGeom>
          <a:solidFill>
            <a:srgbClr val="4DA3FF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rot="6660000">
            <a:off x="7909560" y="6419088"/>
            <a:ext cx="164592" cy="164592"/>
          </a:xfrm>
          <a:prstGeom prst="ellipse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rot="14100000">
            <a:off x="6793992" y="192024"/>
            <a:ext cx="438912" cy="438912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rot="2520000">
            <a:off x="4005072" y="6227064"/>
            <a:ext cx="411480" cy="411480"/>
          </a:xfrm>
          <a:prstGeom prst="triangl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rot="480000">
            <a:off x="11237976" y="1024128"/>
            <a:ext cx="411480" cy="411480"/>
          </a:xfrm>
          <a:prstGeom prst="ellipse">
            <a:avLst/>
          </a:prstGeom>
          <a:solidFill>
            <a:srgbClr val="4DA3FF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rot="2100000">
            <a:off x="310896" y="804672"/>
            <a:ext cx="429768" cy="429768"/>
          </a:xfrm>
          <a:prstGeom prst="star5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rot="16980000">
            <a:off x="301752" y="155448"/>
            <a:ext cx="365760" cy="365760"/>
          </a:xfrm>
          <a:prstGeom prst="ellipse">
            <a:avLst/>
          </a:prstGeom>
          <a:solidFill>
            <a:srgbClr val="4DA3FF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rot="2520000">
            <a:off x="5586984" y="6373368"/>
            <a:ext cx="173736" cy="173736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rot="4500000">
            <a:off x="210312" y="1527048"/>
            <a:ext cx="320040" cy="320040"/>
          </a:xfrm>
          <a:prstGeom prst="rect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rot="2220000">
            <a:off x="2642616" y="6208776"/>
            <a:ext cx="265176" cy="265176"/>
          </a:xfrm>
          <a:prstGeom prst="ellipse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rot="1320000">
            <a:off x="4800600" y="1115568"/>
            <a:ext cx="393192" cy="393192"/>
          </a:xfrm>
          <a:prstGeom prst="star5">
            <a:avLst/>
          </a:prstGeom>
          <a:solidFill>
            <a:srgbClr val="F2993A"/>
          </a:solidFill>
          <a:ln w="12700">
            <a:solidFill>
              <a:srgbClr val="F2993A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rot="16080000">
            <a:off x="1682496" y="6391656"/>
            <a:ext cx="283464" cy="283464"/>
          </a:xfrm>
          <a:prstGeom prst="star5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 rot="1680000">
            <a:off x="4005072" y="210312"/>
            <a:ext cx="320040" cy="320040"/>
          </a:xfrm>
          <a:prstGeom prst="star5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 rot="10620000">
            <a:off x="5541264" y="1143000"/>
            <a:ext cx="246888" cy="246888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 rot="9780000">
            <a:off x="11338560" y="301752"/>
            <a:ext cx="374904" cy="374904"/>
          </a:xfrm>
          <a:prstGeom prst="rect">
            <a:avLst/>
          </a:prstGeom>
          <a:solidFill>
            <a:srgbClr val="F2993A"/>
          </a:solidFill>
          <a:ln w="12700">
            <a:solidFill>
              <a:srgbClr val="F2993A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 rot="19500000">
            <a:off x="3282696" y="6208776"/>
            <a:ext cx="292608" cy="292608"/>
          </a:xfrm>
          <a:prstGeom prst="star5">
            <a:avLst/>
          </a:prstGeom>
          <a:solidFill>
            <a:srgbClr val="F2993A"/>
          </a:solidFill>
          <a:ln w="12700">
            <a:solidFill>
              <a:srgbClr val="F2993A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 rot="16260000">
            <a:off x="338328" y="3090672"/>
            <a:ext cx="173736" cy="173736"/>
          </a:xfrm>
          <a:prstGeom prst="rect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rot="14640000">
            <a:off x="10725912" y="4745736"/>
            <a:ext cx="192024" cy="192024"/>
          </a:xfrm>
          <a:prstGeom prst="rect">
            <a:avLst/>
          </a:prstGeom>
          <a:solidFill>
            <a:srgbClr val="4DA3FF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31520" y="1691640"/>
            <a:ext cx="10698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0" b="1" dirty="0">
                <a:solidFill>
                  <a:srgbClr val="6B4FA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</a:t>
            </a:r>
            <a:pPr algn="ctr" indent="0" marL="0">
              <a:buNone/>
            </a:pPr>
            <a:r>
              <a:rPr lang="en-US" sz="8800" b="1" dirty="0">
                <a:solidFill>
                  <a:srgbClr val="E045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You!</a:t>
            </a:r>
            <a:endParaRPr lang="en-US" sz="8800" dirty="0"/>
          </a:p>
        </p:txBody>
      </p:sp>
      <p:sp>
        <p:nvSpPr>
          <p:cNvPr id="52" name="Text 50"/>
          <p:cNvSpPr/>
          <p:nvPr/>
        </p:nvSpPr>
        <p:spPr>
          <a:xfrm>
            <a:off x="731520" y="34290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29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your attention</a:t>
            </a:r>
            <a:endParaRPr lang="en-US" sz="3600" dirty="0"/>
          </a:p>
        </p:txBody>
      </p:sp>
      <p:sp>
        <p:nvSpPr>
          <p:cNvPr id="53" name="Shape 51"/>
          <p:cNvSpPr/>
          <p:nvPr/>
        </p:nvSpPr>
        <p:spPr>
          <a:xfrm>
            <a:off x="1097280" y="4617720"/>
            <a:ext cx="1463040" cy="1463040"/>
          </a:xfrm>
          <a:prstGeom prst="smileyFace">
            <a:avLst/>
          </a:prstGeom>
          <a:solidFill>
            <a:srgbClr val="FFC93C"/>
          </a:solidFill>
          <a:ln w="38100">
            <a:solidFill>
              <a:srgbClr val="2E2055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2926080" y="4800600"/>
            <a:ext cx="5120640" cy="1097280"/>
          </a:xfrm>
          <a:prstGeom prst="roundRect">
            <a:avLst>
              <a:gd name="adj" fmla="val 25000"/>
            </a:avLst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rot="16200000">
            <a:off x="2606040" y="5166360"/>
            <a:ext cx="411480" cy="365760"/>
          </a:xfrm>
          <a:prstGeom prst="triangle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2926080" y="4800600"/>
            <a:ext cx="5120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questions?</a:t>
            </a:r>
            <a:endParaRPr lang="en-US" sz="3600" dirty="0"/>
          </a:p>
        </p:txBody>
      </p:sp>
      <p:sp>
        <p:nvSpPr>
          <p:cNvPr id="57" name="Text 55"/>
          <p:cNvSpPr/>
          <p:nvPr/>
        </p:nvSpPr>
        <p:spPr>
          <a:xfrm>
            <a:off x="8686800" y="534924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2E2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Ibtihal Hussien</a:t>
            </a:r>
            <a:endParaRPr lang="en-US" sz="1800" dirty="0"/>
          </a:p>
          <a:p>
            <a:pPr algn="r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University of Babylon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36</Slides>
  <Notes>36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3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2026-10-19T10:24:57Z</dcterms:created>
  <dcterms:modified xsi:type="dcterms:W3CDTF">2026-10-19T10:24:57Z</dcterms:modified>
</cp:coreProperties>
</file>