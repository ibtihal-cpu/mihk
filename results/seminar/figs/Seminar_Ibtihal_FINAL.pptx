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6" name="Text 4"/>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7" name="Shape 5"/>
          <p:cNvSpPr/>
          <p:nvPr/>
        </p:nvSpPr>
        <p:spPr>
          <a:xfrm>
            <a:off x="4828032" y="772668"/>
            <a:ext cx="219456" cy="237744"/>
          </a:xfrm>
          <a:prstGeom prst="rightArrow">
            <a:avLst/>
          </a:prstGeom>
          <a:solidFill>
            <a:srgbClr val="1F1A33"/>
          </a:solidFill>
          <a:ln w="12700">
            <a:solidFill>
              <a:srgbClr val="1F1A33"/>
            </a:solidFill>
            <a:prstDash val="solid"/>
          </a:ln>
        </p:spPr>
      </p:sp>
      <p:sp>
        <p:nvSpPr>
          <p:cNvPr id="8" name="Shape 6"/>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9" name="Text 7"/>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0" name="Shape 8"/>
          <p:cNvSpPr/>
          <p:nvPr/>
        </p:nvSpPr>
        <p:spPr>
          <a:xfrm>
            <a:off x="7114032" y="772668"/>
            <a:ext cx="219456" cy="237744"/>
          </a:xfrm>
          <a:prstGeom prst="rightArrow">
            <a:avLst/>
          </a:prstGeom>
          <a:solidFill>
            <a:srgbClr val="1F1A33"/>
          </a:solidFill>
          <a:ln w="12700">
            <a:solidFill>
              <a:srgbClr val="1F1A33"/>
            </a:solidFill>
            <a:prstDash val="solid"/>
          </a:ln>
        </p:spPr>
      </p:sp>
      <p:sp>
        <p:nvSpPr>
          <p:cNvPr id="11" name="Shape 9"/>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2" name="Text 10"/>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 = 16,384</a:t>
            </a:r>
            <a:endParaRPr lang="en-US" sz="1600" dirty="0"/>
          </a:p>
        </p:txBody>
      </p:sp>
      <p:sp>
        <p:nvSpPr>
          <p:cNvPr id="13" name="Text 11"/>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(16-D)</a:t>
            </a:r>
            <a:endParaRPr lang="en-US" sz="1300" dirty="0"/>
          </a:p>
        </p:txBody>
      </p:sp>
      <p:sp>
        <p:nvSpPr>
          <p:cNvPr id="14" name="Shape 12"/>
          <p:cNvSpPr/>
          <p:nvPr/>
        </p:nvSpPr>
        <p:spPr>
          <a:xfrm>
            <a:off x="5989320" y="1609344"/>
            <a:ext cx="237744" cy="192024"/>
          </a:xfrm>
          <a:prstGeom prst="downArrow">
            <a:avLst/>
          </a:prstGeom>
          <a:solidFill>
            <a:srgbClr val="1F1A33"/>
          </a:solidFill>
          <a:ln w="12700">
            <a:solidFill>
              <a:srgbClr val="1F1A33"/>
            </a:solidFill>
            <a:prstDash val="solid"/>
          </a:ln>
        </p:spPr>
      </p:sp>
      <p:sp>
        <p:nvSpPr>
          <p:cNvPr id="15" name="Shape 13"/>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6" name="Shape 14"/>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7" name="Text 15"/>
          <p:cNvSpPr/>
          <p:nvPr/>
        </p:nvSpPr>
        <p:spPr>
          <a:xfrm>
            <a:off x="365760" y="1856232"/>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18" name="Shape 16"/>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19" name="Text 17"/>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0" name="Shape 18"/>
          <p:cNvSpPr/>
          <p:nvPr/>
        </p:nvSpPr>
        <p:spPr>
          <a:xfrm>
            <a:off x="4828032" y="2400300"/>
            <a:ext cx="219456" cy="237744"/>
          </a:xfrm>
          <a:prstGeom prst="rightArrow">
            <a:avLst/>
          </a:prstGeom>
          <a:solidFill>
            <a:srgbClr val="1F1A33"/>
          </a:solidFill>
          <a:ln w="12700">
            <a:solidFill>
              <a:srgbClr val="1F1A33"/>
            </a:solidFill>
            <a:prstDash val="solid"/>
          </a:ln>
        </p:spPr>
      </p:sp>
      <p:sp>
        <p:nvSpPr>
          <p:cNvPr id="21" name="Shape 19"/>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2" name="Text 20"/>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3" name="Shape 21"/>
          <p:cNvSpPr/>
          <p:nvPr/>
        </p:nvSpPr>
        <p:spPr>
          <a:xfrm>
            <a:off x="7114032" y="2400300"/>
            <a:ext cx="219456" cy="237744"/>
          </a:xfrm>
          <a:prstGeom prst="rightArrow">
            <a:avLst/>
          </a:prstGeom>
          <a:solidFill>
            <a:srgbClr val="1F1A33"/>
          </a:solidFill>
          <a:ln w="12700">
            <a:solidFill>
              <a:srgbClr val="1F1A33"/>
            </a:solidFill>
            <a:prstDash val="solid"/>
          </a:ln>
        </p:spPr>
      </p:sp>
      <p:sp>
        <p:nvSpPr>
          <p:cNvPr id="24" name="Shape 22"/>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5" name="Text 23"/>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26" name="Shape 24"/>
          <p:cNvSpPr/>
          <p:nvPr/>
        </p:nvSpPr>
        <p:spPr>
          <a:xfrm>
            <a:off x="9400032" y="2400300"/>
            <a:ext cx="219456" cy="237744"/>
          </a:xfrm>
          <a:prstGeom prst="rightArrow">
            <a:avLst/>
          </a:prstGeom>
          <a:solidFill>
            <a:srgbClr val="1F1A33"/>
          </a:solidFill>
          <a:ln w="12700">
            <a:solidFill>
              <a:srgbClr val="1F1A33"/>
            </a:solidFill>
            <a:prstDash val="solid"/>
          </a:ln>
        </p:spPr>
      </p:sp>
      <p:sp>
        <p:nvSpPr>
          <p:cNvPr id="27" name="Shape 25"/>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28" name="Text 26"/>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29" name="Text 27"/>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0" name="Shape 28"/>
          <p:cNvSpPr/>
          <p:nvPr/>
        </p:nvSpPr>
        <p:spPr>
          <a:xfrm>
            <a:off x="5989320" y="3236976"/>
            <a:ext cx="237744" cy="192024"/>
          </a:xfrm>
          <a:prstGeom prst="downArrow">
            <a:avLst/>
          </a:prstGeom>
          <a:solidFill>
            <a:srgbClr val="1F1A33"/>
          </a:solidFill>
          <a:ln w="12700">
            <a:solidFill>
              <a:srgbClr val="1F1A33"/>
            </a:solidFill>
            <a:prstDash val="solid"/>
          </a:ln>
        </p:spPr>
      </p:sp>
      <p:sp>
        <p:nvSpPr>
          <p:cNvPr id="31" name="Shape 29"/>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2" name="Shape 30"/>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3" name="Text 31"/>
          <p:cNvSpPr/>
          <p:nvPr/>
        </p:nvSpPr>
        <p:spPr>
          <a:xfrm>
            <a:off x="365760" y="3483864"/>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 (Rank 0)</a:t>
            </a:r>
            <a:endParaRPr lang="en-US" sz="2200" dirty="0"/>
          </a:p>
        </p:txBody>
      </p:sp>
      <p:sp>
        <p:nvSpPr>
          <p:cNvPr id="34" name="Shape 32"/>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35" name="Text 33"/>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36" name="Shape 34"/>
          <p:cNvSpPr/>
          <p:nvPr/>
        </p:nvSpPr>
        <p:spPr>
          <a:xfrm>
            <a:off x="4828032" y="4027932"/>
            <a:ext cx="219456" cy="237744"/>
          </a:xfrm>
          <a:prstGeom prst="rightArrow">
            <a:avLst/>
          </a:prstGeom>
          <a:solidFill>
            <a:srgbClr val="1F1A33"/>
          </a:solidFill>
          <a:ln w="12700">
            <a:solidFill>
              <a:srgbClr val="1F1A33"/>
            </a:solidFill>
            <a:prstDash val="solid"/>
          </a:ln>
        </p:spPr>
      </p:sp>
      <p:sp>
        <p:nvSpPr>
          <p:cNvPr id="37" name="Shape 35"/>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38" name="Text 36"/>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39" name="Shape 37"/>
          <p:cNvSpPr/>
          <p:nvPr/>
        </p:nvSpPr>
        <p:spPr>
          <a:xfrm>
            <a:off x="7114032" y="4027932"/>
            <a:ext cx="219456" cy="237744"/>
          </a:xfrm>
          <a:prstGeom prst="rightArrow">
            <a:avLst/>
          </a:prstGeom>
          <a:solidFill>
            <a:srgbClr val="1F1A33"/>
          </a:solidFill>
          <a:ln w="12700">
            <a:solidFill>
              <a:srgbClr val="1F1A33"/>
            </a:solidFill>
            <a:prstDash val="solid"/>
          </a:ln>
        </p:spPr>
      </p:sp>
      <p:sp>
        <p:nvSpPr>
          <p:cNvPr id="40" name="Shape 38"/>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2" name="Text 40"/>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3" name="Shape 41"/>
          <p:cNvSpPr/>
          <p:nvPr/>
        </p:nvSpPr>
        <p:spPr>
          <a:xfrm>
            <a:off x="5989320" y="4864608"/>
            <a:ext cx="237744" cy="192024"/>
          </a:xfrm>
          <a:prstGeom prst="downArrow">
            <a:avLst/>
          </a:prstGeom>
          <a:solidFill>
            <a:srgbClr val="1F1A33"/>
          </a:solidFill>
          <a:ln w="12700">
            <a:solidFill>
              <a:srgbClr val="1F1A33"/>
            </a:solidFill>
            <a:prstDash val="solid"/>
          </a:ln>
        </p:spPr>
      </p:sp>
      <p:sp>
        <p:nvSpPr>
          <p:cNvPr id="44" name="Shape 42"/>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45" name="Shape 43"/>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46" name="Text 44"/>
          <p:cNvSpPr/>
          <p:nvPr/>
        </p:nvSpPr>
        <p:spPr>
          <a:xfrm>
            <a:off x="365760" y="5111496"/>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47" name="Shape 45"/>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48" name="Text 46"/>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p:txBody>
      </p:sp>
      <p:sp>
        <p:nvSpPr>
          <p:cNvPr id="49" name="Shape 47"/>
          <p:cNvSpPr/>
          <p:nvPr/>
        </p:nvSpPr>
        <p:spPr>
          <a:xfrm>
            <a:off x="4828032" y="5655564"/>
            <a:ext cx="219456" cy="237744"/>
          </a:xfrm>
          <a:prstGeom prst="rightArrow">
            <a:avLst/>
          </a:prstGeom>
          <a:solidFill>
            <a:srgbClr val="1F1A33"/>
          </a:solidFill>
          <a:ln w="12700">
            <a:solidFill>
              <a:srgbClr val="1F1A33"/>
            </a:solidFill>
            <a:prstDash val="solid"/>
          </a:ln>
        </p:spPr>
      </p:sp>
      <p:sp>
        <p:nvSpPr>
          <p:cNvPr id="50" name="Shape 48"/>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1" name="Text 49"/>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52" name="Shape 50"/>
          <p:cNvSpPr/>
          <p:nvPr/>
        </p:nvSpPr>
        <p:spPr>
          <a:xfrm>
            <a:off x="7114032" y="5655564"/>
            <a:ext cx="219456" cy="237744"/>
          </a:xfrm>
          <a:prstGeom prst="rightArrow">
            <a:avLst/>
          </a:prstGeom>
          <a:solidFill>
            <a:srgbClr val="1F1A33"/>
          </a:solidFill>
          <a:ln w="12700">
            <a:solidFill>
              <a:srgbClr val="1F1A33"/>
            </a:solidFill>
            <a:prstDash val="solid"/>
          </a:ln>
        </p:spPr>
      </p:sp>
      <p:sp>
        <p:nvSpPr>
          <p:cNvPr id="53" name="Shape 51"/>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54" name="Text 52"/>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55" name="Shape 53"/>
          <p:cNvSpPr/>
          <p:nvPr/>
        </p:nvSpPr>
        <p:spPr>
          <a:xfrm>
            <a:off x="9400032" y="5655564"/>
            <a:ext cx="219456" cy="237744"/>
          </a:xfrm>
          <a:prstGeom prst="rightArrow">
            <a:avLst/>
          </a:prstGeom>
          <a:solidFill>
            <a:srgbClr val="1F1A33"/>
          </a:solidFill>
          <a:ln w="12700">
            <a:solidFill>
              <a:srgbClr val="1F1A33"/>
            </a:solidFill>
            <a:prstDash val="solid"/>
          </a:ln>
        </p:spPr>
      </p:sp>
      <p:sp>
        <p:nvSpPr>
          <p:cNvPr id="56" name="Shape 54"/>
          <p:cNvSpPr/>
          <p:nvPr/>
        </p:nvSpPr>
        <p:spPr>
          <a:xfrm>
            <a:off x="9646920" y="5202936"/>
            <a:ext cx="2011680" cy="1143000"/>
          </a:xfrm>
          <a:prstGeom prst="roundRect">
            <a:avLst>
              <a:gd name="adj" fmla="val 6400"/>
            </a:avLst>
          </a:prstGeom>
          <a:solidFill>
            <a:srgbClr val="FFFFFF"/>
          </a:solidFill>
          <a:ln w="19050">
            <a:solidFill>
              <a:srgbClr val="6B4FA3"/>
            </a:solidFill>
            <a:prstDash val="solid"/>
          </a:ln>
        </p:spPr>
      </p:sp>
      <p:sp>
        <p:nvSpPr>
          <p:cNvPr id="57" name="Text 55"/>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PSNR; parallel SSIM</a:t>
            </a:r>
            <a:endParaRPr lang="en-US" sz="1600" dirty="0"/>
          </a:p>
        </p:txBody>
      </p:sp>
      <p:sp>
        <p:nvSpPr>
          <p:cNvPr id="58" name="Text 56"/>
          <p:cNvSpPr/>
          <p:nvPr/>
        </p:nvSpPr>
        <p:spPr>
          <a:xfrm>
            <a:off x="365760" y="6492240"/>
            <a:ext cx="1143000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Parallel: LBG training and SSIM   |   Rank 0: index coding, decoding, reconstruction, and remaining metrics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27080" cy="914400"/>
        </p:xfrm>
        <a:graphic>
          <a:graphicData uri="http://schemas.openxmlformats.org/drawingml/2006/table">
            <a:tbl>
              <a:tblPr/>
              <a:tblGrid>
                <a:gridCol w="1463040"/>
                <a:gridCol w="4023360"/>
                <a:gridCol w="1920240"/>
                <a:gridCol w="352044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Quality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Performance</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S_orig / S_comp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Execution time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T (median of 5 runs)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compressed bits / pixels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Speedup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 = T_seq / T_P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mean (I − Î)²</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Efficiency</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S / 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PSNR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10·log10(255² / MSE)  dB</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Throughput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I_size / T_total  (MiB/s)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11 × 11 Gaussian window, σ = 1.5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(1/S − 1/P) / (1 − 1/P)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bl>
          </a:graphicData>
        </a:graphic>
      </p:graphicFrame>
      <p:sp>
        <p:nvSpPr>
          <p:cNvPr id="7" name="Text 4"/>
          <p:cNvSpPr/>
          <p:nvPr/>
        </p:nvSpPr>
        <p:spPr>
          <a:xfrm>
            <a:off x="640080" y="5120640"/>
            <a:ext cx="10927080" cy="914400"/>
          </a:xfrm>
          <a:prstGeom prst="rect">
            <a:avLst/>
          </a:prstGeom>
          <a:noFill/>
          <a:ln/>
        </p:spPr>
        <p:txBody>
          <a:bodyPr wrap="square" lIns="0" tIns="0" rIns="0" bIns="0" rtlCol="0" anchor="ctr"/>
          <a:lstStyle/>
          <a:p>
            <a:pPr indent="0" marL="0">
              <a:buNone/>
            </a:pPr>
            <a:r>
              <a:rPr lang="en-US" sz="1300" i="1" dirty="0">
                <a:solidFill>
                  <a:srgbClr val="6B4FA3"/>
                </a:solidFill>
                <a:latin typeface="Calibri" pitchFamily="34" charset="0"/>
                <a:ea typeface="Calibri" pitchFamily="34" charset="-122"/>
                <a:cs typeface="Calibri" pitchFamily="34" charset="-120"/>
              </a:rPr>
              <a:t>S_comp = accounted compressed size = codebook (K × 16 bytes, one byte per element) + Huffman table + Huffman-coded data. The table is accounted as 5 bytes per used symbol (1 byte symbol + 4 bytes frequency) plus 10 bytes of fixed metadata. For color images, MSE and PSNR are computed over RGB and SSIM is the mean of the channels.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188720"/>
          <a:ext cx="10515600" cy="914400"/>
        </p:xfrm>
        <a:graphic>
          <a:graphicData uri="http://schemas.openxmlformats.org/drawingml/2006/table">
            <a:tbl>
              <a:tblPr/>
              <a:tblGrid>
                <a:gridCol w="2377440"/>
                <a:gridCol w="1097280"/>
                <a:gridCol w="1371600"/>
                <a:gridCol w="1371600"/>
                <a:gridCol w="1371600"/>
                <a:gridCol w="1554480"/>
                <a:gridCol w="1371600"/>
              </a:tblGrid>
              <a:tr h="393192">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7" name="Text 4"/>
          <p:cNvSpPr/>
          <p:nvPr/>
        </p:nvSpPr>
        <p:spPr>
          <a:xfrm>
            <a:off x="822960" y="5989320"/>
            <a:ext cx="105156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ntropy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and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 (efficiency ≈ 66%).</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 0.04 for P ≥ 8: the serial fraction of LBG stays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(mean of the 8 images). The total speedup is shown separately for gray and color on the next slide.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otal_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other stages (image reading, delta and Huffman coding, reconstruction) remain sequential.</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hroughput_ch4.png">    </p:cNvPr>
          <p:cNvPicPr>
            <a:picLocks noChangeAspect="1"/>
          </p:cNvPicPr>
          <p:nvPr/>
        </p:nvPicPr>
        <p:blipFill>
          <a:blip r:embed="rId1"/>
          <a:stretch>
            <a:fillRect/>
          </a:stretch>
        </p:blipFill>
        <p:spPr>
          <a:xfrm>
            <a:off x="457200" y="1269906"/>
            <a:ext cx="7498080" cy="4958268"/>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772400" cy="914400"/>
        </p:xfrm>
        <a:graphic>
          <a:graphicData uri="http://schemas.openxmlformats.org/drawingml/2006/table">
            <a:tbl>
              <a:tblPr/>
              <a:tblGrid>
                <a:gridCol w="640080"/>
                <a:gridCol w="1005840"/>
                <a:gridCol w="1188720"/>
                <a:gridCol w="1188720"/>
                <a:gridCol w="1280160"/>
                <a:gridCol w="1188720"/>
                <a:gridCol w="1280160"/>
              </a:tblGrid>
              <a:tr h="53035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7" name="Text 4"/>
          <p:cNvSpPr/>
          <p:nvPr/>
        </p:nvSpPr>
        <p:spPr>
          <a:xfrm>
            <a:off x="457200" y="557784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8" name="Shape 5"/>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9" name="Text 6"/>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sequential coding and reconstruction stages dominate.</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sequential coding and reconstruction stages.</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Parallelize the delta coding, Huffman coding and reconstruction stages.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Evaluate other block sizes, codebook sizes and larger images.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Define an efficiency measure that accounts for the different speeds of P-cores and E-cores.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Implement a complete container file format (stored Huffman table and header) with a stand-alone decoder; the current program only accounts the compressed size.</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Extend the study to other hybrid CPUs and to hybrid MPI + OpenMP implementations.</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2026-10-16T08:55:06Z</dcterms:created>
  <dcterms:modified xsi:type="dcterms:W3CDTF">2026-10-16T08:55:06Z</dcterms:modified>
</cp:coreProperties>
</file>