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640080">
                <a:tc>
                  <a:txBody>
                    <a:bodyPr/>
                    <a:lstStyle/>
                    <a:p>
                      <a:pPr algn="ctr" indent="0" marL="0">
                        <a:buNone/>
                      </a:pPr>
                      <a:r>
                        <a:rPr lang="en-US" sz="1700" b="1" dirty="0">
                          <a:solidFill>
                            <a:srgbClr val="2A9D8F"/>
                          </a:solidFill>
                          <a:latin typeface="Calibri" pitchFamily="34" charset="0"/>
                          <a:ea typeface="Calibri" pitchFamily="34" charset="-122"/>
                          <a:cs typeface="Calibri" pitchFamily="34" charset="-120"/>
                        </a:rPr>
                        <a:t>CR</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S_orig / S_comp</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700" b="1" dirty="0">
                          <a:solidFill>
                            <a:srgbClr val="E07B22"/>
                          </a:solidFill>
                          <a:latin typeface="Calibri" pitchFamily="34" charset="0"/>
                          <a:ea typeface="Calibri" pitchFamily="34" charset="-122"/>
                          <a:cs typeface="Calibri" pitchFamily="34" charset="-120"/>
                        </a:rPr>
                        <a:t>Execution time</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T (median of 5 runs)</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640080">
                <a:tc>
                  <a:txBody>
                    <a:bodyPr/>
                    <a:lstStyle/>
                    <a:p>
                      <a:pPr algn="ctr" indent="0" marL="0">
                        <a:buNone/>
                      </a:pPr>
                      <a:r>
                        <a:rPr lang="en-US" sz="1700" b="1" dirty="0">
                          <a:solidFill>
                            <a:srgbClr val="2A9D8F"/>
                          </a:solidFill>
                          <a:latin typeface="Calibri" pitchFamily="34" charset="0"/>
                          <a:ea typeface="Calibri" pitchFamily="34" charset="-122"/>
                          <a:cs typeface="Calibri" pitchFamily="34" charset="-120"/>
                        </a:rPr>
                        <a:t>BPP</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compressed bits / pixels</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E07B22"/>
                          </a:solidFill>
                          <a:latin typeface="Calibri" pitchFamily="34" charset="0"/>
                          <a:ea typeface="Calibri" pitchFamily="34" charset="-122"/>
                          <a:cs typeface="Calibri" pitchFamily="34" charset="-120"/>
                        </a:rPr>
                        <a:t>Speedup</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S = T_seq / T_P</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640080">
                <a:tc>
                  <a:txBody>
                    <a:bodyPr/>
                    <a:lstStyle/>
                    <a:p>
                      <a:pPr algn="ctr" indent="0" marL="0">
                        <a:buNone/>
                      </a:pPr>
                      <a:r>
                        <a:rPr lang="en-US" sz="1700" b="1" dirty="0">
                          <a:solidFill>
                            <a:srgbClr val="2A9D8F"/>
                          </a:solidFill>
                          <a:latin typeface="Calibri" pitchFamily="34" charset="0"/>
                          <a:ea typeface="Calibri" pitchFamily="34" charset="-122"/>
                          <a:cs typeface="Calibri" pitchFamily="34" charset="-120"/>
                        </a:rPr>
                        <a:t>MSE</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mean (I − Î)²</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700" b="1" dirty="0">
                          <a:solidFill>
                            <a:srgbClr val="E07B22"/>
                          </a:solidFill>
                          <a:latin typeface="Calibri" pitchFamily="34" charset="0"/>
                          <a:ea typeface="Calibri" pitchFamily="34" charset="-122"/>
                          <a:cs typeface="Calibri" pitchFamily="34" charset="-120"/>
                        </a:rPr>
                        <a:t>Efficiency</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E = S / P</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640080">
                <a:tc>
                  <a:txBody>
                    <a:bodyPr/>
                    <a:lstStyle/>
                    <a:p>
                      <a:pPr algn="ctr" indent="0" marL="0">
                        <a:buNone/>
                      </a:pPr>
                      <a:r>
                        <a:rPr lang="en-US" sz="1700" b="1" dirty="0">
                          <a:solidFill>
                            <a:srgbClr val="2A9D8F"/>
                          </a:solidFill>
                          <a:latin typeface="Calibri" pitchFamily="34" charset="0"/>
                          <a:ea typeface="Calibri" pitchFamily="34" charset="-122"/>
                          <a:cs typeface="Calibri" pitchFamily="34" charset="-120"/>
                        </a:rPr>
                        <a:t>PSNR</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10·log10(255² / MSE)  dB</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E07B22"/>
                          </a:solidFill>
                          <a:latin typeface="Calibri" pitchFamily="34" charset="0"/>
                          <a:ea typeface="Calibri" pitchFamily="34" charset="-122"/>
                          <a:cs typeface="Calibri" pitchFamily="34" charset="-120"/>
                        </a:rPr>
                        <a:t>Throughput</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I_size / T_total  (MiB/s)</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640080">
                <a:tc>
                  <a:txBody>
                    <a:bodyPr/>
                    <a:lstStyle/>
                    <a:p>
                      <a:pPr algn="ctr" indent="0" marL="0">
                        <a:buNone/>
                      </a:pPr>
                      <a:r>
                        <a:rPr lang="en-US" sz="1700" b="1" dirty="0">
                          <a:solidFill>
                            <a:srgbClr val="2A9D8F"/>
                          </a:solidFill>
                          <a:latin typeface="Calibri" pitchFamily="34" charset="0"/>
                          <a:ea typeface="Calibri" pitchFamily="34" charset="-122"/>
                          <a:cs typeface="Calibri" pitchFamily="34" charset="-120"/>
                        </a:rPr>
                        <a:t>SSIM</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11 × 11 Gaussian window, σ = 1.5</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700" b="1" dirty="0">
                          <a:solidFill>
                            <a:srgbClr val="E07B22"/>
                          </a:solidFill>
                          <a:latin typeface="Calibri" pitchFamily="34" charset="0"/>
                          <a:ea typeface="Calibri" pitchFamily="34" charset="-122"/>
                          <a:cs typeface="Calibri" pitchFamily="34" charset="-120"/>
                        </a:rPr>
                        <a:t>Karp–Flatt</a:t>
                      </a:r>
                      <a:endParaRPr lang="en-US" sz="17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600" dirty="0">
                          <a:solidFill>
                            <a:srgbClr val="1F1A33"/>
                          </a:solidFill>
                          <a:latin typeface="Calibri" pitchFamily="34" charset="0"/>
                          <a:ea typeface="Calibri" pitchFamily="34" charset="-122"/>
                          <a:cs typeface="Calibri" pitchFamily="34" charset="-120"/>
                        </a:rPr>
                        <a:t>e = (1/S − 1/P) / (1 − 1/P)</a:t>
                      </a:r>
                      <a:endParaRPr lang="en-US" sz="16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257800"/>
            <a:ext cx="10927080" cy="365760"/>
          </a:xfrm>
          <a:prstGeom prst="rect">
            <a:avLst/>
          </a:prstGeom>
          <a:noFill/>
          <a:ln/>
        </p:spPr>
        <p:txBody>
          <a:bodyPr wrap="square" lIns="0" tIns="0" rIns="0" bIns="0" rtlCol="0" anchor="ctr"/>
          <a:lstStyle/>
          <a:p>
            <a:pPr indent="0" marL="0">
              <a:buNone/>
            </a:pPr>
            <a:r>
              <a:rPr lang="en-US" sz="1500" i="1" dirty="0">
                <a:solidFill>
                  <a:srgbClr val="6B4FA3"/>
                </a:solidFill>
                <a:latin typeface="Calibri" pitchFamily="34" charset="0"/>
                <a:ea typeface="Calibri" pitchFamily="34" charset="-122"/>
                <a:cs typeface="Calibri" pitchFamily="34" charset="-120"/>
              </a:rPr>
              <a:t>S_comp = codebook + Huffman table + Huffman-coded data (accounted size).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2026-10-17T10:24:56Z</dcterms:created>
  <dcterms:modified xsi:type="dcterms:W3CDTF">2026-10-17T10:24:56Z</dcterms:modified>
</cp:coreProperties>
</file>