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 values of 'This work' come from the previous Huffman-table accounting. Replace them with the CR column of correctness.csv after the rerun (expected change about -1.2%). Source values checked against the papers: [6] Table 1 and Table 3; [16] Table 1; [17] Table 1 (Cameraman, FLBG).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055"/>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E2055"/>
          </a:solidFill>
          <a:ln w="12700">
            <a:solidFill>
              <a:srgbClr val="2E2055"/>
            </a:solidFill>
            <a:prstDash val="solid"/>
          </a:ln>
        </p:spPr>
      </p:sp>
      <p:sp>
        <p:nvSpPr>
          <p:cNvPr id="3" name="Shape 1"/>
          <p:cNvSpPr/>
          <p:nvPr/>
        </p:nvSpPr>
        <p:spPr>
          <a:xfrm>
            <a:off x="0" y="0"/>
            <a:ext cx="320040" cy="6858000"/>
          </a:xfrm>
          <a:prstGeom prst="rect">
            <a:avLst/>
          </a:prstGeom>
          <a:solidFill>
            <a:srgbClr val="E0457B"/>
          </a:solidFill>
          <a:ln w="12700">
            <a:solidFill>
              <a:srgbClr val="E0457B"/>
            </a:solidFill>
            <a:prstDash val="solid"/>
          </a:ln>
        </p:spPr>
      </p:sp>
      <p:sp>
        <p:nvSpPr>
          <p:cNvPr id="4" name="Text 2"/>
          <p:cNvSpPr/>
          <p:nvPr/>
        </p:nvSpPr>
        <p:spPr>
          <a:xfrm>
            <a:off x="822960" y="640080"/>
            <a:ext cx="10515600" cy="457200"/>
          </a:xfrm>
          <a:prstGeom prst="rect">
            <a:avLst/>
          </a:prstGeom>
          <a:noFill/>
          <a:ln/>
        </p:spPr>
        <p:txBody>
          <a:bodyPr wrap="square" lIns="0" tIns="0" rIns="0" bIns="0" rtlCol="0" anchor="ctr"/>
          <a:lstStyle/>
          <a:p>
            <a:pPr indent="0" marL="0">
              <a:buNone/>
            </a:pPr>
            <a:r>
              <a:rPr lang="en-US" sz="1800" b="1" dirty="0">
                <a:solidFill>
                  <a:srgbClr val="C9BDE8"/>
                </a:solidFill>
                <a:latin typeface="Calibri" pitchFamily="34" charset="0"/>
                <a:ea typeface="Calibri" pitchFamily="34" charset="-122"/>
                <a:cs typeface="Calibri" pitchFamily="34" charset="-120"/>
              </a:rPr>
              <a:t>MSc SEMINAR  |  University of Babylon</a:t>
            </a:r>
            <a:endParaRPr lang="en-US" sz="1800" dirty="0"/>
          </a:p>
        </p:txBody>
      </p:sp>
      <p:sp>
        <p:nvSpPr>
          <p:cNvPr id="5" name="Text 3"/>
          <p:cNvSpPr/>
          <p:nvPr/>
        </p:nvSpPr>
        <p:spPr>
          <a:xfrm>
            <a:off x="822960" y="1463040"/>
            <a:ext cx="10515600" cy="17373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Parallel Image Compression Using High-Performance Computing Strategies</a:t>
            </a:r>
            <a:endParaRPr lang="en-US" sz="4000" dirty="0"/>
          </a:p>
        </p:txBody>
      </p:sp>
      <p:sp>
        <p:nvSpPr>
          <p:cNvPr id="6" name="Text 4"/>
          <p:cNvSpPr/>
          <p:nvPr/>
        </p:nvSpPr>
        <p:spPr>
          <a:xfrm>
            <a:off x="822960" y="3383280"/>
            <a:ext cx="10515600" cy="822960"/>
          </a:xfrm>
          <a:prstGeom prst="rect">
            <a:avLst/>
          </a:prstGeom>
          <a:noFill/>
          <a:ln/>
        </p:spPr>
        <p:txBody>
          <a:bodyPr wrap="square" lIns="0" tIns="0" rIns="0" bIns="0" rtlCol="0" anchor="ctr"/>
          <a:lstStyle/>
          <a:p>
            <a:pPr indent="0" marL="0">
              <a:buNone/>
            </a:pPr>
            <a:r>
              <a:rPr lang="en-US" sz="2000" dirty="0">
                <a:solidFill>
                  <a:srgbClr val="E8DFF7"/>
                </a:solidFill>
                <a:latin typeface="Calibri" pitchFamily="34" charset="0"/>
                <a:ea typeface="Calibri" pitchFamily="34" charset="-122"/>
                <a:cs typeface="Calibri" pitchFamily="34" charset="-120"/>
              </a:rPr>
              <a:t>LBG vector quantization, delta coding and Huffman coding with speed-aware MPI on a hybrid P/E-core CPU</a:t>
            </a:r>
            <a:endParaRPr lang="en-US" sz="2000" dirty="0"/>
          </a:p>
        </p:txBody>
      </p:sp>
      <p:sp>
        <p:nvSpPr>
          <p:cNvPr id="7" name="Text 5"/>
          <p:cNvSpPr/>
          <p:nvPr/>
        </p:nvSpPr>
        <p:spPr>
          <a:xfrm>
            <a:off x="822960" y="4846320"/>
            <a:ext cx="10515600" cy="1097280"/>
          </a:xfrm>
          <a:prstGeom prst="rect">
            <a:avLst/>
          </a:prstGeom>
          <a:noFill/>
          <a:ln/>
        </p:spPr>
        <p:txBody>
          <a:bodyPr wrap="square" lIns="0" tIns="0" rIns="0" bIns="0" rtlCol="0" anchor="ctr"/>
          <a:lstStyle/>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Presented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MSc. Student Ibtihal Hussien</a:t>
            </a:r>
            <a:endParaRPr lang="en-US" sz="2000" dirty="0"/>
          </a:p>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Supervised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Dr. Ahmed Badri  ·  Dr. Esraa Hadi</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Outline</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Outline</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25880"/>
            <a:ext cx="5303520" cy="1005840"/>
          </a:xfrm>
          <a:prstGeom prst="roundRect">
            <a:avLst>
              <a:gd name="adj" fmla="val 9091"/>
            </a:avLst>
          </a:prstGeom>
          <a:solidFill>
            <a:srgbClr val="F5F1FB"/>
          </a:solidFill>
          <a:ln w="19050">
            <a:solidFill>
              <a:srgbClr val="6B4FA3"/>
            </a:solidFill>
            <a:prstDash val="solid"/>
          </a:ln>
        </p:spPr>
      </p:sp>
      <p:sp>
        <p:nvSpPr>
          <p:cNvPr id="7" name="Shape 5"/>
          <p:cNvSpPr/>
          <p:nvPr/>
        </p:nvSpPr>
        <p:spPr>
          <a:xfrm>
            <a:off x="822960" y="1508760"/>
            <a:ext cx="640080" cy="640080"/>
          </a:xfrm>
          <a:prstGeom prst="ellipse">
            <a:avLst/>
          </a:prstGeom>
          <a:solidFill>
            <a:srgbClr val="6B4FA3"/>
          </a:solidFill>
          <a:ln w="12700">
            <a:solidFill>
              <a:srgbClr val="6B4FA3"/>
            </a:solidFill>
            <a:prstDash val="solid"/>
          </a:ln>
        </p:spPr>
      </p:sp>
      <p:sp>
        <p:nvSpPr>
          <p:cNvPr id="8" name="Text 6"/>
          <p:cNvSpPr/>
          <p:nvPr/>
        </p:nvSpPr>
        <p:spPr>
          <a:xfrm>
            <a:off x="82296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9" name="Text 7"/>
          <p:cNvSpPr/>
          <p:nvPr/>
        </p:nvSpPr>
        <p:spPr>
          <a:xfrm>
            <a:off x="164592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Introduction</a:t>
            </a:r>
            <a:endParaRPr lang="en-US" sz="2400" dirty="0"/>
          </a:p>
        </p:txBody>
      </p:sp>
      <p:sp>
        <p:nvSpPr>
          <p:cNvPr id="10" name="Shape 8"/>
          <p:cNvSpPr/>
          <p:nvPr/>
        </p:nvSpPr>
        <p:spPr>
          <a:xfrm>
            <a:off x="6309360" y="1325880"/>
            <a:ext cx="5303520" cy="1005840"/>
          </a:xfrm>
          <a:prstGeom prst="roundRect">
            <a:avLst>
              <a:gd name="adj" fmla="val 9091"/>
            </a:avLst>
          </a:prstGeom>
          <a:solidFill>
            <a:srgbClr val="F5F1FB"/>
          </a:solidFill>
          <a:ln w="19050">
            <a:solidFill>
              <a:srgbClr val="6B4FA3"/>
            </a:solidFill>
            <a:prstDash val="solid"/>
          </a:ln>
        </p:spPr>
      </p:sp>
      <p:sp>
        <p:nvSpPr>
          <p:cNvPr id="11" name="Shape 9"/>
          <p:cNvSpPr/>
          <p:nvPr/>
        </p:nvSpPr>
        <p:spPr>
          <a:xfrm>
            <a:off x="6492240" y="1508760"/>
            <a:ext cx="640080" cy="640080"/>
          </a:xfrm>
          <a:prstGeom prst="ellipse">
            <a:avLst/>
          </a:prstGeom>
          <a:solidFill>
            <a:srgbClr val="6B4FA3"/>
          </a:solidFill>
          <a:ln w="12700">
            <a:solidFill>
              <a:srgbClr val="6B4FA3"/>
            </a:solidFill>
            <a:prstDash val="solid"/>
          </a:ln>
        </p:spPr>
      </p:sp>
      <p:sp>
        <p:nvSpPr>
          <p:cNvPr id="12" name="Text 10"/>
          <p:cNvSpPr/>
          <p:nvPr/>
        </p:nvSpPr>
        <p:spPr>
          <a:xfrm>
            <a:off x="649224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3" name="Text 11"/>
          <p:cNvSpPr/>
          <p:nvPr/>
        </p:nvSpPr>
        <p:spPr>
          <a:xfrm>
            <a:off x="731520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Literature Review</a:t>
            </a:r>
            <a:endParaRPr lang="en-US" sz="2400" dirty="0"/>
          </a:p>
        </p:txBody>
      </p:sp>
      <p:sp>
        <p:nvSpPr>
          <p:cNvPr id="14" name="Shape 12"/>
          <p:cNvSpPr/>
          <p:nvPr/>
        </p:nvSpPr>
        <p:spPr>
          <a:xfrm>
            <a:off x="640080" y="2606040"/>
            <a:ext cx="5303520" cy="1005840"/>
          </a:xfrm>
          <a:prstGeom prst="roundRect">
            <a:avLst>
              <a:gd name="adj" fmla="val 9091"/>
            </a:avLst>
          </a:prstGeom>
          <a:solidFill>
            <a:srgbClr val="F5F1FB"/>
          </a:solidFill>
          <a:ln w="19050">
            <a:solidFill>
              <a:srgbClr val="E0457B"/>
            </a:solidFill>
            <a:prstDash val="solid"/>
          </a:ln>
        </p:spPr>
      </p:sp>
      <p:sp>
        <p:nvSpPr>
          <p:cNvPr id="15" name="Shape 13"/>
          <p:cNvSpPr/>
          <p:nvPr/>
        </p:nvSpPr>
        <p:spPr>
          <a:xfrm>
            <a:off x="822960" y="2788920"/>
            <a:ext cx="640080" cy="640080"/>
          </a:xfrm>
          <a:prstGeom prst="ellipse">
            <a:avLst/>
          </a:prstGeom>
          <a:solidFill>
            <a:srgbClr val="E0457B"/>
          </a:solidFill>
          <a:ln w="12700">
            <a:solidFill>
              <a:srgbClr val="E0457B"/>
            </a:solidFill>
            <a:prstDash val="solid"/>
          </a:ln>
        </p:spPr>
      </p:sp>
      <p:sp>
        <p:nvSpPr>
          <p:cNvPr id="16" name="Text 14"/>
          <p:cNvSpPr/>
          <p:nvPr/>
        </p:nvSpPr>
        <p:spPr>
          <a:xfrm>
            <a:off x="82296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Text 15"/>
          <p:cNvSpPr/>
          <p:nvPr/>
        </p:nvSpPr>
        <p:spPr>
          <a:xfrm>
            <a:off x="164592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Problem Statement</a:t>
            </a:r>
            <a:endParaRPr lang="en-US" sz="2400" dirty="0"/>
          </a:p>
        </p:txBody>
      </p:sp>
      <p:sp>
        <p:nvSpPr>
          <p:cNvPr id="18" name="Shape 16"/>
          <p:cNvSpPr/>
          <p:nvPr/>
        </p:nvSpPr>
        <p:spPr>
          <a:xfrm>
            <a:off x="6309360" y="2606040"/>
            <a:ext cx="5303520" cy="1005840"/>
          </a:xfrm>
          <a:prstGeom prst="roundRect">
            <a:avLst>
              <a:gd name="adj" fmla="val 9091"/>
            </a:avLst>
          </a:prstGeom>
          <a:solidFill>
            <a:srgbClr val="F5F1FB"/>
          </a:solidFill>
          <a:ln w="19050">
            <a:solidFill>
              <a:srgbClr val="E0457B"/>
            </a:solidFill>
            <a:prstDash val="solid"/>
          </a:ln>
        </p:spPr>
      </p:sp>
      <p:sp>
        <p:nvSpPr>
          <p:cNvPr id="19" name="Shape 17"/>
          <p:cNvSpPr/>
          <p:nvPr/>
        </p:nvSpPr>
        <p:spPr>
          <a:xfrm>
            <a:off x="6492240" y="2788920"/>
            <a:ext cx="640080" cy="640080"/>
          </a:xfrm>
          <a:prstGeom prst="ellipse">
            <a:avLst/>
          </a:prstGeom>
          <a:solidFill>
            <a:srgbClr val="E0457B"/>
          </a:solidFill>
          <a:ln w="12700">
            <a:solidFill>
              <a:srgbClr val="E0457B"/>
            </a:solidFill>
            <a:prstDash val="solid"/>
          </a:ln>
        </p:spPr>
      </p:sp>
      <p:sp>
        <p:nvSpPr>
          <p:cNvPr id="20" name="Text 18"/>
          <p:cNvSpPr/>
          <p:nvPr/>
        </p:nvSpPr>
        <p:spPr>
          <a:xfrm>
            <a:off x="649224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1" name="Text 19"/>
          <p:cNvSpPr/>
          <p:nvPr/>
        </p:nvSpPr>
        <p:spPr>
          <a:xfrm>
            <a:off x="731520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Thesis Objectives</a:t>
            </a:r>
            <a:endParaRPr lang="en-US" sz="2400" dirty="0"/>
          </a:p>
        </p:txBody>
      </p:sp>
      <p:sp>
        <p:nvSpPr>
          <p:cNvPr id="22" name="Shape 20"/>
          <p:cNvSpPr/>
          <p:nvPr/>
        </p:nvSpPr>
        <p:spPr>
          <a:xfrm>
            <a:off x="640080" y="3886200"/>
            <a:ext cx="5303520" cy="1005840"/>
          </a:xfrm>
          <a:prstGeom prst="roundRect">
            <a:avLst>
              <a:gd name="adj" fmla="val 9091"/>
            </a:avLst>
          </a:prstGeom>
          <a:solidFill>
            <a:srgbClr val="F5F1FB"/>
          </a:solidFill>
          <a:ln w="19050">
            <a:solidFill>
              <a:srgbClr val="E07B22"/>
            </a:solidFill>
            <a:prstDash val="solid"/>
          </a:ln>
        </p:spPr>
      </p:sp>
      <p:sp>
        <p:nvSpPr>
          <p:cNvPr id="23" name="Shape 21"/>
          <p:cNvSpPr/>
          <p:nvPr/>
        </p:nvSpPr>
        <p:spPr>
          <a:xfrm>
            <a:off x="822960" y="4069080"/>
            <a:ext cx="640080" cy="640080"/>
          </a:xfrm>
          <a:prstGeom prst="ellipse">
            <a:avLst/>
          </a:prstGeom>
          <a:solidFill>
            <a:srgbClr val="E07B22"/>
          </a:solidFill>
          <a:ln w="12700">
            <a:solidFill>
              <a:srgbClr val="E07B22"/>
            </a:solidFill>
            <a:prstDash val="solid"/>
          </a:ln>
        </p:spPr>
      </p:sp>
      <p:sp>
        <p:nvSpPr>
          <p:cNvPr id="24" name="Text 22"/>
          <p:cNvSpPr/>
          <p:nvPr/>
        </p:nvSpPr>
        <p:spPr>
          <a:xfrm>
            <a:off x="82296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25" name="Text 23"/>
          <p:cNvSpPr/>
          <p:nvPr/>
        </p:nvSpPr>
        <p:spPr>
          <a:xfrm>
            <a:off x="164592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Proposed Work</a:t>
            </a:r>
            <a:endParaRPr lang="en-US" sz="2400" dirty="0"/>
          </a:p>
        </p:txBody>
      </p:sp>
      <p:sp>
        <p:nvSpPr>
          <p:cNvPr id="26" name="Shape 24"/>
          <p:cNvSpPr/>
          <p:nvPr/>
        </p:nvSpPr>
        <p:spPr>
          <a:xfrm>
            <a:off x="6309360" y="3886200"/>
            <a:ext cx="5303520" cy="1005840"/>
          </a:xfrm>
          <a:prstGeom prst="roundRect">
            <a:avLst>
              <a:gd name="adj" fmla="val 9091"/>
            </a:avLst>
          </a:prstGeom>
          <a:solidFill>
            <a:srgbClr val="F5F1FB"/>
          </a:solidFill>
          <a:ln w="19050">
            <a:solidFill>
              <a:srgbClr val="2A9D8F"/>
            </a:solidFill>
            <a:prstDash val="solid"/>
          </a:ln>
        </p:spPr>
      </p:sp>
      <p:sp>
        <p:nvSpPr>
          <p:cNvPr id="27" name="Shape 25"/>
          <p:cNvSpPr/>
          <p:nvPr/>
        </p:nvSpPr>
        <p:spPr>
          <a:xfrm>
            <a:off x="6492240" y="4069080"/>
            <a:ext cx="640080" cy="640080"/>
          </a:xfrm>
          <a:prstGeom prst="ellipse">
            <a:avLst/>
          </a:prstGeom>
          <a:solidFill>
            <a:srgbClr val="2A9D8F"/>
          </a:solidFill>
          <a:ln w="12700">
            <a:solidFill>
              <a:srgbClr val="2A9D8F"/>
            </a:solidFill>
            <a:prstDash val="solid"/>
          </a:ln>
        </p:spPr>
      </p:sp>
      <p:sp>
        <p:nvSpPr>
          <p:cNvPr id="28" name="Text 26"/>
          <p:cNvSpPr/>
          <p:nvPr/>
        </p:nvSpPr>
        <p:spPr>
          <a:xfrm>
            <a:off x="649224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6</a:t>
            </a:r>
            <a:endParaRPr lang="en-US" sz="2200" dirty="0"/>
          </a:p>
        </p:txBody>
      </p:sp>
      <p:sp>
        <p:nvSpPr>
          <p:cNvPr id="29" name="Text 27"/>
          <p:cNvSpPr/>
          <p:nvPr/>
        </p:nvSpPr>
        <p:spPr>
          <a:xfrm>
            <a:off x="731520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Experimental Results</a:t>
            </a:r>
            <a:endParaRPr lang="en-US" sz="2400" dirty="0"/>
          </a:p>
        </p:txBody>
      </p:sp>
      <p:sp>
        <p:nvSpPr>
          <p:cNvPr id="30" name="Shape 28"/>
          <p:cNvSpPr/>
          <p:nvPr/>
        </p:nvSpPr>
        <p:spPr>
          <a:xfrm>
            <a:off x="640080" y="5166360"/>
            <a:ext cx="5303520" cy="1005840"/>
          </a:xfrm>
          <a:prstGeom prst="roundRect">
            <a:avLst>
              <a:gd name="adj" fmla="val 9091"/>
            </a:avLst>
          </a:prstGeom>
          <a:solidFill>
            <a:srgbClr val="F5F1FB"/>
          </a:solidFill>
          <a:ln w="19050">
            <a:solidFill>
              <a:srgbClr val="2E2055"/>
            </a:solidFill>
            <a:prstDash val="solid"/>
          </a:ln>
        </p:spPr>
      </p:sp>
      <p:sp>
        <p:nvSpPr>
          <p:cNvPr id="31" name="Shape 29"/>
          <p:cNvSpPr/>
          <p:nvPr/>
        </p:nvSpPr>
        <p:spPr>
          <a:xfrm>
            <a:off x="822960" y="5349240"/>
            <a:ext cx="640080" cy="640080"/>
          </a:xfrm>
          <a:prstGeom prst="ellipse">
            <a:avLst/>
          </a:prstGeom>
          <a:solidFill>
            <a:srgbClr val="2E2055"/>
          </a:solidFill>
          <a:ln w="12700">
            <a:solidFill>
              <a:srgbClr val="2E2055"/>
            </a:solidFill>
            <a:prstDash val="solid"/>
          </a:ln>
        </p:spPr>
      </p:sp>
      <p:sp>
        <p:nvSpPr>
          <p:cNvPr id="32" name="Text 30"/>
          <p:cNvSpPr/>
          <p:nvPr/>
        </p:nvSpPr>
        <p:spPr>
          <a:xfrm>
            <a:off x="82296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7</a:t>
            </a:r>
            <a:endParaRPr lang="en-US" sz="2200" dirty="0"/>
          </a:p>
        </p:txBody>
      </p:sp>
      <p:sp>
        <p:nvSpPr>
          <p:cNvPr id="33" name="Text 31"/>
          <p:cNvSpPr/>
          <p:nvPr/>
        </p:nvSpPr>
        <p:spPr>
          <a:xfrm>
            <a:off x="164592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Conclusion</a:t>
            </a:r>
            <a:endParaRPr lang="en-US" sz="2400" dirty="0"/>
          </a:p>
        </p:txBody>
      </p:sp>
      <p:sp>
        <p:nvSpPr>
          <p:cNvPr id="34" name="Shape 32"/>
          <p:cNvSpPr/>
          <p:nvPr/>
        </p:nvSpPr>
        <p:spPr>
          <a:xfrm>
            <a:off x="6309360" y="5166360"/>
            <a:ext cx="5303520" cy="1005840"/>
          </a:xfrm>
          <a:prstGeom prst="roundRect">
            <a:avLst>
              <a:gd name="adj" fmla="val 9091"/>
            </a:avLst>
          </a:prstGeom>
          <a:solidFill>
            <a:srgbClr val="F5F1FB"/>
          </a:solidFill>
          <a:ln w="19050">
            <a:solidFill>
              <a:srgbClr val="2E2055"/>
            </a:solidFill>
            <a:prstDash val="solid"/>
          </a:ln>
        </p:spPr>
      </p:sp>
      <p:sp>
        <p:nvSpPr>
          <p:cNvPr id="35" name="Shape 33"/>
          <p:cNvSpPr/>
          <p:nvPr/>
        </p:nvSpPr>
        <p:spPr>
          <a:xfrm>
            <a:off x="6492240" y="5349240"/>
            <a:ext cx="640080" cy="640080"/>
          </a:xfrm>
          <a:prstGeom prst="ellipse">
            <a:avLst/>
          </a:prstGeom>
          <a:solidFill>
            <a:srgbClr val="2E2055"/>
          </a:solidFill>
          <a:ln w="12700">
            <a:solidFill>
              <a:srgbClr val="2E2055"/>
            </a:solidFill>
            <a:prstDash val="solid"/>
          </a:ln>
        </p:spPr>
      </p:sp>
      <p:sp>
        <p:nvSpPr>
          <p:cNvPr id="36" name="Text 34"/>
          <p:cNvSpPr/>
          <p:nvPr/>
        </p:nvSpPr>
        <p:spPr>
          <a:xfrm>
            <a:off x="649224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8</a:t>
            </a:r>
            <a:endParaRPr lang="en-US" sz="2200" dirty="0"/>
          </a:p>
        </p:txBody>
      </p:sp>
      <p:sp>
        <p:nvSpPr>
          <p:cNvPr id="37" name="Text 35"/>
          <p:cNvSpPr/>
          <p:nvPr/>
        </p:nvSpPr>
        <p:spPr>
          <a:xfrm>
            <a:off x="731520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Future Work</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Why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3520440" cy="3291840"/>
          </a:xfrm>
          <a:prstGeom prst="roundRect">
            <a:avLst>
              <a:gd name="adj" fmla="val 2778"/>
            </a:avLst>
          </a:prstGeom>
          <a:solidFill>
            <a:srgbClr val="FFFFFF"/>
          </a:solidFill>
          <a:ln w="22225">
            <a:solidFill>
              <a:srgbClr val="6B4FA3"/>
            </a:solidFill>
            <a:prstDash val="solid"/>
          </a:ln>
        </p:spPr>
      </p:sp>
      <p:sp>
        <p:nvSpPr>
          <p:cNvPr id="7" name="Shape 5"/>
          <p:cNvSpPr/>
          <p:nvPr/>
        </p:nvSpPr>
        <p:spPr>
          <a:xfrm>
            <a:off x="658368" y="1389888"/>
            <a:ext cx="109728" cy="3255264"/>
          </a:xfrm>
          <a:prstGeom prst="rect">
            <a:avLst/>
          </a:prstGeom>
          <a:solidFill>
            <a:srgbClr val="6B4FA3"/>
          </a:solidFill>
          <a:ln w="12700">
            <a:solidFill>
              <a:srgbClr val="6B4FA3"/>
            </a:solidFill>
            <a:prstDash val="solid"/>
          </a:ln>
        </p:spPr>
      </p:sp>
      <p:sp>
        <p:nvSpPr>
          <p:cNvPr id="8" name="Text 6"/>
          <p:cNvSpPr/>
          <p:nvPr/>
        </p:nvSpPr>
        <p:spPr>
          <a:xfrm>
            <a:off x="91440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6B4FA3"/>
                </a:solidFill>
                <a:latin typeface="Calibri" pitchFamily="34" charset="0"/>
                <a:ea typeface="Calibri" pitchFamily="34" charset="-122"/>
                <a:cs typeface="Calibri" pitchFamily="34" charset="-120"/>
              </a:rPr>
              <a:t>Storage</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Large image collections require a large amount of storage space.</a:t>
            </a:r>
            <a:endParaRPr lang="en-US" sz="2400" dirty="0"/>
          </a:p>
        </p:txBody>
      </p:sp>
      <p:sp>
        <p:nvSpPr>
          <p:cNvPr id="9" name="Shape 7"/>
          <p:cNvSpPr/>
          <p:nvPr/>
        </p:nvSpPr>
        <p:spPr>
          <a:xfrm>
            <a:off x="4343400" y="1371600"/>
            <a:ext cx="3520440" cy="3291840"/>
          </a:xfrm>
          <a:prstGeom prst="roundRect">
            <a:avLst>
              <a:gd name="adj" fmla="val 2778"/>
            </a:avLst>
          </a:prstGeom>
          <a:solidFill>
            <a:srgbClr val="FFFFFF"/>
          </a:solidFill>
          <a:ln w="22225">
            <a:solidFill>
              <a:srgbClr val="E0457B"/>
            </a:solidFill>
            <a:prstDash val="solid"/>
          </a:ln>
        </p:spPr>
      </p:sp>
      <p:sp>
        <p:nvSpPr>
          <p:cNvPr id="10" name="Shape 8"/>
          <p:cNvSpPr/>
          <p:nvPr/>
        </p:nvSpPr>
        <p:spPr>
          <a:xfrm>
            <a:off x="4361688" y="1389888"/>
            <a:ext cx="109728" cy="3255264"/>
          </a:xfrm>
          <a:prstGeom prst="rect">
            <a:avLst/>
          </a:prstGeom>
          <a:solidFill>
            <a:srgbClr val="E0457B"/>
          </a:solidFill>
          <a:ln w="12700">
            <a:solidFill>
              <a:srgbClr val="E0457B"/>
            </a:solidFill>
            <a:prstDash val="solid"/>
          </a:ln>
        </p:spPr>
      </p:sp>
      <p:sp>
        <p:nvSpPr>
          <p:cNvPr id="11" name="Text 9"/>
          <p:cNvSpPr/>
          <p:nvPr/>
        </p:nvSpPr>
        <p:spPr>
          <a:xfrm>
            <a:off x="461772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E0457B"/>
                </a:solidFill>
                <a:latin typeface="Calibri" pitchFamily="34" charset="0"/>
                <a:ea typeface="Calibri" pitchFamily="34" charset="-122"/>
                <a:cs typeface="Calibri" pitchFamily="34" charset="-120"/>
              </a:rPr>
              <a:t>Transmission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Smaller images reach the receiver sooner and use less network bandwidth.</a:t>
            </a:r>
            <a:endParaRPr lang="en-US" sz="2400" dirty="0"/>
          </a:p>
        </p:txBody>
      </p:sp>
      <p:sp>
        <p:nvSpPr>
          <p:cNvPr id="12" name="Shape 10"/>
          <p:cNvSpPr/>
          <p:nvPr/>
        </p:nvSpPr>
        <p:spPr>
          <a:xfrm>
            <a:off x="8046720" y="1371600"/>
            <a:ext cx="3520440" cy="3291840"/>
          </a:xfrm>
          <a:prstGeom prst="roundRect">
            <a:avLst>
              <a:gd name="adj" fmla="val 2778"/>
            </a:avLst>
          </a:prstGeom>
          <a:solidFill>
            <a:srgbClr val="FFFFFF"/>
          </a:solidFill>
          <a:ln w="22225">
            <a:solidFill>
              <a:srgbClr val="2A9D8F"/>
            </a:solidFill>
            <a:prstDash val="solid"/>
          </a:ln>
        </p:spPr>
      </p:sp>
      <p:sp>
        <p:nvSpPr>
          <p:cNvPr id="13" name="Shape 11"/>
          <p:cNvSpPr/>
          <p:nvPr/>
        </p:nvSpPr>
        <p:spPr>
          <a:xfrm>
            <a:off x="8065008" y="1389888"/>
            <a:ext cx="109728" cy="3255264"/>
          </a:xfrm>
          <a:prstGeom prst="rect">
            <a:avLst/>
          </a:prstGeom>
          <a:solidFill>
            <a:srgbClr val="2A9D8F"/>
          </a:solidFill>
          <a:ln w="12700">
            <a:solidFill>
              <a:srgbClr val="2A9D8F"/>
            </a:solidFill>
            <a:prstDash val="solid"/>
          </a:ln>
        </p:spPr>
      </p:sp>
      <p:sp>
        <p:nvSpPr>
          <p:cNvPr id="14" name="Text 12"/>
          <p:cNvSpPr/>
          <p:nvPr/>
        </p:nvSpPr>
        <p:spPr>
          <a:xfrm>
            <a:off x="832104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2A9D8F"/>
                </a:solidFill>
                <a:latin typeface="Calibri" pitchFamily="34" charset="0"/>
                <a:ea typeface="Calibri" pitchFamily="34" charset="-122"/>
                <a:cs typeface="Calibri" pitchFamily="34" charset="-120"/>
              </a:rPr>
              <a:t>Computation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A good compression ratio needs complex methods, so the compression itself must stay fast.</a:t>
            </a:r>
            <a:endParaRPr lang="en-US" sz="2400" dirty="0"/>
          </a:p>
        </p:txBody>
      </p:sp>
      <p:sp>
        <p:nvSpPr>
          <p:cNvPr id="15" name="Text 13"/>
          <p:cNvSpPr/>
          <p:nvPr/>
        </p:nvSpPr>
        <p:spPr>
          <a:xfrm>
            <a:off x="640080" y="5074920"/>
            <a:ext cx="10881360" cy="640080"/>
          </a:xfrm>
          <a:prstGeom prst="rect">
            <a:avLst/>
          </a:prstGeom>
          <a:noFill/>
          <a:ln/>
        </p:spPr>
        <p:txBody>
          <a:bodyPr wrap="square" lIns="0" tIns="0" rIns="0" bIns="0" rtlCol="0" anchor="ctr"/>
          <a:lstStyle/>
          <a:p>
            <a:pPr algn="ctr" indent="0" marL="0">
              <a:buNone/>
            </a:pPr>
            <a:r>
              <a:rPr lang="en-US" sz="2200" i="1" dirty="0">
                <a:solidFill>
                  <a:srgbClr val="2E2055"/>
                </a:solidFill>
                <a:latin typeface="Cambria" pitchFamily="34" charset="0"/>
                <a:ea typeface="Cambria" pitchFamily="34" charset="-122"/>
                <a:cs typeface="Cambria" pitchFamily="34" charset="-120"/>
              </a:rPr>
              <a:t>Image compression reduces the amount of data needed to represent an image.</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Lossless and Lossy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5394960" cy="3017520"/>
          </a:xfrm>
          <a:prstGeom prst="roundRect">
            <a:avLst>
              <a:gd name="adj" fmla="val 3030"/>
            </a:avLst>
          </a:prstGeom>
          <a:solidFill>
            <a:srgbClr val="FFFFFF"/>
          </a:solidFill>
          <a:ln w="22225">
            <a:solidFill>
              <a:srgbClr val="2A9D8F"/>
            </a:solidFill>
            <a:prstDash val="solid"/>
          </a:ln>
        </p:spPr>
      </p:sp>
      <p:sp>
        <p:nvSpPr>
          <p:cNvPr id="7" name="Shape 5"/>
          <p:cNvSpPr/>
          <p:nvPr/>
        </p:nvSpPr>
        <p:spPr>
          <a:xfrm>
            <a:off x="658368" y="1389888"/>
            <a:ext cx="109728" cy="2980944"/>
          </a:xfrm>
          <a:prstGeom prst="rect">
            <a:avLst/>
          </a:prstGeom>
          <a:solidFill>
            <a:srgbClr val="2A9D8F"/>
          </a:solidFill>
          <a:ln w="12700">
            <a:solidFill>
              <a:srgbClr val="2A9D8F"/>
            </a:solidFill>
            <a:prstDash val="solid"/>
          </a:ln>
        </p:spPr>
      </p:sp>
      <p:sp>
        <p:nvSpPr>
          <p:cNvPr id="8" name="Text 6"/>
          <p:cNvSpPr/>
          <p:nvPr/>
        </p:nvSpPr>
        <p:spPr>
          <a:xfrm>
            <a:off x="91440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2A9D8F"/>
                </a:solidFill>
                <a:latin typeface="Calibri" pitchFamily="34" charset="0"/>
                <a:ea typeface="Calibri" pitchFamily="34" charset="-122"/>
                <a:cs typeface="Calibri" pitchFamily="34" charset="-120"/>
              </a:rPr>
              <a:t>Lossless</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The original image is recovered exactly. Examples: RLE, Huffman, LZW.</a:t>
            </a:r>
            <a:endParaRPr lang="en-US" sz="2600" dirty="0"/>
          </a:p>
        </p:txBody>
      </p:sp>
      <p:sp>
        <p:nvSpPr>
          <p:cNvPr id="9" name="Shape 7"/>
          <p:cNvSpPr/>
          <p:nvPr/>
        </p:nvSpPr>
        <p:spPr>
          <a:xfrm>
            <a:off x="6172200" y="1371600"/>
            <a:ext cx="5394960" cy="3017520"/>
          </a:xfrm>
          <a:prstGeom prst="roundRect">
            <a:avLst>
              <a:gd name="adj" fmla="val 3030"/>
            </a:avLst>
          </a:prstGeom>
          <a:solidFill>
            <a:srgbClr val="FFFFFF"/>
          </a:solidFill>
          <a:ln w="22225">
            <a:solidFill>
              <a:srgbClr val="E07B22"/>
            </a:solidFill>
            <a:prstDash val="solid"/>
          </a:ln>
        </p:spPr>
      </p:sp>
      <p:sp>
        <p:nvSpPr>
          <p:cNvPr id="10" name="Shape 8"/>
          <p:cNvSpPr/>
          <p:nvPr/>
        </p:nvSpPr>
        <p:spPr>
          <a:xfrm>
            <a:off x="6190488" y="1389888"/>
            <a:ext cx="109728" cy="2980944"/>
          </a:xfrm>
          <a:prstGeom prst="rect">
            <a:avLst/>
          </a:prstGeom>
          <a:solidFill>
            <a:srgbClr val="E07B22"/>
          </a:solidFill>
          <a:ln w="12700">
            <a:solidFill>
              <a:srgbClr val="E07B22"/>
            </a:solidFill>
            <a:prstDash val="solid"/>
          </a:ln>
        </p:spPr>
      </p:sp>
      <p:sp>
        <p:nvSpPr>
          <p:cNvPr id="11" name="Text 9"/>
          <p:cNvSpPr/>
          <p:nvPr/>
        </p:nvSpPr>
        <p:spPr>
          <a:xfrm>
            <a:off x="644652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E07B22"/>
                </a:solidFill>
                <a:latin typeface="Calibri" pitchFamily="34" charset="0"/>
                <a:ea typeface="Calibri" pitchFamily="34" charset="-122"/>
                <a:cs typeface="Calibri" pitchFamily="34" charset="-120"/>
              </a:rPr>
              <a:t>Lossy</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Some information is discarded to reach a higher compression ratio. Examples: VQ, DCT, DWT.</a:t>
            </a:r>
            <a:endParaRPr lang="en-US" sz="2600" dirty="0"/>
          </a:p>
        </p:txBody>
      </p:sp>
      <p:sp>
        <p:nvSpPr>
          <p:cNvPr id="12" name="Shape 10"/>
          <p:cNvSpPr/>
          <p:nvPr/>
        </p:nvSpPr>
        <p:spPr>
          <a:xfrm>
            <a:off x="640080" y="4709160"/>
            <a:ext cx="10927080" cy="1188720"/>
          </a:xfrm>
          <a:prstGeom prst="roundRect">
            <a:avLst>
              <a:gd name="adj" fmla="val 7692"/>
            </a:avLst>
          </a:prstGeom>
          <a:solidFill>
            <a:srgbClr val="F5F1FB"/>
          </a:solidFill>
          <a:ln w="19050">
            <a:solidFill>
              <a:srgbClr val="6B4FA3"/>
            </a:solidFill>
            <a:prstDash val="solid"/>
          </a:ln>
        </p:spPr>
      </p:sp>
      <p:sp>
        <p:nvSpPr>
          <p:cNvPr id="13" name="Text 11"/>
          <p:cNvSpPr/>
          <p:nvPr/>
        </p:nvSpPr>
        <p:spPr>
          <a:xfrm>
            <a:off x="822960" y="4709160"/>
            <a:ext cx="10561320" cy="1188720"/>
          </a:xfrm>
          <a:prstGeom prst="rect">
            <a:avLst/>
          </a:prstGeom>
          <a:noFill/>
          <a:ln/>
        </p:spPr>
        <p:txBody>
          <a:bodyPr wrap="square" lIns="0" tIns="0" rIns="0" bIns="0" rtlCol="0" anchor="ctr"/>
          <a:lstStyle/>
          <a:p>
            <a:pPr indent="0" marL="0">
              <a:buNone/>
            </a:pPr>
            <a:r>
              <a:rPr lang="en-US" sz="2100" b="1" dirty="0">
                <a:solidFill>
                  <a:srgbClr val="E0457B"/>
                </a:solidFill>
                <a:latin typeface="Calibri" pitchFamily="34" charset="0"/>
                <a:ea typeface="Calibri" pitchFamily="34" charset="-122"/>
                <a:cs typeface="Calibri" pitchFamily="34" charset="-120"/>
              </a:rPr>
              <a:t>This work: </a:t>
            </a:r>
            <a:pPr indent="0" marL="0">
              <a:buNone/>
            </a:pPr>
            <a:r>
              <a:rPr lang="en-US" sz="2100" dirty="0">
                <a:solidFill>
                  <a:srgbClr val="1F1A33"/>
                </a:solidFill>
                <a:latin typeface="Calibri" pitchFamily="34" charset="0"/>
                <a:ea typeface="Calibri" pitchFamily="34" charset="-122"/>
                <a:cs typeface="Calibri" pitchFamily="34" charset="-120"/>
              </a:rPr>
              <a:t>lossy LBG vector quantization, followed by lossless delta coding and Huffman coding.</a:t>
            </a:r>
            <a:endParaRPr lang="en-US" sz="2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Processing in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Text 4"/>
          <p:cNvSpPr/>
          <p:nvPr/>
        </p:nvSpPr>
        <p:spPr>
          <a:xfrm>
            <a:off x="640080" y="1280160"/>
            <a:ext cx="10881360" cy="914400"/>
          </a:xfrm>
          <a:prstGeom prst="rect">
            <a:avLst/>
          </a:prstGeom>
          <a:noFill/>
          <a:ln/>
        </p:spPr>
        <p:txBody>
          <a:bodyPr wrap="square" lIns="0" tIns="0" rIns="0" bIns="0" rtlCol="0" anchor="ctr"/>
          <a:lstStyle/>
          <a:p>
            <a:pPr indent="0" marL="0">
              <a:buNone/>
            </a:pPr>
            <a:r>
              <a:rPr lang="en-US" sz="2400" i="1" dirty="0">
                <a:solidFill>
                  <a:srgbClr val="2E2055"/>
                </a:solidFill>
                <a:latin typeface="Cambria" pitchFamily="34" charset="0"/>
                <a:ea typeface="Cambria" pitchFamily="34" charset="-122"/>
                <a:cs typeface="Cambria" pitchFamily="34" charset="-120"/>
              </a:rPr>
              <a:t>Parallel processing improves processing speed and efficiency when handling large data.</a:t>
            </a:r>
            <a:endParaRPr lang="en-US" sz="2400" dirty="0"/>
          </a:p>
        </p:txBody>
      </p:sp>
      <p:sp>
        <p:nvSpPr>
          <p:cNvPr id="7" name="Shape 5"/>
          <p:cNvSpPr/>
          <p:nvPr/>
        </p:nvSpPr>
        <p:spPr>
          <a:xfrm>
            <a:off x="640080" y="2468880"/>
            <a:ext cx="3520440" cy="3108960"/>
          </a:xfrm>
          <a:prstGeom prst="roundRect">
            <a:avLst>
              <a:gd name="adj" fmla="val 2941"/>
            </a:avLst>
          </a:prstGeom>
          <a:solidFill>
            <a:srgbClr val="FFFFFF"/>
          </a:solidFill>
          <a:ln w="22225">
            <a:solidFill>
              <a:srgbClr val="E07B22"/>
            </a:solidFill>
            <a:prstDash val="solid"/>
          </a:ln>
        </p:spPr>
      </p:sp>
      <p:sp>
        <p:nvSpPr>
          <p:cNvPr id="8" name="Shape 6"/>
          <p:cNvSpPr/>
          <p:nvPr/>
        </p:nvSpPr>
        <p:spPr>
          <a:xfrm>
            <a:off x="658368" y="2487168"/>
            <a:ext cx="109728" cy="3072384"/>
          </a:xfrm>
          <a:prstGeom prst="rect">
            <a:avLst/>
          </a:prstGeom>
          <a:solidFill>
            <a:srgbClr val="E07B22"/>
          </a:solidFill>
          <a:ln w="12700">
            <a:solidFill>
              <a:srgbClr val="E07B22"/>
            </a:solidFill>
            <a:prstDash val="solid"/>
          </a:ln>
        </p:spPr>
      </p:sp>
      <p:sp>
        <p:nvSpPr>
          <p:cNvPr id="9" name="Text 7"/>
          <p:cNvSpPr/>
          <p:nvPr/>
        </p:nvSpPr>
        <p:spPr>
          <a:xfrm>
            <a:off x="91440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E07B22"/>
                </a:solidFill>
                <a:latin typeface="Calibri" pitchFamily="34" charset="0"/>
                <a:ea typeface="Calibri" pitchFamily="34" charset="-122"/>
                <a:cs typeface="Calibri" pitchFamily="34" charset="-120"/>
              </a:rPr>
              <a:t>LBG training dominates</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In the sequential program it takes about 77% (gray) and 81% (color) of the total time.</a:t>
            </a:r>
            <a:endParaRPr lang="en-US" sz="2200" dirty="0"/>
          </a:p>
        </p:txBody>
      </p:sp>
      <p:sp>
        <p:nvSpPr>
          <p:cNvPr id="10" name="Shape 8"/>
          <p:cNvSpPr/>
          <p:nvPr/>
        </p:nvSpPr>
        <p:spPr>
          <a:xfrm>
            <a:off x="4343400" y="2468880"/>
            <a:ext cx="3520440" cy="3108960"/>
          </a:xfrm>
          <a:prstGeom prst="roundRect">
            <a:avLst>
              <a:gd name="adj" fmla="val 2941"/>
            </a:avLst>
          </a:prstGeom>
          <a:solidFill>
            <a:srgbClr val="FFFFFF"/>
          </a:solidFill>
          <a:ln w="22225">
            <a:solidFill>
              <a:srgbClr val="6B4FA3"/>
            </a:solidFill>
            <a:prstDash val="solid"/>
          </a:ln>
        </p:spPr>
      </p:sp>
      <p:sp>
        <p:nvSpPr>
          <p:cNvPr id="11" name="Shape 9"/>
          <p:cNvSpPr/>
          <p:nvPr/>
        </p:nvSpPr>
        <p:spPr>
          <a:xfrm>
            <a:off x="4361688" y="2487168"/>
            <a:ext cx="109728" cy="3072384"/>
          </a:xfrm>
          <a:prstGeom prst="rect">
            <a:avLst/>
          </a:prstGeom>
          <a:solidFill>
            <a:srgbClr val="6B4FA3"/>
          </a:solidFill>
          <a:ln w="12700">
            <a:solidFill>
              <a:srgbClr val="6B4FA3"/>
            </a:solidFill>
            <a:prstDash val="solid"/>
          </a:ln>
        </p:spPr>
      </p:sp>
      <p:sp>
        <p:nvSpPr>
          <p:cNvPr id="12" name="Text 10"/>
          <p:cNvSpPr/>
          <p:nvPr/>
        </p:nvSpPr>
        <p:spPr>
          <a:xfrm>
            <a:off x="461772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6B4FA3"/>
                </a:solidFill>
                <a:latin typeface="Calibri" pitchFamily="34" charset="0"/>
                <a:ea typeface="Calibri" pitchFamily="34" charset="-122"/>
                <a:cs typeface="Calibri" pitchFamily="34" charset="-120"/>
              </a:rPr>
              <a:t>Data-parallel</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Each training vector is assigned to its nearest codeword independently, so the work can be split across processes.</a:t>
            </a:r>
            <a:endParaRPr lang="en-US" sz="2200" dirty="0"/>
          </a:p>
        </p:txBody>
      </p:sp>
      <p:sp>
        <p:nvSpPr>
          <p:cNvPr id="13" name="Shape 11"/>
          <p:cNvSpPr/>
          <p:nvPr/>
        </p:nvSpPr>
        <p:spPr>
          <a:xfrm>
            <a:off x="8046720" y="2468880"/>
            <a:ext cx="3520440" cy="3108960"/>
          </a:xfrm>
          <a:prstGeom prst="roundRect">
            <a:avLst>
              <a:gd name="adj" fmla="val 2941"/>
            </a:avLst>
          </a:prstGeom>
          <a:solidFill>
            <a:srgbClr val="FFFFFF"/>
          </a:solidFill>
          <a:ln w="22225">
            <a:solidFill>
              <a:srgbClr val="2A9D8F"/>
            </a:solidFill>
            <a:prstDash val="solid"/>
          </a:ln>
        </p:spPr>
      </p:sp>
      <p:sp>
        <p:nvSpPr>
          <p:cNvPr id="14" name="Shape 12"/>
          <p:cNvSpPr/>
          <p:nvPr/>
        </p:nvSpPr>
        <p:spPr>
          <a:xfrm>
            <a:off x="8065008" y="2487168"/>
            <a:ext cx="109728" cy="3072384"/>
          </a:xfrm>
          <a:prstGeom prst="rect">
            <a:avLst/>
          </a:prstGeom>
          <a:solidFill>
            <a:srgbClr val="2A9D8F"/>
          </a:solidFill>
          <a:ln w="12700">
            <a:solidFill>
              <a:srgbClr val="2A9D8F"/>
            </a:solidFill>
            <a:prstDash val="solid"/>
          </a:ln>
        </p:spPr>
      </p:sp>
      <p:sp>
        <p:nvSpPr>
          <p:cNvPr id="15" name="Text 13"/>
          <p:cNvSpPr/>
          <p:nvPr/>
        </p:nvSpPr>
        <p:spPr>
          <a:xfrm>
            <a:off x="832104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2A9D8F"/>
                </a:solidFill>
                <a:latin typeface="Calibri" pitchFamily="34" charset="0"/>
                <a:ea typeface="Calibri" pitchFamily="34" charset="-122"/>
                <a:cs typeface="Calibri" pitchFamily="34" charset="-120"/>
              </a:rPr>
              <a:t>Hybrid CPU</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P-cores and E-cores have different speeds, so an equal split can leave fast cores waiting.</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Compression Quality</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822960"/>
                <a:gridCol w="1371600"/>
                <a:gridCol w="2011680"/>
                <a:gridCol w="3657600"/>
                <a:gridCol w="1280160"/>
                <a:gridCol w="1737360"/>
              </a:tblGrid>
              <a:tr h="45720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Ref.</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Image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Algorithm</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CR</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PSNR (dB)</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Lena</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Wavelet coefficients + Huffman coding</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1.52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54.28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Lena</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Ranjan and Kumar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2D DWT + PCA + canonical Huffman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4.41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34.78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LBG-VQ + delta + Huffman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23.50</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29.67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Boat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Wavelet coefficients + Huffman coding</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54.07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LBG-VQ + delta + Huffman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26.54</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29.11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Cameraman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Bilal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FLBG (LBG with bilinear rescaling)</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25.3–26.8*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LBG-VQ + delta + Huffman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28.88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29.75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bl>
          </a:graphicData>
        </a:graphic>
      </p:graphicFrame>
      <p:sp>
        <p:nvSpPr>
          <p:cNvPr id="8" name="Text 4"/>
          <p:cNvSpPr/>
          <p:nvPr/>
        </p:nvSpPr>
        <p:spPr>
          <a:xfrm>
            <a:off x="640080" y="5074920"/>
            <a:ext cx="10881360" cy="73152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[16]: Lena 512 × 512, Table 1 (CR 4.4058, PSNR 34.7809 dB). [6]: near-lossless scheme. * [17]: FLBG PSNR over 0.15–0.625 bpp (CR not reported).</a:t>
            </a:r>
            <a:endParaRPr lang="en-US" sz="1200" dirty="0"/>
          </a:p>
        </p:txBody>
      </p:sp>
      <p:sp>
        <p:nvSpPr>
          <p:cNvPr id="9" name="Text 5"/>
          <p:cNvSpPr/>
          <p:nvPr/>
        </p:nvSpPr>
        <p:spPr>
          <a:xfrm>
            <a:off x="640080" y="5852160"/>
            <a:ext cx="10881360" cy="548640"/>
          </a:xfrm>
          <a:prstGeom prst="rect">
            <a:avLst/>
          </a:prstGeom>
          <a:noFill/>
          <a:ln/>
        </p:spPr>
        <p:txBody>
          <a:bodyPr wrap="square" lIns="0" tIns="0" rIns="0" bIns="0" rtlCol="0" anchor="ctr"/>
          <a:lstStyle/>
          <a:p>
            <a:pPr indent="0" marL="0">
              <a:buNone/>
            </a:pPr>
            <a:r>
              <a:rPr lang="en-US" sz="1800" b="1" dirty="0">
                <a:solidFill>
                  <a:srgbClr val="2E2055"/>
                </a:solidFill>
                <a:latin typeface="Cambria" pitchFamily="34" charset="0"/>
                <a:ea typeface="Cambria" pitchFamily="34" charset="-122"/>
                <a:cs typeface="Cambria" pitchFamily="34" charset="-120"/>
              </a:rPr>
              <a:t>This work reaches a much higher compression ratio than [6] and [16], at a lower PSNR.</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Parallel Speedup</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377440"/>
                <a:gridCol w="2468880"/>
                <a:gridCol w="2651760"/>
                <a:gridCol w="1280160"/>
                <a:gridCol w="2103120"/>
              </a:tblGrid>
              <a:tr h="64008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Application</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Resources</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Speedup</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640080">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Tanović et al. (2024)</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image classification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12 cores (OpenMP + MPI)</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Not stated</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10.2×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640080">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Papakyriakou et al. (2025)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75 M synthetic points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2–48 MPI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 10.05×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640080">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Bystrov et al. (2023)</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Discrete-element simulation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8 heterogeneous containers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6.0×</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640080">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LBG image compression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14 MPI processes (6 P + 8 E cores)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9.19× (LBG); 5.00× / 6.84× (total, gray / color)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r>
            </a:tbl>
          </a:graphicData>
        </a:graphic>
      </p:graphicFrame>
      <p:sp>
        <p:nvSpPr>
          <p:cNvPr id="7" name="Shape 4"/>
          <p:cNvSpPr/>
          <p:nvPr/>
        </p:nvSpPr>
        <p:spPr>
          <a:xfrm>
            <a:off x="640080" y="4754880"/>
            <a:ext cx="10881360" cy="1417320"/>
          </a:xfrm>
          <a:prstGeom prst="roundRect">
            <a:avLst>
              <a:gd name="adj" fmla="val 6452"/>
            </a:avLst>
          </a:prstGeom>
          <a:solidFill>
            <a:srgbClr val="F5F1FB"/>
          </a:solidFill>
          <a:ln w="25400">
            <a:solidFill>
              <a:srgbClr val="E0457B"/>
            </a:solidFill>
            <a:prstDash val="solid"/>
          </a:ln>
        </p:spPr>
      </p:sp>
      <p:sp>
        <p:nvSpPr>
          <p:cNvPr id="8" name="Text 5"/>
          <p:cNvSpPr/>
          <p:nvPr/>
        </p:nvSpPr>
        <p:spPr>
          <a:xfrm>
            <a:off x="822960" y="4754880"/>
            <a:ext cx="10515600" cy="1417320"/>
          </a:xfrm>
          <a:prstGeom prst="rect">
            <a:avLst/>
          </a:prstGeom>
          <a:noFill/>
          <a:ln/>
        </p:spPr>
        <p:txBody>
          <a:bodyPr wrap="square" lIns="0" tIns="0" rIns="0" bIns="0" rtlCol="0" anchor="ctr"/>
          <a:lstStyle/>
          <a:p>
            <a:pPr indent="0" marL="0">
              <a:buNone/>
            </a:pPr>
            <a:r>
              <a:rPr lang="en-US" sz="1800" b="1" dirty="0">
                <a:solidFill>
                  <a:srgbClr val="E0457B"/>
                </a:solidFill>
                <a:latin typeface="Calibri" pitchFamily="34" charset="0"/>
                <a:ea typeface="Calibri" pitchFamily="34" charset="-122"/>
                <a:cs typeface="Calibri" pitchFamily="34" charset="-120"/>
              </a:rPr>
              <a:t>Research gap  </a:t>
            </a:r>
            <a:endParaRPr lang="en-US" sz="1800" dirty="0"/>
          </a:p>
          <a:p>
            <a:pPr indent="0" marL="0">
              <a:buNone/>
            </a:pPr>
            <a:r>
              <a:rPr lang="en-US" sz="1800" dirty="0">
                <a:solidFill>
                  <a:srgbClr val="1F1A33"/>
                </a:solidFill>
                <a:latin typeface="Calibri" pitchFamily="34" charset="0"/>
                <a:ea typeface="Calibri" pitchFamily="34" charset="-122"/>
                <a:cs typeface="Calibri" pitchFamily="34" charset="-120"/>
              </a:rPr>
              <a:t>Existing parallel studies target k-means or other applications. To our knowledge, none of the reviewed studies evaluates MPI-parallel LBG for image compression on a hybrid P/E-core CPU.</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Problem Statement</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Problem Statement</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463040"/>
            <a:ext cx="685800" cy="685800"/>
          </a:xfrm>
          <a:prstGeom prst="ellipse">
            <a:avLst/>
          </a:prstGeom>
          <a:solidFill>
            <a:srgbClr val="E0457B"/>
          </a:solidFill>
          <a:ln w="12700">
            <a:solidFill>
              <a:srgbClr val="E0457B"/>
            </a:solidFill>
            <a:prstDash val="solid"/>
          </a:ln>
        </p:spPr>
      </p:sp>
      <p:sp>
        <p:nvSpPr>
          <p:cNvPr id="7" name="Text 5"/>
          <p:cNvSpPr/>
          <p:nvPr/>
        </p:nvSpPr>
        <p:spPr>
          <a:xfrm>
            <a:off x="640080" y="146304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6"/>
          <p:cNvSpPr/>
          <p:nvPr/>
        </p:nvSpPr>
        <p:spPr>
          <a:xfrm>
            <a:off x="1554480" y="128016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Transmitting and storing uncompressed images consumes bandwidth and storage capacity.</a:t>
            </a:r>
            <a:endParaRPr lang="en-US" sz="1800" dirty="0"/>
          </a:p>
        </p:txBody>
      </p:sp>
      <p:sp>
        <p:nvSpPr>
          <p:cNvPr id="9" name="Shape 7"/>
          <p:cNvSpPr/>
          <p:nvPr/>
        </p:nvSpPr>
        <p:spPr>
          <a:xfrm>
            <a:off x="640080" y="2697480"/>
            <a:ext cx="685800" cy="685800"/>
          </a:xfrm>
          <a:prstGeom prst="ellipse">
            <a:avLst/>
          </a:prstGeom>
          <a:solidFill>
            <a:srgbClr val="E0457B"/>
          </a:solidFill>
          <a:ln w="12700">
            <a:solidFill>
              <a:srgbClr val="E0457B"/>
            </a:solidFill>
            <a:prstDash val="solid"/>
          </a:ln>
        </p:spPr>
      </p:sp>
      <p:sp>
        <p:nvSpPr>
          <p:cNvPr id="10" name="Text 8"/>
          <p:cNvSpPr/>
          <p:nvPr/>
        </p:nvSpPr>
        <p:spPr>
          <a:xfrm>
            <a:off x="640080" y="269748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1" name="Text 9"/>
          <p:cNvSpPr/>
          <p:nvPr/>
        </p:nvSpPr>
        <p:spPr>
          <a:xfrm>
            <a:off x="1554480" y="251460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LBG vector quantization gives a compact representation, but codebook training is computationally expensive: it repeatedly computes distances between training vectors and codewords (about 77% of the sequential time, gray images).</a:t>
            </a:r>
            <a:endParaRPr lang="en-US" sz="1800" dirty="0"/>
          </a:p>
        </p:txBody>
      </p:sp>
      <p:sp>
        <p:nvSpPr>
          <p:cNvPr id="12" name="Shape 10"/>
          <p:cNvSpPr/>
          <p:nvPr/>
        </p:nvSpPr>
        <p:spPr>
          <a:xfrm>
            <a:off x="640080" y="3931920"/>
            <a:ext cx="685800" cy="685800"/>
          </a:xfrm>
          <a:prstGeom prst="ellipse">
            <a:avLst/>
          </a:prstGeom>
          <a:solidFill>
            <a:srgbClr val="E0457B"/>
          </a:solidFill>
          <a:ln w="12700">
            <a:solidFill>
              <a:srgbClr val="E0457B"/>
            </a:solidFill>
            <a:prstDash val="solid"/>
          </a:ln>
        </p:spPr>
      </p:sp>
      <p:sp>
        <p:nvSpPr>
          <p:cNvPr id="13" name="Text 11"/>
          <p:cNvSpPr/>
          <p:nvPr/>
        </p:nvSpPr>
        <p:spPr>
          <a:xfrm>
            <a:off x="640080" y="393192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2"/>
          <p:cNvSpPr/>
          <p:nvPr/>
        </p:nvSpPr>
        <p:spPr>
          <a:xfrm>
            <a:off x="1554480" y="374904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On a hybrid CPU, an equal distribution of training vectors causes workload imbalance: the faster P-cores finish early and wait for the slower E-cores at synchronization points.</a:t>
            </a:r>
            <a:endParaRPr lang="en-US" sz="1800" dirty="0"/>
          </a:p>
        </p:txBody>
      </p:sp>
      <p:sp>
        <p:nvSpPr>
          <p:cNvPr id="15" name="Shape 13"/>
          <p:cNvSpPr/>
          <p:nvPr/>
        </p:nvSpPr>
        <p:spPr>
          <a:xfrm>
            <a:off x="640080" y="5074920"/>
            <a:ext cx="10927080" cy="1280160"/>
          </a:xfrm>
          <a:prstGeom prst="roundRect">
            <a:avLst>
              <a:gd name="adj" fmla="val 7143"/>
            </a:avLst>
          </a:prstGeom>
          <a:solidFill>
            <a:srgbClr val="E0457B"/>
          </a:solidFill>
          <a:ln w="12700">
            <a:solidFill>
              <a:srgbClr val="E0457B"/>
            </a:solidFill>
            <a:prstDash val="solid"/>
          </a:ln>
        </p:spPr>
      </p:sp>
      <p:sp>
        <p:nvSpPr>
          <p:cNvPr id="16" name="Text 14"/>
          <p:cNvSpPr/>
          <p:nvPr/>
        </p:nvSpPr>
        <p:spPr>
          <a:xfrm>
            <a:off x="868680" y="5074920"/>
            <a:ext cx="10469880" cy="12801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Reduce LBG training and total compression time through speed-aware workload distribution, while preserving the compression ratio and the reconstruction quality of the sequential implementation.</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Objectives</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Thesis Objectives</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234440"/>
            <a:ext cx="10927080" cy="1143000"/>
          </a:xfrm>
          <a:prstGeom prst="roundRect">
            <a:avLst>
              <a:gd name="adj" fmla="val 8000"/>
            </a:avLst>
          </a:prstGeom>
          <a:solidFill>
            <a:srgbClr val="FFFFFF"/>
          </a:solidFill>
          <a:ln w="22225">
            <a:solidFill>
              <a:srgbClr val="6B4FA3"/>
            </a:solidFill>
            <a:prstDash val="solid"/>
          </a:ln>
        </p:spPr>
      </p:sp>
      <p:sp>
        <p:nvSpPr>
          <p:cNvPr id="7" name="Shape 5"/>
          <p:cNvSpPr/>
          <p:nvPr/>
        </p:nvSpPr>
        <p:spPr>
          <a:xfrm>
            <a:off x="658368" y="1252728"/>
            <a:ext cx="109728" cy="1106424"/>
          </a:xfrm>
          <a:prstGeom prst="rect">
            <a:avLst/>
          </a:prstGeom>
          <a:solidFill>
            <a:srgbClr val="6B4FA3"/>
          </a:solidFill>
          <a:ln w="12700">
            <a:solidFill>
              <a:srgbClr val="6B4FA3"/>
            </a:solidFill>
            <a:prstDash val="solid"/>
          </a:ln>
        </p:spPr>
      </p:sp>
      <p:sp>
        <p:nvSpPr>
          <p:cNvPr id="8" name="Text 6"/>
          <p:cNvSpPr/>
          <p:nvPr/>
        </p:nvSpPr>
        <p:spPr>
          <a:xfrm>
            <a:off x="914400" y="128016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6B4FA3"/>
                </a:solidFill>
                <a:latin typeface="Calibri" pitchFamily="34" charset="0"/>
                <a:ea typeface="Calibri" pitchFamily="34" charset="-122"/>
                <a:cs typeface="Calibri" pitchFamily="34" charset="-120"/>
              </a:rPr>
              <a:t>1. Image Compression Framework Development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compress grayscale and color images by combining LBG vector quantization, delta coding, and Huffman coding.</a:t>
            </a:r>
            <a:endParaRPr lang="en-US" sz="1900" dirty="0"/>
          </a:p>
        </p:txBody>
      </p:sp>
      <p:sp>
        <p:nvSpPr>
          <p:cNvPr id="9" name="Shape 7"/>
          <p:cNvSpPr/>
          <p:nvPr/>
        </p:nvSpPr>
        <p:spPr>
          <a:xfrm>
            <a:off x="640080" y="2514600"/>
            <a:ext cx="10927080" cy="1143000"/>
          </a:xfrm>
          <a:prstGeom prst="roundRect">
            <a:avLst>
              <a:gd name="adj" fmla="val 8000"/>
            </a:avLst>
          </a:prstGeom>
          <a:solidFill>
            <a:srgbClr val="FFFFFF"/>
          </a:solidFill>
          <a:ln w="22225">
            <a:solidFill>
              <a:srgbClr val="E07B22"/>
            </a:solidFill>
            <a:prstDash val="solid"/>
          </a:ln>
        </p:spPr>
      </p:sp>
      <p:sp>
        <p:nvSpPr>
          <p:cNvPr id="10" name="Shape 8"/>
          <p:cNvSpPr/>
          <p:nvPr/>
        </p:nvSpPr>
        <p:spPr>
          <a:xfrm>
            <a:off x="658368" y="2532888"/>
            <a:ext cx="109728" cy="1106424"/>
          </a:xfrm>
          <a:prstGeom prst="rect">
            <a:avLst/>
          </a:prstGeom>
          <a:solidFill>
            <a:srgbClr val="E07B22"/>
          </a:solidFill>
          <a:ln w="12700">
            <a:solidFill>
              <a:srgbClr val="E07B22"/>
            </a:solidFill>
            <a:prstDash val="solid"/>
          </a:ln>
        </p:spPr>
      </p:sp>
      <p:sp>
        <p:nvSpPr>
          <p:cNvPr id="11" name="Text 9"/>
          <p:cNvSpPr/>
          <p:nvPr/>
        </p:nvSpPr>
        <p:spPr>
          <a:xfrm>
            <a:off x="914400" y="256032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7B22"/>
                </a:solidFill>
                <a:latin typeface="Calibri" pitchFamily="34" charset="0"/>
                <a:ea typeface="Calibri" pitchFamily="34" charset="-122"/>
                <a:cs typeface="Calibri" pitchFamily="34" charset="-120"/>
              </a:rPr>
              <a:t>2. LBG Execution-Time Reduction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reduce codebook-training time by parallelizing the computationally intensive operations of LBG using MPI.</a:t>
            </a:r>
            <a:endParaRPr lang="en-US" sz="1900" dirty="0"/>
          </a:p>
        </p:txBody>
      </p:sp>
      <p:sp>
        <p:nvSpPr>
          <p:cNvPr id="12" name="Shape 10"/>
          <p:cNvSpPr/>
          <p:nvPr/>
        </p:nvSpPr>
        <p:spPr>
          <a:xfrm>
            <a:off x="640080" y="3794760"/>
            <a:ext cx="10927080" cy="1143000"/>
          </a:xfrm>
          <a:prstGeom prst="roundRect">
            <a:avLst>
              <a:gd name="adj" fmla="val 8000"/>
            </a:avLst>
          </a:prstGeom>
          <a:solidFill>
            <a:srgbClr val="FFFFFF"/>
          </a:solidFill>
          <a:ln w="22225">
            <a:solidFill>
              <a:srgbClr val="2A9D8F"/>
            </a:solidFill>
            <a:prstDash val="solid"/>
          </a:ln>
        </p:spPr>
      </p:sp>
      <p:sp>
        <p:nvSpPr>
          <p:cNvPr id="13" name="Shape 11"/>
          <p:cNvSpPr/>
          <p:nvPr/>
        </p:nvSpPr>
        <p:spPr>
          <a:xfrm>
            <a:off x="658368" y="3813048"/>
            <a:ext cx="109728" cy="1106424"/>
          </a:xfrm>
          <a:prstGeom prst="rect">
            <a:avLst/>
          </a:prstGeom>
          <a:solidFill>
            <a:srgbClr val="2A9D8F"/>
          </a:solidFill>
          <a:ln w="12700">
            <a:solidFill>
              <a:srgbClr val="2A9D8F"/>
            </a:solidFill>
            <a:prstDash val="solid"/>
          </a:ln>
        </p:spPr>
      </p:sp>
      <p:sp>
        <p:nvSpPr>
          <p:cNvPr id="14" name="Text 12"/>
          <p:cNvSpPr/>
          <p:nvPr/>
        </p:nvSpPr>
        <p:spPr>
          <a:xfrm>
            <a:off x="914400" y="384048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2A9D8F"/>
                </a:solidFill>
                <a:latin typeface="Calibri" pitchFamily="34" charset="0"/>
                <a:ea typeface="Calibri" pitchFamily="34" charset="-122"/>
                <a:cs typeface="Calibri" pitchFamily="34" charset="-120"/>
              </a:rPr>
              <a:t>3. Workload Distribution Improvement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distribute the training vectors according to the measured throughput of each MPI process on the P-cores and E-cores, and to improve performance compared with equal distribution.</a:t>
            </a:r>
            <a:endParaRPr lang="en-US" sz="1900" dirty="0"/>
          </a:p>
        </p:txBody>
      </p:sp>
      <p:sp>
        <p:nvSpPr>
          <p:cNvPr id="15" name="Shape 13"/>
          <p:cNvSpPr/>
          <p:nvPr/>
        </p:nvSpPr>
        <p:spPr>
          <a:xfrm>
            <a:off x="640080" y="5074920"/>
            <a:ext cx="10927080" cy="1143000"/>
          </a:xfrm>
          <a:prstGeom prst="roundRect">
            <a:avLst>
              <a:gd name="adj" fmla="val 8000"/>
            </a:avLst>
          </a:prstGeom>
          <a:solidFill>
            <a:srgbClr val="FFFFFF"/>
          </a:solidFill>
          <a:ln w="22225">
            <a:solidFill>
              <a:srgbClr val="E0457B"/>
            </a:solidFill>
            <a:prstDash val="solid"/>
          </a:ln>
        </p:spPr>
      </p:sp>
      <p:sp>
        <p:nvSpPr>
          <p:cNvPr id="16" name="Shape 14"/>
          <p:cNvSpPr/>
          <p:nvPr/>
        </p:nvSpPr>
        <p:spPr>
          <a:xfrm>
            <a:off x="658368" y="5093208"/>
            <a:ext cx="109728" cy="1106424"/>
          </a:xfrm>
          <a:prstGeom prst="rect">
            <a:avLst/>
          </a:prstGeom>
          <a:solidFill>
            <a:srgbClr val="E0457B"/>
          </a:solidFill>
          <a:ln w="12700">
            <a:solidFill>
              <a:srgbClr val="E0457B"/>
            </a:solidFill>
            <a:prstDash val="solid"/>
          </a:ln>
        </p:spPr>
      </p:sp>
      <p:sp>
        <p:nvSpPr>
          <p:cNvPr id="17" name="Text 15"/>
          <p:cNvSpPr/>
          <p:nvPr/>
        </p:nvSpPr>
        <p:spPr>
          <a:xfrm>
            <a:off x="914400" y="512064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457B"/>
                </a:solidFill>
                <a:latin typeface="Calibri" pitchFamily="34" charset="0"/>
                <a:ea typeface="Calibri" pitchFamily="34" charset="-122"/>
                <a:cs typeface="Calibri" pitchFamily="34" charset="-120"/>
              </a:rPr>
              <a:t>4. Performance Evaluation and Result Verification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evaluate compression, reconstruction quality and parallel performance, and to verify that the parallel results match the sequential implementation.</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182880"/>
            <a:ext cx="11503152" cy="1417320"/>
          </a:xfrm>
          <a:prstGeom prst="roundRect">
            <a:avLst>
              <a:gd name="adj" fmla="val 6452"/>
            </a:avLst>
          </a:prstGeom>
          <a:solidFill>
            <a:srgbClr val="E3EEFA"/>
          </a:solidFill>
          <a:ln w="12700">
            <a:solidFill>
              <a:srgbClr val="2F6FB5"/>
            </a:solidFill>
            <a:prstDash val="solid"/>
          </a:ln>
        </p:spPr>
      </p:sp>
      <p:sp>
        <p:nvSpPr>
          <p:cNvPr id="3" name="Shape 1"/>
          <p:cNvSpPr/>
          <p:nvPr/>
        </p:nvSpPr>
        <p:spPr>
          <a:xfrm>
            <a:off x="365760" y="228600"/>
            <a:ext cx="2240280" cy="1325880"/>
          </a:xfrm>
          <a:prstGeom prst="roundRect">
            <a:avLst>
              <a:gd name="adj" fmla="val 5517"/>
            </a:avLst>
          </a:prstGeom>
          <a:solidFill>
            <a:srgbClr val="2F6FB5"/>
          </a:solidFill>
          <a:ln w="12700">
            <a:solidFill>
              <a:srgbClr val="2F6FB5"/>
            </a:solidFill>
            <a:prstDash val="solid"/>
          </a:ln>
        </p:spPr>
      </p:sp>
      <p:sp>
        <p:nvSpPr>
          <p:cNvPr id="4" name="Text 2"/>
          <p:cNvSpPr/>
          <p:nvPr/>
        </p:nvSpPr>
        <p:spPr>
          <a:xfrm>
            <a:off x="365760" y="228600"/>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1</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Block</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Formation</a:t>
            </a:r>
            <a:endParaRPr lang="en-US" sz="2200" dirty="0"/>
          </a:p>
        </p:txBody>
      </p:sp>
      <p:sp>
        <p:nvSpPr>
          <p:cNvPr id="5" name="Shape 3"/>
          <p:cNvSpPr/>
          <p:nvPr/>
        </p:nvSpPr>
        <p:spPr>
          <a:xfrm>
            <a:off x="475488" y="1188720"/>
            <a:ext cx="2020824" cy="292608"/>
          </a:xfrm>
          <a:prstGeom prst="roundRect">
            <a:avLst>
              <a:gd name="adj" fmla="val 50000"/>
            </a:avLst>
          </a:prstGeom>
          <a:solidFill>
            <a:srgbClr val="FFFFFF"/>
          </a:solidFill>
          <a:ln w="12700">
            <a:solidFill>
              <a:srgbClr val="FFFFFF"/>
            </a:solidFill>
            <a:prstDash val="solid"/>
          </a:ln>
        </p:spPr>
      </p:sp>
      <p:sp>
        <p:nvSpPr>
          <p:cNvPr id="6" name="Text 4"/>
          <p:cNvSpPr/>
          <p:nvPr/>
        </p:nvSpPr>
        <p:spPr>
          <a:xfrm>
            <a:off x="475488" y="1188720"/>
            <a:ext cx="2020824" cy="292608"/>
          </a:xfrm>
          <a:prstGeom prst="rect">
            <a:avLst/>
          </a:prstGeom>
          <a:noFill/>
          <a:ln/>
        </p:spPr>
        <p:txBody>
          <a:bodyPr wrap="square" lIns="0" tIns="0" rIns="0" bIns="0" rtlCol="0" anchor="ctr"/>
          <a:lstStyle/>
          <a:p>
            <a:pPr algn="ctr" indent="0" marL="0">
              <a:buNone/>
            </a:pPr>
            <a:r>
              <a:rPr lang="en-US" sz="1200" b="1" dirty="0">
                <a:solidFill>
                  <a:srgbClr val="5B6770"/>
                </a:solidFill>
                <a:latin typeface="Calibri" pitchFamily="34" charset="0"/>
                <a:ea typeface="Calibri" pitchFamily="34" charset="-122"/>
                <a:cs typeface="Calibri" pitchFamily="34" charset="-120"/>
              </a:rPr>
              <a:t>SEQUENTIAL: Rank 0</a:t>
            </a:r>
            <a:endParaRPr lang="en-US" sz="1200" dirty="0"/>
          </a:p>
        </p:txBody>
      </p:sp>
      <p:sp>
        <p:nvSpPr>
          <p:cNvPr id="7" name="Shape 5"/>
          <p:cNvSpPr/>
          <p:nvPr/>
        </p:nvSpPr>
        <p:spPr>
          <a:xfrm>
            <a:off x="2788920" y="320040"/>
            <a:ext cx="2011680" cy="1143000"/>
          </a:xfrm>
          <a:prstGeom prst="roundRect">
            <a:avLst>
              <a:gd name="adj" fmla="val 6400"/>
            </a:avLst>
          </a:prstGeom>
          <a:solidFill>
            <a:srgbClr val="FFFFFF"/>
          </a:solidFill>
          <a:ln w="19050">
            <a:solidFill>
              <a:srgbClr val="2F6FB5"/>
            </a:solidFill>
            <a:prstDash val="solid"/>
          </a:ln>
        </p:spPr>
      </p:sp>
      <p:sp>
        <p:nvSpPr>
          <p:cNvPr id="8" name="Text 6"/>
          <p:cNvSpPr/>
          <p:nvPr/>
        </p:nvSpPr>
        <p:spPr>
          <a:xfrm>
            <a:off x="2788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1. Input image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512×512,</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gray / color</a:t>
            </a:r>
            <a:endParaRPr lang="en-US" sz="1600" dirty="0"/>
          </a:p>
        </p:txBody>
      </p:sp>
      <p:sp>
        <p:nvSpPr>
          <p:cNvPr id="9" name="Shape 7"/>
          <p:cNvSpPr/>
          <p:nvPr/>
        </p:nvSpPr>
        <p:spPr>
          <a:xfrm>
            <a:off x="4828032" y="772668"/>
            <a:ext cx="219456" cy="237744"/>
          </a:xfrm>
          <a:prstGeom prst="rightArrow">
            <a:avLst/>
          </a:prstGeom>
          <a:solidFill>
            <a:srgbClr val="1F1A33"/>
          </a:solidFill>
          <a:ln w="12700">
            <a:solidFill>
              <a:srgbClr val="1F1A33"/>
            </a:solidFill>
            <a:prstDash val="solid"/>
          </a:ln>
        </p:spPr>
      </p:sp>
      <p:sp>
        <p:nvSpPr>
          <p:cNvPr id="10" name="Shape 8"/>
          <p:cNvSpPr/>
          <p:nvPr/>
        </p:nvSpPr>
        <p:spPr>
          <a:xfrm>
            <a:off x="5074920" y="320040"/>
            <a:ext cx="2011680" cy="1143000"/>
          </a:xfrm>
          <a:prstGeom prst="roundRect">
            <a:avLst>
              <a:gd name="adj" fmla="val 6400"/>
            </a:avLst>
          </a:prstGeom>
          <a:solidFill>
            <a:srgbClr val="FFFFFF"/>
          </a:solidFill>
          <a:ln w="19050">
            <a:solidFill>
              <a:srgbClr val="2F6FB5"/>
            </a:solidFill>
            <a:prstDash val="solid"/>
          </a:ln>
        </p:spPr>
      </p:sp>
      <p:sp>
        <p:nvSpPr>
          <p:cNvPr id="11" name="Text 9"/>
          <p:cNvSpPr/>
          <p:nvPr/>
        </p:nvSpPr>
        <p:spPr>
          <a:xfrm>
            <a:off x="5074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2. 4×4 blocks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non-overlapping</a:t>
            </a:r>
            <a:endParaRPr lang="en-US" sz="1600" dirty="0"/>
          </a:p>
        </p:txBody>
      </p:sp>
      <p:sp>
        <p:nvSpPr>
          <p:cNvPr id="12" name="Shape 10"/>
          <p:cNvSpPr/>
          <p:nvPr/>
        </p:nvSpPr>
        <p:spPr>
          <a:xfrm>
            <a:off x="7114032" y="772668"/>
            <a:ext cx="219456" cy="237744"/>
          </a:xfrm>
          <a:prstGeom prst="rightArrow">
            <a:avLst/>
          </a:prstGeom>
          <a:solidFill>
            <a:srgbClr val="1F1A33"/>
          </a:solidFill>
          <a:ln w="12700">
            <a:solidFill>
              <a:srgbClr val="1F1A33"/>
            </a:solidFill>
            <a:prstDash val="solid"/>
          </a:ln>
        </p:spPr>
      </p:sp>
      <p:sp>
        <p:nvSpPr>
          <p:cNvPr id="13" name="Shape 11"/>
          <p:cNvSpPr/>
          <p:nvPr/>
        </p:nvSpPr>
        <p:spPr>
          <a:xfrm>
            <a:off x="7360920" y="320040"/>
            <a:ext cx="2011680" cy="1143000"/>
          </a:xfrm>
          <a:prstGeom prst="roundRect">
            <a:avLst>
              <a:gd name="adj" fmla="val 6400"/>
            </a:avLst>
          </a:prstGeom>
          <a:solidFill>
            <a:srgbClr val="FFFFFF"/>
          </a:solidFill>
          <a:ln w="19050">
            <a:solidFill>
              <a:srgbClr val="2F6FB5"/>
            </a:solidFill>
            <a:prstDash val="solid"/>
          </a:ln>
        </p:spPr>
      </p:sp>
      <p:sp>
        <p:nvSpPr>
          <p:cNvPr id="14" name="Text 12"/>
          <p:cNvSpPr/>
          <p:nvPr/>
        </p:nvSpPr>
        <p:spPr>
          <a:xfrm>
            <a:off x="7360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3. Training vectors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16-D, N = 16,384</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per channel</a:t>
            </a:r>
            <a:endParaRPr lang="en-US" sz="1600" dirty="0"/>
          </a:p>
        </p:txBody>
      </p:sp>
      <p:sp>
        <p:nvSpPr>
          <p:cNvPr id="15" name="Text 13"/>
          <p:cNvSpPr/>
          <p:nvPr/>
        </p:nvSpPr>
        <p:spPr>
          <a:xfrm>
            <a:off x="6355080" y="1591056"/>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16,384 training vectors per channel (16-D)</a:t>
            </a:r>
            <a:endParaRPr lang="en-US" sz="1300" dirty="0"/>
          </a:p>
        </p:txBody>
      </p:sp>
      <p:sp>
        <p:nvSpPr>
          <p:cNvPr id="16" name="Shape 14"/>
          <p:cNvSpPr/>
          <p:nvPr/>
        </p:nvSpPr>
        <p:spPr>
          <a:xfrm>
            <a:off x="5989320" y="1609344"/>
            <a:ext cx="237744" cy="192024"/>
          </a:xfrm>
          <a:prstGeom prst="downArrow">
            <a:avLst/>
          </a:prstGeom>
          <a:solidFill>
            <a:srgbClr val="1F1A33"/>
          </a:solidFill>
          <a:ln w="12700">
            <a:solidFill>
              <a:srgbClr val="1F1A33"/>
            </a:solidFill>
            <a:prstDash val="solid"/>
          </a:ln>
        </p:spPr>
      </p:sp>
      <p:sp>
        <p:nvSpPr>
          <p:cNvPr id="17" name="Shape 15"/>
          <p:cNvSpPr/>
          <p:nvPr/>
        </p:nvSpPr>
        <p:spPr>
          <a:xfrm>
            <a:off x="320040" y="1810512"/>
            <a:ext cx="11503152" cy="1417320"/>
          </a:xfrm>
          <a:prstGeom prst="roundRect">
            <a:avLst>
              <a:gd name="adj" fmla="val 6452"/>
            </a:avLst>
          </a:prstGeom>
          <a:solidFill>
            <a:srgbClr val="FDEBD9"/>
          </a:solidFill>
          <a:ln w="31750">
            <a:solidFill>
              <a:srgbClr val="E07B22"/>
            </a:solidFill>
            <a:prstDash val="dash"/>
          </a:ln>
        </p:spPr>
      </p:sp>
      <p:sp>
        <p:nvSpPr>
          <p:cNvPr id="18" name="Shape 16"/>
          <p:cNvSpPr/>
          <p:nvPr/>
        </p:nvSpPr>
        <p:spPr>
          <a:xfrm>
            <a:off x="365760" y="1856232"/>
            <a:ext cx="2240280" cy="1325880"/>
          </a:xfrm>
          <a:prstGeom prst="roundRect">
            <a:avLst>
              <a:gd name="adj" fmla="val 5517"/>
            </a:avLst>
          </a:prstGeom>
          <a:solidFill>
            <a:srgbClr val="E07B22"/>
          </a:solidFill>
          <a:ln w="12700">
            <a:solidFill>
              <a:srgbClr val="E07B22"/>
            </a:solidFill>
            <a:prstDash val="solid"/>
          </a:ln>
        </p:spPr>
      </p:sp>
      <p:sp>
        <p:nvSpPr>
          <p:cNvPr id="19" name="Text 17"/>
          <p:cNvSpPr/>
          <p:nvPr/>
        </p:nvSpPr>
        <p:spPr>
          <a:xfrm>
            <a:off x="365760" y="1856232"/>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2</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Parallel LBG</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Training (MPI)</a:t>
            </a:r>
            <a:endParaRPr lang="en-US" sz="2200" dirty="0"/>
          </a:p>
        </p:txBody>
      </p:sp>
      <p:sp>
        <p:nvSpPr>
          <p:cNvPr id="20" name="Shape 18"/>
          <p:cNvSpPr/>
          <p:nvPr/>
        </p:nvSpPr>
        <p:spPr>
          <a:xfrm>
            <a:off x="475488" y="2816352"/>
            <a:ext cx="2020824" cy="292608"/>
          </a:xfrm>
          <a:prstGeom prst="roundRect">
            <a:avLst>
              <a:gd name="adj" fmla="val 50000"/>
            </a:avLst>
          </a:prstGeom>
          <a:solidFill>
            <a:srgbClr val="FFFFFF"/>
          </a:solidFill>
          <a:ln w="12700">
            <a:solidFill>
              <a:srgbClr val="FFFFFF"/>
            </a:solidFill>
            <a:prstDash val="solid"/>
          </a:ln>
        </p:spPr>
      </p:sp>
      <p:sp>
        <p:nvSpPr>
          <p:cNvPr id="21" name="Text 19"/>
          <p:cNvSpPr/>
          <p:nvPr/>
        </p:nvSpPr>
        <p:spPr>
          <a:xfrm>
            <a:off x="475488" y="2816352"/>
            <a:ext cx="2020824" cy="292608"/>
          </a:xfrm>
          <a:prstGeom prst="rect">
            <a:avLst/>
          </a:prstGeom>
          <a:noFill/>
          <a:ln/>
        </p:spPr>
        <p:txBody>
          <a:bodyPr wrap="square" lIns="0" tIns="0" rIns="0" bIns="0" rtlCol="0" anchor="ctr"/>
          <a:lstStyle/>
          <a:p>
            <a:pPr algn="ctr" indent="0" marL="0">
              <a:buNone/>
            </a:pPr>
            <a:r>
              <a:rPr lang="en-US" sz="1200" b="1" dirty="0">
                <a:solidFill>
                  <a:srgbClr val="E07B22"/>
                </a:solidFill>
                <a:latin typeface="Calibri" pitchFamily="34" charset="0"/>
                <a:ea typeface="Calibri" pitchFamily="34" charset="-122"/>
                <a:cs typeface="Calibri" pitchFamily="34" charset="-120"/>
              </a:rPr>
              <a:t>PARALLEL: all ranks</a:t>
            </a:r>
            <a:endParaRPr lang="en-US" sz="1200" dirty="0"/>
          </a:p>
        </p:txBody>
      </p:sp>
      <p:sp>
        <p:nvSpPr>
          <p:cNvPr id="22" name="Shape 20"/>
          <p:cNvSpPr/>
          <p:nvPr/>
        </p:nvSpPr>
        <p:spPr>
          <a:xfrm>
            <a:off x="2788920" y="1947672"/>
            <a:ext cx="2011680" cy="1143000"/>
          </a:xfrm>
          <a:prstGeom prst="roundRect">
            <a:avLst>
              <a:gd name="adj" fmla="val 6400"/>
            </a:avLst>
          </a:prstGeom>
          <a:solidFill>
            <a:srgbClr val="FFFFFF"/>
          </a:solidFill>
          <a:ln w="19050">
            <a:solidFill>
              <a:srgbClr val="E07B22"/>
            </a:solidFill>
            <a:prstDash val="solid"/>
          </a:ln>
        </p:spPr>
      </p:sp>
      <p:sp>
        <p:nvSpPr>
          <p:cNvPr id="23" name="Text 21"/>
          <p:cNvSpPr/>
          <p:nvPr/>
        </p:nvSpPr>
        <p:spPr>
          <a:xfrm>
            <a:off x="2788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1. Distribute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MPI_Scatterv:</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Equal / Adaptive</a:t>
            </a:r>
            <a:endParaRPr lang="en-US" sz="1600" dirty="0"/>
          </a:p>
        </p:txBody>
      </p:sp>
      <p:sp>
        <p:nvSpPr>
          <p:cNvPr id="24" name="Shape 22"/>
          <p:cNvSpPr/>
          <p:nvPr/>
        </p:nvSpPr>
        <p:spPr>
          <a:xfrm>
            <a:off x="4828032" y="2400300"/>
            <a:ext cx="219456" cy="237744"/>
          </a:xfrm>
          <a:prstGeom prst="rightArrow">
            <a:avLst/>
          </a:prstGeom>
          <a:solidFill>
            <a:srgbClr val="1F1A33"/>
          </a:solidFill>
          <a:ln w="12700">
            <a:solidFill>
              <a:srgbClr val="1F1A33"/>
            </a:solidFill>
            <a:prstDash val="solid"/>
          </a:ln>
        </p:spPr>
      </p:sp>
      <p:sp>
        <p:nvSpPr>
          <p:cNvPr id="25" name="Shape 23"/>
          <p:cNvSpPr/>
          <p:nvPr/>
        </p:nvSpPr>
        <p:spPr>
          <a:xfrm>
            <a:off x="5074920" y="1947672"/>
            <a:ext cx="2011680" cy="1143000"/>
          </a:xfrm>
          <a:prstGeom prst="roundRect">
            <a:avLst>
              <a:gd name="adj" fmla="val 6400"/>
            </a:avLst>
          </a:prstGeom>
          <a:solidFill>
            <a:srgbClr val="FFFFFF"/>
          </a:solidFill>
          <a:ln w="19050">
            <a:solidFill>
              <a:srgbClr val="E07B22"/>
            </a:solidFill>
            <a:prstDash val="solid"/>
          </a:ln>
        </p:spPr>
      </p:sp>
      <p:sp>
        <p:nvSpPr>
          <p:cNvPr id="26" name="Text 24"/>
          <p:cNvSpPr/>
          <p:nvPr/>
        </p:nvSpPr>
        <p:spPr>
          <a:xfrm>
            <a:off x="5074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2. Assign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nearest codeword</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on each rank</a:t>
            </a:r>
            <a:endParaRPr lang="en-US" sz="1600" dirty="0"/>
          </a:p>
        </p:txBody>
      </p:sp>
      <p:sp>
        <p:nvSpPr>
          <p:cNvPr id="27" name="Shape 25"/>
          <p:cNvSpPr/>
          <p:nvPr/>
        </p:nvSpPr>
        <p:spPr>
          <a:xfrm>
            <a:off x="7114032" y="2400300"/>
            <a:ext cx="219456" cy="237744"/>
          </a:xfrm>
          <a:prstGeom prst="rightArrow">
            <a:avLst/>
          </a:prstGeom>
          <a:solidFill>
            <a:srgbClr val="1F1A33"/>
          </a:solidFill>
          <a:ln w="12700">
            <a:solidFill>
              <a:srgbClr val="1F1A33"/>
            </a:solidFill>
            <a:prstDash val="solid"/>
          </a:ln>
        </p:spPr>
      </p:sp>
      <p:sp>
        <p:nvSpPr>
          <p:cNvPr id="28" name="Shape 26"/>
          <p:cNvSpPr/>
          <p:nvPr/>
        </p:nvSpPr>
        <p:spPr>
          <a:xfrm>
            <a:off x="7360920" y="1947672"/>
            <a:ext cx="2011680" cy="1143000"/>
          </a:xfrm>
          <a:prstGeom prst="roundRect">
            <a:avLst>
              <a:gd name="adj" fmla="val 6400"/>
            </a:avLst>
          </a:prstGeom>
          <a:solidFill>
            <a:srgbClr val="FFFFFF"/>
          </a:solidFill>
          <a:ln w="19050">
            <a:solidFill>
              <a:srgbClr val="E07B22"/>
            </a:solidFill>
            <a:prstDash val="solid"/>
          </a:ln>
        </p:spPr>
      </p:sp>
      <p:sp>
        <p:nvSpPr>
          <p:cNvPr id="29" name="Text 27"/>
          <p:cNvSpPr/>
          <p:nvPr/>
        </p:nvSpPr>
        <p:spPr>
          <a:xfrm>
            <a:off x="7360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3. Combine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Allreduce: sums,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counts, distortion</a:t>
            </a:r>
            <a:endParaRPr lang="en-US" sz="1600" dirty="0"/>
          </a:p>
        </p:txBody>
      </p:sp>
      <p:sp>
        <p:nvSpPr>
          <p:cNvPr id="30" name="Shape 28"/>
          <p:cNvSpPr/>
          <p:nvPr/>
        </p:nvSpPr>
        <p:spPr>
          <a:xfrm>
            <a:off x="9400032" y="2400300"/>
            <a:ext cx="219456" cy="237744"/>
          </a:xfrm>
          <a:prstGeom prst="rightArrow">
            <a:avLst/>
          </a:prstGeom>
          <a:solidFill>
            <a:srgbClr val="1F1A33"/>
          </a:solidFill>
          <a:ln w="12700">
            <a:solidFill>
              <a:srgbClr val="1F1A33"/>
            </a:solidFill>
            <a:prstDash val="solid"/>
          </a:ln>
        </p:spPr>
      </p:sp>
      <p:sp>
        <p:nvSpPr>
          <p:cNvPr id="31" name="Shape 29"/>
          <p:cNvSpPr/>
          <p:nvPr/>
        </p:nvSpPr>
        <p:spPr>
          <a:xfrm>
            <a:off x="9646920" y="1947672"/>
            <a:ext cx="2011680" cy="1143000"/>
          </a:xfrm>
          <a:prstGeom prst="roundRect">
            <a:avLst>
              <a:gd name="adj" fmla="val 6400"/>
            </a:avLst>
          </a:prstGeom>
          <a:solidFill>
            <a:srgbClr val="FFFFFF"/>
          </a:solidFill>
          <a:ln w="19050">
            <a:solidFill>
              <a:srgbClr val="E07B22"/>
            </a:solidFill>
            <a:prstDash val="solid"/>
          </a:ln>
        </p:spPr>
      </p:sp>
      <p:sp>
        <p:nvSpPr>
          <p:cNvPr id="32" name="Text 30"/>
          <p:cNvSpPr/>
          <p:nvPr/>
        </p:nvSpPr>
        <p:spPr>
          <a:xfrm>
            <a:off x="9646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4. Refine and split</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per level,</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until K = 64</a:t>
            </a:r>
            <a:endParaRPr lang="en-US" sz="1600" dirty="0"/>
          </a:p>
        </p:txBody>
      </p:sp>
      <p:sp>
        <p:nvSpPr>
          <p:cNvPr id="33" name="Text 31"/>
          <p:cNvSpPr/>
          <p:nvPr/>
        </p:nvSpPr>
        <p:spPr>
          <a:xfrm>
            <a:off x="6355080" y="3218688"/>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codebook C + index array L (gathered on Rank 0)</a:t>
            </a:r>
            <a:endParaRPr lang="en-US" sz="1300" dirty="0"/>
          </a:p>
        </p:txBody>
      </p:sp>
      <p:sp>
        <p:nvSpPr>
          <p:cNvPr id="34" name="Shape 32"/>
          <p:cNvSpPr/>
          <p:nvPr/>
        </p:nvSpPr>
        <p:spPr>
          <a:xfrm>
            <a:off x="5989320" y="3236976"/>
            <a:ext cx="237744" cy="192024"/>
          </a:xfrm>
          <a:prstGeom prst="downArrow">
            <a:avLst/>
          </a:prstGeom>
          <a:solidFill>
            <a:srgbClr val="1F1A33"/>
          </a:solidFill>
          <a:ln w="12700">
            <a:solidFill>
              <a:srgbClr val="1F1A33"/>
            </a:solidFill>
            <a:prstDash val="solid"/>
          </a:ln>
        </p:spPr>
      </p:sp>
      <p:sp>
        <p:nvSpPr>
          <p:cNvPr id="35" name="Shape 33"/>
          <p:cNvSpPr/>
          <p:nvPr/>
        </p:nvSpPr>
        <p:spPr>
          <a:xfrm>
            <a:off x="320040" y="3438144"/>
            <a:ext cx="11503152" cy="1417320"/>
          </a:xfrm>
          <a:prstGeom prst="roundRect">
            <a:avLst>
              <a:gd name="adj" fmla="val 6452"/>
            </a:avLst>
          </a:prstGeom>
          <a:solidFill>
            <a:srgbClr val="DDF3F0"/>
          </a:solidFill>
          <a:ln w="12700">
            <a:solidFill>
              <a:srgbClr val="2A9D8F"/>
            </a:solidFill>
            <a:prstDash val="solid"/>
          </a:ln>
        </p:spPr>
      </p:sp>
      <p:sp>
        <p:nvSpPr>
          <p:cNvPr id="36" name="Shape 34"/>
          <p:cNvSpPr/>
          <p:nvPr/>
        </p:nvSpPr>
        <p:spPr>
          <a:xfrm>
            <a:off x="365760" y="3483864"/>
            <a:ext cx="2240280" cy="1325880"/>
          </a:xfrm>
          <a:prstGeom prst="roundRect">
            <a:avLst>
              <a:gd name="adj" fmla="val 5517"/>
            </a:avLst>
          </a:prstGeom>
          <a:solidFill>
            <a:srgbClr val="2A9D8F"/>
          </a:solidFill>
          <a:ln w="12700">
            <a:solidFill>
              <a:srgbClr val="2A9D8F"/>
            </a:solidFill>
            <a:prstDash val="solid"/>
          </a:ln>
        </p:spPr>
      </p:sp>
      <p:sp>
        <p:nvSpPr>
          <p:cNvPr id="37" name="Text 35"/>
          <p:cNvSpPr/>
          <p:nvPr/>
        </p:nvSpPr>
        <p:spPr>
          <a:xfrm>
            <a:off x="365760" y="3483864"/>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3</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Lossless Index</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Coding</a:t>
            </a:r>
            <a:endParaRPr lang="en-US" sz="2200" dirty="0"/>
          </a:p>
        </p:txBody>
      </p:sp>
      <p:sp>
        <p:nvSpPr>
          <p:cNvPr id="38" name="Shape 36"/>
          <p:cNvSpPr/>
          <p:nvPr/>
        </p:nvSpPr>
        <p:spPr>
          <a:xfrm>
            <a:off x="475488" y="4443984"/>
            <a:ext cx="2020824" cy="292608"/>
          </a:xfrm>
          <a:prstGeom prst="roundRect">
            <a:avLst>
              <a:gd name="adj" fmla="val 50000"/>
            </a:avLst>
          </a:prstGeom>
          <a:solidFill>
            <a:srgbClr val="FFFFFF"/>
          </a:solidFill>
          <a:ln w="12700">
            <a:solidFill>
              <a:srgbClr val="FFFFFF"/>
            </a:solidFill>
            <a:prstDash val="solid"/>
          </a:ln>
        </p:spPr>
      </p:sp>
      <p:sp>
        <p:nvSpPr>
          <p:cNvPr id="39" name="Text 37"/>
          <p:cNvSpPr/>
          <p:nvPr/>
        </p:nvSpPr>
        <p:spPr>
          <a:xfrm>
            <a:off x="475488" y="4443984"/>
            <a:ext cx="2020824" cy="292608"/>
          </a:xfrm>
          <a:prstGeom prst="rect">
            <a:avLst/>
          </a:prstGeom>
          <a:noFill/>
          <a:ln/>
        </p:spPr>
        <p:txBody>
          <a:bodyPr wrap="square" lIns="0" tIns="0" rIns="0" bIns="0" rtlCol="0" anchor="ctr"/>
          <a:lstStyle/>
          <a:p>
            <a:pPr algn="ctr" indent="0" marL="0">
              <a:buNone/>
            </a:pPr>
            <a:r>
              <a:rPr lang="en-US" sz="1200" b="1" dirty="0">
                <a:solidFill>
                  <a:srgbClr val="5B6770"/>
                </a:solidFill>
                <a:latin typeface="Calibri" pitchFamily="34" charset="0"/>
                <a:ea typeface="Calibri" pitchFamily="34" charset="-122"/>
                <a:cs typeface="Calibri" pitchFamily="34" charset="-120"/>
              </a:rPr>
              <a:t>SEQUENTIAL: Rank 0</a:t>
            </a:r>
            <a:endParaRPr lang="en-US" sz="1200" dirty="0"/>
          </a:p>
        </p:txBody>
      </p:sp>
      <p:sp>
        <p:nvSpPr>
          <p:cNvPr id="40" name="Shape 38"/>
          <p:cNvSpPr/>
          <p:nvPr/>
        </p:nvSpPr>
        <p:spPr>
          <a:xfrm>
            <a:off x="2788920" y="3575304"/>
            <a:ext cx="2011680" cy="1143000"/>
          </a:xfrm>
          <a:prstGeom prst="roundRect">
            <a:avLst>
              <a:gd name="adj" fmla="val 6400"/>
            </a:avLst>
          </a:prstGeom>
          <a:solidFill>
            <a:srgbClr val="FFFFFF"/>
          </a:solidFill>
          <a:ln w="19050">
            <a:solidFill>
              <a:srgbClr val="2A9D8F"/>
            </a:solidFill>
            <a:prstDash val="solid"/>
          </a:ln>
        </p:spPr>
      </p:sp>
      <p:sp>
        <p:nvSpPr>
          <p:cNvPr id="41" name="Text 39"/>
          <p:cNvSpPr/>
          <p:nvPr/>
        </p:nvSpPr>
        <p:spPr>
          <a:xfrm>
            <a:off x="2788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1. Delta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differences of</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42" name="Shape 40"/>
          <p:cNvSpPr/>
          <p:nvPr/>
        </p:nvSpPr>
        <p:spPr>
          <a:xfrm>
            <a:off x="4828032" y="4027932"/>
            <a:ext cx="219456" cy="237744"/>
          </a:xfrm>
          <a:prstGeom prst="rightArrow">
            <a:avLst/>
          </a:prstGeom>
          <a:solidFill>
            <a:srgbClr val="1F1A33"/>
          </a:solidFill>
          <a:ln w="12700">
            <a:solidFill>
              <a:srgbClr val="1F1A33"/>
            </a:solidFill>
            <a:prstDash val="solid"/>
          </a:ln>
        </p:spPr>
      </p:sp>
      <p:sp>
        <p:nvSpPr>
          <p:cNvPr id="43" name="Shape 41"/>
          <p:cNvSpPr/>
          <p:nvPr/>
        </p:nvSpPr>
        <p:spPr>
          <a:xfrm>
            <a:off x="5074920" y="3575304"/>
            <a:ext cx="2011680" cy="1143000"/>
          </a:xfrm>
          <a:prstGeom prst="roundRect">
            <a:avLst>
              <a:gd name="adj" fmla="val 6400"/>
            </a:avLst>
          </a:prstGeom>
          <a:solidFill>
            <a:srgbClr val="FFFFFF"/>
          </a:solidFill>
          <a:ln w="19050">
            <a:solidFill>
              <a:srgbClr val="2A9D8F"/>
            </a:solidFill>
            <a:prstDash val="solid"/>
          </a:ln>
        </p:spPr>
      </p:sp>
      <p:sp>
        <p:nvSpPr>
          <p:cNvPr id="44" name="Text 42"/>
          <p:cNvSpPr/>
          <p:nvPr/>
        </p:nvSpPr>
        <p:spPr>
          <a:xfrm>
            <a:off x="5074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2. Huffman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variable-length</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codes</a:t>
            </a:r>
            <a:endParaRPr lang="en-US" sz="1600" dirty="0"/>
          </a:p>
        </p:txBody>
      </p:sp>
      <p:sp>
        <p:nvSpPr>
          <p:cNvPr id="45" name="Shape 43"/>
          <p:cNvSpPr/>
          <p:nvPr/>
        </p:nvSpPr>
        <p:spPr>
          <a:xfrm>
            <a:off x="7114032" y="4027932"/>
            <a:ext cx="219456" cy="237744"/>
          </a:xfrm>
          <a:prstGeom prst="rightArrow">
            <a:avLst/>
          </a:prstGeom>
          <a:solidFill>
            <a:srgbClr val="1F1A33"/>
          </a:solidFill>
          <a:ln w="12700">
            <a:solidFill>
              <a:srgbClr val="1F1A33"/>
            </a:solidFill>
            <a:prstDash val="solid"/>
          </a:ln>
        </p:spPr>
      </p:sp>
      <p:sp>
        <p:nvSpPr>
          <p:cNvPr id="46" name="Shape 44"/>
          <p:cNvSpPr/>
          <p:nvPr/>
        </p:nvSpPr>
        <p:spPr>
          <a:xfrm>
            <a:off x="7360920" y="3575304"/>
            <a:ext cx="2011680" cy="1143000"/>
          </a:xfrm>
          <a:prstGeom prst="roundRect">
            <a:avLst>
              <a:gd name="adj" fmla="val 6400"/>
            </a:avLst>
          </a:prstGeom>
          <a:solidFill>
            <a:srgbClr val="FFFFFF"/>
          </a:solidFill>
          <a:ln w="19050">
            <a:solidFill>
              <a:srgbClr val="2A9D8F"/>
            </a:solidFill>
            <a:prstDash val="solid"/>
          </a:ln>
        </p:spPr>
      </p:sp>
      <p:sp>
        <p:nvSpPr>
          <p:cNvPr id="47" name="Text 45"/>
          <p:cNvSpPr/>
          <p:nvPr/>
        </p:nvSpPr>
        <p:spPr>
          <a:xfrm>
            <a:off x="7360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3. Compressed size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 + Huffman table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 coded indices</a:t>
            </a:r>
            <a:endParaRPr lang="en-US" sz="1600" dirty="0"/>
          </a:p>
        </p:txBody>
      </p:sp>
      <p:sp>
        <p:nvSpPr>
          <p:cNvPr id="48" name="Text 46"/>
          <p:cNvSpPr/>
          <p:nvPr/>
        </p:nvSpPr>
        <p:spPr>
          <a:xfrm>
            <a:off x="6355080" y="4846320"/>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accounted size: codebook + Huffman table + coded indices</a:t>
            </a:r>
            <a:endParaRPr lang="en-US" sz="1300" dirty="0"/>
          </a:p>
        </p:txBody>
      </p:sp>
      <p:sp>
        <p:nvSpPr>
          <p:cNvPr id="49" name="Shape 47"/>
          <p:cNvSpPr/>
          <p:nvPr/>
        </p:nvSpPr>
        <p:spPr>
          <a:xfrm>
            <a:off x="5989320" y="4864608"/>
            <a:ext cx="237744" cy="192024"/>
          </a:xfrm>
          <a:prstGeom prst="downArrow">
            <a:avLst/>
          </a:prstGeom>
          <a:solidFill>
            <a:srgbClr val="1F1A33"/>
          </a:solidFill>
          <a:ln w="12700">
            <a:solidFill>
              <a:srgbClr val="1F1A33"/>
            </a:solidFill>
            <a:prstDash val="solid"/>
          </a:ln>
        </p:spPr>
      </p:sp>
      <p:sp>
        <p:nvSpPr>
          <p:cNvPr id="50" name="Shape 48"/>
          <p:cNvSpPr/>
          <p:nvPr/>
        </p:nvSpPr>
        <p:spPr>
          <a:xfrm>
            <a:off x="320040" y="5065776"/>
            <a:ext cx="11503152" cy="1417320"/>
          </a:xfrm>
          <a:prstGeom prst="roundRect">
            <a:avLst>
              <a:gd name="adj" fmla="val 6452"/>
            </a:avLst>
          </a:prstGeom>
          <a:solidFill>
            <a:srgbClr val="ECE6F6"/>
          </a:solidFill>
          <a:ln w="12700">
            <a:solidFill>
              <a:srgbClr val="6B4FA3"/>
            </a:solidFill>
            <a:prstDash val="solid"/>
          </a:ln>
        </p:spPr>
      </p:sp>
      <p:sp>
        <p:nvSpPr>
          <p:cNvPr id="51" name="Shape 49"/>
          <p:cNvSpPr/>
          <p:nvPr/>
        </p:nvSpPr>
        <p:spPr>
          <a:xfrm>
            <a:off x="365760" y="5111496"/>
            <a:ext cx="2240280" cy="1325880"/>
          </a:xfrm>
          <a:prstGeom prst="roundRect">
            <a:avLst>
              <a:gd name="adj" fmla="val 5517"/>
            </a:avLst>
          </a:prstGeom>
          <a:solidFill>
            <a:srgbClr val="6B4FA3"/>
          </a:solidFill>
          <a:ln w="12700">
            <a:solidFill>
              <a:srgbClr val="6B4FA3"/>
            </a:solidFill>
            <a:prstDash val="solid"/>
          </a:ln>
        </p:spPr>
      </p:sp>
      <p:sp>
        <p:nvSpPr>
          <p:cNvPr id="52" name="Text 50"/>
          <p:cNvSpPr/>
          <p:nvPr/>
        </p:nvSpPr>
        <p:spPr>
          <a:xfrm>
            <a:off x="365760" y="5111496"/>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4</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Decoding and</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Evaluation</a:t>
            </a:r>
            <a:endParaRPr lang="en-US" sz="2200" dirty="0"/>
          </a:p>
        </p:txBody>
      </p:sp>
      <p:sp>
        <p:nvSpPr>
          <p:cNvPr id="53" name="Shape 51"/>
          <p:cNvSpPr/>
          <p:nvPr/>
        </p:nvSpPr>
        <p:spPr>
          <a:xfrm>
            <a:off x="475488" y="6071616"/>
            <a:ext cx="2020824" cy="292608"/>
          </a:xfrm>
          <a:prstGeom prst="roundRect">
            <a:avLst>
              <a:gd name="adj" fmla="val 50000"/>
            </a:avLst>
          </a:prstGeom>
          <a:solidFill>
            <a:srgbClr val="FFFFFF"/>
          </a:solidFill>
          <a:ln w="12700">
            <a:solidFill>
              <a:srgbClr val="FFFFFF"/>
            </a:solidFill>
            <a:prstDash val="solid"/>
          </a:ln>
        </p:spPr>
      </p:sp>
      <p:sp>
        <p:nvSpPr>
          <p:cNvPr id="54" name="Text 52"/>
          <p:cNvSpPr/>
          <p:nvPr/>
        </p:nvSpPr>
        <p:spPr>
          <a:xfrm>
            <a:off x="475488" y="6071616"/>
            <a:ext cx="2020824" cy="292608"/>
          </a:xfrm>
          <a:prstGeom prst="rect">
            <a:avLst/>
          </a:prstGeom>
          <a:noFill/>
          <a:ln/>
        </p:spPr>
        <p:txBody>
          <a:bodyPr wrap="square" lIns="0" tIns="0" rIns="0" bIns="0" rtlCol="0" anchor="ctr"/>
          <a:lstStyle/>
          <a:p>
            <a:pPr algn="ctr" indent="0" marL="0">
              <a:buNone/>
            </a:pPr>
            <a:r>
              <a:rPr lang="en-US" sz="1100" b="1" dirty="0">
                <a:solidFill>
                  <a:srgbClr val="5B6770"/>
                </a:solidFill>
                <a:latin typeface="Calibri" pitchFamily="34" charset="0"/>
                <a:ea typeface="Calibri" pitchFamily="34" charset="-122"/>
                <a:cs typeface="Calibri" pitchFamily="34" charset="-120"/>
              </a:rPr>
              <a:t>Rank 0 | Parallel: SSIM</a:t>
            </a:r>
            <a:endParaRPr lang="en-US" sz="1100" dirty="0"/>
          </a:p>
        </p:txBody>
      </p:sp>
      <p:sp>
        <p:nvSpPr>
          <p:cNvPr id="55" name="Shape 53"/>
          <p:cNvSpPr/>
          <p:nvPr/>
        </p:nvSpPr>
        <p:spPr>
          <a:xfrm>
            <a:off x="2788920" y="5202936"/>
            <a:ext cx="2011680" cy="1143000"/>
          </a:xfrm>
          <a:prstGeom prst="roundRect">
            <a:avLst>
              <a:gd name="adj" fmla="val 6400"/>
            </a:avLst>
          </a:prstGeom>
          <a:solidFill>
            <a:srgbClr val="FFFFFF"/>
          </a:solidFill>
          <a:ln w="19050">
            <a:solidFill>
              <a:srgbClr val="6B4FA3"/>
            </a:solidFill>
            <a:prstDash val="solid"/>
          </a:ln>
        </p:spPr>
      </p:sp>
      <p:sp>
        <p:nvSpPr>
          <p:cNvPr id="56" name="Text 54"/>
          <p:cNvSpPr/>
          <p:nvPr/>
        </p:nvSpPr>
        <p:spPr>
          <a:xfrm>
            <a:off x="2788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1. Huffman decoding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bit stream to</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delta values</a:t>
            </a:r>
            <a:endParaRPr lang="en-US" sz="1600" dirty="0"/>
          </a:p>
        </p:txBody>
      </p:sp>
      <p:sp>
        <p:nvSpPr>
          <p:cNvPr id="57" name="Shape 55"/>
          <p:cNvSpPr/>
          <p:nvPr/>
        </p:nvSpPr>
        <p:spPr>
          <a:xfrm>
            <a:off x="4828032" y="5655564"/>
            <a:ext cx="219456" cy="237744"/>
          </a:xfrm>
          <a:prstGeom prst="rightArrow">
            <a:avLst/>
          </a:prstGeom>
          <a:solidFill>
            <a:srgbClr val="1F1A33"/>
          </a:solidFill>
          <a:ln w="12700">
            <a:solidFill>
              <a:srgbClr val="1F1A33"/>
            </a:solidFill>
            <a:prstDash val="solid"/>
          </a:ln>
        </p:spPr>
      </p:sp>
      <p:sp>
        <p:nvSpPr>
          <p:cNvPr id="58" name="Shape 56"/>
          <p:cNvSpPr/>
          <p:nvPr/>
        </p:nvSpPr>
        <p:spPr>
          <a:xfrm>
            <a:off x="5074920" y="5202936"/>
            <a:ext cx="2011680" cy="1143000"/>
          </a:xfrm>
          <a:prstGeom prst="roundRect">
            <a:avLst>
              <a:gd name="adj" fmla="val 6400"/>
            </a:avLst>
          </a:prstGeom>
          <a:solidFill>
            <a:srgbClr val="FFFFFF"/>
          </a:solidFill>
          <a:ln w="19050">
            <a:solidFill>
              <a:srgbClr val="6B4FA3"/>
            </a:solidFill>
            <a:prstDash val="solid"/>
          </a:ln>
        </p:spPr>
      </p:sp>
      <p:sp>
        <p:nvSpPr>
          <p:cNvPr id="59" name="Text 57"/>
          <p:cNvSpPr/>
          <p:nvPr/>
        </p:nvSpPr>
        <p:spPr>
          <a:xfrm>
            <a:off x="5074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2. Inverse delta</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recover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60" name="Shape 58"/>
          <p:cNvSpPr/>
          <p:nvPr/>
        </p:nvSpPr>
        <p:spPr>
          <a:xfrm>
            <a:off x="7114032" y="5655564"/>
            <a:ext cx="219456" cy="237744"/>
          </a:xfrm>
          <a:prstGeom prst="rightArrow">
            <a:avLst/>
          </a:prstGeom>
          <a:solidFill>
            <a:srgbClr val="1F1A33"/>
          </a:solidFill>
          <a:ln w="12700">
            <a:solidFill>
              <a:srgbClr val="1F1A33"/>
            </a:solidFill>
            <a:prstDash val="solid"/>
          </a:ln>
        </p:spPr>
      </p:sp>
      <p:sp>
        <p:nvSpPr>
          <p:cNvPr id="61" name="Shape 59"/>
          <p:cNvSpPr/>
          <p:nvPr/>
        </p:nvSpPr>
        <p:spPr>
          <a:xfrm>
            <a:off x="7360920" y="5202936"/>
            <a:ext cx="2011680" cy="1143000"/>
          </a:xfrm>
          <a:prstGeom prst="roundRect">
            <a:avLst>
              <a:gd name="adj" fmla="val 6400"/>
            </a:avLst>
          </a:prstGeom>
          <a:solidFill>
            <a:srgbClr val="FFFFFF"/>
          </a:solidFill>
          <a:ln w="19050">
            <a:solidFill>
              <a:srgbClr val="6B4FA3"/>
            </a:solidFill>
            <a:prstDash val="solid"/>
          </a:ln>
        </p:spPr>
      </p:sp>
      <p:sp>
        <p:nvSpPr>
          <p:cNvPr id="62" name="Text 60"/>
          <p:cNvSpPr/>
          <p:nvPr/>
        </p:nvSpPr>
        <p:spPr>
          <a:xfrm>
            <a:off x="7360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3. Reconstruction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lookup</a:t>
            </a:r>
            <a:endParaRPr lang="en-US" sz="1600" dirty="0"/>
          </a:p>
        </p:txBody>
      </p:sp>
      <p:sp>
        <p:nvSpPr>
          <p:cNvPr id="63" name="Shape 61"/>
          <p:cNvSpPr/>
          <p:nvPr/>
        </p:nvSpPr>
        <p:spPr>
          <a:xfrm>
            <a:off x="9400032" y="5655564"/>
            <a:ext cx="219456" cy="237744"/>
          </a:xfrm>
          <a:prstGeom prst="rightArrow">
            <a:avLst/>
          </a:prstGeom>
          <a:solidFill>
            <a:srgbClr val="1F1A33"/>
          </a:solidFill>
          <a:ln w="12700">
            <a:solidFill>
              <a:srgbClr val="1F1A33"/>
            </a:solidFill>
            <a:prstDash val="solid"/>
          </a:ln>
        </p:spPr>
      </p:sp>
      <p:sp>
        <p:nvSpPr>
          <p:cNvPr id="64" name="Shape 62"/>
          <p:cNvSpPr/>
          <p:nvPr/>
        </p:nvSpPr>
        <p:spPr>
          <a:xfrm>
            <a:off x="9646920" y="5202936"/>
            <a:ext cx="2011680" cy="1143000"/>
          </a:xfrm>
          <a:prstGeom prst="roundRect">
            <a:avLst>
              <a:gd name="adj" fmla="val 6400"/>
            </a:avLst>
          </a:prstGeom>
          <a:solidFill>
            <a:srgbClr val="FDEBD9"/>
          </a:solidFill>
          <a:ln w="31750">
            <a:solidFill>
              <a:srgbClr val="E07B22"/>
            </a:solidFill>
            <a:prstDash val="dash"/>
          </a:ln>
        </p:spPr>
      </p:sp>
      <p:sp>
        <p:nvSpPr>
          <p:cNvPr id="65" name="Text 63"/>
          <p:cNvSpPr/>
          <p:nvPr/>
        </p:nvSpPr>
        <p:spPr>
          <a:xfrm>
            <a:off x="9646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4. Metrics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CR, BPP, MSE, PSNR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(Rank 0)</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SSIM (parallel)</a:t>
            </a:r>
            <a:endParaRPr lang="en-US" sz="1600" dirty="0"/>
          </a:p>
        </p:txBody>
      </p:sp>
      <p:sp>
        <p:nvSpPr>
          <p:cNvPr id="66" name="Shape 64"/>
          <p:cNvSpPr/>
          <p:nvPr/>
        </p:nvSpPr>
        <p:spPr>
          <a:xfrm>
            <a:off x="2377440" y="6473952"/>
            <a:ext cx="457200" cy="219456"/>
          </a:xfrm>
          <a:prstGeom prst="roundRect">
            <a:avLst>
              <a:gd name="adj" fmla="val 50000"/>
            </a:avLst>
          </a:prstGeom>
          <a:solidFill>
            <a:srgbClr val="E07B22"/>
          </a:solidFill>
          <a:ln w="12700">
            <a:solidFill>
              <a:srgbClr val="FFFFFF"/>
            </a:solidFill>
            <a:prstDash val="solid"/>
          </a:ln>
        </p:spPr>
      </p:sp>
      <p:sp>
        <p:nvSpPr>
          <p:cNvPr id="67" name="Text 65"/>
          <p:cNvSpPr/>
          <p:nvPr/>
        </p:nvSpPr>
        <p:spPr>
          <a:xfrm>
            <a:off x="2926080" y="6455664"/>
            <a:ext cx="3840480" cy="256032"/>
          </a:xfrm>
          <a:prstGeom prst="rect">
            <a:avLst/>
          </a:prstGeom>
          <a:noFill/>
          <a:ln/>
        </p:spPr>
        <p:txBody>
          <a:bodyPr wrap="square" lIns="0" tIns="0" rIns="0" bIns="0" rtlCol="0" anchor="ctr"/>
          <a:lstStyle/>
          <a:p>
            <a:pPr indent="0" marL="0">
              <a:buNone/>
            </a:pPr>
            <a:r>
              <a:rPr lang="en-US" sz="1300" b="1" dirty="0">
                <a:solidFill>
                  <a:srgbClr val="1F1A33"/>
                </a:solidFill>
                <a:latin typeface="Calibri" pitchFamily="34" charset="0"/>
                <a:ea typeface="Calibri" pitchFamily="34" charset="-122"/>
                <a:cs typeface="Calibri" pitchFamily="34" charset="-120"/>
              </a:rPr>
              <a:t>Parallel: all MPI ranks work together</a:t>
            </a:r>
            <a:endParaRPr lang="en-US" sz="1300" dirty="0"/>
          </a:p>
        </p:txBody>
      </p:sp>
      <p:sp>
        <p:nvSpPr>
          <p:cNvPr id="68" name="Shape 66"/>
          <p:cNvSpPr/>
          <p:nvPr/>
        </p:nvSpPr>
        <p:spPr>
          <a:xfrm>
            <a:off x="6766560" y="6473952"/>
            <a:ext cx="457200" cy="219456"/>
          </a:xfrm>
          <a:prstGeom prst="roundRect">
            <a:avLst>
              <a:gd name="adj" fmla="val 50000"/>
            </a:avLst>
          </a:prstGeom>
          <a:solidFill>
            <a:srgbClr val="5B6770"/>
          </a:solidFill>
          <a:ln w="12700">
            <a:solidFill>
              <a:srgbClr val="FFFFFF"/>
            </a:solidFill>
            <a:prstDash val="solid"/>
          </a:ln>
        </p:spPr>
      </p:sp>
      <p:sp>
        <p:nvSpPr>
          <p:cNvPr id="69" name="Text 67"/>
          <p:cNvSpPr/>
          <p:nvPr/>
        </p:nvSpPr>
        <p:spPr>
          <a:xfrm>
            <a:off x="7315200" y="6455664"/>
            <a:ext cx="3840480" cy="256032"/>
          </a:xfrm>
          <a:prstGeom prst="rect">
            <a:avLst/>
          </a:prstGeom>
          <a:noFill/>
          <a:ln/>
        </p:spPr>
        <p:txBody>
          <a:bodyPr wrap="square" lIns="0" tIns="0" rIns="0" bIns="0" rtlCol="0" anchor="ctr"/>
          <a:lstStyle/>
          <a:p>
            <a:pPr indent="0" marL="0">
              <a:buNone/>
            </a:pPr>
            <a:r>
              <a:rPr lang="en-US" sz="1300" b="1" dirty="0">
                <a:solidFill>
                  <a:srgbClr val="1F1A33"/>
                </a:solidFill>
                <a:latin typeface="Calibri" pitchFamily="34" charset="0"/>
                <a:ea typeface="Calibri" pitchFamily="34" charset="-122"/>
                <a:cs typeface="Calibri" pitchFamily="34" charset="-120"/>
              </a:rPr>
              <a:t>Sequential: executed on Rank 0 only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F6FB5"/>
          </a:solidFill>
          <a:ln w="12700">
            <a:solidFill>
              <a:srgbClr val="2F6FB5"/>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1</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Block Formation</a:t>
            </a:r>
            <a:endParaRPr lang="en-US" sz="2800" dirty="0"/>
          </a:p>
        </p:txBody>
      </p:sp>
      <p:sp>
        <p:nvSpPr>
          <p:cNvPr id="5" name="Shape 3"/>
          <p:cNvSpPr/>
          <p:nvPr/>
        </p:nvSpPr>
        <p:spPr>
          <a:xfrm>
            <a:off x="457200" y="960120"/>
            <a:ext cx="11274552" cy="36576"/>
          </a:xfrm>
          <a:prstGeom prst="rect">
            <a:avLst/>
          </a:prstGeom>
          <a:solidFill>
            <a:srgbClr val="2F6FB5"/>
          </a:solidFill>
          <a:ln w="12700">
            <a:solidFill>
              <a:srgbClr val="2F6FB5"/>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F6FB5"/>
            </a:solidFill>
            <a:prstDash val="solid"/>
          </a:ln>
        </p:spPr>
      </p:sp>
      <p:pic>
        <p:nvPicPr>
          <p:cNvPr id="7" name="Image 0" descr="assets/ch3_fig32.png">    </p:cNvPr>
          <p:cNvPicPr>
            <a:picLocks noChangeAspect="1"/>
          </p:cNvPicPr>
          <p:nvPr/>
        </p:nvPicPr>
        <p:blipFill>
          <a:blip r:embed="rId1"/>
          <a:stretch>
            <a:fillRect/>
          </a:stretch>
        </p:blipFill>
        <p:spPr>
          <a:xfrm>
            <a:off x="548640" y="2129857"/>
            <a:ext cx="7132320" cy="3192647"/>
          </a:xfrm>
          <a:prstGeom prst="rect">
            <a:avLst/>
          </a:prstGeom>
        </p:spPr>
      </p:pic>
      <p:sp>
        <p:nvSpPr>
          <p:cNvPr id="8" name="Text 5"/>
          <p:cNvSpPr/>
          <p:nvPr/>
        </p:nvSpPr>
        <p:spPr>
          <a:xfrm>
            <a:off x="457200" y="6245352"/>
            <a:ext cx="7315200" cy="274320"/>
          </a:xfrm>
          <a:prstGeom prst="rect">
            <a:avLst/>
          </a:prstGeom>
          <a:noFill/>
          <a:ln/>
        </p:spPr>
        <p:txBody>
          <a:bodyPr wrap="square" lIns="0" tIns="0" rIns="0" bIns="0" rtlCol="0" anchor="ctr"/>
          <a:lstStyle/>
          <a:p>
            <a:pPr algn="ctr" indent="0" marL="0">
              <a:buNone/>
            </a:pPr>
            <a:r>
              <a:rPr lang="en-US" sz="1200" i="1" dirty="0">
                <a:solidFill>
                  <a:srgbClr val="6B4FA3"/>
                </a:solidFill>
                <a:latin typeface="Calibri" pitchFamily="34" charset="0"/>
                <a:ea typeface="Calibri" pitchFamily="34" charset="-122"/>
                <a:cs typeface="Calibri" pitchFamily="34" charset="-120"/>
              </a:rPr>
              <a:t>Block-based vector quantization (illustrative)</a:t>
            </a:r>
            <a:endParaRPr lang="en-US" sz="1200" dirty="0"/>
          </a:p>
        </p:txBody>
      </p:sp>
      <p:sp>
        <p:nvSpPr>
          <p:cNvPr id="9" name="Shape 6"/>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10" name="Text 7"/>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The image is divided into non-overlapping 4 × 4 blocks.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Each block becomes a 16-dimensional vector.</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A 512 × 512 image gives N = 16,384 training vectors.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Color images: the R, G and B channels are processed independently.</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LBG Codebook Training</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lbg_flow_color.png">    </p:cNvPr>
          <p:cNvPicPr>
            <a:picLocks noChangeAspect="1"/>
          </p:cNvPicPr>
          <p:nvPr/>
        </p:nvPicPr>
        <p:blipFill>
          <a:blip r:embed="rId1"/>
          <a:stretch>
            <a:fillRect/>
          </a:stretch>
        </p:blipFill>
        <p:spPr>
          <a:xfrm>
            <a:off x="749477" y="1325880"/>
            <a:ext cx="6730646" cy="4800600"/>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Start from the global mean as the first codeword.</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Binary splitting (δ = 0.01) doubles the codebook size.</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Lloyd refinement: assign each vector to its nearest codeword, then update the centroids.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Stop at ΔD ≤ ε or 100 iterations; repeat until K = 64.</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LBG Training (MPI)</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143000"/>
            <a:ext cx="11274552" cy="4206240"/>
          </a:xfrm>
          <a:prstGeom prst="roundRect">
            <a:avLst>
              <a:gd name="adj" fmla="val 1739"/>
            </a:avLst>
          </a:prstGeom>
          <a:solidFill>
            <a:srgbClr val="FFFFFF"/>
          </a:solidFill>
          <a:ln w="15875">
            <a:solidFill>
              <a:srgbClr val="E07B22"/>
            </a:solidFill>
            <a:prstDash val="solid"/>
          </a:ln>
        </p:spPr>
      </p:sp>
      <p:pic>
        <p:nvPicPr>
          <p:cNvPr id="7" name="Image 0" descr="figs/parallel_overview.png">    </p:cNvPr>
          <p:cNvPicPr>
            <a:picLocks noChangeAspect="1"/>
          </p:cNvPicPr>
          <p:nvPr/>
        </p:nvPicPr>
        <p:blipFill>
          <a:blip r:embed="rId1"/>
          <a:stretch>
            <a:fillRect/>
          </a:stretch>
        </p:blipFill>
        <p:spPr>
          <a:xfrm>
            <a:off x="1145179" y="1234440"/>
            <a:ext cx="9898594" cy="4023360"/>
          </a:xfrm>
          <a:prstGeom prst="rect">
            <a:avLst/>
          </a:prstGeom>
        </p:spPr>
      </p:pic>
      <p:sp>
        <p:nvSpPr>
          <p:cNvPr id="8" name="Shape 5"/>
          <p:cNvSpPr/>
          <p:nvPr/>
        </p:nvSpPr>
        <p:spPr>
          <a:xfrm>
            <a:off x="457200" y="5440680"/>
            <a:ext cx="5559552" cy="1234440"/>
          </a:xfrm>
          <a:prstGeom prst="roundRect">
            <a:avLst>
              <a:gd name="adj" fmla="val 5926"/>
            </a:avLst>
          </a:prstGeom>
          <a:solidFill>
            <a:srgbClr val="F5F1FB"/>
          </a:solidFill>
          <a:ln w="12700">
            <a:solidFill>
              <a:srgbClr val="F5F1FB"/>
            </a:solidFill>
            <a:prstDash val="solid"/>
          </a:ln>
        </p:spPr>
      </p:sp>
      <p:sp>
        <p:nvSpPr>
          <p:cNvPr id="9" name="Text 6"/>
          <p:cNvSpPr/>
          <p:nvPr/>
        </p:nvSpPr>
        <p:spPr>
          <a:xfrm>
            <a:off x="548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SPMD: every rank runs the same program on its own chunk of vectors.</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Nearest-codeword assignment is local and is the main cost of LBG, which takes about 77% of the sequential time (gray).</a:t>
            </a:r>
            <a:endParaRPr lang="en-US" sz="1400" dirty="0"/>
          </a:p>
        </p:txBody>
      </p:sp>
      <p:sp>
        <p:nvSpPr>
          <p:cNvPr id="10" name="Shape 7"/>
          <p:cNvSpPr/>
          <p:nvPr/>
        </p:nvSpPr>
        <p:spPr>
          <a:xfrm>
            <a:off x="6172200" y="5440680"/>
            <a:ext cx="5559552" cy="1234440"/>
          </a:xfrm>
          <a:prstGeom prst="roundRect">
            <a:avLst>
              <a:gd name="adj" fmla="val 5926"/>
            </a:avLst>
          </a:prstGeom>
          <a:solidFill>
            <a:srgbClr val="F5F1FB"/>
          </a:solidFill>
          <a:ln w="12700">
            <a:solidFill>
              <a:srgbClr val="F5F1FB"/>
            </a:solidFill>
            <a:prstDash val="solid"/>
          </a:ln>
        </p:spPr>
      </p:sp>
      <p:sp>
        <p:nvSpPr>
          <p:cNvPr id="11" name="Text 8"/>
          <p:cNvSpPr/>
          <p:nvPr/>
        </p:nvSpPr>
        <p:spPr>
          <a:xfrm>
            <a:off x="6263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Allreduce combines sums, counts and distortion; every rank updates the same codebook.</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Gatherv collects the final indices on Rank 0.</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and Adaptive Workload Distribution</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ch3_fig38.png">    </p:cNvPr>
          <p:cNvPicPr>
            <a:picLocks noChangeAspect="1"/>
          </p:cNvPicPr>
          <p:nvPr/>
        </p:nvPicPr>
        <p:blipFill>
          <a:blip r:embed="rId1"/>
          <a:stretch>
            <a:fillRect/>
          </a:stretch>
        </p:blipFill>
        <p:spPr>
          <a:xfrm>
            <a:off x="548640" y="1618744"/>
            <a:ext cx="7132320" cy="4214872"/>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Equal (default, P ≤ 4): each rank gets N/P vectors (rounded down or 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(P &gt; 4): speed measured by calibration (3 trials, the first is a warm-up).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q_r = N · s_r / Σ s_j: faster cores receive more vectors.</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reduces LBG time by 17–28% compared with Equal (P = 8 to 14).</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Delta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A9D8F"/>
            </a:solidFill>
            <a:prstDash val="solid"/>
          </a:ln>
        </p:spPr>
      </p:sp>
      <p:pic>
        <p:nvPicPr>
          <p:cNvPr id="7" name="Image 0" descr="assets/ch3_fig34.png">    </p:cNvPr>
          <p:cNvPicPr>
            <a:picLocks noChangeAspect="1"/>
          </p:cNvPicPr>
          <p:nvPr/>
        </p:nvPicPr>
        <p:blipFill>
          <a:blip r:embed="rId1"/>
          <a:stretch>
            <a:fillRect/>
          </a:stretch>
        </p:blipFill>
        <p:spPr>
          <a:xfrm>
            <a:off x="548640" y="2117794"/>
            <a:ext cx="7132320" cy="3216773"/>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Stores the difference between successive VQ indices (offset 128).</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Neighbouring blocks are correlated, so the differences cluster around the offset.</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Example (Lena): entropy falls from 5.39 to 4.67 bits per symbol.</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Huffman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80160"/>
            <a:ext cx="11274552" cy="1554480"/>
          </a:xfrm>
          <a:prstGeom prst="roundRect">
            <a:avLst>
              <a:gd name="adj" fmla="val 4706"/>
            </a:avLst>
          </a:prstGeom>
          <a:solidFill>
            <a:srgbClr val="FFFFFF"/>
          </a:solidFill>
          <a:ln w="15875">
            <a:solidFill>
              <a:srgbClr val="2A9D8F"/>
            </a:solidFill>
            <a:prstDash val="solid"/>
          </a:ln>
        </p:spPr>
      </p:sp>
      <p:pic>
        <p:nvPicPr>
          <p:cNvPr id="7" name="Image 0" descr="assets/ch3_fig35.png">    </p:cNvPr>
          <p:cNvPicPr>
            <a:picLocks noChangeAspect="1"/>
          </p:cNvPicPr>
          <p:nvPr/>
        </p:nvPicPr>
        <p:blipFill>
          <a:blip r:embed="rId1"/>
          <a:stretch>
            <a:fillRect/>
          </a:stretch>
        </p:blipFill>
        <p:spPr>
          <a:xfrm>
            <a:off x="548640" y="1466490"/>
            <a:ext cx="11091672" cy="1181820"/>
          </a:xfrm>
          <a:prstGeom prst="rect">
            <a:avLst/>
          </a:prstGeom>
        </p:spPr>
      </p:pic>
      <p:sp>
        <p:nvSpPr>
          <p:cNvPr id="8" name="Shape 5"/>
          <p:cNvSpPr/>
          <p:nvPr/>
        </p:nvSpPr>
        <p:spPr>
          <a:xfrm>
            <a:off x="457200" y="3154680"/>
            <a:ext cx="11274552" cy="3063240"/>
          </a:xfrm>
          <a:prstGeom prst="roundRect">
            <a:avLst>
              <a:gd name="adj" fmla="val 2388"/>
            </a:avLst>
          </a:prstGeom>
          <a:solidFill>
            <a:srgbClr val="F5F1FB"/>
          </a:solidFill>
          <a:ln w="12700">
            <a:solidFill>
              <a:srgbClr val="F5F1FB"/>
            </a:solidFill>
            <a:prstDash val="solid"/>
          </a:ln>
        </p:spPr>
      </p:sp>
      <p:sp>
        <p:nvSpPr>
          <p:cNvPr id="9" name="Text 6"/>
          <p:cNvSpPr/>
          <p:nvPr/>
        </p:nvSpPr>
        <p:spPr>
          <a:xfrm>
            <a:off x="548640" y="3246120"/>
            <a:ext cx="11091672" cy="288036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Frequent symbols receive shorter codewords, rare symbols longer ones (lossless).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Output: the Huffman codes and the encoded bitstream.</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Accounted compressed size = codebook (K × 16 bytes, one byte per codeword element) + Huffman table + Huffman-coded data.</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table is accounted as 5 bytes per used symbol (1 byte symbol + 4 bytes frequency) plus 10 bytes of fixed metadata. The program accounts this size; it does not write a stand-alone compressed file.</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4</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Decoding and Evaluation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457200" y="1234440"/>
            <a:ext cx="2468880" cy="731520"/>
          </a:xfrm>
          <a:prstGeom prst="roundRect">
            <a:avLst>
              <a:gd name="adj" fmla="val 10000"/>
            </a:avLst>
          </a:prstGeom>
          <a:solidFill>
            <a:srgbClr val="ECE6F6"/>
          </a:solidFill>
          <a:ln w="19050">
            <a:solidFill>
              <a:srgbClr val="6B4FA3"/>
            </a:solidFill>
            <a:prstDash val="solid"/>
          </a:ln>
        </p:spPr>
      </p:sp>
      <p:sp>
        <p:nvSpPr>
          <p:cNvPr id="7" name="Text 5"/>
          <p:cNvSpPr/>
          <p:nvPr/>
        </p:nvSpPr>
        <p:spPr>
          <a:xfrm>
            <a:off x="45720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Huffman decoding</a:t>
            </a:r>
            <a:endParaRPr lang="en-US" sz="1600" dirty="0"/>
          </a:p>
        </p:txBody>
      </p:sp>
      <p:sp>
        <p:nvSpPr>
          <p:cNvPr id="8" name="Shape 6"/>
          <p:cNvSpPr/>
          <p:nvPr/>
        </p:nvSpPr>
        <p:spPr>
          <a:xfrm>
            <a:off x="2953512" y="1481328"/>
            <a:ext cx="310896" cy="237744"/>
          </a:xfrm>
          <a:prstGeom prst="rightArrow">
            <a:avLst/>
          </a:prstGeom>
          <a:solidFill>
            <a:srgbClr val="1F1A33"/>
          </a:solidFill>
          <a:ln w="12700">
            <a:solidFill>
              <a:srgbClr val="1F1A33"/>
            </a:solidFill>
            <a:prstDash val="solid"/>
          </a:ln>
        </p:spPr>
      </p:sp>
      <p:sp>
        <p:nvSpPr>
          <p:cNvPr id="9" name="Shape 7"/>
          <p:cNvSpPr/>
          <p:nvPr/>
        </p:nvSpPr>
        <p:spPr>
          <a:xfrm>
            <a:off x="3291840" y="1234440"/>
            <a:ext cx="2468880" cy="731520"/>
          </a:xfrm>
          <a:prstGeom prst="roundRect">
            <a:avLst>
              <a:gd name="adj" fmla="val 10000"/>
            </a:avLst>
          </a:prstGeom>
          <a:solidFill>
            <a:srgbClr val="ECE6F6"/>
          </a:solidFill>
          <a:ln w="19050">
            <a:solidFill>
              <a:srgbClr val="6B4FA3"/>
            </a:solidFill>
            <a:prstDash val="solid"/>
          </a:ln>
        </p:spPr>
      </p:sp>
      <p:sp>
        <p:nvSpPr>
          <p:cNvPr id="10" name="Text 8"/>
          <p:cNvSpPr/>
          <p:nvPr/>
        </p:nvSpPr>
        <p:spPr>
          <a:xfrm>
            <a:off x="329184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Inverse delta</a:t>
            </a:r>
            <a:endParaRPr lang="en-US" sz="1600" dirty="0"/>
          </a:p>
        </p:txBody>
      </p:sp>
      <p:sp>
        <p:nvSpPr>
          <p:cNvPr id="11" name="Shape 9"/>
          <p:cNvSpPr/>
          <p:nvPr/>
        </p:nvSpPr>
        <p:spPr>
          <a:xfrm>
            <a:off x="5788152" y="1481328"/>
            <a:ext cx="310896" cy="237744"/>
          </a:xfrm>
          <a:prstGeom prst="rightArrow">
            <a:avLst/>
          </a:prstGeom>
          <a:solidFill>
            <a:srgbClr val="1F1A33"/>
          </a:solidFill>
          <a:ln w="12700">
            <a:solidFill>
              <a:srgbClr val="1F1A33"/>
            </a:solidFill>
            <a:prstDash val="solid"/>
          </a:ln>
        </p:spPr>
      </p:sp>
      <p:sp>
        <p:nvSpPr>
          <p:cNvPr id="12" name="Shape 10"/>
          <p:cNvSpPr/>
          <p:nvPr/>
        </p:nvSpPr>
        <p:spPr>
          <a:xfrm>
            <a:off x="6126480" y="1234440"/>
            <a:ext cx="2468880" cy="731520"/>
          </a:xfrm>
          <a:prstGeom prst="roundRect">
            <a:avLst>
              <a:gd name="adj" fmla="val 10000"/>
            </a:avLst>
          </a:prstGeom>
          <a:solidFill>
            <a:srgbClr val="ECE6F6"/>
          </a:solidFill>
          <a:ln w="19050">
            <a:solidFill>
              <a:srgbClr val="6B4FA3"/>
            </a:solidFill>
            <a:prstDash val="solid"/>
          </a:ln>
        </p:spPr>
      </p:sp>
      <p:sp>
        <p:nvSpPr>
          <p:cNvPr id="13" name="Text 11"/>
          <p:cNvSpPr/>
          <p:nvPr/>
        </p:nvSpPr>
        <p:spPr>
          <a:xfrm>
            <a:off x="612648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Codebook lookup</a:t>
            </a:r>
            <a:endParaRPr lang="en-US" sz="1600" dirty="0"/>
          </a:p>
        </p:txBody>
      </p:sp>
      <p:sp>
        <p:nvSpPr>
          <p:cNvPr id="14" name="Shape 12"/>
          <p:cNvSpPr/>
          <p:nvPr/>
        </p:nvSpPr>
        <p:spPr>
          <a:xfrm>
            <a:off x="8622792" y="1481328"/>
            <a:ext cx="310896" cy="237744"/>
          </a:xfrm>
          <a:prstGeom prst="rightArrow">
            <a:avLst/>
          </a:prstGeom>
          <a:solidFill>
            <a:srgbClr val="1F1A33"/>
          </a:solidFill>
          <a:ln w="12700">
            <a:solidFill>
              <a:srgbClr val="1F1A33"/>
            </a:solidFill>
            <a:prstDash val="solid"/>
          </a:ln>
        </p:spPr>
      </p:sp>
      <p:sp>
        <p:nvSpPr>
          <p:cNvPr id="15" name="Shape 13"/>
          <p:cNvSpPr/>
          <p:nvPr/>
        </p:nvSpPr>
        <p:spPr>
          <a:xfrm>
            <a:off x="8961120" y="1234440"/>
            <a:ext cx="2468880" cy="731520"/>
          </a:xfrm>
          <a:prstGeom prst="roundRect">
            <a:avLst>
              <a:gd name="adj" fmla="val 10000"/>
            </a:avLst>
          </a:prstGeom>
          <a:solidFill>
            <a:srgbClr val="ECE6F6"/>
          </a:solidFill>
          <a:ln w="19050">
            <a:solidFill>
              <a:srgbClr val="6B4FA3"/>
            </a:solidFill>
            <a:prstDash val="solid"/>
          </a:ln>
        </p:spPr>
      </p:sp>
      <p:sp>
        <p:nvSpPr>
          <p:cNvPr id="16" name="Text 14"/>
          <p:cNvSpPr/>
          <p:nvPr/>
        </p:nvSpPr>
        <p:spPr>
          <a:xfrm>
            <a:off x="896112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Reconstructed image</a:t>
            </a:r>
            <a:endParaRPr lang="en-US" sz="1600" dirty="0"/>
          </a:p>
        </p:txBody>
      </p:sp>
      <p:pic>
        <p:nvPicPr>
          <p:cNvPr id="17" name="Image 0" descr="assets/cam_orig.png">    </p:cNvPr>
          <p:cNvPicPr>
            <a:picLocks noChangeAspect="1"/>
          </p:cNvPicPr>
          <p:nvPr/>
        </p:nvPicPr>
        <p:blipFill>
          <a:blip r:embed="rId1"/>
          <a:stretch>
            <a:fillRect/>
          </a:stretch>
        </p:blipFill>
        <p:spPr>
          <a:xfrm>
            <a:off x="457200" y="2331720"/>
            <a:ext cx="2926080" cy="2926080"/>
          </a:xfrm>
          <a:prstGeom prst="rect">
            <a:avLst/>
          </a:prstGeom>
        </p:spPr>
      </p:pic>
      <p:pic>
        <p:nvPicPr>
          <p:cNvPr id="18" name="Image 1" descr="assets/cam_rec.png">    </p:cNvPr>
          <p:cNvPicPr>
            <a:picLocks noChangeAspect="1"/>
          </p:cNvPicPr>
          <p:nvPr/>
        </p:nvPicPr>
        <p:blipFill>
          <a:blip r:embed="rId2"/>
          <a:stretch>
            <a:fillRect/>
          </a:stretch>
        </p:blipFill>
        <p:spPr>
          <a:xfrm>
            <a:off x="3611880" y="2331720"/>
            <a:ext cx="2926080" cy="2926080"/>
          </a:xfrm>
          <a:prstGeom prst="rect">
            <a:avLst/>
          </a:prstGeom>
        </p:spPr>
      </p:pic>
      <p:sp>
        <p:nvSpPr>
          <p:cNvPr id="19" name="Text 15"/>
          <p:cNvSpPr/>
          <p:nvPr/>
        </p:nvSpPr>
        <p:spPr>
          <a:xfrm>
            <a:off x="45720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Original</a:t>
            </a:r>
            <a:endParaRPr lang="en-US" sz="1400" dirty="0"/>
          </a:p>
        </p:txBody>
      </p:sp>
      <p:sp>
        <p:nvSpPr>
          <p:cNvPr id="20" name="Text 16"/>
          <p:cNvSpPr/>
          <p:nvPr/>
        </p:nvSpPr>
        <p:spPr>
          <a:xfrm>
            <a:off x="361188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Reconstructed</a:t>
            </a:r>
            <a:endParaRPr lang="en-US" sz="1400" dirty="0"/>
          </a:p>
        </p:txBody>
      </p:sp>
      <p:sp>
        <p:nvSpPr>
          <p:cNvPr id="21" name="Text 17"/>
          <p:cNvSpPr/>
          <p:nvPr/>
        </p:nvSpPr>
        <p:spPr>
          <a:xfrm>
            <a:off x="457200" y="5623560"/>
            <a:ext cx="6080760" cy="274320"/>
          </a:xfrm>
          <a:prstGeom prst="rect">
            <a:avLst/>
          </a:prstGeom>
          <a:noFill/>
          <a:ln/>
        </p:spPr>
        <p:txBody>
          <a:bodyPr wrap="square" lIns="0" tIns="0" rIns="0" bIns="0" rtlCol="0" anchor="ctr"/>
          <a:lstStyle/>
          <a:p>
            <a:pPr algn="ctr" indent="0" marL="0">
              <a:buNone/>
            </a:pPr>
            <a:r>
              <a:rPr lang="en-US" sz="1300" i="1" dirty="0">
                <a:solidFill>
                  <a:srgbClr val="6B4FA3"/>
                </a:solidFill>
                <a:latin typeface="Calibri" pitchFamily="34" charset="0"/>
                <a:ea typeface="Calibri" pitchFamily="34" charset="-122"/>
                <a:cs typeface="Calibri" pitchFamily="34" charset="-120"/>
              </a:rPr>
              <a:t>Cameraman: PSNR 29.75 dB, SSIM 0.8855</a:t>
            </a:r>
            <a:endParaRPr lang="en-US" sz="1300" dirty="0"/>
          </a:p>
        </p:txBody>
      </p:sp>
      <p:sp>
        <p:nvSpPr>
          <p:cNvPr id="22" name="Shape 18"/>
          <p:cNvSpPr/>
          <p:nvPr/>
        </p:nvSpPr>
        <p:spPr>
          <a:xfrm>
            <a:off x="6858000" y="2331720"/>
            <a:ext cx="4892040" cy="3886200"/>
          </a:xfrm>
          <a:prstGeom prst="roundRect">
            <a:avLst>
              <a:gd name="adj" fmla="val 1882"/>
            </a:avLst>
          </a:prstGeom>
          <a:solidFill>
            <a:srgbClr val="F5F1FB"/>
          </a:solidFill>
          <a:ln w="12700">
            <a:solidFill>
              <a:srgbClr val="F5F1FB"/>
            </a:solidFill>
            <a:prstDash val="solid"/>
          </a:ln>
        </p:spPr>
      </p:sp>
      <p:sp>
        <p:nvSpPr>
          <p:cNvPr id="23" name="Text 19"/>
          <p:cNvSpPr/>
          <p:nvPr/>
        </p:nvSpPr>
        <p:spPr>
          <a:xfrm>
            <a:off x="6949440" y="2423160"/>
            <a:ext cx="4709160" cy="3703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Decoding and reconstruction run on Rank 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Quality: MSE, PSNR and SSIM (SSIM is computed in parallel); size: CR and BPP.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Parallel performance: time, speedup, efficiency, throughput, Karp–Flatt.</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Verification: the reconstructed image (MD5) and the metrics are identical for the sequential run, P = 4, and P = 14 (Adaptive and Equal).</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301752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30175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Experimental Results</a:t>
            </a:r>
            <a:endParaRPr lang="en-US" sz="1600" dirty="0"/>
          </a:p>
        </p:txBody>
      </p:sp>
      <p:sp>
        <p:nvSpPr>
          <p:cNvPr id="4" name="Text 2"/>
          <p:cNvSpPr/>
          <p:nvPr/>
        </p:nvSpPr>
        <p:spPr>
          <a:xfrm>
            <a:off x="3657600" y="274320"/>
            <a:ext cx="85039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Experimental Setup</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640080" y="1325880"/>
            <a:ext cx="5394960" cy="1463040"/>
          </a:xfrm>
          <a:prstGeom prst="roundRect">
            <a:avLst>
              <a:gd name="adj" fmla="val 6250"/>
            </a:avLst>
          </a:prstGeom>
          <a:solidFill>
            <a:srgbClr val="FFFFFF"/>
          </a:solidFill>
          <a:ln w="22225">
            <a:solidFill>
              <a:srgbClr val="6B4FA3"/>
            </a:solidFill>
            <a:prstDash val="solid"/>
          </a:ln>
        </p:spPr>
      </p:sp>
      <p:sp>
        <p:nvSpPr>
          <p:cNvPr id="7" name="Shape 5"/>
          <p:cNvSpPr/>
          <p:nvPr/>
        </p:nvSpPr>
        <p:spPr>
          <a:xfrm>
            <a:off x="658368" y="1344168"/>
            <a:ext cx="109728" cy="1426464"/>
          </a:xfrm>
          <a:prstGeom prst="rect">
            <a:avLst/>
          </a:prstGeom>
          <a:solidFill>
            <a:srgbClr val="6B4FA3"/>
          </a:solidFill>
          <a:ln w="12700">
            <a:solidFill>
              <a:srgbClr val="6B4FA3"/>
            </a:solidFill>
            <a:prstDash val="solid"/>
          </a:ln>
        </p:spPr>
      </p:sp>
      <p:sp>
        <p:nvSpPr>
          <p:cNvPr id="8" name="Text 6"/>
          <p:cNvSpPr/>
          <p:nvPr/>
        </p:nvSpPr>
        <p:spPr>
          <a:xfrm>
            <a:off x="91440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6B4FA3"/>
                </a:solidFill>
                <a:latin typeface="Calibri" pitchFamily="34" charset="0"/>
                <a:ea typeface="Calibri" pitchFamily="34" charset="-122"/>
                <a:cs typeface="Calibri" pitchFamily="34" charset="-120"/>
              </a:rPr>
              <a:t>Hardware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Intel Core i7-13650HX: 6 P-cores and 8 E-cores (14 cores in total).</a:t>
            </a:r>
            <a:endParaRPr lang="en-US" sz="2000" dirty="0"/>
          </a:p>
        </p:txBody>
      </p:sp>
      <p:sp>
        <p:nvSpPr>
          <p:cNvPr id="9" name="Shape 7"/>
          <p:cNvSpPr/>
          <p:nvPr/>
        </p:nvSpPr>
        <p:spPr>
          <a:xfrm>
            <a:off x="6172200" y="1325880"/>
            <a:ext cx="5394960" cy="1463040"/>
          </a:xfrm>
          <a:prstGeom prst="roundRect">
            <a:avLst>
              <a:gd name="adj" fmla="val 6250"/>
            </a:avLst>
          </a:prstGeom>
          <a:solidFill>
            <a:srgbClr val="FFFFFF"/>
          </a:solidFill>
          <a:ln w="22225">
            <a:solidFill>
              <a:srgbClr val="E07B22"/>
            </a:solidFill>
            <a:prstDash val="solid"/>
          </a:ln>
        </p:spPr>
      </p:sp>
      <p:sp>
        <p:nvSpPr>
          <p:cNvPr id="10" name="Shape 8"/>
          <p:cNvSpPr/>
          <p:nvPr/>
        </p:nvSpPr>
        <p:spPr>
          <a:xfrm>
            <a:off x="6190488" y="1344168"/>
            <a:ext cx="109728" cy="1426464"/>
          </a:xfrm>
          <a:prstGeom prst="rect">
            <a:avLst/>
          </a:prstGeom>
          <a:solidFill>
            <a:srgbClr val="E07B22"/>
          </a:solidFill>
          <a:ln w="12700">
            <a:solidFill>
              <a:srgbClr val="E07B22"/>
            </a:solidFill>
            <a:prstDash val="solid"/>
          </a:ln>
        </p:spPr>
      </p:sp>
      <p:sp>
        <p:nvSpPr>
          <p:cNvPr id="11" name="Text 9"/>
          <p:cNvSpPr/>
          <p:nvPr/>
        </p:nvSpPr>
        <p:spPr>
          <a:xfrm>
            <a:off x="644652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7B22"/>
                </a:solidFill>
                <a:latin typeface="Calibri" pitchFamily="34" charset="0"/>
                <a:ea typeface="Calibri" pitchFamily="34" charset="-122"/>
                <a:cs typeface="Calibri" pitchFamily="34" charset="-120"/>
              </a:rPr>
              <a:t>Software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Ubuntu 24.04, GCC 13.3 (-O2), Open MPI 4.1.6, written in C.</a:t>
            </a:r>
            <a:endParaRPr lang="en-US" sz="2000" dirty="0"/>
          </a:p>
        </p:txBody>
      </p:sp>
      <p:sp>
        <p:nvSpPr>
          <p:cNvPr id="12" name="Shape 10"/>
          <p:cNvSpPr/>
          <p:nvPr/>
        </p:nvSpPr>
        <p:spPr>
          <a:xfrm>
            <a:off x="640080" y="2971800"/>
            <a:ext cx="5394960" cy="1463040"/>
          </a:xfrm>
          <a:prstGeom prst="roundRect">
            <a:avLst>
              <a:gd name="adj" fmla="val 6250"/>
            </a:avLst>
          </a:prstGeom>
          <a:solidFill>
            <a:srgbClr val="FFFFFF"/>
          </a:solidFill>
          <a:ln w="22225">
            <a:solidFill>
              <a:srgbClr val="2A9D8F"/>
            </a:solidFill>
            <a:prstDash val="solid"/>
          </a:ln>
        </p:spPr>
      </p:sp>
      <p:sp>
        <p:nvSpPr>
          <p:cNvPr id="13" name="Shape 11"/>
          <p:cNvSpPr/>
          <p:nvPr/>
        </p:nvSpPr>
        <p:spPr>
          <a:xfrm>
            <a:off x="658368" y="2990088"/>
            <a:ext cx="109728" cy="1426464"/>
          </a:xfrm>
          <a:prstGeom prst="rect">
            <a:avLst/>
          </a:prstGeom>
          <a:solidFill>
            <a:srgbClr val="2A9D8F"/>
          </a:solidFill>
          <a:ln w="12700">
            <a:solidFill>
              <a:srgbClr val="2A9D8F"/>
            </a:solidFill>
            <a:prstDash val="solid"/>
          </a:ln>
        </p:spPr>
      </p:sp>
      <p:sp>
        <p:nvSpPr>
          <p:cNvPr id="14" name="Text 12"/>
          <p:cNvSpPr/>
          <p:nvPr/>
        </p:nvSpPr>
        <p:spPr>
          <a:xfrm>
            <a:off x="91440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A9D8F"/>
                </a:solidFill>
                <a:latin typeface="Calibri" pitchFamily="34" charset="0"/>
                <a:ea typeface="Calibri" pitchFamily="34" charset="-122"/>
                <a:cs typeface="Calibri" pitchFamily="34" charset="-120"/>
              </a:rPr>
              <a:t>Protocol</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Median of 5 runs; governor set to performance; processes bound to cores, P-cores first.</a:t>
            </a:r>
            <a:endParaRPr lang="en-US" sz="2000" dirty="0"/>
          </a:p>
        </p:txBody>
      </p:sp>
      <p:sp>
        <p:nvSpPr>
          <p:cNvPr id="15" name="Shape 13"/>
          <p:cNvSpPr/>
          <p:nvPr/>
        </p:nvSpPr>
        <p:spPr>
          <a:xfrm>
            <a:off x="6172200" y="2971800"/>
            <a:ext cx="5394960" cy="1463040"/>
          </a:xfrm>
          <a:prstGeom prst="roundRect">
            <a:avLst>
              <a:gd name="adj" fmla="val 6250"/>
            </a:avLst>
          </a:prstGeom>
          <a:solidFill>
            <a:srgbClr val="FFFFFF"/>
          </a:solidFill>
          <a:ln w="22225">
            <a:solidFill>
              <a:srgbClr val="E0457B"/>
            </a:solidFill>
            <a:prstDash val="solid"/>
          </a:ln>
        </p:spPr>
      </p:sp>
      <p:sp>
        <p:nvSpPr>
          <p:cNvPr id="16" name="Shape 14"/>
          <p:cNvSpPr/>
          <p:nvPr/>
        </p:nvSpPr>
        <p:spPr>
          <a:xfrm>
            <a:off x="6190488" y="2990088"/>
            <a:ext cx="109728" cy="1426464"/>
          </a:xfrm>
          <a:prstGeom prst="rect">
            <a:avLst/>
          </a:prstGeom>
          <a:solidFill>
            <a:srgbClr val="E0457B"/>
          </a:solidFill>
          <a:ln w="12700">
            <a:solidFill>
              <a:srgbClr val="E0457B"/>
            </a:solidFill>
            <a:prstDash val="solid"/>
          </a:ln>
        </p:spPr>
      </p:sp>
      <p:sp>
        <p:nvSpPr>
          <p:cNvPr id="17" name="Text 15"/>
          <p:cNvSpPr/>
          <p:nvPr/>
        </p:nvSpPr>
        <p:spPr>
          <a:xfrm>
            <a:off x="644652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457B"/>
                </a:solidFill>
                <a:latin typeface="Calibri" pitchFamily="34" charset="0"/>
                <a:ea typeface="Calibri" pitchFamily="34" charset="-122"/>
                <a:cs typeface="Calibri" pitchFamily="34" charset="-120"/>
              </a:rPr>
              <a:t>Data</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8 standard 512 × 512 images: 4 grayscale and 4 color.</a:t>
            </a:r>
            <a:endParaRPr lang="en-US" sz="2000" dirty="0"/>
          </a:p>
        </p:txBody>
      </p:sp>
      <p:sp>
        <p:nvSpPr>
          <p:cNvPr id="18" name="Shape 16"/>
          <p:cNvSpPr/>
          <p:nvPr/>
        </p:nvSpPr>
        <p:spPr>
          <a:xfrm>
            <a:off x="640080" y="4617720"/>
            <a:ext cx="5394960" cy="1463040"/>
          </a:xfrm>
          <a:prstGeom prst="roundRect">
            <a:avLst>
              <a:gd name="adj" fmla="val 6250"/>
            </a:avLst>
          </a:prstGeom>
          <a:solidFill>
            <a:srgbClr val="FFFFFF"/>
          </a:solidFill>
          <a:ln w="22225">
            <a:solidFill>
              <a:srgbClr val="2E2055"/>
            </a:solidFill>
            <a:prstDash val="solid"/>
          </a:ln>
        </p:spPr>
      </p:sp>
      <p:sp>
        <p:nvSpPr>
          <p:cNvPr id="19" name="Shape 17"/>
          <p:cNvSpPr/>
          <p:nvPr/>
        </p:nvSpPr>
        <p:spPr>
          <a:xfrm>
            <a:off x="658368" y="4636008"/>
            <a:ext cx="109728" cy="1426464"/>
          </a:xfrm>
          <a:prstGeom prst="rect">
            <a:avLst/>
          </a:prstGeom>
          <a:solidFill>
            <a:srgbClr val="2E2055"/>
          </a:solidFill>
          <a:ln w="12700">
            <a:solidFill>
              <a:srgbClr val="2E2055"/>
            </a:solidFill>
            <a:prstDash val="solid"/>
          </a:ln>
        </p:spPr>
      </p:sp>
      <p:sp>
        <p:nvSpPr>
          <p:cNvPr id="20" name="Text 18"/>
          <p:cNvSpPr/>
          <p:nvPr/>
        </p:nvSpPr>
        <p:spPr>
          <a:xfrm>
            <a:off x="91440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E2055"/>
                </a:solidFill>
                <a:latin typeface="Calibri" pitchFamily="34" charset="0"/>
                <a:ea typeface="Calibri" pitchFamily="34" charset="-122"/>
                <a:cs typeface="Calibri" pitchFamily="34" charset="-120"/>
              </a:rPr>
              <a:t>LBG settings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4 × 4 blocks, K = 64 codewords, δ = 0.01, ε = 0.0001 (relative improvement in distortion), at most 100 iterations per level.</a:t>
            </a:r>
            <a:endParaRPr lang="en-US" sz="2000" dirty="0"/>
          </a:p>
        </p:txBody>
      </p:sp>
      <p:sp>
        <p:nvSpPr>
          <p:cNvPr id="21" name="Shape 19"/>
          <p:cNvSpPr/>
          <p:nvPr/>
        </p:nvSpPr>
        <p:spPr>
          <a:xfrm>
            <a:off x="6172200" y="4617720"/>
            <a:ext cx="5394960" cy="1463040"/>
          </a:xfrm>
          <a:prstGeom prst="roundRect">
            <a:avLst>
              <a:gd name="adj" fmla="val 6250"/>
            </a:avLst>
          </a:prstGeom>
          <a:solidFill>
            <a:srgbClr val="FFFFFF"/>
          </a:solidFill>
          <a:ln w="22225">
            <a:solidFill>
              <a:srgbClr val="F2B134"/>
            </a:solidFill>
            <a:prstDash val="solid"/>
          </a:ln>
        </p:spPr>
      </p:sp>
      <p:sp>
        <p:nvSpPr>
          <p:cNvPr id="22" name="Shape 20"/>
          <p:cNvSpPr/>
          <p:nvPr/>
        </p:nvSpPr>
        <p:spPr>
          <a:xfrm>
            <a:off x="6190488" y="4636008"/>
            <a:ext cx="109728" cy="1426464"/>
          </a:xfrm>
          <a:prstGeom prst="rect">
            <a:avLst/>
          </a:prstGeom>
          <a:solidFill>
            <a:srgbClr val="F2B134"/>
          </a:solidFill>
          <a:ln w="12700">
            <a:solidFill>
              <a:srgbClr val="F2B134"/>
            </a:solidFill>
            <a:prstDash val="solid"/>
          </a:ln>
        </p:spPr>
      </p:sp>
      <p:sp>
        <p:nvSpPr>
          <p:cNvPr id="23" name="Text 21"/>
          <p:cNvSpPr/>
          <p:nvPr/>
        </p:nvSpPr>
        <p:spPr>
          <a:xfrm>
            <a:off x="644652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F2B134"/>
                </a:solidFill>
                <a:latin typeface="Calibri" pitchFamily="34" charset="0"/>
                <a:ea typeface="Calibri" pitchFamily="34" charset="-122"/>
                <a:cs typeface="Calibri" pitchFamily="34" charset="-120"/>
              </a:rPr>
              <a:t>Strategies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Equal (default for P ≤ 4) and Adaptive speed-aware (P &gt; 4).</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Results</a:t>
            </a:r>
            <a:endParaRPr lang="en-US" sz="1600" dirty="0"/>
          </a:p>
        </p:txBody>
      </p:sp>
      <p:sp>
        <p:nvSpPr>
          <p:cNvPr id="4" name="Text 2"/>
          <p:cNvSpPr/>
          <p:nvPr/>
        </p:nvSpPr>
        <p:spPr>
          <a:xfrm>
            <a:off x="2103120" y="274320"/>
            <a:ext cx="100584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Performance and Quality Evaluation Metrics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822960" y="1371600"/>
            <a:ext cx="5029200" cy="640080"/>
          </a:xfrm>
          <a:prstGeom prst="roundRect">
            <a:avLst>
              <a:gd name="adj" fmla="val 11429"/>
            </a:avLst>
          </a:prstGeom>
          <a:solidFill>
            <a:srgbClr val="2A9D8F"/>
          </a:solidFill>
          <a:ln w="12700">
            <a:solidFill>
              <a:srgbClr val="2A9D8F"/>
            </a:solidFill>
            <a:prstDash val="solid"/>
          </a:ln>
        </p:spPr>
      </p:sp>
      <p:sp>
        <p:nvSpPr>
          <p:cNvPr id="7" name="Text 5"/>
          <p:cNvSpPr/>
          <p:nvPr/>
        </p:nvSpPr>
        <p:spPr>
          <a:xfrm>
            <a:off x="822960" y="1371600"/>
            <a:ext cx="502920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Compression Quality</a:t>
            </a:r>
            <a:endParaRPr lang="en-US" sz="2200" dirty="0"/>
          </a:p>
        </p:txBody>
      </p:sp>
      <p:sp>
        <p:nvSpPr>
          <p:cNvPr id="8" name="Shape 6"/>
          <p:cNvSpPr/>
          <p:nvPr/>
        </p:nvSpPr>
        <p:spPr>
          <a:xfrm>
            <a:off x="822960" y="2103120"/>
            <a:ext cx="5029200" cy="3291840"/>
          </a:xfrm>
          <a:prstGeom prst="roundRect">
            <a:avLst>
              <a:gd name="adj" fmla="val 2222"/>
            </a:avLst>
          </a:prstGeom>
          <a:solidFill>
            <a:srgbClr val="EEF8F6"/>
          </a:solidFill>
          <a:ln w="15875">
            <a:solidFill>
              <a:srgbClr val="2A9D8F"/>
            </a:solidFill>
            <a:prstDash val="solid"/>
          </a:ln>
        </p:spPr>
      </p:sp>
      <p:sp>
        <p:nvSpPr>
          <p:cNvPr id="9" name="Text 7"/>
          <p:cNvSpPr/>
          <p:nvPr/>
        </p:nvSpPr>
        <p:spPr>
          <a:xfrm>
            <a:off x="1097280" y="2194560"/>
            <a:ext cx="4480560" cy="3108960"/>
          </a:xfrm>
          <a:prstGeom prst="rect">
            <a:avLst/>
          </a:prstGeom>
          <a:noFill/>
          <a:ln/>
        </p:spPr>
        <p:txBody>
          <a:bodyPr wrap="square" lIns="635" tIns="635" rIns="635" bIns="635" rtlCol="0" anchor="ctr"/>
          <a:lstStyle/>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Compression Ratio (CR)</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Bits Per Pixel (BPP)</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MSE</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PSNR</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SSIM</a:t>
            </a:r>
            <a:endParaRPr lang="en-US" sz="2200" dirty="0"/>
          </a:p>
        </p:txBody>
      </p:sp>
      <p:sp>
        <p:nvSpPr>
          <p:cNvPr id="10" name="Shape 8"/>
          <p:cNvSpPr/>
          <p:nvPr/>
        </p:nvSpPr>
        <p:spPr>
          <a:xfrm>
            <a:off x="6309360" y="1371600"/>
            <a:ext cx="5029200" cy="640080"/>
          </a:xfrm>
          <a:prstGeom prst="roundRect">
            <a:avLst>
              <a:gd name="adj" fmla="val 11429"/>
            </a:avLst>
          </a:prstGeom>
          <a:solidFill>
            <a:srgbClr val="E07B22"/>
          </a:solidFill>
          <a:ln w="12700">
            <a:solidFill>
              <a:srgbClr val="E07B22"/>
            </a:solidFill>
            <a:prstDash val="solid"/>
          </a:ln>
        </p:spPr>
      </p:sp>
      <p:sp>
        <p:nvSpPr>
          <p:cNvPr id="11" name="Text 9"/>
          <p:cNvSpPr/>
          <p:nvPr/>
        </p:nvSpPr>
        <p:spPr>
          <a:xfrm>
            <a:off x="6309360" y="1371600"/>
            <a:ext cx="502920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Parallel Performance</a:t>
            </a:r>
            <a:endParaRPr lang="en-US" sz="2200" dirty="0"/>
          </a:p>
        </p:txBody>
      </p:sp>
      <p:sp>
        <p:nvSpPr>
          <p:cNvPr id="12" name="Shape 10"/>
          <p:cNvSpPr/>
          <p:nvPr/>
        </p:nvSpPr>
        <p:spPr>
          <a:xfrm>
            <a:off x="6309360" y="2103120"/>
            <a:ext cx="5029200" cy="3291840"/>
          </a:xfrm>
          <a:prstGeom prst="roundRect">
            <a:avLst>
              <a:gd name="adj" fmla="val 2222"/>
            </a:avLst>
          </a:prstGeom>
          <a:solidFill>
            <a:srgbClr val="FDF1E6"/>
          </a:solidFill>
          <a:ln w="15875">
            <a:solidFill>
              <a:srgbClr val="E07B22"/>
            </a:solidFill>
            <a:prstDash val="solid"/>
          </a:ln>
        </p:spPr>
      </p:sp>
      <p:sp>
        <p:nvSpPr>
          <p:cNvPr id="13" name="Text 11"/>
          <p:cNvSpPr/>
          <p:nvPr/>
        </p:nvSpPr>
        <p:spPr>
          <a:xfrm>
            <a:off x="6583680" y="2194560"/>
            <a:ext cx="4480560" cy="3108960"/>
          </a:xfrm>
          <a:prstGeom prst="rect">
            <a:avLst/>
          </a:prstGeom>
          <a:noFill/>
          <a:ln/>
        </p:spPr>
        <p:txBody>
          <a:bodyPr wrap="square" lIns="635" tIns="635" rIns="635" bIns="635" rtlCol="0" anchor="ctr"/>
          <a:lstStyle/>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Execution Time</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Speedup</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Parallel Efficiency</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Throughput</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Karp–Flatt Metric</a:t>
            </a:r>
            <a:endParaRPr lang="en-US" sz="2200" dirty="0"/>
          </a:p>
        </p:txBody>
      </p:sp>
      <p:sp>
        <p:nvSpPr>
          <p:cNvPr id="14" name="Text 12"/>
          <p:cNvSpPr/>
          <p:nvPr/>
        </p:nvSpPr>
        <p:spPr>
          <a:xfrm>
            <a:off x="822960" y="5669280"/>
            <a:ext cx="10515600" cy="365760"/>
          </a:xfrm>
          <a:prstGeom prst="rect">
            <a:avLst/>
          </a:prstGeom>
          <a:noFill/>
          <a:ln/>
        </p:spPr>
        <p:txBody>
          <a:bodyPr wrap="square" lIns="0" tIns="0" rIns="0" bIns="0" rtlCol="0" anchor="ctr"/>
          <a:lstStyle/>
          <a:p>
            <a:pPr algn="ctr" indent="0" marL="0">
              <a:buNone/>
            </a:pPr>
            <a:r>
              <a:rPr lang="en-US" sz="1600" i="1" dirty="0">
                <a:solidFill>
                  <a:srgbClr val="6B4FA3"/>
                </a:solidFill>
                <a:latin typeface="Calibri" pitchFamily="34" charset="0"/>
                <a:ea typeface="Calibri" pitchFamily="34" charset="-122"/>
                <a:cs typeface="Calibri" pitchFamily="34" charset="-120"/>
              </a:rPr>
              <a:t>Each formula is shown next to the result it measures.</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Test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57200" y="1097280"/>
            <a:ext cx="5486400" cy="292608"/>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Grayscale</a:t>
            </a:r>
            <a:endParaRPr lang="en-US" sz="1800" dirty="0"/>
          </a:p>
        </p:txBody>
      </p:sp>
      <p:sp>
        <p:nvSpPr>
          <p:cNvPr id="7" name="Shape 5"/>
          <p:cNvSpPr/>
          <p:nvPr/>
        </p:nvSpPr>
        <p:spPr>
          <a:xfrm>
            <a:off x="457200" y="1417320"/>
            <a:ext cx="2103120" cy="2103120"/>
          </a:xfrm>
          <a:prstGeom prst="rect">
            <a:avLst/>
          </a:prstGeom>
          <a:solidFill>
            <a:srgbClr val="F5F1FB"/>
          </a:solidFill>
          <a:ln w="19050">
            <a:solidFill>
              <a:srgbClr val="6B4FA3"/>
            </a:solidFill>
            <a:prstDash val="dash"/>
          </a:ln>
        </p:spPr>
      </p:sp>
      <p:sp>
        <p:nvSpPr>
          <p:cNvPr id="8" name="Text 6"/>
          <p:cNvSpPr/>
          <p:nvPr/>
        </p:nvSpPr>
        <p:spPr>
          <a:xfrm>
            <a:off x="45720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9" name="Text 7"/>
          <p:cNvSpPr/>
          <p:nvPr/>
        </p:nvSpPr>
        <p:spPr>
          <a:xfrm>
            <a:off x="45720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10" name="Shape 8"/>
          <p:cNvSpPr/>
          <p:nvPr/>
        </p:nvSpPr>
        <p:spPr>
          <a:xfrm>
            <a:off x="3291840" y="1417320"/>
            <a:ext cx="2103120" cy="2103120"/>
          </a:xfrm>
          <a:prstGeom prst="rect">
            <a:avLst/>
          </a:prstGeom>
          <a:solidFill>
            <a:srgbClr val="F5F1FB"/>
          </a:solidFill>
          <a:ln w="19050">
            <a:solidFill>
              <a:srgbClr val="6B4FA3"/>
            </a:solidFill>
            <a:prstDash val="dash"/>
          </a:ln>
        </p:spPr>
      </p:sp>
      <p:sp>
        <p:nvSpPr>
          <p:cNvPr id="11" name="Text 9"/>
          <p:cNvSpPr/>
          <p:nvPr/>
        </p:nvSpPr>
        <p:spPr>
          <a:xfrm>
            <a:off x="329184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2" name="Text 10"/>
          <p:cNvSpPr/>
          <p:nvPr/>
        </p:nvSpPr>
        <p:spPr>
          <a:xfrm>
            <a:off x="329184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p>
        </p:txBody>
      </p:sp>
      <p:sp>
        <p:nvSpPr>
          <p:cNvPr id="13" name="Shape 11"/>
          <p:cNvSpPr/>
          <p:nvPr/>
        </p:nvSpPr>
        <p:spPr>
          <a:xfrm>
            <a:off x="6126480" y="1417320"/>
            <a:ext cx="2103120" cy="2103120"/>
          </a:xfrm>
          <a:prstGeom prst="rect">
            <a:avLst/>
          </a:prstGeom>
          <a:solidFill>
            <a:srgbClr val="F5F1FB"/>
          </a:solidFill>
          <a:ln w="19050">
            <a:solidFill>
              <a:srgbClr val="6B4FA3"/>
            </a:solidFill>
            <a:prstDash val="dash"/>
          </a:ln>
        </p:spPr>
      </p:sp>
      <p:sp>
        <p:nvSpPr>
          <p:cNvPr id="14" name="Text 12"/>
          <p:cNvSpPr/>
          <p:nvPr/>
        </p:nvSpPr>
        <p:spPr>
          <a:xfrm>
            <a:off x="612648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5" name="Text 13"/>
          <p:cNvSpPr/>
          <p:nvPr/>
        </p:nvSpPr>
        <p:spPr>
          <a:xfrm>
            <a:off x="612648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p>
        </p:txBody>
      </p:sp>
      <p:sp>
        <p:nvSpPr>
          <p:cNvPr id="16" name="Shape 14"/>
          <p:cNvSpPr/>
          <p:nvPr/>
        </p:nvSpPr>
        <p:spPr>
          <a:xfrm>
            <a:off x="8961120" y="1417320"/>
            <a:ext cx="2103120" cy="2103120"/>
          </a:xfrm>
          <a:prstGeom prst="rect">
            <a:avLst/>
          </a:prstGeom>
          <a:solidFill>
            <a:srgbClr val="F5F1FB"/>
          </a:solidFill>
          <a:ln w="19050">
            <a:solidFill>
              <a:srgbClr val="6B4FA3"/>
            </a:solidFill>
            <a:prstDash val="dash"/>
          </a:ln>
        </p:spPr>
      </p:sp>
      <p:sp>
        <p:nvSpPr>
          <p:cNvPr id="17" name="Text 15"/>
          <p:cNvSpPr/>
          <p:nvPr/>
        </p:nvSpPr>
        <p:spPr>
          <a:xfrm>
            <a:off x="896112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8" name="Text 16"/>
          <p:cNvSpPr/>
          <p:nvPr/>
        </p:nvSpPr>
        <p:spPr>
          <a:xfrm>
            <a:off x="896112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19" name="Text 17"/>
          <p:cNvSpPr/>
          <p:nvPr/>
        </p:nvSpPr>
        <p:spPr>
          <a:xfrm>
            <a:off x="457200" y="3886200"/>
            <a:ext cx="5486400" cy="292608"/>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Color</a:t>
            </a:r>
            <a:endParaRPr lang="en-US" sz="1800" dirty="0"/>
          </a:p>
        </p:txBody>
      </p:sp>
      <p:sp>
        <p:nvSpPr>
          <p:cNvPr id="20" name="Shape 18"/>
          <p:cNvSpPr/>
          <p:nvPr/>
        </p:nvSpPr>
        <p:spPr>
          <a:xfrm>
            <a:off x="457200" y="4206240"/>
            <a:ext cx="2103120" cy="2103120"/>
          </a:xfrm>
          <a:prstGeom prst="rect">
            <a:avLst/>
          </a:prstGeom>
          <a:solidFill>
            <a:srgbClr val="F5F1FB"/>
          </a:solidFill>
          <a:ln w="19050">
            <a:solidFill>
              <a:srgbClr val="6B4FA3"/>
            </a:solidFill>
            <a:prstDash val="dash"/>
          </a:ln>
        </p:spPr>
      </p:sp>
      <p:sp>
        <p:nvSpPr>
          <p:cNvPr id="21" name="Text 19"/>
          <p:cNvSpPr/>
          <p:nvPr/>
        </p:nvSpPr>
        <p:spPr>
          <a:xfrm>
            <a:off x="45720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2" name="Text 20"/>
          <p:cNvSpPr/>
          <p:nvPr/>
        </p:nvSpPr>
        <p:spPr>
          <a:xfrm>
            <a:off x="45720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23" name="Shape 21"/>
          <p:cNvSpPr/>
          <p:nvPr/>
        </p:nvSpPr>
        <p:spPr>
          <a:xfrm>
            <a:off x="3291840" y="4206240"/>
            <a:ext cx="2103120" cy="2103120"/>
          </a:xfrm>
          <a:prstGeom prst="rect">
            <a:avLst/>
          </a:prstGeom>
          <a:solidFill>
            <a:srgbClr val="F5F1FB"/>
          </a:solidFill>
          <a:ln w="19050">
            <a:solidFill>
              <a:srgbClr val="6B4FA3"/>
            </a:solidFill>
            <a:prstDash val="dash"/>
          </a:ln>
        </p:spPr>
      </p:sp>
      <p:sp>
        <p:nvSpPr>
          <p:cNvPr id="24" name="Text 22"/>
          <p:cNvSpPr/>
          <p:nvPr/>
        </p:nvSpPr>
        <p:spPr>
          <a:xfrm>
            <a:off x="329184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5" name="Text 23"/>
          <p:cNvSpPr/>
          <p:nvPr/>
        </p:nvSpPr>
        <p:spPr>
          <a:xfrm>
            <a:off x="329184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26" name="Shape 24"/>
          <p:cNvSpPr/>
          <p:nvPr/>
        </p:nvSpPr>
        <p:spPr>
          <a:xfrm>
            <a:off x="6126480" y="4206240"/>
            <a:ext cx="2103120" cy="2103120"/>
          </a:xfrm>
          <a:prstGeom prst="rect">
            <a:avLst/>
          </a:prstGeom>
          <a:solidFill>
            <a:srgbClr val="F5F1FB"/>
          </a:solidFill>
          <a:ln w="19050">
            <a:solidFill>
              <a:srgbClr val="6B4FA3"/>
            </a:solidFill>
            <a:prstDash val="dash"/>
          </a:ln>
        </p:spPr>
      </p:sp>
      <p:sp>
        <p:nvSpPr>
          <p:cNvPr id="27" name="Text 25"/>
          <p:cNvSpPr/>
          <p:nvPr/>
        </p:nvSpPr>
        <p:spPr>
          <a:xfrm>
            <a:off x="612648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8" name="Text 26"/>
          <p:cNvSpPr/>
          <p:nvPr/>
        </p:nvSpPr>
        <p:spPr>
          <a:xfrm>
            <a:off x="612648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p>
        </p:txBody>
      </p:sp>
      <p:sp>
        <p:nvSpPr>
          <p:cNvPr id="29" name="Shape 27"/>
          <p:cNvSpPr/>
          <p:nvPr/>
        </p:nvSpPr>
        <p:spPr>
          <a:xfrm>
            <a:off x="8961120" y="4206240"/>
            <a:ext cx="2103120" cy="2103120"/>
          </a:xfrm>
          <a:prstGeom prst="rect">
            <a:avLst/>
          </a:prstGeom>
          <a:solidFill>
            <a:srgbClr val="F5F1FB"/>
          </a:solidFill>
          <a:ln w="19050">
            <a:solidFill>
              <a:srgbClr val="6B4FA3"/>
            </a:solidFill>
            <a:prstDash val="dash"/>
          </a:ln>
        </p:spPr>
      </p:sp>
      <p:sp>
        <p:nvSpPr>
          <p:cNvPr id="30" name="Text 28"/>
          <p:cNvSpPr/>
          <p:nvPr/>
        </p:nvSpPr>
        <p:spPr>
          <a:xfrm>
            <a:off x="896112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31" name="Text 29"/>
          <p:cNvSpPr/>
          <p:nvPr/>
        </p:nvSpPr>
        <p:spPr>
          <a:xfrm>
            <a:off x="896112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Grayscale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400" b="1" dirty="0">
                <a:solidFill>
                  <a:srgbClr val="2E2055"/>
                </a:solidFill>
                <a:latin typeface="Calibri" pitchFamily="34" charset="0"/>
                <a:ea typeface="Calibri" pitchFamily="34" charset="-122"/>
                <a:cs typeface="Calibri" pitchFamily="34" charset="-120"/>
              </a:rPr>
              <a:t>Original</a:t>
            </a:r>
            <a:endParaRPr lang="en-US" sz="1400" dirty="0"/>
          </a:p>
        </p:txBody>
      </p:sp>
      <p:sp>
        <p:nvSpPr>
          <p:cNvPr id="7" name="Text 5"/>
          <p:cNvSpPr/>
          <p:nvPr/>
        </p:nvSpPr>
        <p:spPr>
          <a:xfrm>
            <a:off x="320040" y="3840480"/>
            <a:ext cx="1234440" cy="2331720"/>
          </a:xfrm>
          <a:prstGeom prst="rect">
            <a:avLst/>
          </a:prstGeom>
          <a:noFill/>
          <a:ln/>
        </p:spPr>
        <p:txBody>
          <a:bodyPr wrap="square" lIns="0" tIns="0" rIns="0" bIns="0" rtlCol="0" anchor="ctr"/>
          <a:lstStyle/>
          <a:p>
            <a:pPr algn="ctr" indent="0" marL="0">
              <a:buNone/>
            </a:pPr>
            <a:r>
              <a:rPr lang="en-US" sz="1300" b="1" dirty="0">
                <a:solidFill>
                  <a:srgbClr val="2E2055"/>
                </a:solidFill>
                <a:latin typeface="Calibri" pitchFamily="34" charset="0"/>
                <a:ea typeface="Calibri" pitchFamily="34" charset="-122"/>
                <a:cs typeface="Calibri" pitchFamily="34" charset="-120"/>
              </a:rPr>
              <a:t>Reconstructed</a:t>
            </a:r>
            <a:endParaRPr lang="en-US" sz="13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29.67 dB   SSIM 0.8190</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Boat</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29.11 dB   SSIM 0.8394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Cameraman</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29.75 dB   SSIM 0.8855</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29.41 dB   SSIM 0.7624</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Color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400" b="1" dirty="0">
                <a:solidFill>
                  <a:srgbClr val="2E2055"/>
                </a:solidFill>
                <a:latin typeface="Calibri" pitchFamily="34" charset="0"/>
                <a:ea typeface="Calibri" pitchFamily="34" charset="-122"/>
                <a:cs typeface="Calibri" pitchFamily="34" charset="-120"/>
              </a:rPr>
              <a:t>Original</a:t>
            </a:r>
            <a:endParaRPr lang="en-US" sz="1400" dirty="0"/>
          </a:p>
        </p:txBody>
      </p:sp>
      <p:sp>
        <p:nvSpPr>
          <p:cNvPr id="7" name="Text 5"/>
          <p:cNvSpPr/>
          <p:nvPr/>
        </p:nvSpPr>
        <p:spPr>
          <a:xfrm>
            <a:off x="320040" y="3840480"/>
            <a:ext cx="1234440" cy="2331720"/>
          </a:xfrm>
          <a:prstGeom prst="rect">
            <a:avLst/>
          </a:prstGeom>
          <a:noFill/>
          <a:ln/>
        </p:spPr>
        <p:txBody>
          <a:bodyPr wrap="square" lIns="0" tIns="0" rIns="0" bIns="0" rtlCol="0" anchor="ctr"/>
          <a:lstStyle/>
          <a:p>
            <a:pPr algn="ctr" indent="0" marL="0">
              <a:buNone/>
            </a:pPr>
            <a:r>
              <a:rPr lang="en-US" sz="1300" b="1" dirty="0">
                <a:solidFill>
                  <a:srgbClr val="2E2055"/>
                </a:solidFill>
                <a:latin typeface="Calibri" pitchFamily="34" charset="0"/>
                <a:ea typeface="Calibri" pitchFamily="34" charset="-122"/>
                <a:cs typeface="Calibri" pitchFamily="34" charset="-120"/>
              </a:rPr>
              <a:t>Reconstructed</a:t>
            </a:r>
            <a:endParaRPr lang="en-US" sz="13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28.91 dB   SSIM 0.7594</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28.35 dB   SSIM 0.6964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F16</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29.47 dB   SSIM 0.8539</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Gold Hill</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28.45 dB   SSIM 0.7520</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Compression Results (4 × 4 blocks, K = 64)</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822960" y="1097280"/>
            <a:ext cx="10515600" cy="822960"/>
          </a:xfrm>
          <a:prstGeom prst="roundRect">
            <a:avLst>
              <a:gd name="adj" fmla="val 8889"/>
            </a:avLst>
          </a:prstGeom>
          <a:solidFill>
            <a:srgbClr val="FDF1E6"/>
          </a:solidFill>
          <a:ln w="15875">
            <a:solidFill>
              <a:srgbClr val="E07B22"/>
            </a:solidFill>
            <a:prstDash val="solid"/>
          </a:ln>
        </p:spPr>
      </p:sp>
      <p:sp>
        <p:nvSpPr>
          <p:cNvPr id="7" name="Text 5"/>
          <p:cNvSpPr/>
          <p:nvPr/>
        </p:nvSpPr>
        <p:spPr>
          <a:xfrm>
            <a:off x="822960" y="1097280"/>
            <a:ext cx="10515600" cy="822960"/>
          </a:xfrm>
          <a:prstGeom prst="rect">
            <a:avLst/>
          </a:prstGeom>
          <a:noFill/>
          <a:ln/>
        </p:spPr>
        <p:txBody>
          <a:bodyPr wrap="square" lIns="508" tIns="508" rIns="508" bIns="508" rtlCol="0" anchor="ctr"/>
          <a:lstStyle/>
          <a:p>
            <a:pPr algn="ctr" indent="0" marL="0">
              <a:buNone/>
            </a:pPr>
            <a:r>
              <a:rPr lang="en-US" sz="1700" b="1" dirty="0">
                <a:solidFill>
                  <a:srgbClr val="2E2055"/>
                </a:solidFill>
                <a:latin typeface="Cambria" pitchFamily="34" charset="0"/>
                <a:ea typeface="Cambria" pitchFamily="34" charset="-122"/>
                <a:cs typeface="Cambria" pitchFamily="34" charset="-120"/>
              </a:rPr>
              <a:t>CR = S_orig / S_comp        BPP = compressed bits / number of pixels</a:t>
            </a:r>
            <a:endParaRPr lang="en-US" sz="1700" dirty="0"/>
          </a:p>
          <a:p>
            <a:pPr algn="ctr" indent="0" marL="0">
              <a:buNone/>
            </a:pPr>
            <a:r>
              <a:rPr lang="en-US" sz="1700" b="1" dirty="0">
                <a:solidFill>
                  <a:srgbClr val="2E2055"/>
                </a:solidFill>
                <a:latin typeface="Cambria" pitchFamily="34" charset="0"/>
                <a:ea typeface="Cambria" pitchFamily="34" charset="-122"/>
                <a:cs typeface="Cambria" pitchFamily="34" charset="-120"/>
              </a:rPr>
              <a:t>MSE = mean (I − Î)²        PSNR = 10·log₁₀(255² / MSE)  dB        SSIM: 11 × 11 Gaussian window, σ = 1.5</a:t>
            </a:r>
            <a:endParaRPr lang="en-US" sz="17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22960" y="2011680"/>
          <a:ext cx="10515600" cy="914400"/>
        </p:xfrm>
        <a:graphic>
          <a:graphicData uri="http://schemas.openxmlformats.org/drawingml/2006/table">
            <a:tbl>
              <a:tblPr/>
              <a:tblGrid>
                <a:gridCol w="2377440"/>
                <a:gridCol w="1097280"/>
                <a:gridCol w="1371600"/>
                <a:gridCol w="1371600"/>
                <a:gridCol w="1371600"/>
                <a:gridCol w="1554480"/>
                <a:gridCol w="1371600"/>
              </a:tblGrid>
              <a:tr h="374904">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Image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Type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BPP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MSE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PSNR (dB)</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SSIM</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70.13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29.67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0.8190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79.88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29.11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0.8394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0.8855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0.7624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73.33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29.49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0.8266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83.60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28.91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95.00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28.35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0.6964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0.8539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92.97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28.45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0.7520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86.25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28.80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0.7654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r>
            </a:tbl>
          </a:graphicData>
        </a:graphic>
      </p:graphicFrame>
      <p:sp>
        <p:nvSpPr>
          <p:cNvPr id="9" name="Text 6"/>
          <p:cNvSpPr/>
          <p:nvPr/>
        </p:nvSpPr>
        <p:spPr>
          <a:xfrm>
            <a:off x="822960" y="6217920"/>
            <a:ext cx="10515600" cy="50292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Color images: MSE and PSNR are computed over the RGB channels; SSIM is the mean of the channel-wise values. CR = original size / (codebook + Huffman table + Huffman-coded data).</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Entropy and Delta–Huffman Coding Efficiency</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1900" b="1" dirty="0">
                <a:solidFill>
                  <a:srgbClr val="2E2055"/>
                </a:solidFill>
                <a:latin typeface="Cambria" pitchFamily="34" charset="0"/>
                <a:ea typeface="Cambria" pitchFamily="34" charset="-122"/>
                <a:cs typeface="Cambria" pitchFamily="34" charset="-120"/>
              </a:rPr>
              <a:t>H = −Σ p(s) · log₂ p(s)   (bits / symbol)</a:t>
            </a:r>
            <a:endParaRPr lang="en-US" sz="19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entropy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Delta coding lowers the entropy of the index sequence from 5.30 to 4.19 bits on average (−1.10 bits).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reduction depends on the spatial correlation of the image: 0.73 bits (Lena) to 1.48 bits (Cameraman).</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Huffman average code length (4.23 bits) is within 0.04 bits of the entropy after delta coding.</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Compared with 6-bit fixed-length indices, the index data is 21.5% to 38.3% smaller (mean 29.5%).</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images, K = 64.</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Speedup of LBG Training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S = T_seq / T_P</a:t>
            </a:r>
            <a:endParaRPr lang="en-US" sz="20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speedup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LBG speedup reaches 9.19× on 14 processes.</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Near-linear for P ≤ 6, where only P-cores are used.</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The slope drops once the slower E-cores join.</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Mean of the 8 images; the bars show the minimum and maximum.</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This is the LBG stage. The total speedup is shown separately for gray and color two slides later.</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Efficiency of LBG Training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E = S / P</a:t>
            </a:r>
            <a:endParaRPr lang="en-US" sz="20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efficiency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Efficiency is 97% at P = 2 and stays at 90% or more up to P = 6 (P-cores only).</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It drops to 79% at P = 8, where the E-cores start to be used, and reaches 66% at P = 14.</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The E-cores are slower than the P-cores, so each added process contributes less than a full core.</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Karp–Flatt stays near 0.04 for P ≥ 8: the serial fraction of LBG remains small.</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Mean of the 8 images.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Total Speedup: Grayscale and Color</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S = T_seq / T_P</a:t>
            </a:r>
            <a:endParaRPr lang="en-US" sz="20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total_speedup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speedup at P = 14: 5.00× (grayscale) and 6.84× (color); efficiency 35.7% and 48.9%.</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It is lower than the LBG speedup (9.19×) because the work outside LBG (mainly image reading and file output) runs on Rank 0.</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Color images gain more: LBG is 81% of their sequential time, against 77% for grayscale.</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time is the whole program execution; the shaded bands show the minimum to maximum over the images of each type.</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vs Adaptive Workload Distribution</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eqad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With Equal distribution, the faster P-cores finish early and wait for the E-cores: 7.61×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distribution reaches 9.19×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LBG time is reduced by 28.3%, 23.6%, 19.8% and 17.2% at P = 8, 10, 12 and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Total time is reduced by 17.9% to 8.8%.</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No adaptive-distribution benefit was observed when only P-cores were used (P ≤ 6).</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The reconstructed images are identical in both cases.</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values here come from the Equal-vs-Adaptive runs, so they can differ by up to 0.02× from the main speedup runs.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Throughput</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1900" b="1" dirty="0">
                <a:solidFill>
                  <a:srgbClr val="2E2055"/>
                </a:solidFill>
                <a:latin typeface="Cambria" pitchFamily="34" charset="0"/>
                <a:ea typeface="Cambria" pitchFamily="34" charset="-122"/>
                <a:cs typeface="Cambria" pitchFamily="34" charset="-120"/>
              </a:rPr>
              <a:t>Throughput = I_size / T_total   (MiB/s)</a:t>
            </a:r>
            <a:endParaRPr lang="en-US" sz="19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throughput_ch4.png">    </p:cNvPr>
          <p:cNvPicPr>
            <a:picLocks noChangeAspect="1"/>
          </p:cNvPicPr>
          <p:nvPr/>
        </p:nvPicPr>
        <p:blipFill>
          <a:blip r:embed="rId1"/>
          <a:stretch>
            <a:fillRect/>
          </a:stretch>
        </p:blipFill>
        <p:spPr>
          <a:xfrm>
            <a:off x="714695" y="1645920"/>
            <a:ext cx="6983091" cy="4617720"/>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Throughput = original image size / total execution time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1.30 → 3.35 MiB/s from P = 2 to P = 14.</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1.42 → 4.54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images hold three times more data, but their total time grows by only about 2.2× at P = 14, so their throughput is higher.</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Shaded bands: minimum to maximum over the images.</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Karp–Flatt Metric</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143000"/>
            <a:ext cx="777240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143000"/>
            <a:ext cx="777240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e = (1/S − 1/P) / (1 − 1/P)</a:t>
            </a:r>
            <a:endParaRPr lang="en-US" sz="2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1737360"/>
          <a:ext cx="7772400" cy="914400"/>
        </p:xfrm>
        <a:graphic>
          <a:graphicData uri="http://schemas.openxmlformats.org/drawingml/2006/table">
            <a:tbl>
              <a:tblPr/>
              <a:tblGrid>
                <a:gridCol w="640080"/>
                <a:gridCol w="1005840"/>
                <a:gridCol w="1188720"/>
                <a:gridCol w="1188720"/>
                <a:gridCol w="1280160"/>
                <a:gridCol w="1188720"/>
                <a:gridCol w="1280160"/>
              </a:tblGrid>
              <a:tr h="502920">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LBG: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LBG: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gray: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gray: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color: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color: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96.8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0.132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0.072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0.018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94.8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0.112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0.053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86.3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0.022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90.2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0.117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0.058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0.038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50.1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43.9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57.2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39.3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65.7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0.138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35.7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48.9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bl>
          </a:graphicData>
        </a:graphic>
      </p:graphicFrame>
      <p:sp>
        <p:nvSpPr>
          <p:cNvPr id="9" name="Text 6"/>
          <p:cNvSpPr/>
          <p:nvPr/>
        </p:nvSpPr>
        <p:spPr>
          <a:xfrm>
            <a:off x="457200" y="5852160"/>
            <a:ext cx="7772400" cy="54864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LBG: mean of the 8 images. Total: mean of the 4 grayscale and of the 4 color images, separately. KF = Karp–Flatt, Eff. = efficiency.</a:t>
            </a:r>
            <a:endParaRPr lang="en-US" sz="1200" dirty="0"/>
          </a:p>
        </p:txBody>
      </p:sp>
      <p:sp>
        <p:nvSpPr>
          <p:cNvPr id="10" name="Shape 7"/>
          <p:cNvSpPr/>
          <p:nvPr/>
        </p:nvSpPr>
        <p:spPr>
          <a:xfrm>
            <a:off x="8458200" y="1280160"/>
            <a:ext cx="3291840" cy="4846320"/>
          </a:xfrm>
          <a:prstGeom prst="roundRect">
            <a:avLst>
              <a:gd name="adj" fmla="val 2222"/>
            </a:avLst>
          </a:prstGeom>
          <a:solidFill>
            <a:srgbClr val="F5F1FB"/>
          </a:solidFill>
          <a:ln w="12700">
            <a:solidFill>
              <a:srgbClr val="F5F1FB"/>
            </a:solidFill>
            <a:prstDash val="solid"/>
          </a:ln>
        </p:spPr>
      </p:sp>
      <p:sp>
        <p:nvSpPr>
          <p:cNvPr id="11" name="Text 8"/>
          <p:cNvSpPr/>
          <p:nvPr/>
        </p:nvSpPr>
        <p:spPr>
          <a:xfrm>
            <a:off x="8549640" y="1371600"/>
            <a:ext cx="3108960" cy="4663440"/>
          </a:xfrm>
          <a:prstGeom prst="rect">
            <a:avLst/>
          </a:prstGeom>
          <a:noFill/>
          <a:ln/>
        </p:spPr>
        <p:txBody>
          <a:bodyPr wrap="square" lIns="1016" tIns="1016" rIns="1016" bIns="1016" rtlCol="0" anchor="t"/>
          <a:lstStyle/>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Karp–Flatt estimates the serial fraction of the program from the measured speedup.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LBG: about 0.04 for P ≥ 8; the serial fraction stays small and does not grow with 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Total: about 0.14 (gray) and 0.08 (color); the work on Rank 0 (mainly image reading and file output) limits the speedup.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Color is lower because LBG is a larger share of its time (81% against 77%).</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Conclusion</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Conclusion</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 hybrid image compression framework was implemented: LBG vector quantization, delta coding and Huffman coding.</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LBG training was parallelized with MPI: 9.19× speedup on 14 processes (efficiency ≈ 66%); total speedup 5.00× (gray) and 6.84×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speed-aware (Adaptive) distribution reduced LBG time by 17.2–28.3% compared with Equal distribution (P = 8 to 14).</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parallel results were identical to the sequential ones: same reconstructed images and quality metrics.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Quality: mean PSNR 29.49 dB and SSIM 0.8266 (gray); 28.80 dB and 0.7654 (color), at a compression ratio of ___ (gray) and ___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total speedup is limited by the work that runs on Rank 0, mainly image reading and file output.</a:t>
            </a:r>
            <a:endParaRPr lang="en-US" sz="1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Future Work</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Future Work</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Improve the rate–distortion performance: color transform (YCbCr instead of RGB), prediction or context modeling of the VQ indices, and variable block sizes.</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Accelerate the LBG assignment step, which dominates the run time, with GPUs (CUDA or OpenCL) combined with MPI.</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Scale to multi-node clusters, larger images and image sequences that share one codebook.</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Rebalance the workload during the run, using the measured compute time of each rank and a load-imbalance measure.</a:t>
            </a:r>
            <a:endParaRPr lang="en-US" sz="2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References</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References</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[6] Thomas, S., Krishna, A., Govind, S., Sahu, A.K. (2025). A novel image compression method using wavelet coefficients and Huffman coding. J. Eng. Res., 13(1): 361-370.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[16] Ranjan, R., Kumar, P. (2023). An improved image compression algorithm using 2D DWT and PCA with canonical Huffman encoding. Entropy, 25(10): 1382.</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[17] Bilal, M., Ullah, Z., Mujahid, O., Fouzder, T. (2024). Fast Linde–Buzo–Gray (FLBG) algorithm for image compression through rescaling using bilinear interpolation. J. Imaging, 10(5): 124.</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Linde, Y., Buzo, A., Gray, R.M. (1980). An algorithm for vector quantizer design. IEEE Trans. Commun., 28(1): 84-95.</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Tanović, A. et al. (2024). ZINC 2024.  Papakyriakou, D. et al. (2025). Int. J. Comput. Appl.  Bystrov, O. et al. (2023). Proc. 7th Int. Conf. on Parallel, Distributed, GPU and Cloud Computing for Engineering.  Paul, R.K. et al. (2024).  Zangana, H.M. (2025).</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8EE"/>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8EE"/>
          </a:solidFill>
          <a:ln w="12700">
            <a:solidFill>
              <a:srgbClr val="FFF8EE"/>
            </a:solidFill>
            <a:prstDash val="solid"/>
          </a:ln>
        </p:spPr>
      </p:sp>
      <p:sp>
        <p:nvSpPr>
          <p:cNvPr id="3" name="Shape 1"/>
          <p:cNvSpPr/>
          <p:nvPr/>
        </p:nvSpPr>
        <p:spPr>
          <a:xfrm rot="2880000">
            <a:off x="4626864" y="429768"/>
            <a:ext cx="438912" cy="438912"/>
          </a:xfrm>
          <a:prstGeom prst="triangle">
            <a:avLst/>
          </a:prstGeom>
          <a:solidFill>
            <a:srgbClr val="FFC93C"/>
          </a:solidFill>
          <a:ln w="12700">
            <a:solidFill>
              <a:srgbClr val="FFC93C"/>
            </a:solidFill>
            <a:prstDash val="solid"/>
          </a:ln>
        </p:spPr>
      </p:sp>
      <p:sp>
        <p:nvSpPr>
          <p:cNvPr id="4" name="Shape 2"/>
          <p:cNvSpPr/>
          <p:nvPr/>
        </p:nvSpPr>
        <p:spPr>
          <a:xfrm rot="1800000">
            <a:off x="978408" y="704088"/>
            <a:ext cx="292608" cy="292608"/>
          </a:xfrm>
          <a:prstGeom prst="ellipse">
            <a:avLst/>
          </a:prstGeom>
          <a:solidFill>
            <a:srgbClr val="2A9D8F"/>
          </a:solidFill>
          <a:ln w="12700">
            <a:solidFill>
              <a:srgbClr val="2A9D8F"/>
            </a:solidFill>
            <a:prstDash val="solid"/>
          </a:ln>
        </p:spPr>
      </p:sp>
      <p:sp>
        <p:nvSpPr>
          <p:cNvPr id="5" name="Shape 3"/>
          <p:cNvSpPr/>
          <p:nvPr/>
        </p:nvSpPr>
        <p:spPr>
          <a:xfrm rot="17100000">
            <a:off x="4690872" y="6190488"/>
            <a:ext cx="329184" cy="329184"/>
          </a:xfrm>
          <a:prstGeom prst="ellipse">
            <a:avLst/>
          </a:prstGeom>
          <a:solidFill>
            <a:srgbClr val="E0457B"/>
          </a:solidFill>
          <a:ln w="12700">
            <a:solidFill>
              <a:srgbClr val="E0457B"/>
            </a:solidFill>
            <a:prstDash val="solid"/>
          </a:ln>
        </p:spPr>
      </p:sp>
      <p:sp>
        <p:nvSpPr>
          <p:cNvPr id="6" name="Shape 4"/>
          <p:cNvSpPr/>
          <p:nvPr/>
        </p:nvSpPr>
        <p:spPr>
          <a:xfrm rot="17160000">
            <a:off x="1837944" y="877824"/>
            <a:ext cx="246888" cy="246888"/>
          </a:xfrm>
          <a:prstGeom prst="rect">
            <a:avLst/>
          </a:prstGeom>
          <a:solidFill>
            <a:srgbClr val="F2993A"/>
          </a:solidFill>
          <a:ln w="12700">
            <a:solidFill>
              <a:srgbClr val="F2993A"/>
            </a:solidFill>
            <a:prstDash val="solid"/>
          </a:ln>
        </p:spPr>
      </p:sp>
      <p:sp>
        <p:nvSpPr>
          <p:cNvPr id="7" name="Shape 5"/>
          <p:cNvSpPr/>
          <p:nvPr/>
        </p:nvSpPr>
        <p:spPr>
          <a:xfrm rot="16800000">
            <a:off x="6757416" y="1325880"/>
            <a:ext cx="192024" cy="192024"/>
          </a:xfrm>
          <a:prstGeom prst="rect">
            <a:avLst/>
          </a:prstGeom>
          <a:solidFill>
            <a:srgbClr val="E0457B"/>
          </a:solidFill>
          <a:ln w="12700">
            <a:solidFill>
              <a:srgbClr val="E0457B"/>
            </a:solidFill>
            <a:prstDash val="solid"/>
          </a:ln>
        </p:spPr>
      </p:sp>
      <p:sp>
        <p:nvSpPr>
          <p:cNvPr id="8" name="Shape 6"/>
          <p:cNvSpPr/>
          <p:nvPr/>
        </p:nvSpPr>
        <p:spPr>
          <a:xfrm rot="2460000">
            <a:off x="9281160" y="4526280"/>
            <a:ext cx="256032" cy="256032"/>
          </a:xfrm>
          <a:prstGeom prst="triangle">
            <a:avLst/>
          </a:prstGeom>
          <a:solidFill>
            <a:srgbClr val="6B4FA3"/>
          </a:solidFill>
          <a:ln w="12700">
            <a:solidFill>
              <a:srgbClr val="6B4FA3"/>
            </a:solidFill>
            <a:prstDash val="solid"/>
          </a:ln>
        </p:spPr>
      </p:sp>
      <p:sp>
        <p:nvSpPr>
          <p:cNvPr id="9" name="Shape 7"/>
          <p:cNvSpPr/>
          <p:nvPr/>
        </p:nvSpPr>
        <p:spPr>
          <a:xfrm rot="18660000">
            <a:off x="10149840" y="4672584"/>
            <a:ext cx="320040" cy="320040"/>
          </a:xfrm>
          <a:prstGeom prst="triangle">
            <a:avLst/>
          </a:prstGeom>
          <a:solidFill>
            <a:srgbClr val="F2993A"/>
          </a:solidFill>
          <a:ln w="12700">
            <a:solidFill>
              <a:srgbClr val="F2993A"/>
            </a:solidFill>
            <a:prstDash val="solid"/>
          </a:ln>
        </p:spPr>
      </p:sp>
      <p:sp>
        <p:nvSpPr>
          <p:cNvPr id="10" name="Shape 8"/>
          <p:cNvSpPr/>
          <p:nvPr/>
        </p:nvSpPr>
        <p:spPr>
          <a:xfrm rot="12180000">
            <a:off x="8951976" y="941832"/>
            <a:ext cx="283464" cy="283464"/>
          </a:xfrm>
          <a:prstGeom prst="star5">
            <a:avLst/>
          </a:prstGeom>
          <a:solidFill>
            <a:srgbClr val="6B4FA3"/>
          </a:solidFill>
          <a:ln w="12700">
            <a:solidFill>
              <a:srgbClr val="6B4FA3"/>
            </a:solidFill>
            <a:prstDash val="solid"/>
          </a:ln>
        </p:spPr>
      </p:sp>
      <p:sp>
        <p:nvSpPr>
          <p:cNvPr id="11" name="Shape 9"/>
          <p:cNvSpPr/>
          <p:nvPr/>
        </p:nvSpPr>
        <p:spPr>
          <a:xfrm rot="7080000">
            <a:off x="11365992" y="4343400"/>
            <a:ext cx="374904" cy="374904"/>
          </a:xfrm>
          <a:prstGeom prst="triangle">
            <a:avLst/>
          </a:prstGeom>
          <a:solidFill>
            <a:srgbClr val="2A9D8F"/>
          </a:solidFill>
          <a:ln w="12700">
            <a:solidFill>
              <a:srgbClr val="2A9D8F"/>
            </a:solidFill>
            <a:prstDash val="solid"/>
          </a:ln>
        </p:spPr>
      </p:sp>
      <p:sp>
        <p:nvSpPr>
          <p:cNvPr id="12" name="Shape 10"/>
          <p:cNvSpPr/>
          <p:nvPr/>
        </p:nvSpPr>
        <p:spPr>
          <a:xfrm rot="780000">
            <a:off x="6135624" y="1033272"/>
            <a:ext cx="438912" cy="438912"/>
          </a:xfrm>
          <a:prstGeom prst="rect">
            <a:avLst/>
          </a:prstGeom>
          <a:solidFill>
            <a:srgbClr val="FFC93C"/>
          </a:solidFill>
          <a:ln w="12700">
            <a:solidFill>
              <a:srgbClr val="FFC93C"/>
            </a:solidFill>
            <a:prstDash val="solid"/>
          </a:ln>
        </p:spPr>
      </p:sp>
      <p:sp>
        <p:nvSpPr>
          <p:cNvPr id="13" name="Shape 11"/>
          <p:cNvSpPr/>
          <p:nvPr/>
        </p:nvSpPr>
        <p:spPr>
          <a:xfrm rot="5580000">
            <a:off x="6144768" y="256032"/>
            <a:ext cx="320040" cy="320040"/>
          </a:xfrm>
          <a:prstGeom prst="rect">
            <a:avLst/>
          </a:prstGeom>
          <a:solidFill>
            <a:srgbClr val="2A9D8F"/>
          </a:solidFill>
          <a:ln w="12700">
            <a:solidFill>
              <a:srgbClr val="2A9D8F"/>
            </a:solidFill>
            <a:prstDash val="solid"/>
          </a:ln>
        </p:spPr>
      </p:sp>
      <p:sp>
        <p:nvSpPr>
          <p:cNvPr id="14" name="Shape 12"/>
          <p:cNvSpPr/>
          <p:nvPr/>
        </p:nvSpPr>
        <p:spPr>
          <a:xfrm rot="19740000">
            <a:off x="10332720" y="1088136"/>
            <a:ext cx="393192" cy="393192"/>
          </a:xfrm>
          <a:prstGeom prst="triangle">
            <a:avLst/>
          </a:prstGeom>
          <a:solidFill>
            <a:srgbClr val="4DA3FF"/>
          </a:solidFill>
          <a:ln w="12700">
            <a:solidFill>
              <a:srgbClr val="4DA3FF"/>
            </a:solidFill>
            <a:prstDash val="solid"/>
          </a:ln>
        </p:spPr>
      </p:sp>
      <p:sp>
        <p:nvSpPr>
          <p:cNvPr id="15" name="Shape 13"/>
          <p:cNvSpPr/>
          <p:nvPr/>
        </p:nvSpPr>
        <p:spPr>
          <a:xfrm rot="14040000">
            <a:off x="8449056" y="256032"/>
            <a:ext cx="256032" cy="256032"/>
          </a:xfrm>
          <a:prstGeom prst="triangle">
            <a:avLst/>
          </a:prstGeom>
          <a:solidFill>
            <a:srgbClr val="FFC93C"/>
          </a:solidFill>
          <a:ln w="12700">
            <a:solidFill>
              <a:srgbClr val="FFC93C"/>
            </a:solidFill>
            <a:prstDash val="solid"/>
          </a:ln>
        </p:spPr>
      </p:sp>
      <p:sp>
        <p:nvSpPr>
          <p:cNvPr id="16" name="Shape 14"/>
          <p:cNvSpPr/>
          <p:nvPr/>
        </p:nvSpPr>
        <p:spPr>
          <a:xfrm rot="3180000">
            <a:off x="914400" y="6263640"/>
            <a:ext cx="310896" cy="310896"/>
          </a:xfrm>
          <a:prstGeom prst="triangle">
            <a:avLst/>
          </a:prstGeom>
          <a:solidFill>
            <a:srgbClr val="6B4FA3"/>
          </a:solidFill>
          <a:ln w="12700">
            <a:solidFill>
              <a:srgbClr val="6B4FA3"/>
            </a:solidFill>
            <a:prstDash val="solid"/>
          </a:ln>
        </p:spPr>
      </p:sp>
      <p:sp>
        <p:nvSpPr>
          <p:cNvPr id="17" name="Shape 15"/>
          <p:cNvSpPr/>
          <p:nvPr/>
        </p:nvSpPr>
        <p:spPr>
          <a:xfrm rot="12780000">
            <a:off x="1581912" y="210312"/>
            <a:ext cx="237744" cy="237744"/>
          </a:xfrm>
          <a:prstGeom prst="ellipse">
            <a:avLst/>
          </a:prstGeom>
          <a:solidFill>
            <a:srgbClr val="FFC93C"/>
          </a:solidFill>
          <a:ln w="12700">
            <a:solidFill>
              <a:srgbClr val="FFC93C"/>
            </a:solidFill>
            <a:prstDash val="solid"/>
          </a:ln>
        </p:spPr>
      </p:sp>
      <p:sp>
        <p:nvSpPr>
          <p:cNvPr id="18" name="Shape 16"/>
          <p:cNvSpPr/>
          <p:nvPr/>
        </p:nvSpPr>
        <p:spPr>
          <a:xfrm rot="1260000">
            <a:off x="9592056" y="1051560"/>
            <a:ext cx="192024" cy="192024"/>
          </a:xfrm>
          <a:prstGeom prst="ellipse">
            <a:avLst/>
          </a:prstGeom>
          <a:solidFill>
            <a:srgbClr val="FFC93C"/>
          </a:solidFill>
          <a:ln w="12700">
            <a:solidFill>
              <a:srgbClr val="FFC93C"/>
            </a:solidFill>
            <a:prstDash val="solid"/>
          </a:ln>
        </p:spPr>
      </p:sp>
      <p:sp>
        <p:nvSpPr>
          <p:cNvPr id="19" name="Shape 17"/>
          <p:cNvSpPr/>
          <p:nvPr/>
        </p:nvSpPr>
        <p:spPr>
          <a:xfrm rot="15720000">
            <a:off x="7470648" y="411480"/>
            <a:ext cx="374904" cy="374904"/>
          </a:xfrm>
          <a:prstGeom prst="triangle">
            <a:avLst/>
          </a:prstGeom>
          <a:solidFill>
            <a:srgbClr val="4DA3FF"/>
          </a:solidFill>
          <a:ln w="12700">
            <a:solidFill>
              <a:srgbClr val="4DA3FF"/>
            </a:solidFill>
            <a:prstDash val="solid"/>
          </a:ln>
        </p:spPr>
      </p:sp>
      <p:sp>
        <p:nvSpPr>
          <p:cNvPr id="20" name="Shape 18"/>
          <p:cNvSpPr/>
          <p:nvPr/>
        </p:nvSpPr>
        <p:spPr>
          <a:xfrm rot="19200000">
            <a:off x="5340096" y="457200"/>
            <a:ext cx="274320" cy="274320"/>
          </a:xfrm>
          <a:prstGeom prst="ellipse">
            <a:avLst/>
          </a:prstGeom>
          <a:solidFill>
            <a:srgbClr val="E0457B"/>
          </a:solidFill>
          <a:ln w="12700">
            <a:solidFill>
              <a:srgbClr val="E0457B"/>
            </a:solidFill>
            <a:prstDash val="solid"/>
          </a:ln>
        </p:spPr>
      </p:sp>
      <p:sp>
        <p:nvSpPr>
          <p:cNvPr id="21" name="Shape 19"/>
          <p:cNvSpPr/>
          <p:nvPr/>
        </p:nvSpPr>
        <p:spPr>
          <a:xfrm rot="15420000">
            <a:off x="219456" y="5111496"/>
            <a:ext cx="310896" cy="310896"/>
          </a:xfrm>
          <a:prstGeom prst="rect">
            <a:avLst/>
          </a:prstGeom>
          <a:solidFill>
            <a:srgbClr val="4DA3FF"/>
          </a:solidFill>
          <a:ln w="12700">
            <a:solidFill>
              <a:srgbClr val="4DA3FF"/>
            </a:solidFill>
            <a:prstDash val="solid"/>
          </a:ln>
        </p:spPr>
      </p:sp>
      <p:sp>
        <p:nvSpPr>
          <p:cNvPr id="22" name="Shape 20"/>
          <p:cNvSpPr/>
          <p:nvPr/>
        </p:nvSpPr>
        <p:spPr>
          <a:xfrm rot="12180000">
            <a:off x="9729216" y="146304"/>
            <a:ext cx="347472" cy="347472"/>
          </a:xfrm>
          <a:prstGeom prst="star5">
            <a:avLst/>
          </a:prstGeom>
          <a:solidFill>
            <a:srgbClr val="F2993A"/>
          </a:solidFill>
          <a:ln w="12700">
            <a:solidFill>
              <a:srgbClr val="F2993A"/>
            </a:solidFill>
            <a:prstDash val="solid"/>
          </a:ln>
        </p:spPr>
      </p:sp>
      <p:sp>
        <p:nvSpPr>
          <p:cNvPr id="23" name="Shape 21"/>
          <p:cNvSpPr/>
          <p:nvPr/>
        </p:nvSpPr>
        <p:spPr>
          <a:xfrm rot="8880000">
            <a:off x="2386584" y="210312"/>
            <a:ext cx="438912" cy="438912"/>
          </a:xfrm>
          <a:prstGeom prst="ellipse">
            <a:avLst/>
          </a:prstGeom>
          <a:solidFill>
            <a:srgbClr val="4DA3FF"/>
          </a:solidFill>
          <a:ln w="12700">
            <a:solidFill>
              <a:srgbClr val="4DA3FF"/>
            </a:solidFill>
            <a:prstDash val="solid"/>
          </a:ln>
        </p:spPr>
      </p:sp>
      <p:sp>
        <p:nvSpPr>
          <p:cNvPr id="24" name="Shape 22"/>
          <p:cNvSpPr/>
          <p:nvPr/>
        </p:nvSpPr>
        <p:spPr>
          <a:xfrm rot="4620000">
            <a:off x="2971800" y="795528"/>
            <a:ext cx="493776" cy="493776"/>
          </a:xfrm>
          <a:prstGeom prst="star5">
            <a:avLst/>
          </a:prstGeom>
          <a:solidFill>
            <a:srgbClr val="6B4FA3"/>
          </a:solidFill>
          <a:ln w="12700">
            <a:solidFill>
              <a:srgbClr val="6B4FA3"/>
            </a:solidFill>
            <a:prstDash val="solid"/>
          </a:ln>
        </p:spPr>
      </p:sp>
      <p:sp>
        <p:nvSpPr>
          <p:cNvPr id="25" name="Shape 23"/>
          <p:cNvSpPr/>
          <p:nvPr/>
        </p:nvSpPr>
        <p:spPr>
          <a:xfrm rot="7140000">
            <a:off x="9043416" y="146304"/>
            <a:ext cx="292608" cy="292608"/>
          </a:xfrm>
          <a:prstGeom prst="star5">
            <a:avLst/>
          </a:prstGeom>
          <a:solidFill>
            <a:srgbClr val="6B4FA3"/>
          </a:solidFill>
          <a:ln w="12700">
            <a:solidFill>
              <a:srgbClr val="6B4FA3"/>
            </a:solidFill>
            <a:prstDash val="solid"/>
          </a:ln>
        </p:spPr>
      </p:sp>
      <p:sp>
        <p:nvSpPr>
          <p:cNvPr id="26" name="Shape 24"/>
          <p:cNvSpPr/>
          <p:nvPr/>
        </p:nvSpPr>
        <p:spPr>
          <a:xfrm rot="16200000">
            <a:off x="3630168" y="932688"/>
            <a:ext cx="356616" cy="356616"/>
          </a:xfrm>
          <a:prstGeom prst="ellipse">
            <a:avLst/>
          </a:prstGeom>
          <a:solidFill>
            <a:srgbClr val="F2993A"/>
          </a:solidFill>
          <a:ln w="12700">
            <a:solidFill>
              <a:srgbClr val="F2993A"/>
            </a:solidFill>
            <a:prstDash val="solid"/>
          </a:ln>
        </p:spPr>
      </p:sp>
      <p:sp>
        <p:nvSpPr>
          <p:cNvPr id="27" name="Shape 25"/>
          <p:cNvSpPr/>
          <p:nvPr/>
        </p:nvSpPr>
        <p:spPr>
          <a:xfrm rot="7560000">
            <a:off x="10442448" y="329184"/>
            <a:ext cx="274320" cy="274320"/>
          </a:xfrm>
          <a:prstGeom prst="triangle">
            <a:avLst/>
          </a:prstGeom>
          <a:solidFill>
            <a:srgbClr val="2A9D8F"/>
          </a:solidFill>
          <a:ln w="12700">
            <a:solidFill>
              <a:srgbClr val="2A9D8F"/>
            </a:solidFill>
            <a:prstDash val="solid"/>
          </a:ln>
        </p:spPr>
      </p:sp>
      <p:sp>
        <p:nvSpPr>
          <p:cNvPr id="28" name="Shape 26"/>
          <p:cNvSpPr/>
          <p:nvPr/>
        </p:nvSpPr>
        <p:spPr>
          <a:xfrm rot="17220000">
            <a:off x="3200400" y="210312"/>
            <a:ext cx="283464" cy="283464"/>
          </a:xfrm>
          <a:prstGeom prst="triangle">
            <a:avLst/>
          </a:prstGeom>
          <a:solidFill>
            <a:srgbClr val="4DA3FF"/>
          </a:solidFill>
          <a:ln w="12700">
            <a:solidFill>
              <a:srgbClr val="4DA3FF"/>
            </a:solidFill>
            <a:prstDash val="solid"/>
          </a:ln>
        </p:spPr>
      </p:sp>
      <p:sp>
        <p:nvSpPr>
          <p:cNvPr id="29" name="Shape 27"/>
          <p:cNvSpPr/>
          <p:nvPr/>
        </p:nvSpPr>
        <p:spPr>
          <a:xfrm rot="7980000">
            <a:off x="7662672" y="1234440"/>
            <a:ext cx="292608" cy="292608"/>
          </a:xfrm>
          <a:prstGeom prst="star5">
            <a:avLst/>
          </a:prstGeom>
          <a:solidFill>
            <a:srgbClr val="E0457B"/>
          </a:solidFill>
          <a:ln w="12700">
            <a:solidFill>
              <a:srgbClr val="E0457B"/>
            </a:solidFill>
            <a:prstDash val="solid"/>
          </a:ln>
        </p:spPr>
      </p:sp>
      <p:sp>
        <p:nvSpPr>
          <p:cNvPr id="30" name="Shape 28"/>
          <p:cNvSpPr/>
          <p:nvPr/>
        </p:nvSpPr>
        <p:spPr>
          <a:xfrm rot="3240000">
            <a:off x="8714232" y="4489704"/>
            <a:ext cx="420624" cy="420624"/>
          </a:xfrm>
          <a:prstGeom prst="ellipse">
            <a:avLst/>
          </a:prstGeom>
          <a:solidFill>
            <a:srgbClr val="2A9D8F"/>
          </a:solidFill>
          <a:ln w="12700">
            <a:solidFill>
              <a:srgbClr val="2A9D8F"/>
            </a:solidFill>
            <a:prstDash val="solid"/>
          </a:ln>
        </p:spPr>
      </p:sp>
      <p:sp>
        <p:nvSpPr>
          <p:cNvPr id="31" name="Shape 29"/>
          <p:cNvSpPr/>
          <p:nvPr/>
        </p:nvSpPr>
        <p:spPr>
          <a:xfrm rot="12240000">
            <a:off x="8211312" y="5769864"/>
            <a:ext cx="237744" cy="237744"/>
          </a:xfrm>
          <a:prstGeom prst="triangle">
            <a:avLst/>
          </a:prstGeom>
          <a:solidFill>
            <a:srgbClr val="6B4FA3"/>
          </a:solidFill>
          <a:ln w="12700">
            <a:solidFill>
              <a:srgbClr val="6B4FA3"/>
            </a:solidFill>
            <a:prstDash val="solid"/>
          </a:ln>
        </p:spPr>
      </p:sp>
      <p:sp>
        <p:nvSpPr>
          <p:cNvPr id="32" name="Shape 30"/>
          <p:cNvSpPr/>
          <p:nvPr/>
        </p:nvSpPr>
        <p:spPr>
          <a:xfrm rot="2640000">
            <a:off x="8375904" y="941832"/>
            <a:ext cx="219456" cy="219456"/>
          </a:xfrm>
          <a:prstGeom prst="triangle">
            <a:avLst/>
          </a:prstGeom>
          <a:solidFill>
            <a:srgbClr val="4DA3FF"/>
          </a:solidFill>
          <a:ln w="12700">
            <a:solidFill>
              <a:srgbClr val="4DA3FF"/>
            </a:solidFill>
            <a:prstDash val="solid"/>
          </a:ln>
        </p:spPr>
      </p:sp>
      <p:sp>
        <p:nvSpPr>
          <p:cNvPr id="33" name="Shape 31"/>
          <p:cNvSpPr/>
          <p:nvPr/>
        </p:nvSpPr>
        <p:spPr>
          <a:xfrm rot="4740000">
            <a:off x="6922008" y="6272784"/>
            <a:ext cx="365760" cy="365760"/>
          </a:xfrm>
          <a:prstGeom prst="ellipse">
            <a:avLst/>
          </a:prstGeom>
          <a:solidFill>
            <a:srgbClr val="4DA3FF"/>
          </a:solidFill>
          <a:ln w="12700">
            <a:solidFill>
              <a:srgbClr val="4DA3FF"/>
            </a:solidFill>
            <a:prstDash val="solid"/>
          </a:ln>
        </p:spPr>
      </p:sp>
      <p:sp>
        <p:nvSpPr>
          <p:cNvPr id="34" name="Shape 32"/>
          <p:cNvSpPr/>
          <p:nvPr/>
        </p:nvSpPr>
        <p:spPr>
          <a:xfrm rot="6660000">
            <a:off x="7909560" y="6419088"/>
            <a:ext cx="164592" cy="164592"/>
          </a:xfrm>
          <a:prstGeom prst="ellipse">
            <a:avLst/>
          </a:prstGeom>
          <a:solidFill>
            <a:srgbClr val="E0457B"/>
          </a:solidFill>
          <a:ln w="12700">
            <a:solidFill>
              <a:srgbClr val="E0457B"/>
            </a:solidFill>
            <a:prstDash val="solid"/>
          </a:ln>
        </p:spPr>
      </p:sp>
      <p:sp>
        <p:nvSpPr>
          <p:cNvPr id="35" name="Shape 33"/>
          <p:cNvSpPr/>
          <p:nvPr/>
        </p:nvSpPr>
        <p:spPr>
          <a:xfrm rot="14100000">
            <a:off x="6793992" y="192024"/>
            <a:ext cx="438912" cy="438912"/>
          </a:xfrm>
          <a:prstGeom prst="rect">
            <a:avLst/>
          </a:prstGeom>
          <a:solidFill>
            <a:srgbClr val="2A9D8F"/>
          </a:solidFill>
          <a:ln w="12700">
            <a:solidFill>
              <a:srgbClr val="2A9D8F"/>
            </a:solidFill>
            <a:prstDash val="solid"/>
          </a:ln>
        </p:spPr>
      </p:sp>
      <p:sp>
        <p:nvSpPr>
          <p:cNvPr id="36" name="Shape 34"/>
          <p:cNvSpPr/>
          <p:nvPr/>
        </p:nvSpPr>
        <p:spPr>
          <a:xfrm rot="2520000">
            <a:off x="4005072" y="6227064"/>
            <a:ext cx="411480" cy="411480"/>
          </a:xfrm>
          <a:prstGeom prst="triangle">
            <a:avLst/>
          </a:prstGeom>
          <a:solidFill>
            <a:srgbClr val="2A9D8F"/>
          </a:solidFill>
          <a:ln w="12700">
            <a:solidFill>
              <a:srgbClr val="2A9D8F"/>
            </a:solidFill>
            <a:prstDash val="solid"/>
          </a:ln>
        </p:spPr>
      </p:sp>
      <p:sp>
        <p:nvSpPr>
          <p:cNvPr id="37" name="Shape 35"/>
          <p:cNvSpPr/>
          <p:nvPr/>
        </p:nvSpPr>
        <p:spPr>
          <a:xfrm rot="480000">
            <a:off x="11237976" y="1024128"/>
            <a:ext cx="411480" cy="411480"/>
          </a:xfrm>
          <a:prstGeom prst="ellipse">
            <a:avLst/>
          </a:prstGeom>
          <a:solidFill>
            <a:srgbClr val="4DA3FF"/>
          </a:solidFill>
          <a:ln w="12700">
            <a:solidFill>
              <a:srgbClr val="4DA3FF"/>
            </a:solidFill>
            <a:prstDash val="solid"/>
          </a:ln>
        </p:spPr>
      </p:sp>
      <p:sp>
        <p:nvSpPr>
          <p:cNvPr id="38" name="Shape 36"/>
          <p:cNvSpPr/>
          <p:nvPr/>
        </p:nvSpPr>
        <p:spPr>
          <a:xfrm rot="2100000">
            <a:off x="310896" y="804672"/>
            <a:ext cx="429768" cy="429768"/>
          </a:xfrm>
          <a:prstGeom prst="star5">
            <a:avLst/>
          </a:prstGeom>
          <a:solidFill>
            <a:srgbClr val="6B4FA3"/>
          </a:solidFill>
          <a:ln w="12700">
            <a:solidFill>
              <a:srgbClr val="6B4FA3"/>
            </a:solidFill>
            <a:prstDash val="solid"/>
          </a:ln>
        </p:spPr>
      </p:sp>
      <p:sp>
        <p:nvSpPr>
          <p:cNvPr id="39" name="Shape 37"/>
          <p:cNvSpPr/>
          <p:nvPr/>
        </p:nvSpPr>
        <p:spPr>
          <a:xfrm rot="16980000">
            <a:off x="301752" y="155448"/>
            <a:ext cx="365760" cy="365760"/>
          </a:xfrm>
          <a:prstGeom prst="ellipse">
            <a:avLst/>
          </a:prstGeom>
          <a:solidFill>
            <a:srgbClr val="4DA3FF"/>
          </a:solidFill>
          <a:ln w="12700">
            <a:solidFill>
              <a:srgbClr val="4DA3FF"/>
            </a:solidFill>
            <a:prstDash val="solid"/>
          </a:ln>
        </p:spPr>
      </p:sp>
      <p:sp>
        <p:nvSpPr>
          <p:cNvPr id="40" name="Shape 38"/>
          <p:cNvSpPr/>
          <p:nvPr/>
        </p:nvSpPr>
        <p:spPr>
          <a:xfrm rot="2520000">
            <a:off x="5586984" y="6373368"/>
            <a:ext cx="173736" cy="173736"/>
          </a:xfrm>
          <a:prstGeom prst="ellipse">
            <a:avLst/>
          </a:prstGeom>
          <a:solidFill>
            <a:srgbClr val="2A9D8F"/>
          </a:solidFill>
          <a:ln w="12700">
            <a:solidFill>
              <a:srgbClr val="2A9D8F"/>
            </a:solidFill>
            <a:prstDash val="solid"/>
          </a:ln>
        </p:spPr>
      </p:sp>
      <p:sp>
        <p:nvSpPr>
          <p:cNvPr id="41" name="Shape 39"/>
          <p:cNvSpPr/>
          <p:nvPr/>
        </p:nvSpPr>
        <p:spPr>
          <a:xfrm rot="4500000">
            <a:off x="210312" y="1527048"/>
            <a:ext cx="320040" cy="320040"/>
          </a:xfrm>
          <a:prstGeom prst="rect">
            <a:avLst/>
          </a:prstGeom>
          <a:solidFill>
            <a:srgbClr val="FFC93C"/>
          </a:solidFill>
          <a:ln w="12700">
            <a:solidFill>
              <a:srgbClr val="FFC93C"/>
            </a:solidFill>
            <a:prstDash val="solid"/>
          </a:ln>
        </p:spPr>
      </p:sp>
      <p:sp>
        <p:nvSpPr>
          <p:cNvPr id="42" name="Shape 40"/>
          <p:cNvSpPr/>
          <p:nvPr/>
        </p:nvSpPr>
        <p:spPr>
          <a:xfrm rot="2220000">
            <a:off x="2642616" y="6208776"/>
            <a:ext cx="265176" cy="265176"/>
          </a:xfrm>
          <a:prstGeom prst="ellipse">
            <a:avLst/>
          </a:prstGeom>
          <a:solidFill>
            <a:srgbClr val="6B4FA3"/>
          </a:solidFill>
          <a:ln w="12700">
            <a:solidFill>
              <a:srgbClr val="6B4FA3"/>
            </a:solidFill>
            <a:prstDash val="solid"/>
          </a:ln>
        </p:spPr>
      </p:sp>
      <p:sp>
        <p:nvSpPr>
          <p:cNvPr id="43" name="Shape 41"/>
          <p:cNvSpPr/>
          <p:nvPr/>
        </p:nvSpPr>
        <p:spPr>
          <a:xfrm rot="1320000">
            <a:off x="4800600" y="1115568"/>
            <a:ext cx="393192" cy="393192"/>
          </a:xfrm>
          <a:prstGeom prst="star5">
            <a:avLst/>
          </a:prstGeom>
          <a:solidFill>
            <a:srgbClr val="F2993A"/>
          </a:solidFill>
          <a:ln w="12700">
            <a:solidFill>
              <a:srgbClr val="F2993A"/>
            </a:solidFill>
            <a:prstDash val="solid"/>
          </a:ln>
        </p:spPr>
      </p:sp>
      <p:sp>
        <p:nvSpPr>
          <p:cNvPr id="44" name="Shape 42"/>
          <p:cNvSpPr/>
          <p:nvPr/>
        </p:nvSpPr>
        <p:spPr>
          <a:xfrm rot="16080000">
            <a:off x="1682496" y="6391656"/>
            <a:ext cx="283464" cy="283464"/>
          </a:xfrm>
          <a:prstGeom prst="star5">
            <a:avLst/>
          </a:prstGeom>
          <a:solidFill>
            <a:srgbClr val="6B4FA3"/>
          </a:solidFill>
          <a:ln w="12700">
            <a:solidFill>
              <a:srgbClr val="6B4FA3"/>
            </a:solidFill>
            <a:prstDash val="solid"/>
          </a:ln>
        </p:spPr>
      </p:sp>
      <p:sp>
        <p:nvSpPr>
          <p:cNvPr id="45" name="Shape 43"/>
          <p:cNvSpPr/>
          <p:nvPr/>
        </p:nvSpPr>
        <p:spPr>
          <a:xfrm rot="1680000">
            <a:off x="4005072" y="210312"/>
            <a:ext cx="320040" cy="320040"/>
          </a:xfrm>
          <a:prstGeom prst="star5">
            <a:avLst/>
          </a:prstGeom>
          <a:solidFill>
            <a:srgbClr val="E0457B"/>
          </a:solidFill>
          <a:ln w="12700">
            <a:solidFill>
              <a:srgbClr val="E0457B"/>
            </a:solidFill>
            <a:prstDash val="solid"/>
          </a:ln>
        </p:spPr>
      </p:sp>
      <p:sp>
        <p:nvSpPr>
          <p:cNvPr id="46" name="Shape 44"/>
          <p:cNvSpPr/>
          <p:nvPr/>
        </p:nvSpPr>
        <p:spPr>
          <a:xfrm rot="10620000">
            <a:off x="5541264" y="1143000"/>
            <a:ext cx="246888" cy="246888"/>
          </a:xfrm>
          <a:prstGeom prst="rect">
            <a:avLst/>
          </a:prstGeom>
          <a:solidFill>
            <a:srgbClr val="2A9D8F"/>
          </a:solidFill>
          <a:ln w="12700">
            <a:solidFill>
              <a:srgbClr val="2A9D8F"/>
            </a:solidFill>
            <a:prstDash val="solid"/>
          </a:ln>
        </p:spPr>
      </p:sp>
      <p:sp>
        <p:nvSpPr>
          <p:cNvPr id="47" name="Shape 45"/>
          <p:cNvSpPr/>
          <p:nvPr/>
        </p:nvSpPr>
        <p:spPr>
          <a:xfrm rot="9780000">
            <a:off x="11338560" y="301752"/>
            <a:ext cx="374904" cy="374904"/>
          </a:xfrm>
          <a:prstGeom prst="rect">
            <a:avLst/>
          </a:prstGeom>
          <a:solidFill>
            <a:srgbClr val="F2993A"/>
          </a:solidFill>
          <a:ln w="12700">
            <a:solidFill>
              <a:srgbClr val="F2993A"/>
            </a:solidFill>
            <a:prstDash val="solid"/>
          </a:ln>
        </p:spPr>
      </p:sp>
      <p:sp>
        <p:nvSpPr>
          <p:cNvPr id="48" name="Shape 46"/>
          <p:cNvSpPr/>
          <p:nvPr/>
        </p:nvSpPr>
        <p:spPr>
          <a:xfrm rot="19500000">
            <a:off x="3282696" y="6208776"/>
            <a:ext cx="292608" cy="292608"/>
          </a:xfrm>
          <a:prstGeom prst="star5">
            <a:avLst/>
          </a:prstGeom>
          <a:solidFill>
            <a:srgbClr val="F2993A"/>
          </a:solidFill>
          <a:ln w="12700">
            <a:solidFill>
              <a:srgbClr val="F2993A"/>
            </a:solidFill>
            <a:prstDash val="solid"/>
          </a:ln>
        </p:spPr>
      </p:sp>
      <p:sp>
        <p:nvSpPr>
          <p:cNvPr id="49" name="Shape 47"/>
          <p:cNvSpPr/>
          <p:nvPr/>
        </p:nvSpPr>
        <p:spPr>
          <a:xfrm rot="16260000">
            <a:off x="338328" y="3090672"/>
            <a:ext cx="173736" cy="173736"/>
          </a:xfrm>
          <a:prstGeom prst="rect">
            <a:avLst/>
          </a:prstGeom>
          <a:solidFill>
            <a:srgbClr val="E0457B"/>
          </a:solidFill>
          <a:ln w="12700">
            <a:solidFill>
              <a:srgbClr val="E0457B"/>
            </a:solidFill>
            <a:prstDash val="solid"/>
          </a:ln>
        </p:spPr>
      </p:sp>
      <p:sp>
        <p:nvSpPr>
          <p:cNvPr id="50" name="Shape 48"/>
          <p:cNvSpPr/>
          <p:nvPr/>
        </p:nvSpPr>
        <p:spPr>
          <a:xfrm rot="14640000">
            <a:off x="10725912" y="4745736"/>
            <a:ext cx="192024" cy="192024"/>
          </a:xfrm>
          <a:prstGeom prst="rect">
            <a:avLst/>
          </a:prstGeom>
          <a:solidFill>
            <a:srgbClr val="4DA3FF"/>
          </a:solidFill>
          <a:ln w="12700">
            <a:solidFill>
              <a:srgbClr val="4DA3FF"/>
            </a:solidFill>
            <a:prstDash val="solid"/>
          </a:ln>
        </p:spPr>
      </p:sp>
      <p:sp>
        <p:nvSpPr>
          <p:cNvPr id="51" name="Text 49"/>
          <p:cNvSpPr/>
          <p:nvPr/>
        </p:nvSpPr>
        <p:spPr>
          <a:xfrm>
            <a:off x="731520" y="1691640"/>
            <a:ext cx="10698480" cy="1737360"/>
          </a:xfrm>
          <a:prstGeom prst="rect">
            <a:avLst/>
          </a:prstGeom>
          <a:noFill/>
          <a:ln/>
        </p:spPr>
        <p:txBody>
          <a:bodyPr wrap="square" lIns="0" tIns="0" rIns="0" bIns="0" rtlCol="0" anchor="ctr"/>
          <a:lstStyle/>
          <a:p>
            <a:pPr algn="ctr" indent="0" marL="0">
              <a:buNone/>
            </a:pPr>
            <a:r>
              <a:rPr lang="en-US" sz="8800" b="1" dirty="0">
                <a:solidFill>
                  <a:srgbClr val="6B4FA3"/>
                </a:solidFill>
                <a:latin typeface="Cambria" pitchFamily="34" charset="0"/>
                <a:ea typeface="Cambria" pitchFamily="34" charset="-122"/>
                <a:cs typeface="Cambria" pitchFamily="34" charset="-120"/>
              </a:rPr>
              <a:t>Thank </a:t>
            </a:r>
            <a:pPr algn="ctr" indent="0" marL="0">
              <a:buNone/>
            </a:pPr>
            <a:r>
              <a:rPr lang="en-US" sz="8800" b="1" dirty="0">
                <a:solidFill>
                  <a:srgbClr val="E0457B"/>
                </a:solidFill>
                <a:latin typeface="Cambria" pitchFamily="34" charset="0"/>
                <a:ea typeface="Cambria" pitchFamily="34" charset="-122"/>
                <a:cs typeface="Cambria" pitchFamily="34" charset="-120"/>
              </a:rPr>
              <a:t>You!</a:t>
            </a:r>
            <a:endParaRPr lang="en-US" sz="8800" dirty="0"/>
          </a:p>
        </p:txBody>
      </p:sp>
      <p:sp>
        <p:nvSpPr>
          <p:cNvPr id="52" name="Text 50"/>
          <p:cNvSpPr/>
          <p:nvPr/>
        </p:nvSpPr>
        <p:spPr>
          <a:xfrm>
            <a:off x="731520" y="3429000"/>
            <a:ext cx="10698480" cy="731520"/>
          </a:xfrm>
          <a:prstGeom prst="rect">
            <a:avLst/>
          </a:prstGeom>
          <a:noFill/>
          <a:ln/>
        </p:spPr>
        <p:txBody>
          <a:bodyPr wrap="square" lIns="0" tIns="0" rIns="0" bIns="0" rtlCol="0" anchor="ctr"/>
          <a:lstStyle/>
          <a:p>
            <a:pPr algn="ctr" indent="0" marL="0">
              <a:buNone/>
            </a:pPr>
            <a:r>
              <a:rPr lang="en-US" sz="3600" b="1" dirty="0">
                <a:solidFill>
                  <a:srgbClr val="F2993A"/>
                </a:solidFill>
                <a:latin typeface="Calibri" pitchFamily="34" charset="0"/>
                <a:ea typeface="Calibri" pitchFamily="34" charset="-122"/>
                <a:cs typeface="Calibri" pitchFamily="34" charset="-120"/>
              </a:rPr>
              <a:t>for your attention</a:t>
            </a:r>
            <a:endParaRPr lang="en-US" sz="3600" dirty="0"/>
          </a:p>
        </p:txBody>
      </p:sp>
      <p:sp>
        <p:nvSpPr>
          <p:cNvPr id="53" name="Shape 51"/>
          <p:cNvSpPr/>
          <p:nvPr/>
        </p:nvSpPr>
        <p:spPr>
          <a:xfrm>
            <a:off x="1097280" y="4617720"/>
            <a:ext cx="1463040" cy="1463040"/>
          </a:xfrm>
          <a:prstGeom prst="smileyFace">
            <a:avLst/>
          </a:prstGeom>
          <a:solidFill>
            <a:srgbClr val="FFC93C"/>
          </a:solidFill>
          <a:ln w="38100">
            <a:solidFill>
              <a:srgbClr val="2E2055"/>
            </a:solidFill>
            <a:prstDash val="solid"/>
          </a:ln>
        </p:spPr>
      </p:sp>
      <p:sp>
        <p:nvSpPr>
          <p:cNvPr id="54" name="Shape 52"/>
          <p:cNvSpPr/>
          <p:nvPr/>
        </p:nvSpPr>
        <p:spPr>
          <a:xfrm>
            <a:off x="2926080" y="4800600"/>
            <a:ext cx="5120640" cy="1097280"/>
          </a:xfrm>
          <a:prstGeom prst="roundRect">
            <a:avLst>
              <a:gd name="adj" fmla="val 25000"/>
            </a:avLst>
          </a:prstGeom>
          <a:solidFill>
            <a:srgbClr val="E0457B"/>
          </a:solidFill>
          <a:ln w="12700">
            <a:solidFill>
              <a:srgbClr val="E0457B"/>
            </a:solidFill>
            <a:prstDash val="solid"/>
          </a:ln>
        </p:spPr>
      </p:sp>
      <p:sp>
        <p:nvSpPr>
          <p:cNvPr id="55" name="Shape 53"/>
          <p:cNvSpPr/>
          <p:nvPr/>
        </p:nvSpPr>
        <p:spPr>
          <a:xfrm rot="16200000">
            <a:off x="2606040" y="5166360"/>
            <a:ext cx="411480" cy="365760"/>
          </a:xfrm>
          <a:prstGeom prst="triangle">
            <a:avLst/>
          </a:prstGeom>
          <a:solidFill>
            <a:srgbClr val="E0457B"/>
          </a:solidFill>
          <a:ln w="12700">
            <a:solidFill>
              <a:srgbClr val="E0457B"/>
            </a:solidFill>
            <a:prstDash val="solid"/>
          </a:ln>
        </p:spPr>
      </p:sp>
      <p:sp>
        <p:nvSpPr>
          <p:cNvPr id="56" name="Text 54"/>
          <p:cNvSpPr/>
          <p:nvPr/>
        </p:nvSpPr>
        <p:spPr>
          <a:xfrm>
            <a:off x="2926080" y="4800600"/>
            <a:ext cx="5120640" cy="109728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Any questions?</a:t>
            </a:r>
            <a:endParaRPr lang="en-US" sz="3600" dirty="0"/>
          </a:p>
        </p:txBody>
      </p:sp>
      <p:sp>
        <p:nvSpPr>
          <p:cNvPr id="57" name="Text 55"/>
          <p:cNvSpPr/>
          <p:nvPr/>
        </p:nvSpPr>
        <p:spPr>
          <a:xfrm>
            <a:off x="8686800" y="5349240"/>
            <a:ext cx="3291840" cy="914400"/>
          </a:xfrm>
          <a:prstGeom prst="rect">
            <a:avLst/>
          </a:prstGeom>
          <a:noFill/>
          <a:ln/>
        </p:spPr>
        <p:txBody>
          <a:bodyPr wrap="square" lIns="0" tIns="0" rIns="0" bIns="0" rtlCol="0" anchor="ctr"/>
          <a:lstStyle/>
          <a:p>
            <a:pPr algn="r" indent="0" marL="0">
              <a:spcAft>
                <a:spcPts val="400"/>
              </a:spcAft>
              <a:buNone/>
            </a:pPr>
            <a:r>
              <a:rPr lang="en-US" sz="1800" b="1" dirty="0">
                <a:solidFill>
                  <a:srgbClr val="2E2055"/>
                </a:solidFill>
                <a:latin typeface="Calibri" pitchFamily="34" charset="0"/>
                <a:ea typeface="Calibri" pitchFamily="34" charset="-122"/>
                <a:cs typeface="Calibri" pitchFamily="34" charset="-120"/>
              </a:rPr>
              <a:t>Ibtihal Hussien</a:t>
            </a:r>
            <a:endParaRPr lang="en-US" sz="1800" dirty="0"/>
          </a:p>
          <a:p>
            <a:pPr algn="r" indent="0" marL="0">
              <a:spcAft>
                <a:spcPts val="400"/>
              </a:spcAft>
              <a:buNone/>
            </a:pPr>
            <a:r>
              <a:rPr lang="en-US" sz="1800" dirty="0">
                <a:solidFill>
                  <a:srgbClr val="6B4FA3"/>
                </a:solidFill>
                <a:latin typeface="Calibri" pitchFamily="34" charset="0"/>
                <a:ea typeface="Calibri" pitchFamily="34" charset="-122"/>
                <a:cs typeface="Calibri" pitchFamily="34" charset="-120"/>
              </a:rPr>
              <a:t>University of Babylon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2026-10-17T17:29:45Z</dcterms:created>
  <dcterms:modified xsi:type="dcterms:W3CDTF">2026-10-17T17:29:45Z</dcterms:modified>
</cp:coreProperties>
</file>