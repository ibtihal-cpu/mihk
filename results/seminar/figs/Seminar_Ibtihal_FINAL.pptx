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 values of 'This work' come from the previous Huffman-table accounting. Replace them with the CR column of correctness.csv after the rerun (expected change about -1.2%). Source values checked against the papers: [6] Table 1 and Table 3; [16] Table 1; [17] Table 1 (Cameraman, FLBG).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822960"/>
                <a:gridCol w="1371600"/>
                <a:gridCol w="2011680"/>
                <a:gridCol w="3657600"/>
                <a:gridCol w="1280160"/>
                <a:gridCol w="173736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Algorithm</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Wavelet coefficients + Huffman coding</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2D DWT + PCA + canonical Huffman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LBG-VQ + delta + Huffman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23.50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Wavelet coefficients + Huffman coding</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LBG-VQ + delta + Huffman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26.54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FLBG (LBG with bilinear rescaling)</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LBG-VQ + delta + Huffman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28.88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8"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[16]: Lena 512 × 512, Table 1 (CR 4.4058, PSNR 34.7809 dB). [6]: near-lossless scheme. * [17]: FLBG PSNR over 0.15–0.625 bpp (CR not reported).</a:t>
            </a:r>
            <a:endParaRPr lang="en-US" sz="1200" dirty="0"/>
          </a:p>
        </p:txBody>
      </p:sp>
      <p:sp>
        <p:nvSpPr>
          <p:cNvPr id="9"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This work reaches a much higher compression ratio than [6] and [16], at a lower PSNR.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64008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475488" y="1188720"/>
            <a:ext cx="2020824" cy="292608"/>
          </a:xfrm>
          <a:prstGeom prst="roundRect">
            <a:avLst>
              <a:gd name="adj" fmla="val 50000"/>
            </a:avLst>
          </a:prstGeom>
          <a:solidFill>
            <a:srgbClr val="FFFFFF"/>
          </a:solidFill>
          <a:ln w="12700">
            <a:solidFill>
              <a:srgbClr val="FFFFFF"/>
            </a:solidFill>
            <a:prstDash val="solid"/>
          </a:ln>
        </p:spPr>
      </p:sp>
      <p:sp>
        <p:nvSpPr>
          <p:cNvPr id="6" name="Text 4"/>
          <p:cNvSpPr/>
          <p:nvPr/>
        </p:nvSpPr>
        <p:spPr>
          <a:xfrm>
            <a:off x="475488" y="1188720"/>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7" name="Shape 5"/>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8" name="Text 6"/>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9" name="Shape 7"/>
          <p:cNvSpPr/>
          <p:nvPr/>
        </p:nvSpPr>
        <p:spPr>
          <a:xfrm>
            <a:off x="4828032" y="772668"/>
            <a:ext cx="219456" cy="237744"/>
          </a:xfrm>
          <a:prstGeom prst="rightArrow">
            <a:avLst/>
          </a:prstGeom>
          <a:solidFill>
            <a:srgbClr val="1F1A33"/>
          </a:solidFill>
          <a:ln w="12700">
            <a:solidFill>
              <a:srgbClr val="1F1A33"/>
            </a:solidFill>
            <a:prstDash val="solid"/>
          </a:ln>
        </p:spPr>
      </p:sp>
      <p:sp>
        <p:nvSpPr>
          <p:cNvPr id="10" name="Shape 8"/>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11" name="Text 9"/>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2" name="Shape 10"/>
          <p:cNvSpPr/>
          <p:nvPr/>
        </p:nvSpPr>
        <p:spPr>
          <a:xfrm>
            <a:off x="7114032" y="772668"/>
            <a:ext cx="219456" cy="237744"/>
          </a:xfrm>
          <a:prstGeom prst="rightArrow">
            <a:avLst/>
          </a:prstGeom>
          <a:solidFill>
            <a:srgbClr val="1F1A33"/>
          </a:solidFill>
          <a:ln w="12700">
            <a:solidFill>
              <a:srgbClr val="1F1A33"/>
            </a:solidFill>
            <a:prstDash val="solid"/>
          </a:ln>
        </p:spPr>
      </p:sp>
      <p:sp>
        <p:nvSpPr>
          <p:cNvPr id="13" name="Shape 11"/>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4" name="Text 12"/>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 N = 16,384</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channel</a:t>
            </a:r>
            <a:endParaRPr lang="en-US" sz="1600" dirty="0"/>
          </a:p>
        </p:txBody>
      </p:sp>
      <p:sp>
        <p:nvSpPr>
          <p:cNvPr id="15" name="Text 13"/>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per channel (16-D)</a:t>
            </a:r>
            <a:endParaRPr lang="en-US" sz="1300" dirty="0"/>
          </a:p>
        </p:txBody>
      </p:sp>
      <p:sp>
        <p:nvSpPr>
          <p:cNvPr id="16" name="Shape 14"/>
          <p:cNvSpPr/>
          <p:nvPr/>
        </p:nvSpPr>
        <p:spPr>
          <a:xfrm>
            <a:off x="5989320" y="1609344"/>
            <a:ext cx="237744" cy="192024"/>
          </a:xfrm>
          <a:prstGeom prst="downArrow">
            <a:avLst/>
          </a:prstGeom>
          <a:solidFill>
            <a:srgbClr val="1F1A33"/>
          </a:solidFill>
          <a:ln w="12700">
            <a:solidFill>
              <a:srgbClr val="1F1A33"/>
            </a:solidFill>
            <a:prstDash val="solid"/>
          </a:ln>
        </p:spPr>
      </p:sp>
      <p:sp>
        <p:nvSpPr>
          <p:cNvPr id="17" name="Shape 15"/>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8" name="Shape 16"/>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9" name="Text 17"/>
          <p:cNvSpPr/>
          <p:nvPr/>
        </p:nvSpPr>
        <p:spPr>
          <a:xfrm>
            <a:off x="365760" y="1856232"/>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20" name="Shape 18"/>
          <p:cNvSpPr/>
          <p:nvPr/>
        </p:nvSpPr>
        <p:spPr>
          <a:xfrm>
            <a:off x="475488" y="2816352"/>
            <a:ext cx="2020824" cy="292608"/>
          </a:xfrm>
          <a:prstGeom prst="roundRect">
            <a:avLst>
              <a:gd name="adj" fmla="val 50000"/>
            </a:avLst>
          </a:prstGeom>
          <a:solidFill>
            <a:srgbClr val="FFFFFF"/>
          </a:solidFill>
          <a:ln w="12700">
            <a:solidFill>
              <a:srgbClr val="FFFFFF"/>
            </a:solidFill>
            <a:prstDash val="solid"/>
          </a:ln>
        </p:spPr>
      </p:sp>
      <p:sp>
        <p:nvSpPr>
          <p:cNvPr id="21" name="Text 19"/>
          <p:cNvSpPr/>
          <p:nvPr/>
        </p:nvSpPr>
        <p:spPr>
          <a:xfrm>
            <a:off x="475488" y="2816352"/>
            <a:ext cx="2020824" cy="292608"/>
          </a:xfrm>
          <a:prstGeom prst="rect">
            <a:avLst/>
          </a:prstGeom>
          <a:noFill/>
          <a:ln/>
        </p:spPr>
        <p:txBody>
          <a:bodyPr wrap="square" lIns="0" tIns="0" rIns="0" bIns="0" rtlCol="0" anchor="ctr"/>
          <a:lstStyle/>
          <a:p>
            <a:pPr algn="ctr" indent="0" marL="0">
              <a:buNone/>
            </a:pPr>
            <a:r>
              <a:rPr lang="en-US" sz="1200" b="1" dirty="0">
                <a:solidFill>
                  <a:srgbClr val="E07B22"/>
                </a:solidFill>
                <a:latin typeface="Calibri" pitchFamily="34" charset="0"/>
                <a:ea typeface="Calibri" pitchFamily="34" charset="-122"/>
                <a:cs typeface="Calibri" pitchFamily="34" charset="-120"/>
              </a:rPr>
              <a:t>PARALLEL: all ranks</a:t>
            </a:r>
            <a:endParaRPr lang="en-US" sz="1200" dirty="0"/>
          </a:p>
        </p:txBody>
      </p:sp>
      <p:sp>
        <p:nvSpPr>
          <p:cNvPr id="22" name="Shape 20"/>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23" name="Text 21"/>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4" name="Shape 22"/>
          <p:cNvSpPr/>
          <p:nvPr/>
        </p:nvSpPr>
        <p:spPr>
          <a:xfrm>
            <a:off x="4828032" y="2400300"/>
            <a:ext cx="219456" cy="237744"/>
          </a:xfrm>
          <a:prstGeom prst="rightArrow">
            <a:avLst/>
          </a:prstGeom>
          <a:solidFill>
            <a:srgbClr val="1F1A33"/>
          </a:solidFill>
          <a:ln w="12700">
            <a:solidFill>
              <a:srgbClr val="1F1A33"/>
            </a:solidFill>
            <a:prstDash val="solid"/>
          </a:ln>
        </p:spPr>
      </p:sp>
      <p:sp>
        <p:nvSpPr>
          <p:cNvPr id="25" name="Shape 23"/>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6" name="Text 24"/>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7" name="Shape 25"/>
          <p:cNvSpPr/>
          <p:nvPr/>
        </p:nvSpPr>
        <p:spPr>
          <a:xfrm>
            <a:off x="7114032" y="2400300"/>
            <a:ext cx="219456" cy="237744"/>
          </a:xfrm>
          <a:prstGeom prst="rightArrow">
            <a:avLst/>
          </a:prstGeom>
          <a:solidFill>
            <a:srgbClr val="1F1A33"/>
          </a:solidFill>
          <a:ln w="12700">
            <a:solidFill>
              <a:srgbClr val="1F1A33"/>
            </a:solidFill>
            <a:prstDash val="solid"/>
          </a:ln>
        </p:spPr>
      </p:sp>
      <p:sp>
        <p:nvSpPr>
          <p:cNvPr id="28" name="Shape 26"/>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9" name="Text 27"/>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30" name="Shape 28"/>
          <p:cNvSpPr/>
          <p:nvPr/>
        </p:nvSpPr>
        <p:spPr>
          <a:xfrm>
            <a:off x="9400032" y="2400300"/>
            <a:ext cx="219456" cy="237744"/>
          </a:xfrm>
          <a:prstGeom prst="rightArrow">
            <a:avLst/>
          </a:prstGeom>
          <a:solidFill>
            <a:srgbClr val="1F1A33"/>
          </a:solidFill>
          <a:ln w="12700">
            <a:solidFill>
              <a:srgbClr val="1F1A33"/>
            </a:solidFill>
            <a:prstDash val="solid"/>
          </a:ln>
        </p:spPr>
      </p:sp>
      <p:sp>
        <p:nvSpPr>
          <p:cNvPr id="31" name="Shape 29"/>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32" name="Text 30"/>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33" name="Text 31"/>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4" name="Shape 32"/>
          <p:cNvSpPr/>
          <p:nvPr/>
        </p:nvSpPr>
        <p:spPr>
          <a:xfrm>
            <a:off x="5989320" y="3236976"/>
            <a:ext cx="237744" cy="192024"/>
          </a:xfrm>
          <a:prstGeom prst="downArrow">
            <a:avLst/>
          </a:prstGeom>
          <a:solidFill>
            <a:srgbClr val="1F1A33"/>
          </a:solidFill>
          <a:ln w="12700">
            <a:solidFill>
              <a:srgbClr val="1F1A33"/>
            </a:solidFill>
            <a:prstDash val="solid"/>
          </a:ln>
        </p:spPr>
      </p:sp>
      <p:sp>
        <p:nvSpPr>
          <p:cNvPr id="35" name="Shape 33"/>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6" name="Shape 34"/>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7" name="Text 35"/>
          <p:cNvSpPr/>
          <p:nvPr/>
        </p:nvSpPr>
        <p:spPr>
          <a:xfrm>
            <a:off x="365760" y="3483864"/>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a:t>
            </a:r>
            <a:endParaRPr lang="en-US" sz="2200" dirty="0"/>
          </a:p>
        </p:txBody>
      </p:sp>
      <p:sp>
        <p:nvSpPr>
          <p:cNvPr id="38" name="Shape 36"/>
          <p:cNvSpPr/>
          <p:nvPr/>
        </p:nvSpPr>
        <p:spPr>
          <a:xfrm>
            <a:off x="475488" y="4443984"/>
            <a:ext cx="2020824" cy="292608"/>
          </a:xfrm>
          <a:prstGeom prst="roundRect">
            <a:avLst>
              <a:gd name="adj" fmla="val 50000"/>
            </a:avLst>
          </a:prstGeom>
          <a:solidFill>
            <a:srgbClr val="FFFFFF"/>
          </a:solidFill>
          <a:ln w="12700">
            <a:solidFill>
              <a:srgbClr val="FFFFFF"/>
            </a:solidFill>
            <a:prstDash val="solid"/>
          </a:ln>
        </p:spPr>
      </p:sp>
      <p:sp>
        <p:nvSpPr>
          <p:cNvPr id="39" name="Text 37"/>
          <p:cNvSpPr/>
          <p:nvPr/>
        </p:nvSpPr>
        <p:spPr>
          <a:xfrm>
            <a:off x="475488" y="4443984"/>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40" name="Shape 38"/>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42" name="Shape 40"/>
          <p:cNvSpPr/>
          <p:nvPr/>
        </p:nvSpPr>
        <p:spPr>
          <a:xfrm>
            <a:off x="4828032" y="4027932"/>
            <a:ext cx="219456" cy="237744"/>
          </a:xfrm>
          <a:prstGeom prst="rightArrow">
            <a:avLst/>
          </a:prstGeom>
          <a:solidFill>
            <a:srgbClr val="1F1A33"/>
          </a:solidFill>
          <a:ln w="12700">
            <a:solidFill>
              <a:srgbClr val="1F1A33"/>
            </a:solidFill>
            <a:prstDash val="solid"/>
          </a:ln>
        </p:spPr>
      </p:sp>
      <p:sp>
        <p:nvSpPr>
          <p:cNvPr id="43" name="Shape 41"/>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44" name="Text 42"/>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45" name="Shape 43"/>
          <p:cNvSpPr/>
          <p:nvPr/>
        </p:nvSpPr>
        <p:spPr>
          <a:xfrm>
            <a:off x="7114032" y="4027932"/>
            <a:ext cx="219456" cy="237744"/>
          </a:xfrm>
          <a:prstGeom prst="rightArrow">
            <a:avLst/>
          </a:prstGeom>
          <a:solidFill>
            <a:srgbClr val="1F1A33"/>
          </a:solidFill>
          <a:ln w="12700">
            <a:solidFill>
              <a:srgbClr val="1F1A33"/>
            </a:solidFill>
            <a:prstDash val="solid"/>
          </a:ln>
        </p:spPr>
      </p:sp>
      <p:sp>
        <p:nvSpPr>
          <p:cNvPr id="46" name="Shape 44"/>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7" name="Text 45"/>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8" name="Text 46"/>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9" name="Shape 47"/>
          <p:cNvSpPr/>
          <p:nvPr/>
        </p:nvSpPr>
        <p:spPr>
          <a:xfrm>
            <a:off x="5989320" y="4864608"/>
            <a:ext cx="237744" cy="192024"/>
          </a:xfrm>
          <a:prstGeom prst="downArrow">
            <a:avLst/>
          </a:prstGeom>
          <a:solidFill>
            <a:srgbClr val="1F1A33"/>
          </a:solidFill>
          <a:ln w="12700">
            <a:solidFill>
              <a:srgbClr val="1F1A33"/>
            </a:solidFill>
            <a:prstDash val="solid"/>
          </a:ln>
        </p:spPr>
      </p:sp>
      <p:sp>
        <p:nvSpPr>
          <p:cNvPr id="50" name="Shape 48"/>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51" name="Shape 49"/>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52" name="Text 50"/>
          <p:cNvSpPr/>
          <p:nvPr/>
        </p:nvSpPr>
        <p:spPr>
          <a:xfrm>
            <a:off x="365760" y="5111496"/>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53" name="Shape 51"/>
          <p:cNvSpPr/>
          <p:nvPr/>
        </p:nvSpPr>
        <p:spPr>
          <a:xfrm>
            <a:off x="475488" y="6071616"/>
            <a:ext cx="2020824" cy="292608"/>
          </a:xfrm>
          <a:prstGeom prst="roundRect">
            <a:avLst>
              <a:gd name="adj" fmla="val 50000"/>
            </a:avLst>
          </a:prstGeom>
          <a:solidFill>
            <a:srgbClr val="FFFFFF"/>
          </a:solidFill>
          <a:ln w="12700">
            <a:solidFill>
              <a:srgbClr val="FFFFFF"/>
            </a:solidFill>
            <a:prstDash val="solid"/>
          </a:ln>
        </p:spPr>
      </p:sp>
      <p:sp>
        <p:nvSpPr>
          <p:cNvPr id="54" name="Text 52"/>
          <p:cNvSpPr/>
          <p:nvPr/>
        </p:nvSpPr>
        <p:spPr>
          <a:xfrm>
            <a:off x="475488" y="6071616"/>
            <a:ext cx="2020824" cy="292608"/>
          </a:xfrm>
          <a:prstGeom prst="rect">
            <a:avLst/>
          </a:prstGeom>
          <a:noFill/>
          <a:ln/>
        </p:spPr>
        <p:txBody>
          <a:bodyPr wrap="square" lIns="0" tIns="0" rIns="0" bIns="0" rtlCol="0" anchor="ctr"/>
          <a:lstStyle/>
          <a:p>
            <a:pPr algn="ctr" indent="0" marL="0">
              <a:buNone/>
            </a:pPr>
            <a:r>
              <a:rPr lang="en-US" sz="1100" b="1" dirty="0">
                <a:solidFill>
                  <a:srgbClr val="5B6770"/>
                </a:solidFill>
                <a:latin typeface="Calibri" pitchFamily="34" charset="0"/>
                <a:ea typeface="Calibri" pitchFamily="34" charset="-122"/>
                <a:cs typeface="Calibri" pitchFamily="34" charset="-120"/>
              </a:rPr>
              <a:t>Rank 0 | Parallel: SSIM</a:t>
            </a:r>
            <a:endParaRPr lang="en-US" sz="1100" dirty="0"/>
          </a:p>
        </p:txBody>
      </p:sp>
      <p:sp>
        <p:nvSpPr>
          <p:cNvPr id="55" name="Shape 53"/>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56" name="Text 54"/>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bit stream to</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delta values</a:t>
            </a:r>
            <a:endParaRPr lang="en-US" sz="1600" dirty="0"/>
          </a:p>
        </p:txBody>
      </p:sp>
      <p:sp>
        <p:nvSpPr>
          <p:cNvPr id="57" name="Shape 55"/>
          <p:cNvSpPr/>
          <p:nvPr/>
        </p:nvSpPr>
        <p:spPr>
          <a:xfrm>
            <a:off x="4828032" y="5655564"/>
            <a:ext cx="219456" cy="237744"/>
          </a:xfrm>
          <a:prstGeom prst="rightArrow">
            <a:avLst/>
          </a:prstGeom>
          <a:solidFill>
            <a:srgbClr val="1F1A33"/>
          </a:solidFill>
          <a:ln w="12700">
            <a:solidFill>
              <a:srgbClr val="1F1A33"/>
            </a:solidFill>
            <a:prstDash val="solid"/>
          </a:ln>
        </p:spPr>
      </p:sp>
      <p:sp>
        <p:nvSpPr>
          <p:cNvPr id="58" name="Shape 56"/>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9" name="Text 57"/>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60" name="Shape 58"/>
          <p:cNvSpPr/>
          <p:nvPr/>
        </p:nvSpPr>
        <p:spPr>
          <a:xfrm>
            <a:off x="7114032" y="5655564"/>
            <a:ext cx="219456" cy="237744"/>
          </a:xfrm>
          <a:prstGeom prst="rightArrow">
            <a:avLst/>
          </a:prstGeom>
          <a:solidFill>
            <a:srgbClr val="1F1A33"/>
          </a:solidFill>
          <a:ln w="12700">
            <a:solidFill>
              <a:srgbClr val="1F1A33"/>
            </a:solidFill>
            <a:prstDash val="solid"/>
          </a:ln>
        </p:spPr>
      </p:sp>
      <p:sp>
        <p:nvSpPr>
          <p:cNvPr id="61" name="Shape 59"/>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62" name="Text 60"/>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63" name="Shape 61"/>
          <p:cNvSpPr/>
          <p:nvPr/>
        </p:nvSpPr>
        <p:spPr>
          <a:xfrm>
            <a:off x="9400032" y="5655564"/>
            <a:ext cx="219456" cy="237744"/>
          </a:xfrm>
          <a:prstGeom prst="rightArrow">
            <a:avLst/>
          </a:prstGeom>
          <a:solidFill>
            <a:srgbClr val="1F1A33"/>
          </a:solidFill>
          <a:ln w="12700">
            <a:solidFill>
              <a:srgbClr val="1F1A33"/>
            </a:solidFill>
            <a:prstDash val="solid"/>
          </a:ln>
        </p:spPr>
      </p:sp>
      <p:sp>
        <p:nvSpPr>
          <p:cNvPr id="64" name="Shape 62"/>
          <p:cNvSpPr/>
          <p:nvPr/>
        </p:nvSpPr>
        <p:spPr>
          <a:xfrm>
            <a:off x="9646920" y="5202936"/>
            <a:ext cx="2011680" cy="1143000"/>
          </a:xfrm>
          <a:prstGeom prst="roundRect">
            <a:avLst>
              <a:gd name="adj" fmla="val 6400"/>
            </a:avLst>
          </a:prstGeom>
          <a:solidFill>
            <a:srgbClr val="FDEBD9"/>
          </a:solidFill>
          <a:ln w="31750">
            <a:solidFill>
              <a:srgbClr val="E07B22"/>
            </a:solidFill>
            <a:prstDash val="dash"/>
          </a:ln>
        </p:spPr>
      </p:sp>
      <p:sp>
        <p:nvSpPr>
          <p:cNvPr id="65" name="Text 63"/>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 PSNR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SSIM (parallel)</a:t>
            </a:r>
            <a:endParaRPr lang="en-US" sz="1600" dirty="0"/>
          </a:p>
        </p:txBody>
      </p:sp>
      <p:sp>
        <p:nvSpPr>
          <p:cNvPr id="66" name="Shape 64"/>
          <p:cNvSpPr/>
          <p:nvPr/>
        </p:nvSpPr>
        <p:spPr>
          <a:xfrm>
            <a:off x="2377440" y="6473952"/>
            <a:ext cx="457200" cy="219456"/>
          </a:xfrm>
          <a:prstGeom prst="roundRect">
            <a:avLst>
              <a:gd name="adj" fmla="val 50000"/>
            </a:avLst>
          </a:prstGeom>
          <a:solidFill>
            <a:srgbClr val="E07B22"/>
          </a:solidFill>
          <a:ln w="12700">
            <a:solidFill>
              <a:srgbClr val="FFFFFF"/>
            </a:solidFill>
            <a:prstDash val="solid"/>
          </a:ln>
        </p:spPr>
      </p:sp>
      <p:sp>
        <p:nvSpPr>
          <p:cNvPr id="67" name="Text 65"/>
          <p:cNvSpPr/>
          <p:nvPr/>
        </p:nvSpPr>
        <p:spPr>
          <a:xfrm>
            <a:off x="292608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Parallel: all MPI ranks work together</a:t>
            </a:r>
            <a:endParaRPr lang="en-US" sz="1300" dirty="0"/>
          </a:p>
        </p:txBody>
      </p:sp>
      <p:sp>
        <p:nvSpPr>
          <p:cNvPr id="68" name="Shape 66"/>
          <p:cNvSpPr/>
          <p:nvPr/>
        </p:nvSpPr>
        <p:spPr>
          <a:xfrm>
            <a:off x="6766560" y="6473952"/>
            <a:ext cx="457200" cy="219456"/>
          </a:xfrm>
          <a:prstGeom prst="roundRect">
            <a:avLst>
              <a:gd name="adj" fmla="val 50000"/>
            </a:avLst>
          </a:prstGeom>
          <a:solidFill>
            <a:srgbClr val="5B6770"/>
          </a:solidFill>
          <a:ln w="12700">
            <a:solidFill>
              <a:srgbClr val="FFFFFF"/>
            </a:solidFill>
            <a:prstDash val="solid"/>
          </a:ln>
        </p:spPr>
      </p:sp>
      <p:sp>
        <p:nvSpPr>
          <p:cNvPr id="69" name="Text 67"/>
          <p:cNvSpPr/>
          <p:nvPr/>
        </p:nvSpPr>
        <p:spPr>
          <a:xfrm>
            <a:off x="731520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Sequential: executed on Rank 0 only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Results</a:t>
            </a:r>
            <a:endParaRPr lang="en-US" sz="1600" dirty="0"/>
          </a:p>
        </p:txBody>
      </p:sp>
      <p:sp>
        <p:nvSpPr>
          <p:cNvPr id="4" name="Text 2"/>
          <p:cNvSpPr/>
          <p:nvPr/>
        </p:nvSpPr>
        <p:spPr>
          <a:xfrm>
            <a:off x="2103120" y="274320"/>
            <a:ext cx="100584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Performance and Quality 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371600"/>
            <a:ext cx="5029200" cy="640080"/>
          </a:xfrm>
          <a:prstGeom prst="roundRect">
            <a:avLst>
              <a:gd name="adj" fmla="val 11429"/>
            </a:avLst>
          </a:prstGeom>
          <a:solidFill>
            <a:srgbClr val="2A9D8F"/>
          </a:solidFill>
          <a:ln w="12700">
            <a:solidFill>
              <a:srgbClr val="2A9D8F"/>
            </a:solidFill>
            <a:prstDash val="solid"/>
          </a:ln>
        </p:spPr>
      </p:sp>
      <p:sp>
        <p:nvSpPr>
          <p:cNvPr id="7" name="Text 5"/>
          <p:cNvSpPr/>
          <p:nvPr/>
        </p:nvSpPr>
        <p:spPr>
          <a:xfrm>
            <a:off x="8229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Compression Quality</a:t>
            </a:r>
            <a:endParaRPr lang="en-US" sz="2200" dirty="0"/>
          </a:p>
        </p:txBody>
      </p:sp>
      <p:sp>
        <p:nvSpPr>
          <p:cNvPr id="8" name="Shape 6"/>
          <p:cNvSpPr/>
          <p:nvPr/>
        </p:nvSpPr>
        <p:spPr>
          <a:xfrm>
            <a:off x="822960" y="2103120"/>
            <a:ext cx="5029200" cy="3291840"/>
          </a:xfrm>
          <a:prstGeom prst="roundRect">
            <a:avLst>
              <a:gd name="adj" fmla="val 2222"/>
            </a:avLst>
          </a:prstGeom>
          <a:solidFill>
            <a:srgbClr val="EEF8F6"/>
          </a:solidFill>
          <a:ln w="15875">
            <a:solidFill>
              <a:srgbClr val="2A9D8F"/>
            </a:solidFill>
            <a:prstDash val="solid"/>
          </a:ln>
        </p:spPr>
      </p:sp>
      <p:sp>
        <p:nvSpPr>
          <p:cNvPr id="9" name="Text 7"/>
          <p:cNvSpPr/>
          <p:nvPr/>
        </p:nvSpPr>
        <p:spPr>
          <a:xfrm>
            <a:off x="10972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Compression Ratio (CR)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Bits Per Pixel (BPP)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MSE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PSNR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SSIM</a:t>
            </a:r>
            <a:endParaRPr lang="en-US" sz="2200" dirty="0"/>
          </a:p>
        </p:txBody>
      </p:sp>
      <p:sp>
        <p:nvSpPr>
          <p:cNvPr id="10" name="Shape 8"/>
          <p:cNvSpPr/>
          <p:nvPr/>
        </p:nvSpPr>
        <p:spPr>
          <a:xfrm>
            <a:off x="6309360" y="1371600"/>
            <a:ext cx="5029200" cy="640080"/>
          </a:xfrm>
          <a:prstGeom prst="roundRect">
            <a:avLst>
              <a:gd name="adj" fmla="val 11429"/>
            </a:avLst>
          </a:prstGeom>
          <a:solidFill>
            <a:srgbClr val="E07B22"/>
          </a:solidFill>
          <a:ln w="12700">
            <a:solidFill>
              <a:srgbClr val="E07B22"/>
            </a:solidFill>
            <a:prstDash val="solid"/>
          </a:ln>
        </p:spPr>
      </p:sp>
      <p:sp>
        <p:nvSpPr>
          <p:cNvPr id="11" name="Text 9"/>
          <p:cNvSpPr/>
          <p:nvPr/>
        </p:nvSpPr>
        <p:spPr>
          <a:xfrm>
            <a:off x="63093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Parallel Performance</a:t>
            </a:r>
            <a:endParaRPr lang="en-US" sz="2200" dirty="0"/>
          </a:p>
        </p:txBody>
      </p:sp>
      <p:sp>
        <p:nvSpPr>
          <p:cNvPr id="12" name="Shape 10"/>
          <p:cNvSpPr/>
          <p:nvPr/>
        </p:nvSpPr>
        <p:spPr>
          <a:xfrm>
            <a:off x="6309360" y="2103120"/>
            <a:ext cx="5029200" cy="3291840"/>
          </a:xfrm>
          <a:prstGeom prst="roundRect">
            <a:avLst>
              <a:gd name="adj" fmla="val 2222"/>
            </a:avLst>
          </a:prstGeom>
          <a:solidFill>
            <a:srgbClr val="FDF1E6"/>
          </a:solidFill>
          <a:ln w="15875">
            <a:solidFill>
              <a:srgbClr val="E07B22"/>
            </a:solidFill>
            <a:prstDash val="solid"/>
          </a:ln>
        </p:spPr>
      </p:sp>
      <p:sp>
        <p:nvSpPr>
          <p:cNvPr id="13" name="Text 11"/>
          <p:cNvSpPr/>
          <p:nvPr/>
        </p:nvSpPr>
        <p:spPr>
          <a:xfrm>
            <a:off x="65836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Execution Time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Speedup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Parallel Efficiency</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Throughput</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Karp–Flatt Metric</a:t>
            </a:r>
            <a:endParaRPr lang="en-US" sz="2200" dirty="0"/>
          </a:p>
        </p:txBody>
      </p:sp>
      <p:sp>
        <p:nvSpPr>
          <p:cNvPr id="14" name="Text 12"/>
          <p:cNvSpPr/>
          <p:nvPr/>
        </p:nvSpPr>
        <p:spPr>
          <a:xfrm>
            <a:off x="822960" y="5669280"/>
            <a:ext cx="10515600" cy="365760"/>
          </a:xfrm>
          <a:prstGeom prst="rect">
            <a:avLst/>
          </a:prstGeom>
          <a:noFill/>
          <a:ln/>
        </p:spPr>
        <p:txBody>
          <a:bodyPr wrap="square" lIns="0" tIns="0" rIns="0" bIns="0" rtlCol="0" anchor="ctr"/>
          <a:lstStyle/>
          <a:p>
            <a:pPr algn="ctr" indent="0" marL="0">
              <a:buNone/>
            </a:pPr>
            <a:r>
              <a:rPr lang="en-US" sz="1600" i="1" dirty="0">
                <a:solidFill>
                  <a:srgbClr val="6B4FA3"/>
                </a:solidFill>
                <a:latin typeface="Calibri" pitchFamily="34" charset="0"/>
                <a:ea typeface="Calibri" pitchFamily="34" charset="-122"/>
                <a:cs typeface="Calibri" pitchFamily="34" charset="-120"/>
              </a:rPr>
              <a:t>Each formula is shown next to the result it measures.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097280"/>
            <a:ext cx="10515600" cy="822960"/>
          </a:xfrm>
          <a:prstGeom prst="roundRect">
            <a:avLst>
              <a:gd name="adj" fmla="val 8889"/>
            </a:avLst>
          </a:prstGeom>
          <a:solidFill>
            <a:srgbClr val="FDF1E6"/>
          </a:solidFill>
          <a:ln w="15875">
            <a:solidFill>
              <a:srgbClr val="E07B22"/>
            </a:solidFill>
            <a:prstDash val="solid"/>
          </a:ln>
        </p:spPr>
      </p:sp>
      <p:sp>
        <p:nvSpPr>
          <p:cNvPr id="7" name="Text 5"/>
          <p:cNvSpPr/>
          <p:nvPr/>
        </p:nvSpPr>
        <p:spPr>
          <a:xfrm>
            <a:off x="822960" y="1097280"/>
            <a:ext cx="10515600" cy="822960"/>
          </a:xfrm>
          <a:prstGeom prst="rect">
            <a:avLst/>
          </a:prstGeom>
          <a:noFill/>
          <a:ln/>
        </p:spPr>
        <p:txBody>
          <a:bodyPr wrap="square" lIns="508" tIns="508" rIns="508" bIns="508" rtlCol="0" anchor="ctr"/>
          <a:lstStyle/>
          <a:p>
            <a:pPr algn="ctr" indent="0" marL="0">
              <a:buNone/>
            </a:pPr>
            <a:r>
              <a:rPr lang="en-US" sz="1700" b="1" dirty="0">
                <a:solidFill>
                  <a:srgbClr val="2E2055"/>
                </a:solidFill>
                <a:latin typeface="Cambria" pitchFamily="34" charset="0"/>
                <a:ea typeface="Cambria" pitchFamily="34" charset="-122"/>
                <a:cs typeface="Cambria" pitchFamily="34" charset="-120"/>
              </a:rPr>
              <a:t>CR = S_orig / S_comp        BPP = compressed bits / number of pixels</a:t>
            </a:r>
            <a:endParaRPr lang="en-US" sz="1700" dirty="0"/>
          </a:p>
          <a:p>
            <a:pPr algn="ctr" indent="0" marL="0">
              <a:buNone/>
            </a:pPr>
            <a:r>
              <a:rPr lang="en-US" sz="1700" b="1" dirty="0">
                <a:solidFill>
                  <a:srgbClr val="2E2055"/>
                </a:solidFill>
                <a:latin typeface="Cambria" pitchFamily="34" charset="0"/>
                <a:ea typeface="Cambria" pitchFamily="34" charset="-122"/>
                <a:cs typeface="Cambria" pitchFamily="34" charset="-120"/>
              </a:rPr>
              <a:t>MSE = mean (I − Î)²        PSNR = 10·log₁₀(255² / MSE)  dB        SSIM: 11 × 11 Gaussian window, σ = 1.5</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2011680"/>
          <a:ext cx="10515600" cy="914400"/>
        </p:xfrm>
        <a:graphic>
          <a:graphicData uri="http://schemas.openxmlformats.org/drawingml/2006/table">
            <a:tbl>
              <a:tblPr/>
              <a:tblGrid>
                <a:gridCol w="2377440"/>
                <a:gridCol w="1097280"/>
                <a:gridCol w="1371600"/>
                <a:gridCol w="1371600"/>
                <a:gridCol w="1371600"/>
                <a:gridCol w="1554480"/>
                <a:gridCol w="137160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9" name="Text 6"/>
          <p:cNvSpPr/>
          <p:nvPr/>
        </p:nvSpPr>
        <p:spPr>
          <a:xfrm>
            <a:off x="822960" y="6217920"/>
            <a:ext cx="10515600" cy="5029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H = −Σ p(s) · log₂ p(s)   (bits / symbol)</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ntrop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 the bars show the minimum and maximum.</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The total speedup is shown separately for gray and color two slides later.</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S / 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fficienc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Efficiency is 97% at P = 2 and stays at 90% or more up to P = 6 (P-cores only).</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It drops to 79% at P = 8, where the E-cores start to be used, and reaches 66% at P = 14.</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E-cores are slower than the P-cores, so each added process contributes less than a full core.</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stays near 0.04 for P ≥ 8: the serial fraction of LBG remains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otal_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work outside LBG (mainly image reading and file output) runs on Rank 0.</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Throughput = I_size / T_total   (MiB/s)</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hroughput_ch4.png">    </p:cNvPr>
          <p:cNvPicPr>
            <a:picLocks noChangeAspect="1"/>
          </p:cNvPicPr>
          <p:nvPr/>
        </p:nvPicPr>
        <p:blipFill>
          <a:blip r:embed="rId1"/>
          <a:stretch>
            <a:fillRect/>
          </a:stretch>
        </p:blipFill>
        <p:spPr>
          <a:xfrm>
            <a:off x="714695" y="1645920"/>
            <a:ext cx="6983091" cy="4617720"/>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143000"/>
            <a:ext cx="777240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143000"/>
            <a:ext cx="777240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(1/S − 1/P) / (1 − 1/P)</a:t>
            </a:r>
            <a:endParaRPr lang="en-US" sz="2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7772400" cy="914400"/>
        </p:xfrm>
        <a:graphic>
          <a:graphicData uri="http://schemas.openxmlformats.org/drawingml/2006/table">
            <a:tbl>
              <a:tblPr/>
              <a:tblGrid>
                <a:gridCol w="640080"/>
                <a:gridCol w="1005840"/>
                <a:gridCol w="1188720"/>
                <a:gridCol w="1188720"/>
                <a:gridCol w="1280160"/>
                <a:gridCol w="1188720"/>
                <a:gridCol w="1280160"/>
              </a:tblGrid>
              <a:tr h="50292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9" name="Text 6"/>
          <p:cNvSpPr/>
          <p:nvPr/>
        </p:nvSpPr>
        <p:spPr>
          <a:xfrm>
            <a:off x="457200" y="585216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10" name="Shape 7"/>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11" name="Text 8"/>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work on Rank 0 (mainly image reading and file output) limits the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work that runs on Rank 0, mainly image reading and file output.</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Improve the rate–distortion performance: color transform (YCbCr instead of RGB), prediction or context modeling of the VQ indices, and variable block sizes.</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Accelerate the LBG assignment step, which dominates the run time, with GPUs (CUDA or OpenCL) combined with MPI.</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Scale to multi-node clusters, larger images and image sequences that share one codebook.</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Rebalance the workload during the run, using the measured compute time of each rank and a load-imbalance measure.</a:t>
            </a:r>
            <a:endParaRPr lang="en-US" sz="2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1554480"/>
            <a:ext cx="5120640" cy="2011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 for your attention</a:t>
            </a:r>
            <a:endParaRPr lang="en-US" sz="4400" dirty="0"/>
          </a:p>
        </p:txBody>
      </p:sp>
      <p:sp>
        <p:nvSpPr>
          <p:cNvPr id="5" name="Text 3"/>
          <p:cNvSpPr/>
          <p:nvPr/>
        </p:nvSpPr>
        <p:spPr>
          <a:xfrm>
            <a:off x="822960" y="3657600"/>
            <a:ext cx="5120640" cy="731520"/>
          </a:xfrm>
          <a:prstGeom prst="rect">
            <a:avLst/>
          </a:prstGeom>
          <a:noFill/>
          <a:ln/>
        </p:spPr>
        <p:txBody>
          <a:bodyPr wrap="square" lIns="0" tIns="0" rIns="0" bIns="0" rtlCol="0" anchor="ctr"/>
          <a:lstStyle/>
          <a:p>
            <a:pPr indent="0" marL="0">
              <a:buNone/>
            </a:pPr>
            <a:r>
              <a:rPr lang="en-US" sz="3200" b="1" dirty="0">
                <a:solidFill>
                  <a:srgbClr val="F2993A"/>
                </a:solidFill>
                <a:latin typeface="Calibri" pitchFamily="34" charset="0"/>
                <a:ea typeface="Calibri" pitchFamily="34" charset="-122"/>
                <a:cs typeface="Calibri" pitchFamily="34" charset="-120"/>
              </a:rPr>
              <a:t>Questions?</a:t>
            </a:r>
            <a:endParaRPr lang="en-US" sz="3200" dirty="0"/>
          </a:p>
        </p:txBody>
      </p:sp>
      <p:sp>
        <p:nvSpPr>
          <p:cNvPr id="6" name="Text 4"/>
          <p:cNvSpPr/>
          <p:nvPr/>
        </p:nvSpPr>
        <p:spPr>
          <a:xfrm>
            <a:off x="822960" y="4937760"/>
            <a:ext cx="5120640" cy="914400"/>
          </a:xfrm>
          <a:prstGeom prst="rect">
            <a:avLst/>
          </a:prstGeom>
          <a:noFill/>
          <a:ln/>
        </p:spPr>
        <p:txBody>
          <a:bodyPr wrap="square" lIns="0" tIns="0" rIns="0" bIns="0" rtlCol="0" anchor="ctr"/>
          <a:lstStyle/>
          <a:p>
            <a:pPr indent="0" marL="0">
              <a:spcAft>
                <a:spcPts val="6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600"/>
              </a:spcAft>
              <a:buNone/>
            </a:pPr>
            <a:r>
              <a:rPr lang="en-US" sz="2000" dirty="0">
                <a:solidFill>
                  <a:srgbClr val="C9BDE8"/>
                </a:solidFill>
                <a:latin typeface="Calibri" pitchFamily="34" charset="0"/>
                <a:ea typeface="Calibri" pitchFamily="34" charset="-122"/>
                <a:cs typeface="Calibri" pitchFamily="34" charset="-120"/>
              </a:rPr>
              <a:t>University of Babylon</a:t>
            </a:r>
            <a:endParaRPr lang="en-US" sz="2000" dirty="0"/>
          </a:p>
        </p:txBody>
      </p:sp>
      <p:pic>
        <p:nvPicPr>
          <p:cNvPr id="7" name="Image 0" descr="assets/closing.png">    </p:cNvPr>
          <p:cNvPicPr>
            <a:picLocks noChangeAspect="1"/>
          </p:cNvPicPr>
          <p:nvPr/>
        </p:nvPicPr>
        <p:blipFill>
          <a:blip r:embed="rId1"/>
          <a:stretch>
            <a:fillRect/>
          </a:stretch>
        </p:blipFill>
        <p:spPr>
          <a:xfrm>
            <a:off x="5943600" y="1097280"/>
            <a:ext cx="5943600" cy="449394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2026-10-17T17:19:05Z</dcterms:created>
  <dcterms:modified xsi:type="dcterms:W3CDTF">2026-10-17T17:19:05Z</dcterms:modified>
</cp:coreProperties>
</file>